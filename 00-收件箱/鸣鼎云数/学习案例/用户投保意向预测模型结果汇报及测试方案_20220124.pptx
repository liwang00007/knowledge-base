
<file path=[Content_Types].xml><?xml version="1.0" encoding="utf-8"?>
<Types xmlns="http://schemas.openxmlformats.org/package/2006/content-types">
  <Default Extension="vml" ContentType="application/vnd.openxmlformats-officedocument.vmlDrawing"/>
  <Default Extension="xlsx" ContentType="application/vnd.openxmlformats-officedocument.spreadsheetml.sheet"/>
  <Default Extension="png" ContentType="image/png"/>
  <Default Extension="wmf" ContentType="image/x-wmf"/>
  <Default Extension="jpeg" ContentType="image/jpeg"/>
  <Default Extension="JPG" ContentType="image/.jpg"/>
  <Default Extension="emf" ContentType="image/x-em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2"/>
  </p:notesMasterIdLst>
  <p:handoutMasterIdLst>
    <p:handoutMasterId r:id="rId40"/>
  </p:handoutMasterIdLst>
  <p:sldIdLst>
    <p:sldId id="256" r:id="rId3"/>
    <p:sldId id="277" r:id="rId4"/>
    <p:sldId id="287" r:id="rId5"/>
    <p:sldId id="278" r:id="rId6"/>
    <p:sldId id="288" r:id="rId7"/>
    <p:sldId id="286" r:id="rId8"/>
    <p:sldId id="295" r:id="rId9"/>
    <p:sldId id="289" r:id="rId10"/>
    <p:sldId id="279" r:id="rId11"/>
    <p:sldId id="326" r:id="rId13"/>
    <p:sldId id="327" r:id="rId14"/>
    <p:sldId id="328" r:id="rId15"/>
    <p:sldId id="329" r:id="rId16"/>
    <p:sldId id="331" r:id="rId17"/>
    <p:sldId id="332" r:id="rId18"/>
    <p:sldId id="333" r:id="rId19"/>
    <p:sldId id="334" r:id="rId20"/>
    <p:sldId id="335" r:id="rId21"/>
    <p:sldId id="337" r:id="rId22"/>
    <p:sldId id="336" r:id="rId23"/>
    <p:sldId id="343" r:id="rId24"/>
    <p:sldId id="338" r:id="rId25"/>
    <p:sldId id="339" r:id="rId26"/>
    <p:sldId id="340" r:id="rId27"/>
    <p:sldId id="341" r:id="rId28"/>
    <p:sldId id="342" r:id="rId29"/>
    <p:sldId id="293" r:id="rId30"/>
    <p:sldId id="353" r:id="rId31"/>
    <p:sldId id="354" r:id="rId32"/>
    <p:sldId id="355" r:id="rId33"/>
    <p:sldId id="356" r:id="rId34"/>
    <p:sldId id="357" r:id="rId35"/>
    <p:sldId id="358" r:id="rId36"/>
    <p:sldId id="359" r:id="rId37"/>
    <p:sldId id="275" r:id="rId38"/>
    <p:sldId id="261" r:id="rId39"/>
  </p:sldIdLst>
  <p:sldSz cx="12192000" cy="6858000"/>
  <p:notesSz cx="6858000" cy="9144000"/>
  <p:defaultTextStyle>
    <a:def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defPPr>
    <a:lvl1pPr marL="0" marR="0" indent="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j-lt"/>
        <a:ea typeface="+mj-ea"/>
        <a:cs typeface="+mj-cs"/>
        <a:sym typeface="Calibri" panose="020F0502020204030204"/>
      </a:defRPr>
    </a:lvl1pPr>
    <a:lvl2pPr marL="0" marR="0" indent="4572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j-lt"/>
        <a:ea typeface="+mj-ea"/>
        <a:cs typeface="+mj-cs"/>
        <a:sym typeface="Calibri" panose="020F0502020204030204"/>
      </a:defRPr>
    </a:lvl2pPr>
    <a:lvl3pPr marL="0" marR="0" indent="9144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j-lt"/>
        <a:ea typeface="+mj-ea"/>
        <a:cs typeface="+mj-cs"/>
        <a:sym typeface="Calibri" panose="020F0502020204030204"/>
      </a:defRPr>
    </a:lvl3pPr>
    <a:lvl4pPr marL="0" marR="0" indent="13716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j-lt"/>
        <a:ea typeface="+mj-ea"/>
        <a:cs typeface="+mj-cs"/>
        <a:sym typeface="Calibri" panose="020F0502020204030204"/>
      </a:defRPr>
    </a:lvl4pPr>
    <a:lvl5pPr marL="0" marR="0" indent="18288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j-lt"/>
        <a:ea typeface="+mj-ea"/>
        <a:cs typeface="+mj-cs"/>
        <a:sym typeface="Calibri" panose="020F0502020204030204"/>
      </a:defRPr>
    </a:lvl5pPr>
    <a:lvl6pPr marL="0" marR="0" indent="22860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j-lt"/>
        <a:ea typeface="+mj-ea"/>
        <a:cs typeface="+mj-cs"/>
        <a:sym typeface="Calibri" panose="020F0502020204030204"/>
      </a:defRPr>
    </a:lvl6pPr>
    <a:lvl7pPr marL="0" marR="0" indent="27432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j-lt"/>
        <a:ea typeface="+mj-ea"/>
        <a:cs typeface="+mj-cs"/>
        <a:sym typeface="Calibri" panose="020F0502020204030204"/>
      </a:defRPr>
    </a:lvl7pPr>
    <a:lvl8pPr marL="0" marR="0" indent="32004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j-lt"/>
        <a:ea typeface="+mj-ea"/>
        <a:cs typeface="+mj-cs"/>
        <a:sym typeface="Calibri" panose="020F0502020204030204"/>
      </a:defRPr>
    </a:lvl8pPr>
    <a:lvl9pPr marL="0" marR="0" indent="36576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j-lt"/>
        <a:ea typeface="+mj-ea"/>
        <a:cs typeface="+mj-cs"/>
        <a:sym typeface="Calibri" panose="020F0502020204030204"/>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p:present/>
    <p:sldAll/>
  </p:showPr>
  <p:clrMru>
    <a:srgbClr val="0564CD"/>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940675A-B579-460E-94D1-54222C63F5DA}">
  <a:tblStyle styleId="{5940675A-B579-460E-94D1-54222C63F5DA}" styleName="无样式，网格型">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3" Type="http://schemas.openxmlformats.org/officeDocument/2006/relationships/tableStyles" Target="tableStyles.xml"/><Relationship Id="rId42" Type="http://schemas.openxmlformats.org/officeDocument/2006/relationships/viewProps" Target="viewProps.xml"/><Relationship Id="rId41" Type="http://schemas.openxmlformats.org/officeDocument/2006/relationships/presProps" Target="presProps.xml"/><Relationship Id="rId40" Type="http://schemas.openxmlformats.org/officeDocument/2006/relationships/handoutMaster" Target="handoutMasters/handoutMaster1.xml"/><Relationship Id="rId4" Type="http://schemas.openxmlformats.org/officeDocument/2006/relationships/slide" Target="slides/slide2.xml"/><Relationship Id="rId39" Type="http://schemas.openxmlformats.org/officeDocument/2006/relationships/slide" Target="slides/slide36.xml"/><Relationship Id="rId38" Type="http://schemas.openxmlformats.org/officeDocument/2006/relationships/slide" Target="slides/slide35.xml"/><Relationship Id="rId37" Type="http://schemas.openxmlformats.org/officeDocument/2006/relationships/slide" Target="slides/slide34.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notesMaster" Target="notesMasters/notesMaster1.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19.w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F9B84EA-7D68-4D60-9CB1-D50884785D1C}" type="datetimeFigureOut">
              <a:rPr lang="zh-CN" altLang="en-US" smtClean="0"/>
            </a:fld>
            <a:endParaRPr lang="zh-CN" altLang="en-US"/>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D4E0FC9-F1F8-4FAE-9988-3BA365CFD46F}" type="slidenum">
              <a:rPr lang="zh-CN" altLang="en-US" smtClean="0"/>
            </a:fld>
            <a:endParaRPr lang="zh-CN" alt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0" name="Shape 70"/>
          <p:cNvSpPr/>
          <p:nvPr>
            <p:ph type="sldImg"/>
          </p:nvPr>
        </p:nvSpPr>
        <p:spPr>
          <a:xfrm>
            <a:off x="1143000" y="685800"/>
            <a:ext cx="4572000" cy="3429000"/>
          </a:xfrm>
          <a:prstGeom prst="rect">
            <a:avLst/>
          </a:prstGeom>
        </p:spPr>
        <p:txBody>
          <a:bodyPr/>
          <a:lstStyle/>
          <a:p/>
        </p:txBody>
      </p:sp>
      <p:sp>
        <p:nvSpPr>
          <p:cNvPr id="71" name="Shape 71"/>
          <p:cNvSpPr/>
          <p:nvPr>
            <p:ph type="body" sz="quarter" idx="1"/>
          </p:nvPr>
        </p:nvSpPr>
        <p:spPr>
          <a:xfrm>
            <a:off x="914400" y="4343400"/>
            <a:ext cx="5029200" cy="4114800"/>
          </a:xfrm>
          <a:prstGeom prst="rect">
            <a:avLst/>
          </a:prstGeom>
        </p:spPr>
        <p:txBody>
          <a:bodyPr/>
          <a:lstStyle/>
          <a:p/>
        </p:txBody>
      </p:sp>
    </p:spTree>
  </p:cSld>
  <p:clrMap bg1="lt1" tx1="dk1" bg2="lt2" tx2="dk2" accent1="accent1" accent2="accent2" accent3="accent3" accent4="accent4" accent5="accent5" accent6="accent6" hlink="hlink" folHlink="folHlink"/>
  <p:notesStyle>
    <a:lvl1pPr latinLnBrk="0">
      <a:defRPr sz="1200">
        <a:latin typeface="+mj-lt"/>
        <a:ea typeface="+mj-ea"/>
        <a:cs typeface="+mj-cs"/>
        <a:sym typeface="Calibri" panose="020F0502020204030204"/>
      </a:defRPr>
    </a:lvl1pPr>
    <a:lvl2pPr indent="228600" latinLnBrk="0">
      <a:defRPr sz="1200">
        <a:latin typeface="+mj-lt"/>
        <a:ea typeface="+mj-ea"/>
        <a:cs typeface="+mj-cs"/>
        <a:sym typeface="Calibri" panose="020F0502020204030204"/>
      </a:defRPr>
    </a:lvl2pPr>
    <a:lvl3pPr indent="457200" latinLnBrk="0">
      <a:defRPr sz="1200">
        <a:latin typeface="+mj-lt"/>
        <a:ea typeface="+mj-ea"/>
        <a:cs typeface="+mj-cs"/>
        <a:sym typeface="Calibri" panose="020F0502020204030204"/>
      </a:defRPr>
    </a:lvl3pPr>
    <a:lvl4pPr indent="685800" latinLnBrk="0">
      <a:defRPr sz="1200">
        <a:latin typeface="+mj-lt"/>
        <a:ea typeface="+mj-ea"/>
        <a:cs typeface="+mj-cs"/>
        <a:sym typeface="Calibri" panose="020F0502020204030204"/>
      </a:defRPr>
    </a:lvl4pPr>
    <a:lvl5pPr indent="914400" latinLnBrk="0">
      <a:defRPr sz="1200">
        <a:latin typeface="+mj-lt"/>
        <a:ea typeface="+mj-ea"/>
        <a:cs typeface="+mj-cs"/>
        <a:sym typeface="Calibri" panose="020F0502020204030204"/>
      </a:defRPr>
    </a:lvl5pPr>
    <a:lvl6pPr indent="1143000" latinLnBrk="0">
      <a:defRPr sz="1200">
        <a:latin typeface="+mj-lt"/>
        <a:ea typeface="+mj-ea"/>
        <a:cs typeface="+mj-cs"/>
        <a:sym typeface="Calibri" panose="020F0502020204030204"/>
      </a:defRPr>
    </a:lvl6pPr>
    <a:lvl7pPr indent="1371600" latinLnBrk="0">
      <a:defRPr sz="1200">
        <a:latin typeface="+mj-lt"/>
        <a:ea typeface="+mj-ea"/>
        <a:cs typeface="+mj-cs"/>
        <a:sym typeface="Calibri" panose="020F0502020204030204"/>
      </a:defRPr>
    </a:lvl7pPr>
    <a:lvl8pPr indent="1600200" latinLnBrk="0">
      <a:defRPr sz="1200">
        <a:latin typeface="+mj-lt"/>
        <a:ea typeface="+mj-ea"/>
        <a:cs typeface="+mj-cs"/>
        <a:sym typeface="Calibri" panose="020F0502020204030204"/>
      </a:defRPr>
    </a:lvl8pPr>
    <a:lvl9pPr indent="1828800" latinLnBrk="0">
      <a:defRPr sz="1200">
        <a:latin typeface="+mj-lt"/>
        <a:ea typeface="+mj-ea"/>
        <a:cs typeface="+mj-cs"/>
        <a:sym typeface="Calibri" panose="020F0502020204030204"/>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0.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p:nvPr>
        </p:nvSpPr>
        <p:spPr/>
      </p:sp>
      <p:sp>
        <p:nvSpPr>
          <p:cNvPr id="3" name="文本占位符 2"/>
          <p:cNvSpPr/>
          <p:nvPr>
            <p:ph type="body" idx="1"/>
          </p:nvPr>
        </p:nvSpPr>
        <p:spPr/>
        <p:txBody>
          <a:bodyPr/>
          <a:p>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p:nvPr>
        </p:nvSpPr>
        <p:spPr/>
      </p:sp>
      <p:sp>
        <p:nvSpPr>
          <p:cNvPr id="3" name="文本占位符 2"/>
          <p:cNvSpPr/>
          <p:nvPr>
            <p:ph type="body" idx="1"/>
          </p:nvPr>
        </p:nvSpPr>
        <p:spPr/>
        <p:txBody>
          <a:bodyPr/>
          <a:p>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p:nvPr>
        </p:nvSpPr>
        <p:spPr/>
      </p:sp>
      <p:sp>
        <p:nvSpPr>
          <p:cNvPr id="3" name="文本占位符 2"/>
          <p:cNvSpPr/>
          <p:nvPr>
            <p:ph type="body" idx="1"/>
          </p:nvPr>
        </p:nvSpPr>
        <p:spPr/>
        <p:txBody>
          <a:bodyPr/>
          <a:p>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p:nvPr>
        </p:nvSpPr>
        <p:spPr/>
      </p:sp>
      <p:sp>
        <p:nvSpPr>
          <p:cNvPr id="3" name="文本占位符 2"/>
          <p:cNvSpPr/>
          <p:nvPr>
            <p:ph type="body" idx="1"/>
          </p:nvPr>
        </p:nvSpPr>
        <p:spPr/>
        <p:txBody>
          <a:bodyPr/>
          <a:p>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p:nvPr>
        </p:nvSpPr>
        <p:spPr/>
      </p:sp>
      <p:sp>
        <p:nvSpPr>
          <p:cNvPr id="3" name="文本占位符 2"/>
          <p:cNvSpPr/>
          <p:nvPr>
            <p:ph type="body" idx="1"/>
          </p:nvPr>
        </p:nvSpPr>
        <p:spPr/>
        <p:txBody>
          <a:bodyPr/>
          <a:p>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p:nvPr>
        </p:nvSpPr>
        <p:spPr/>
      </p:sp>
      <p:sp>
        <p:nvSpPr>
          <p:cNvPr id="3" name="文本占位符 2"/>
          <p:cNvSpPr/>
          <p:nvPr>
            <p:ph type="body" idx="1"/>
          </p:nvPr>
        </p:nvSpPr>
        <p:spPr/>
        <p:txBody>
          <a:bodyPr/>
          <a:p>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p:nvPr>
        </p:nvSpPr>
        <p:spPr/>
      </p:sp>
      <p:sp>
        <p:nvSpPr>
          <p:cNvPr id="3" name="文本占位符 2"/>
          <p:cNvSpPr/>
          <p:nvPr>
            <p:ph type="body" idx="1"/>
          </p:nvPr>
        </p:nvSpPr>
        <p:spPr/>
        <p:txBody>
          <a:bodyPr/>
          <a:p>
            <a:endParaRPr lang="zh-C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p:nvPr>
        </p:nvSpPr>
        <p:spPr/>
      </p:sp>
      <p:sp>
        <p:nvSpPr>
          <p:cNvPr id="3" name="文本占位符 2"/>
          <p:cNvSpPr/>
          <p:nvPr>
            <p:ph type="body" idx="1"/>
          </p:nvPr>
        </p:nvSpPr>
        <p:spPr/>
        <p:txBody>
          <a:bodyPr/>
          <a:p>
            <a:endParaRPr lang="zh-CN"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p:nvPr>
        </p:nvSpPr>
        <p:spPr/>
      </p:sp>
      <p:sp>
        <p:nvSpPr>
          <p:cNvPr id="3" name="文本占位符 2"/>
          <p:cNvSpPr/>
          <p:nvPr>
            <p:ph type="body" idx="1"/>
          </p:nvPr>
        </p:nvSpPr>
        <p:spPr/>
        <p:txBody>
          <a:bodyPr/>
          <a:p>
            <a:endParaRPr lang="zh-CN"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p:nvPr>
        </p:nvSpPr>
        <p:spPr/>
      </p:sp>
      <p:sp>
        <p:nvSpPr>
          <p:cNvPr id="3" name="文本占位符 2"/>
          <p:cNvSpPr/>
          <p:nvPr>
            <p:ph type="body" idx="1"/>
          </p:nvPr>
        </p:nvSpPr>
        <p:spPr/>
        <p:txBody>
          <a:bodyPr/>
          <a:p>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5" Type="http://schemas.openxmlformats.org/officeDocument/2006/relationships/image" Target="../media/image9.png"/><Relationship Id="rId4" Type="http://schemas.openxmlformats.org/officeDocument/2006/relationships/image" Target="../media/image8.png"/><Relationship Id="rId3" Type="http://schemas.openxmlformats.org/officeDocument/2006/relationships/image" Target="../media/image2.png"/><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showMasterSp="0">
  <p:cSld name="封面">
    <p:spTree>
      <p:nvGrpSpPr>
        <p:cNvPr id="1" name=""/>
        <p:cNvGrpSpPr/>
        <p:nvPr/>
      </p:nvGrpSpPr>
      <p:grpSpPr>
        <a:xfrm>
          <a:off x="0" y="0"/>
          <a:ext cx="0" cy="0"/>
          <a:chOff x="0" y="0"/>
          <a:chExt cx="0" cy="0"/>
        </a:xfrm>
      </p:grpSpPr>
      <p:pic>
        <p:nvPicPr>
          <p:cNvPr id="13" name="ppt活波-封面.png" descr="ppt活波-封面.png"/>
          <p:cNvPicPr>
            <a:picLocks noChangeAspect="1"/>
          </p:cNvPicPr>
          <p:nvPr/>
        </p:nvPicPr>
        <p:blipFill>
          <a:blip r:embed="rId2"/>
          <a:srcRect l="17" r="17"/>
          <a:stretch>
            <a:fillRect/>
          </a:stretch>
        </p:blipFill>
        <p:spPr>
          <a:xfrm>
            <a:off x="0" y="0"/>
            <a:ext cx="12192000" cy="6860418"/>
          </a:xfrm>
          <a:prstGeom prst="rect">
            <a:avLst/>
          </a:prstGeom>
          <a:ln w="12700">
            <a:miter lim="400000"/>
            <a:headEnd/>
            <a:tailEnd/>
          </a:ln>
        </p:spPr>
      </p:pic>
      <p:sp>
        <p:nvSpPr>
          <p:cNvPr id="14" name="标题文本"/>
          <p:cNvSpPr txBox="1"/>
          <p:nvPr>
            <p:ph type="title" hasCustomPrompt="1"/>
          </p:nvPr>
        </p:nvSpPr>
        <p:spPr>
          <a:xfrm>
            <a:off x="4848984" y="1909715"/>
            <a:ext cx="6361015" cy="1670840"/>
          </a:xfrm>
          <a:prstGeom prst="rect">
            <a:avLst/>
          </a:prstGeom>
        </p:spPr>
        <p:txBody>
          <a:bodyPr anchor="t"/>
          <a:lstStyle>
            <a:lvl1pPr algn="r">
              <a:defRPr b="1">
                <a:solidFill>
                  <a:srgbClr val="FFFFFF"/>
                </a:solidFill>
                <a:latin typeface="微软雅黑" panose="020B0503020204020204" charset="-122"/>
                <a:ea typeface="微软雅黑" panose="020B0503020204020204" charset="-122"/>
                <a:cs typeface="微软雅黑" panose="020B0503020204020204" charset="-122"/>
                <a:sym typeface="微软雅黑" panose="020B0503020204020204" charset="-122"/>
              </a:defRPr>
            </a:lvl1pPr>
          </a:lstStyle>
          <a:p>
            <a:r>
              <a:t>标题文本</a:t>
            </a:r>
          </a:p>
        </p:txBody>
      </p:sp>
      <p:sp>
        <p:nvSpPr>
          <p:cNvPr id="15" name="正文级别 1…"/>
          <p:cNvSpPr txBox="1"/>
          <p:nvPr>
            <p:ph type="body" sz="quarter" idx="1" hasCustomPrompt="1"/>
          </p:nvPr>
        </p:nvSpPr>
        <p:spPr>
          <a:xfrm>
            <a:off x="7377588" y="3413038"/>
            <a:ext cx="3832411" cy="1670840"/>
          </a:xfrm>
          <a:prstGeom prst="rect">
            <a:avLst/>
          </a:prstGeom>
        </p:spPr>
        <p:txBody>
          <a:bodyPr anchor="ctr"/>
          <a:lstStyle>
            <a:lvl1pPr marL="0" indent="0" algn="r">
              <a:lnSpc>
                <a:spcPct val="120000"/>
              </a:lnSpc>
              <a:buSzTx/>
              <a:buFontTx/>
              <a:buNone/>
              <a:defRPr sz="1400">
                <a:solidFill>
                  <a:srgbClr val="FFFFFF"/>
                </a:solidFill>
                <a:latin typeface="微软雅黑" panose="020B0503020204020204" charset="-122"/>
                <a:ea typeface="微软雅黑" panose="020B0503020204020204" charset="-122"/>
                <a:cs typeface="微软雅黑" panose="020B0503020204020204" charset="-122"/>
                <a:sym typeface="微软雅黑" panose="020B0503020204020204" charset="-122"/>
              </a:defRPr>
            </a:lvl1pPr>
            <a:lvl2pPr marL="0" indent="457200" algn="r">
              <a:lnSpc>
                <a:spcPct val="120000"/>
              </a:lnSpc>
              <a:buSzTx/>
              <a:buFontTx/>
              <a:buNone/>
              <a:defRPr sz="1400">
                <a:solidFill>
                  <a:srgbClr val="FFFFFF"/>
                </a:solidFill>
                <a:latin typeface="微软雅黑" panose="020B0503020204020204" charset="-122"/>
                <a:ea typeface="微软雅黑" panose="020B0503020204020204" charset="-122"/>
                <a:cs typeface="微软雅黑" panose="020B0503020204020204" charset="-122"/>
                <a:sym typeface="微软雅黑" panose="020B0503020204020204" charset="-122"/>
              </a:defRPr>
            </a:lvl2pPr>
            <a:lvl3pPr marL="0" indent="914400" algn="r">
              <a:lnSpc>
                <a:spcPct val="120000"/>
              </a:lnSpc>
              <a:buSzTx/>
              <a:buFontTx/>
              <a:buNone/>
              <a:defRPr sz="1400">
                <a:solidFill>
                  <a:srgbClr val="FFFFFF"/>
                </a:solidFill>
                <a:latin typeface="微软雅黑" panose="020B0503020204020204" charset="-122"/>
                <a:ea typeface="微软雅黑" panose="020B0503020204020204" charset="-122"/>
                <a:cs typeface="微软雅黑" panose="020B0503020204020204" charset="-122"/>
                <a:sym typeface="微软雅黑" panose="020B0503020204020204" charset="-122"/>
              </a:defRPr>
            </a:lvl3pPr>
            <a:lvl4pPr marL="0" indent="1371600" algn="r">
              <a:lnSpc>
                <a:spcPct val="120000"/>
              </a:lnSpc>
              <a:buSzTx/>
              <a:buFontTx/>
              <a:buNone/>
              <a:defRPr sz="1400">
                <a:solidFill>
                  <a:srgbClr val="FFFFFF"/>
                </a:solidFill>
                <a:latin typeface="微软雅黑" panose="020B0503020204020204" charset="-122"/>
                <a:ea typeface="微软雅黑" panose="020B0503020204020204" charset="-122"/>
                <a:cs typeface="微软雅黑" panose="020B0503020204020204" charset="-122"/>
                <a:sym typeface="微软雅黑" panose="020B0503020204020204" charset="-122"/>
              </a:defRPr>
            </a:lvl4pPr>
            <a:lvl5pPr marL="0" indent="1828800" algn="r">
              <a:lnSpc>
                <a:spcPct val="120000"/>
              </a:lnSpc>
              <a:buSzTx/>
              <a:buFontTx/>
              <a:buNone/>
              <a:defRPr sz="1400">
                <a:solidFill>
                  <a:srgbClr val="FFFFFF"/>
                </a:solidFill>
                <a:latin typeface="微软雅黑" panose="020B0503020204020204" charset="-122"/>
                <a:ea typeface="微软雅黑" panose="020B0503020204020204" charset="-122"/>
                <a:cs typeface="微软雅黑" panose="020B0503020204020204" charset="-122"/>
                <a:sym typeface="微软雅黑" panose="020B0503020204020204" charset="-122"/>
              </a:defRPr>
            </a:lvl5pPr>
          </a:lstStyle>
          <a:p>
            <a:r>
              <a:t>主讲部门：XXXXXX</a:t>
            </a:r>
          </a:p>
          <a:p>
            <a:pPr lvl="1"/>
          </a:p>
          <a:p>
            <a:pPr lvl="2"/>
          </a:p>
          <a:p>
            <a:pPr lvl="3"/>
          </a:p>
          <a:p>
            <a:pPr lvl="4"/>
          </a:p>
        </p:txBody>
      </p:sp>
      <p:pic>
        <p:nvPicPr>
          <p:cNvPr id="16" name="logo-05.png" descr="logo-05.png"/>
          <p:cNvPicPr>
            <a:picLocks noChangeAspect="1"/>
          </p:cNvPicPr>
          <p:nvPr/>
        </p:nvPicPr>
        <p:blipFill>
          <a:blip r:embed="rId3"/>
          <a:stretch>
            <a:fillRect/>
          </a:stretch>
        </p:blipFill>
        <p:spPr>
          <a:xfrm>
            <a:off x="719342" y="554809"/>
            <a:ext cx="2675407" cy="486805"/>
          </a:xfrm>
          <a:prstGeom prst="rect">
            <a:avLst/>
          </a:prstGeom>
          <a:ln w="12700">
            <a:miter lim="400000"/>
            <a:headEnd/>
            <a:tailEnd/>
          </a:ln>
        </p:spPr>
      </p:pic>
      <p:sp>
        <p:nvSpPr>
          <p:cNvPr id="17" name="幻灯片编号"/>
          <p:cNvSpPr txBox="1"/>
          <p:nvPr>
            <p:ph type="sldNum" sz="quarter" idx="2"/>
          </p:nvPr>
        </p:nvSpPr>
        <p:spPr>
          <a:xfrm>
            <a:off x="5892800" y="6172200"/>
            <a:ext cx="2844800" cy="368301"/>
          </a:xfrm>
          <a:prstGeom prst="rect">
            <a:avLst/>
          </a:prstGeom>
        </p:spPr>
        <p:txBody>
          <a:bodyPr/>
          <a:lstStyle/>
          <a:p>
            <a:fld id="{86CB4B4D-7CA3-9044-876B-883B54F8677D}" type="slidenum">
              <a:rPr/>
            </a:fld>
            <a:endParaRPr/>
          </a:p>
        </p:txBody>
      </p:sp>
    </p:spTree>
  </p:cSld>
  <p:clrMapOvr>
    <a:masterClrMapping/>
  </p:clrMapOvr>
  <p:transition spd="med"/>
</p:sldLayout>
</file>

<file path=ppt/slideLayouts/slideLayout2.xml><?xml version="1.0" encoding="utf-8"?>
<p:sldLayout xmlns:a="http://schemas.openxmlformats.org/drawingml/2006/main" xmlns:r="http://schemas.openxmlformats.org/officeDocument/2006/relationships" xmlns:p="http://schemas.openxmlformats.org/presentationml/2006/main" type="tx">
  <p:cSld name="目录">
    <p:spTree>
      <p:nvGrpSpPr>
        <p:cNvPr id="1" name=""/>
        <p:cNvGrpSpPr/>
        <p:nvPr/>
      </p:nvGrpSpPr>
      <p:grpSpPr>
        <a:xfrm>
          <a:off x="0" y="0"/>
          <a:ext cx="0" cy="0"/>
          <a:chOff x="0" y="0"/>
          <a:chExt cx="0" cy="0"/>
        </a:xfrm>
      </p:grpSpPr>
      <p:sp>
        <p:nvSpPr>
          <p:cNvPr id="24" name="幻灯片编号"/>
          <p:cNvSpPr txBox="1"/>
          <p:nvPr>
            <p:ph type="sldNum" sz="quarter" idx="2"/>
          </p:nvPr>
        </p:nvSpPr>
        <p:spPr>
          <a:prstGeom prst="rect">
            <a:avLst/>
          </a:prstGeom>
        </p:spPr>
        <p:txBody>
          <a:bodyPr/>
          <a:lstStyle/>
          <a:p>
            <a:fld id="{86CB4B4D-7CA3-9044-876B-883B54F8677D}" type="slidenum">
              <a:rPr/>
            </a:fld>
            <a:endParaRPr/>
          </a:p>
        </p:txBody>
      </p:sp>
    </p:spTree>
  </p:cSld>
  <p:clrMapOvr>
    <a:masterClrMapping/>
  </p:clrMapOvr>
  <p:transition spd="med"/>
</p:sldLayout>
</file>

<file path=ppt/slideLayouts/slideLayout3.xml><?xml version="1.0" encoding="utf-8"?>
<p:sldLayout xmlns:a="http://schemas.openxmlformats.org/drawingml/2006/main" xmlns:r="http://schemas.openxmlformats.org/officeDocument/2006/relationships" xmlns:p="http://schemas.openxmlformats.org/presentationml/2006/main" type="tx" showMasterSp="0">
  <p:cSld name="大标题">
    <p:spTree>
      <p:nvGrpSpPr>
        <p:cNvPr id="1" name=""/>
        <p:cNvGrpSpPr/>
        <p:nvPr/>
      </p:nvGrpSpPr>
      <p:grpSpPr>
        <a:xfrm>
          <a:off x="0" y="0"/>
          <a:ext cx="0" cy="0"/>
          <a:chOff x="0" y="0"/>
          <a:chExt cx="0" cy="0"/>
        </a:xfrm>
      </p:grpSpPr>
      <p:pic>
        <p:nvPicPr>
          <p:cNvPr id="31" name="ppt活泼-大标题.png" descr="ppt活泼-大标题.png"/>
          <p:cNvPicPr>
            <a:picLocks noChangeAspect="1"/>
          </p:cNvPicPr>
          <p:nvPr/>
        </p:nvPicPr>
        <p:blipFill>
          <a:blip r:embed="rId2"/>
          <a:stretch>
            <a:fillRect/>
          </a:stretch>
        </p:blipFill>
        <p:spPr>
          <a:xfrm>
            <a:off x="0" y="0"/>
            <a:ext cx="12192000" cy="6858000"/>
          </a:xfrm>
          <a:prstGeom prst="rect">
            <a:avLst/>
          </a:prstGeom>
          <a:ln w="12700">
            <a:miter lim="400000"/>
            <a:headEnd/>
            <a:tailEnd/>
          </a:ln>
        </p:spPr>
      </p:pic>
      <p:pic>
        <p:nvPicPr>
          <p:cNvPr id="32" name="1慧择logo-反白.png" descr="1慧择logo-反白.png"/>
          <p:cNvPicPr>
            <a:picLocks noChangeAspect="1"/>
          </p:cNvPicPr>
          <p:nvPr/>
        </p:nvPicPr>
        <p:blipFill>
          <a:blip r:embed="rId3"/>
          <a:stretch>
            <a:fillRect/>
          </a:stretch>
        </p:blipFill>
        <p:spPr>
          <a:xfrm>
            <a:off x="10678416" y="298378"/>
            <a:ext cx="1140168" cy="532803"/>
          </a:xfrm>
          <a:prstGeom prst="rect">
            <a:avLst/>
          </a:prstGeom>
          <a:ln w="12700">
            <a:miter lim="400000"/>
            <a:headEnd/>
            <a:tailEnd/>
          </a:ln>
        </p:spPr>
      </p:pic>
      <p:sp>
        <p:nvSpPr>
          <p:cNvPr id="33" name="幻灯片编号"/>
          <p:cNvSpPr txBox="1"/>
          <p:nvPr>
            <p:ph type="sldNum" sz="quarter" idx="2"/>
          </p:nvPr>
        </p:nvSpPr>
        <p:spPr>
          <a:prstGeom prst="rect">
            <a:avLst/>
          </a:prstGeom>
        </p:spPr>
        <p:txBody>
          <a:bodyPr/>
          <a:lstStyle/>
          <a:p>
            <a:fld id="{86CB4B4D-7CA3-9044-876B-883B54F8677D}" type="slidenum">
              <a:rPr/>
            </a:fld>
            <a:endParaRPr/>
          </a:p>
        </p:txBody>
      </p:sp>
    </p:spTree>
  </p:cSld>
  <p:clrMapOvr>
    <a:masterClrMapping/>
  </p:clrMapOvr>
  <p:transition spd="med"/>
</p:sldLayout>
</file>

<file path=ppt/slideLayouts/slideLayout4.xml><?xml version="1.0" encoding="utf-8"?>
<p:sldLayout xmlns:a="http://schemas.openxmlformats.org/drawingml/2006/main" xmlns:r="http://schemas.openxmlformats.org/officeDocument/2006/relationships" xmlns:p="http://schemas.openxmlformats.org/presentationml/2006/main" type="tx" showMasterSp="0">
  <p:cSld name="标题和内容">
    <p:spTree>
      <p:nvGrpSpPr>
        <p:cNvPr id="1" name=""/>
        <p:cNvGrpSpPr/>
        <p:nvPr/>
      </p:nvGrpSpPr>
      <p:grpSpPr>
        <a:xfrm>
          <a:off x="0" y="0"/>
          <a:ext cx="0" cy="0"/>
          <a:chOff x="0" y="0"/>
          <a:chExt cx="0" cy="0"/>
        </a:xfrm>
      </p:grpSpPr>
      <p:pic>
        <p:nvPicPr>
          <p:cNvPr id="40" name="ppt活泼-内页.png" descr="ppt活泼-内页.png"/>
          <p:cNvPicPr>
            <a:picLocks noChangeAspect="1"/>
          </p:cNvPicPr>
          <p:nvPr/>
        </p:nvPicPr>
        <p:blipFill>
          <a:blip r:embed="rId2"/>
          <a:stretch>
            <a:fillRect/>
          </a:stretch>
        </p:blipFill>
        <p:spPr>
          <a:xfrm>
            <a:off x="0" y="0"/>
            <a:ext cx="12192000" cy="6858000"/>
          </a:xfrm>
          <a:prstGeom prst="rect">
            <a:avLst/>
          </a:prstGeom>
          <a:ln w="12700">
            <a:miter lim="400000"/>
            <a:headEnd/>
            <a:tailEnd/>
          </a:ln>
        </p:spPr>
      </p:pic>
      <p:sp>
        <p:nvSpPr>
          <p:cNvPr id="41" name="标题"/>
          <p:cNvSpPr txBox="1"/>
          <p:nvPr>
            <p:ph type="title" hasCustomPrompt="1"/>
          </p:nvPr>
        </p:nvSpPr>
        <p:spPr>
          <a:xfrm>
            <a:off x="877367" y="341579"/>
            <a:ext cx="9089580" cy="675001"/>
          </a:xfrm>
          <a:prstGeom prst="rect">
            <a:avLst/>
          </a:prstGeom>
        </p:spPr>
        <p:txBody>
          <a:bodyPr/>
          <a:lstStyle>
            <a:lvl1pPr>
              <a:defRPr sz="3000" b="1">
                <a:solidFill>
                  <a:srgbClr val="0564CD"/>
                </a:solidFill>
                <a:latin typeface="微软雅黑" panose="020B0503020204020204" charset="-122"/>
                <a:ea typeface="微软雅黑" panose="020B0503020204020204" charset="-122"/>
                <a:cs typeface="微软雅黑" panose="020B0503020204020204" charset="-122"/>
                <a:sym typeface="微软雅黑" panose="020B0503020204020204" charset="-122"/>
              </a:defRPr>
            </a:lvl1pPr>
          </a:lstStyle>
          <a:p>
            <a:r>
              <a:t>标题</a:t>
            </a:r>
          </a:p>
        </p:txBody>
      </p:sp>
      <p:sp>
        <p:nvSpPr>
          <p:cNvPr id="42" name="正文级别 1…"/>
          <p:cNvSpPr txBox="1"/>
          <p:nvPr>
            <p:ph type="body" idx="1" hasCustomPrompt="1"/>
          </p:nvPr>
        </p:nvSpPr>
        <p:spPr>
          <a:xfrm>
            <a:off x="877367" y="1403999"/>
            <a:ext cx="10437266" cy="4627417"/>
          </a:xfrm>
          <a:prstGeom prst="rect">
            <a:avLst/>
          </a:prstGeom>
        </p:spPr>
        <p:txBody>
          <a:bodyPr/>
          <a:lstStyle>
            <a:lvl1pPr marL="457200" indent="-457200">
              <a:lnSpc>
                <a:spcPct val="120000"/>
              </a:lnSpc>
              <a:defRPr>
                <a:solidFill>
                  <a:srgbClr val="595959"/>
                </a:solidFill>
                <a:latin typeface="微软雅黑" panose="020B0503020204020204" charset="-122"/>
                <a:ea typeface="微软雅黑" panose="020B0503020204020204" charset="-122"/>
                <a:cs typeface="微软雅黑" panose="020B0503020204020204" charset="-122"/>
                <a:sym typeface="微软雅黑" panose="020B0503020204020204" charset="-122"/>
              </a:defRPr>
            </a:lvl1pPr>
            <a:lvl2pPr marL="857250" indent="-400050">
              <a:lnSpc>
                <a:spcPct val="120000"/>
              </a:lnSpc>
              <a:defRPr>
                <a:solidFill>
                  <a:srgbClr val="595959"/>
                </a:solidFill>
                <a:latin typeface="微软雅黑" panose="020B0503020204020204" charset="-122"/>
                <a:ea typeface="微软雅黑" panose="020B0503020204020204" charset="-122"/>
                <a:cs typeface="微软雅黑" panose="020B0503020204020204" charset="-122"/>
                <a:sym typeface="微软雅黑" panose="020B0503020204020204" charset="-122"/>
              </a:defRPr>
            </a:lvl2pPr>
            <a:lvl3pPr marL="1394460" indent="-480060">
              <a:lnSpc>
                <a:spcPct val="120000"/>
              </a:lnSpc>
              <a:defRPr>
                <a:solidFill>
                  <a:srgbClr val="595959"/>
                </a:solidFill>
                <a:latin typeface="微软雅黑" panose="020B0503020204020204" charset="-122"/>
                <a:ea typeface="微软雅黑" panose="020B0503020204020204" charset="-122"/>
                <a:cs typeface="微软雅黑" panose="020B0503020204020204" charset="-122"/>
                <a:sym typeface="微软雅黑" panose="020B0503020204020204" charset="-122"/>
              </a:defRPr>
            </a:lvl3pPr>
            <a:lvl4pPr marL="1816100" indent="-444500">
              <a:lnSpc>
                <a:spcPct val="120000"/>
              </a:lnSpc>
              <a:defRPr>
                <a:solidFill>
                  <a:srgbClr val="595959"/>
                </a:solidFill>
                <a:latin typeface="微软雅黑" panose="020B0503020204020204" charset="-122"/>
                <a:ea typeface="微软雅黑" panose="020B0503020204020204" charset="-122"/>
                <a:cs typeface="微软雅黑" panose="020B0503020204020204" charset="-122"/>
                <a:sym typeface="微软雅黑" panose="020B0503020204020204" charset="-122"/>
              </a:defRPr>
            </a:lvl4pPr>
            <a:lvl5pPr marL="2273300" indent="-444500">
              <a:lnSpc>
                <a:spcPct val="120000"/>
              </a:lnSpc>
              <a:defRPr>
                <a:solidFill>
                  <a:srgbClr val="595959"/>
                </a:solidFill>
                <a:latin typeface="微软雅黑" panose="020B0503020204020204" charset="-122"/>
                <a:ea typeface="微软雅黑" panose="020B0503020204020204" charset="-122"/>
                <a:cs typeface="微软雅黑" panose="020B0503020204020204" charset="-122"/>
                <a:sym typeface="微软雅黑" panose="020B0503020204020204" charset="-122"/>
              </a:defRPr>
            </a:lvl5pPr>
          </a:lstStyle>
          <a:p>
            <a:r>
              <a:t>正文级别 1</a:t>
            </a:r>
          </a:p>
          <a:p>
            <a:pPr lvl="1"/>
            <a:r>
              <a:t>正文级别 2</a:t>
            </a:r>
          </a:p>
          <a:p>
            <a:pPr lvl="2"/>
            <a:r>
              <a:t>正文级别 3</a:t>
            </a:r>
          </a:p>
          <a:p>
            <a:pPr lvl="3"/>
            <a:r>
              <a:t>正文级别 4</a:t>
            </a:r>
          </a:p>
          <a:p>
            <a:pPr lvl="4"/>
            <a:r>
              <a:t>正文级别 5</a:t>
            </a:r>
          </a:p>
        </p:txBody>
      </p:sp>
      <p:pic>
        <p:nvPicPr>
          <p:cNvPr id="43" name="图片 10" descr="图片 10"/>
          <p:cNvPicPr>
            <a:picLocks noChangeAspect="1"/>
          </p:cNvPicPr>
          <p:nvPr/>
        </p:nvPicPr>
        <p:blipFill>
          <a:blip r:embed="rId3"/>
          <a:stretch>
            <a:fillRect/>
          </a:stretch>
        </p:blipFill>
        <p:spPr>
          <a:xfrm>
            <a:off x="10595999" y="13879"/>
            <a:ext cx="1305001" cy="1305001"/>
          </a:xfrm>
          <a:prstGeom prst="rect">
            <a:avLst/>
          </a:prstGeom>
          <a:ln w="12700">
            <a:miter lim="400000"/>
            <a:headEnd/>
            <a:tailEnd/>
          </a:ln>
        </p:spPr>
      </p:pic>
      <p:sp>
        <p:nvSpPr>
          <p:cNvPr id="44" name="幻灯片编号"/>
          <p:cNvSpPr txBox="1"/>
          <p:nvPr>
            <p:ph type="sldNum" sz="quarter" idx="2"/>
          </p:nvPr>
        </p:nvSpPr>
        <p:spPr>
          <a:prstGeom prst="rect">
            <a:avLst/>
          </a:prstGeom>
        </p:spPr>
        <p:txBody>
          <a:bodyPr/>
          <a:lstStyle/>
          <a:p>
            <a:fld id="{86CB4B4D-7CA3-9044-876B-883B54F8677D}" type="slidenum">
              <a:rPr/>
            </a:fld>
            <a:endParaRPr/>
          </a:p>
        </p:txBody>
      </p:sp>
    </p:spTree>
  </p:cSld>
  <p:clrMapOvr>
    <a:masterClrMapping/>
  </p:clrMapOvr>
  <p:transition spd="med"/>
</p:sldLayout>
</file>

<file path=ppt/slideLayouts/slideLayout5.xml><?xml version="1.0" encoding="utf-8"?>
<p:sldLayout xmlns:a="http://schemas.openxmlformats.org/drawingml/2006/main" xmlns:r="http://schemas.openxmlformats.org/officeDocument/2006/relationships" xmlns:p="http://schemas.openxmlformats.org/presentationml/2006/main" type="tx" showMasterSp="0">
  <p:cSld name="空白">
    <p:spTree>
      <p:nvGrpSpPr>
        <p:cNvPr id="1" name=""/>
        <p:cNvGrpSpPr/>
        <p:nvPr/>
      </p:nvGrpSpPr>
      <p:grpSpPr>
        <a:xfrm>
          <a:off x="0" y="0"/>
          <a:ext cx="0" cy="0"/>
          <a:chOff x="0" y="0"/>
          <a:chExt cx="0" cy="0"/>
        </a:xfrm>
      </p:grpSpPr>
      <p:pic>
        <p:nvPicPr>
          <p:cNvPr id="51" name="ppt活泼-内页.png" descr="ppt活泼-内页.png"/>
          <p:cNvPicPr>
            <a:picLocks noChangeAspect="1"/>
          </p:cNvPicPr>
          <p:nvPr/>
        </p:nvPicPr>
        <p:blipFill>
          <a:blip r:embed="rId2"/>
          <a:stretch>
            <a:fillRect/>
          </a:stretch>
        </p:blipFill>
        <p:spPr>
          <a:xfrm>
            <a:off x="0" y="0"/>
            <a:ext cx="12192000" cy="6858000"/>
          </a:xfrm>
          <a:prstGeom prst="rect">
            <a:avLst/>
          </a:prstGeom>
          <a:ln w="12700">
            <a:miter lim="400000"/>
            <a:headEnd/>
            <a:tailEnd/>
          </a:ln>
        </p:spPr>
      </p:pic>
      <p:pic>
        <p:nvPicPr>
          <p:cNvPr id="52" name="图片 10" descr="图片 10"/>
          <p:cNvPicPr>
            <a:picLocks noChangeAspect="1"/>
          </p:cNvPicPr>
          <p:nvPr/>
        </p:nvPicPr>
        <p:blipFill>
          <a:blip r:embed="rId3"/>
          <a:stretch>
            <a:fillRect/>
          </a:stretch>
        </p:blipFill>
        <p:spPr>
          <a:xfrm>
            <a:off x="10595999" y="13879"/>
            <a:ext cx="1305001" cy="1305001"/>
          </a:xfrm>
          <a:prstGeom prst="rect">
            <a:avLst/>
          </a:prstGeom>
          <a:ln w="12700">
            <a:miter lim="400000"/>
            <a:headEnd/>
            <a:tailEnd/>
          </a:ln>
        </p:spPr>
      </p:pic>
      <p:sp>
        <p:nvSpPr>
          <p:cNvPr id="53" name="幻灯片编号"/>
          <p:cNvSpPr txBox="1"/>
          <p:nvPr>
            <p:ph type="sldNum" sz="quarter" idx="2"/>
          </p:nvPr>
        </p:nvSpPr>
        <p:spPr>
          <a:prstGeom prst="rect">
            <a:avLst/>
          </a:prstGeom>
        </p:spPr>
        <p:txBody>
          <a:bodyPr/>
          <a:lstStyle/>
          <a:p>
            <a:fld id="{86CB4B4D-7CA3-9044-876B-883B54F8677D}" type="slidenum">
              <a:rPr/>
            </a:fld>
            <a:endParaRPr/>
          </a:p>
        </p:txBody>
      </p:sp>
    </p:spTree>
  </p:cSld>
  <p:clrMapOvr>
    <a:masterClrMapping/>
  </p:clrMapOvr>
  <p:transition spd="med"/>
</p:sldLayout>
</file>

<file path=ppt/slideLayouts/slideLayout6.xml><?xml version="1.0" encoding="utf-8"?>
<p:sldLayout xmlns:a="http://schemas.openxmlformats.org/drawingml/2006/main" xmlns:r="http://schemas.openxmlformats.org/officeDocument/2006/relationships" xmlns:p="http://schemas.openxmlformats.org/presentationml/2006/main" type="tx" showMasterSp="0">
  <p:cSld name="结束">
    <p:spTree>
      <p:nvGrpSpPr>
        <p:cNvPr id="1" name=""/>
        <p:cNvGrpSpPr/>
        <p:nvPr/>
      </p:nvGrpSpPr>
      <p:grpSpPr>
        <a:xfrm>
          <a:off x="0" y="0"/>
          <a:ext cx="0" cy="0"/>
          <a:chOff x="0" y="0"/>
          <a:chExt cx="0" cy="0"/>
        </a:xfrm>
      </p:grpSpPr>
      <p:pic>
        <p:nvPicPr>
          <p:cNvPr id="60" name="ppt活泼-结束.png" descr="ppt活泼-结束.png"/>
          <p:cNvPicPr>
            <a:picLocks noChangeAspect="1"/>
          </p:cNvPicPr>
          <p:nvPr/>
        </p:nvPicPr>
        <p:blipFill>
          <a:blip r:embed="rId2"/>
          <a:srcRect l="17" r="17"/>
          <a:stretch>
            <a:fillRect/>
          </a:stretch>
        </p:blipFill>
        <p:spPr>
          <a:xfrm>
            <a:off x="0" y="0"/>
            <a:ext cx="12192000" cy="6860418"/>
          </a:xfrm>
          <a:prstGeom prst="rect">
            <a:avLst/>
          </a:prstGeom>
          <a:ln w="12700">
            <a:miter lim="400000"/>
            <a:headEnd/>
            <a:tailEnd/>
          </a:ln>
        </p:spPr>
      </p:pic>
      <p:pic>
        <p:nvPicPr>
          <p:cNvPr id="61" name="logo-05.png" descr="logo-05.png"/>
          <p:cNvPicPr>
            <a:picLocks noChangeAspect="1"/>
          </p:cNvPicPr>
          <p:nvPr/>
        </p:nvPicPr>
        <p:blipFill>
          <a:blip r:embed="rId3"/>
          <a:stretch>
            <a:fillRect/>
          </a:stretch>
        </p:blipFill>
        <p:spPr>
          <a:xfrm>
            <a:off x="719342" y="554809"/>
            <a:ext cx="2675407" cy="486805"/>
          </a:xfrm>
          <a:prstGeom prst="rect">
            <a:avLst/>
          </a:prstGeom>
          <a:ln w="12700">
            <a:miter lim="400000"/>
            <a:headEnd/>
            <a:tailEnd/>
          </a:ln>
        </p:spPr>
      </p:pic>
      <p:pic>
        <p:nvPicPr>
          <p:cNvPr id="62" name="THANK YOU_.png" descr="THANK YOU_.png"/>
          <p:cNvPicPr>
            <a:picLocks noChangeAspect="1"/>
          </p:cNvPicPr>
          <p:nvPr/>
        </p:nvPicPr>
        <p:blipFill>
          <a:blip r:embed="rId4"/>
          <a:stretch>
            <a:fillRect/>
          </a:stretch>
        </p:blipFill>
        <p:spPr>
          <a:xfrm>
            <a:off x="5929074" y="2548145"/>
            <a:ext cx="5021442" cy="677547"/>
          </a:xfrm>
          <a:prstGeom prst="rect">
            <a:avLst/>
          </a:prstGeom>
          <a:ln w="12700">
            <a:miter lim="400000"/>
            <a:headEnd/>
            <a:tailEnd/>
          </a:ln>
        </p:spPr>
      </p:pic>
      <p:pic>
        <p:nvPicPr>
          <p:cNvPr id="63" name="9用心传递保险善意-反白.png" descr="9用心传递保险善意-反白.png"/>
          <p:cNvPicPr>
            <a:picLocks noChangeAspect="1"/>
          </p:cNvPicPr>
          <p:nvPr/>
        </p:nvPicPr>
        <p:blipFill>
          <a:blip r:embed="rId5"/>
          <a:stretch>
            <a:fillRect/>
          </a:stretch>
        </p:blipFill>
        <p:spPr>
          <a:xfrm>
            <a:off x="6906553" y="3606194"/>
            <a:ext cx="3193484" cy="700207"/>
          </a:xfrm>
          <a:prstGeom prst="rect">
            <a:avLst/>
          </a:prstGeom>
          <a:ln w="12700">
            <a:miter lim="400000"/>
            <a:headEnd/>
            <a:tailEnd/>
          </a:ln>
        </p:spPr>
      </p:pic>
      <p:sp>
        <p:nvSpPr>
          <p:cNvPr id="64" name="幻灯片编号"/>
          <p:cNvSpPr txBox="1"/>
          <p:nvPr>
            <p:ph type="sldNum" sz="quarter" idx="2"/>
          </p:nvPr>
        </p:nvSpPr>
        <p:spPr>
          <a:xfrm>
            <a:off x="5892800" y="6172200"/>
            <a:ext cx="2844800" cy="368301"/>
          </a:xfrm>
          <a:prstGeom prst="rect">
            <a:avLst/>
          </a:prstGeom>
        </p:spPr>
        <p:txBody>
          <a:bodyPr/>
          <a:lstStyle/>
          <a:p>
            <a:fld id="{86CB4B4D-7CA3-9044-876B-883B54F8677D}" type="slidenum">
              <a:rPr/>
            </a:fld>
            <a:endParaRPr/>
          </a:p>
        </p:txBody>
      </p:sp>
    </p:spTree>
  </p:cSld>
  <p:clrMapOvr>
    <a:masterClrMapping/>
  </p:clrMapOvr>
  <p:transition spd="med"/>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BLANK">
    <p:spTree>
      <p:nvGrpSpPr>
        <p:cNvPr id="1" name=""/>
        <p:cNvGrpSpPr/>
        <p:nvPr/>
      </p:nvGrpSpPr>
      <p:grpSpPr>
        <a:xfrm>
          <a:off x="0" y="0"/>
          <a:ext cx="0" cy="0"/>
          <a:chOff x="0" y="0"/>
          <a:chExt cx="0" cy="0"/>
        </a:xfrm>
      </p:grpSpPr>
    </p:spTree>
  </p:cSld>
  <p:clrMapOvr>
    <a:masterClrMapping/>
  </p:clrMapOvr>
  <p:transition spd="med"/>
</p:sldLayout>
</file>

<file path=ppt/slideMasters/_rels/slideMaster1.xml.rels><?xml version="1.0" encoding="UTF-8" standalone="yes"?>
<Relationships xmlns="http://schemas.openxmlformats.org/package/2006/relationships"><Relationship Id="rId9" Type="http://schemas.openxmlformats.org/officeDocument/2006/relationships/image" Target="../media/image4.png"/><Relationship Id="rId8" Type="http://schemas.openxmlformats.org/officeDocument/2006/relationships/image" Target="../media/image10.png"/><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0"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ppt活泼-目录.png" descr="ppt活泼-目录.png"/>
          <p:cNvPicPr>
            <a:picLocks noChangeAspect="1"/>
          </p:cNvPicPr>
          <p:nvPr/>
        </p:nvPicPr>
        <p:blipFill>
          <a:blip r:embed="rId8"/>
          <a:stretch>
            <a:fillRect/>
          </a:stretch>
        </p:blipFill>
        <p:spPr>
          <a:xfrm>
            <a:off x="0" y="0"/>
            <a:ext cx="12192000" cy="6858000"/>
          </a:xfrm>
          <a:prstGeom prst="rect">
            <a:avLst/>
          </a:prstGeom>
          <a:ln w="12700">
            <a:miter lim="400000"/>
            <a:headEnd/>
            <a:tailEnd/>
          </a:ln>
        </p:spPr>
      </p:pic>
      <p:pic>
        <p:nvPicPr>
          <p:cNvPr id="3" name="1慧择logo-反白.png" descr="1慧择logo-反白.png"/>
          <p:cNvPicPr>
            <a:picLocks noChangeAspect="1"/>
          </p:cNvPicPr>
          <p:nvPr/>
        </p:nvPicPr>
        <p:blipFill>
          <a:blip r:embed="rId9"/>
          <a:stretch>
            <a:fillRect/>
          </a:stretch>
        </p:blipFill>
        <p:spPr>
          <a:xfrm>
            <a:off x="10678416" y="298378"/>
            <a:ext cx="1140168" cy="532803"/>
          </a:xfrm>
          <a:prstGeom prst="rect">
            <a:avLst/>
          </a:prstGeom>
          <a:ln w="12700">
            <a:miter lim="400000"/>
            <a:headEnd/>
            <a:tailEnd/>
          </a:ln>
        </p:spPr>
      </p:pic>
      <p:sp>
        <p:nvSpPr>
          <p:cNvPr id="4" name="标题文本"/>
          <p:cNvSpPr txBox="1"/>
          <p:nvPr>
            <p:ph type="title"/>
          </p:nvPr>
        </p:nvSpPr>
        <p:spPr>
          <a:xfrm>
            <a:off x="609600" y="92074"/>
            <a:ext cx="10972800" cy="1508126"/>
          </a:xfrm>
          <a:prstGeom prst="rect">
            <a:avLst/>
          </a:prstGeom>
          <a:ln w="12700">
            <a:miter lim="400000"/>
          </a:ln>
        </p:spPr>
        <p:txBody>
          <a:bodyPr lIns="45719" rIns="45719" anchor="ctr">
            <a:normAutofit/>
          </a:bodyPr>
          <a:lstStyle/>
          <a:p>
            <a:r>
              <a:t>标题文本</a:t>
            </a:r>
          </a:p>
        </p:txBody>
      </p:sp>
      <p:sp>
        <p:nvSpPr>
          <p:cNvPr id="5" name="正文级别 1…"/>
          <p:cNvSpPr txBox="1"/>
          <p:nvPr>
            <p:ph type="body" idx="1"/>
          </p:nvPr>
        </p:nvSpPr>
        <p:spPr>
          <a:xfrm>
            <a:off x="609600" y="1600200"/>
            <a:ext cx="10972800" cy="5257800"/>
          </a:xfrm>
          <a:prstGeom prst="rect">
            <a:avLst/>
          </a:prstGeom>
          <a:ln w="12700">
            <a:miter lim="400000"/>
          </a:ln>
        </p:spPr>
        <p:txBody>
          <a:bodyPr lIns="45719" rIns="45719">
            <a:normAutofit/>
          </a:bodyPr>
          <a:lstStyle/>
          <a:p>
            <a:r>
              <a:t>正文级别 1</a:t>
            </a:r>
          </a:p>
          <a:p>
            <a:pPr lvl="1"/>
            <a:r>
              <a:t>正文级别 2</a:t>
            </a:r>
          </a:p>
          <a:p>
            <a:pPr lvl="2"/>
            <a:r>
              <a:t>正文级别 3</a:t>
            </a:r>
          </a:p>
          <a:p>
            <a:pPr lvl="3"/>
            <a:r>
              <a:t>正文级别 4</a:t>
            </a:r>
          </a:p>
          <a:p>
            <a:pPr lvl="4"/>
            <a:r>
              <a:t>正文级别 5</a:t>
            </a:r>
          </a:p>
        </p:txBody>
      </p:sp>
      <p:sp>
        <p:nvSpPr>
          <p:cNvPr id="6" name="幻灯片编号"/>
          <p:cNvSpPr txBox="1"/>
          <p:nvPr>
            <p:ph type="sldNum" sz="quarter" idx="2"/>
          </p:nvPr>
        </p:nvSpPr>
        <p:spPr>
          <a:xfrm>
            <a:off x="11640576" y="6457410"/>
            <a:ext cx="258625" cy="248306"/>
          </a:xfrm>
          <a:prstGeom prst="rect">
            <a:avLst/>
          </a:prstGeom>
          <a:ln w="12700">
            <a:miter lim="400000"/>
          </a:ln>
        </p:spPr>
        <p:txBody>
          <a:bodyPr wrap="none" lIns="45719" rIns="45719" anchor="ctr">
            <a:spAutoFit/>
          </a:bodyPr>
          <a:lstStyle>
            <a:lvl1pPr algn="r">
              <a:defRPr sz="1200">
                <a:solidFill>
                  <a:srgbClr val="888888"/>
                </a:solidFill>
              </a:defRPr>
            </a:lvl1pPr>
          </a:lstStyle>
          <a:p>
            <a:fld id="{86CB4B4D-7CA3-9044-876B-883B54F8677D}" type="slidenum">
              <a:rPr/>
            </a:fld>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Lst>
  <p:transition spd="med"/>
  <p:txStyles>
    <p:titleStyle>
      <a:lvl1pPr marL="0" marR="0" indent="0" algn="l" defTabSz="914400" rtl="0" latinLnBrk="0">
        <a:lnSpc>
          <a:spcPct val="90000"/>
        </a:lnSpc>
        <a:spcBef>
          <a:spcPts val="0"/>
        </a:spcBef>
        <a:spcAft>
          <a:spcPts val="0"/>
        </a:spcAft>
        <a:buClrTx/>
        <a:buSzTx/>
        <a:buFontTx/>
        <a:buNone/>
        <a:defRPr sz="4400" b="0" i="0" u="none" strike="noStrike" cap="none" spc="0" baseline="0">
          <a:solidFill>
            <a:srgbClr val="000000"/>
          </a:solidFill>
          <a:uFillTx/>
          <a:latin typeface="Calibri Light" panose="020F0302020204030204"/>
          <a:ea typeface="Calibri Light" panose="020F0302020204030204"/>
          <a:cs typeface="Calibri Light" panose="020F0302020204030204"/>
          <a:sym typeface="Calibri Light" panose="020F0302020204030204"/>
        </a:defRPr>
      </a:lvl1pPr>
      <a:lvl2pPr marL="0" marR="0" indent="0" algn="l" defTabSz="914400" rtl="0" latinLnBrk="0">
        <a:lnSpc>
          <a:spcPct val="90000"/>
        </a:lnSpc>
        <a:spcBef>
          <a:spcPts val="0"/>
        </a:spcBef>
        <a:spcAft>
          <a:spcPts val="0"/>
        </a:spcAft>
        <a:buClrTx/>
        <a:buSzTx/>
        <a:buFontTx/>
        <a:buNone/>
        <a:defRPr sz="4400" b="0" i="0" u="none" strike="noStrike" cap="none" spc="0" baseline="0">
          <a:solidFill>
            <a:srgbClr val="000000"/>
          </a:solidFill>
          <a:uFillTx/>
          <a:latin typeface="Calibri Light" panose="020F0302020204030204"/>
          <a:ea typeface="Calibri Light" panose="020F0302020204030204"/>
          <a:cs typeface="Calibri Light" panose="020F0302020204030204"/>
          <a:sym typeface="Calibri Light" panose="020F0302020204030204"/>
        </a:defRPr>
      </a:lvl2pPr>
      <a:lvl3pPr marL="0" marR="0" indent="0" algn="l" defTabSz="914400" rtl="0" latinLnBrk="0">
        <a:lnSpc>
          <a:spcPct val="90000"/>
        </a:lnSpc>
        <a:spcBef>
          <a:spcPts val="0"/>
        </a:spcBef>
        <a:spcAft>
          <a:spcPts val="0"/>
        </a:spcAft>
        <a:buClrTx/>
        <a:buSzTx/>
        <a:buFontTx/>
        <a:buNone/>
        <a:defRPr sz="4400" b="0" i="0" u="none" strike="noStrike" cap="none" spc="0" baseline="0">
          <a:solidFill>
            <a:srgbClr val="000000"/>
          </a:solidFill>
          <a:uFillTx/>
          <a:latin typeface="Calibri Light" panose="020F0302020204030204"/>
          <a:ea typeface="Calibri Light" panose="020F0302020204030204"/>
          <a:cs typeface="Calibri Light" panose="020F0302020204030204"/>
          <a:sym typeface="Calibri Light" panose="020F0302020204030204"/>
        </a:defRPr>
      </a:lvl3pPr>
      <a:lvl4pPr marL="0" marR="0" indent="0" algn="l" defTabSz="914400" rtl="0" latinLnBrk="0">
        <a:lnSpc>
          <a:spcPct val="90000"/>
        </a:lnSpc>
        <a:spcBef>
          <a:spcPts val="0"/>
        </a:spcBef>
        <a:spcAft>
          <a:spcPts val="0"/>
        </a:spcAft>
        <a:buClrTx/>
        <a:buSzTx/>
        <a:buFontTx/>
        <a:buNone/>
        <a:defRPr sz="4400" b="0" i="0" u="none" strike="noStrike" cap="none" spc="0" baseline="0">
          <a:solidFill>
            <a:srgbClr val="000000"/>
          </a:solidFill>
          <a:uFillTx/>
          <a:latin typeface="Calibri Light" panose="020F0302020204030204"/>
          <a:ea typeface="Calibri Light" panose="020F0302020204030204"/>
          <a:cs typeface="Calibri Light" panose="020F0302020204030204"/>
          <a:sym typeface="Calibri Light" panose="020F0302020204030204"/>
        </a:defRPr>
      </a:lvl4pPr>
      <a:lvl5pPr marL="0" marR="0" indent="0" algn="l" defTabSz="914400" rtl="0" latinLnBrk="0">
        <a:lnSpc>
          <a:spcPct val="90000"/>
        </a:lnSpc>
        <a:spcBef>
          <a:spcPts val="0"/>
        </a:spcBef>
        <a:spcAft>
          <a:spcPts val="0"/>
        </a:spcAft>
        <a:buClrTx/>
        <a:buSzTx/>
        <a:buFontTx/>
        <a:buNone/>
        <a:defRPr sz="4400" b="0" i="0" u="none" strike="noStrike" cap="none" spc="0" baseline="0">
          <a:solidFill>
            <a:srgbClr val="000000"/>
          </a:solidFill>
          <a:uFillTx/>
          <a:latin typeface="Calibri Light" panose="020F0302020204030204"/>
          <a:ea typeface="Calibri Light" panose="020F0302020204030204"/>
          <a:cs typeface="Calibri Light" panose="020F0302020204030204"/>
          <a:sym typeface="Calibri Light" panose="020F0302020204030204"/>
        </a:defRPr>
      </a:lvl5pPr>
      <a:lvl6pPr marL="0" marR="0" indent="0" algn="l" defTabSz="914400" rtl="0" latinLnBrk="0">
        <a:lnSpc>
          <a:spcPct val="90000"/>
        </a:lnSpc>
        <a:spcBef>
          <a:spcPts val="0"/>
        </a:spcBef>
        <a:spcAft>
          <a:spcPts val="0"/>
        </a:spcAft>
        <a:buClrTx/>
        <a:buSzTx/>
        <a:buFontTx/>
        <a:buNone/>
        <a:defRPr sz="4400" b="0" i="0" u="none" strike="noStrike" cap="none" spc="0" baseline="0">
          <a:solidFill>
            <a:srgbClr val="000000"/>
          </a:solidFill>
          <a:uFillTx/>
          <a:latin typeface="Calibri Light" panose="020F0302020204030204"/>
          <a:ea typeface="Calibri Light" panose="020F0302020204030204"/>
          <a:cs typeface="Calibri Light" panose="020F0302020204030204"/>
          <a:sym typeface="Calibri Light" panose="020F0302020204030204"/>
        </a:defRPr>
      </a:lvl6pPr>
      <a:lvl7pPr marL="0" marR="0" indent="0" algn="l" defTabSz="914400" rtl="0" latinLnBrk="0">
        <a:lnSpc>
          <a:spcPct val="90000"/>
        </a:lnSpc>
        <a:spcBef>
          <a:spcPts val="0"/>
        </a:spcBef>
        <a:spcAft>
          <a:spcPts val="0"/>
        </a:spcAft>
        <a:buClrTx/>
        <a:buSzTx/>
        <a:buFontTx/>
        <a:buNone/>
        <a:defRPr sz="4400" b="0" i="0" u="none" strike="noStrike" cap="none" spc="0" baseline="0">
          <a:solidFill>
            <a:srgbClr val="000000"/>
          </a:solidFill>
          <a:uFillTx/>
          <a:latin typeface="Calibri Light" panose="020F0302020204030204"/>
          <a:ea typeface="Calibri Light" panose="020F0302020204030204"/>
          <a:cs typeface="Calibri Light" panose="020F0302020204030204"/>
          <a:sym typeface="Calibri Light" panose="020F0302020204030204"/>
        </a:defRPr>
      </a:lvl7pPr>
      <a:lvl8pPr marL="0" marR="0" indent="0" algn="l" defTabSz="914400" rtl="0" latinLnBrk="0">
        <a:lnSpc>
          <a:spcPct val="90000"/>
        </a:lnSpc>
        <a:spcBef>
          <a:spcPts val="0"/>
        </a:spcBef>
        <a:spcAft>
          <a:spcPts val="0"/>
        </a:spcAft>
        <a:buClrTx/>
        <a:buSzTx/>
        <a:buFontTx/>
        <a:buNone/>
        <a:defRPr sz="4400" b="0" i="0" u="none" strike="noStrike" cap="none" spc="0" baseline="0">
          <a:solidFill>
            <a:srgbClr val="000000"/>
          </a:solidFill>
          <a:uFillTx/>
          <a:latin typeface="Calibri Light" panose="020F0302020204030204"/>
          <a:ea typeface="Calibri Light" panose="020F0302020204030204"/>
          <a:cs typeface="Calibri Light" panose="020F0302020204030204"/>
          <a:sym typeface="Calibri Light" panose="020F0302020204030204"/>
        </a:defRPr>
      </a:lvl8pPr>
      <a:lvl9pPr marL="0" marR="0" indent="0" algn="l" defTabSz="914400" rtl="0" latinLnBrk="0">
        <a:lnSpc>
          <a:spcPct val="90000"/>
        </a:lnSpc>
        <a:spcBef>
          <a:spcPts val="0"/>
        </a:spcBef>
        <a:spcAft>
          <a:spcPts val="0"/>
        </a:spcAft>
        <a:buClrTx/>
        <a:buSzTx/>
        <a:buFontTx/>
        <a:buNone/>
        <a:defRPr sz="4400" b="0" i="0" u="none" strike="noStrike" cap="none" spc="0" baseline="0">
          <a:solidFill>
            <a:srgbClr val="000000"/>
          </a:solidFill>
          <a:uFillTx/>
          <a:latin typeface="Calibri Light" panose="020F0302020204030204"/>
          <a:ea typeface="Calibri Light" panose="020F0302020204030204"/>
          <a:cs typeface="Calibri Light" panose="020F0302020204030204"/>
          <a:sym typeface="Calibri Light" panose="020F0302020204030204"/>
        </a:defRPr>
      </a:lvl9pPr>
    </p:titleStyle>
    <p:bodyStyle>
      <a:lvl1pPr marL="228600" marR="0" indent="-228600" algn="l" defTabSz="914400" rtl="0" latinLnBrk="0">
        <a:lnSpc>
          <a:spcPct val="90000"/>
        </a:lnSpc>
        <a:spcBef>
          <a:spcPts val="1000"/>
        </a:spcBef>
        <a:spcAft>
          <a:spcPts val="0"/>
        </a:spcAft>
        <a:buClrTx/>
        <a:buSzPct val="100000"/>
        <a:buFont typeface="Arial" panose="020B0604020202020204"/>
        <a:buChar char="•"/>
        <a:defRPr sz="2800" b="0" i="0" u="none" strike="noStrike" cap="none" spc="0" baseline="0">
          <a:solidFill>
            <a:srgbClr val="000000"/>
          </a:solidFill>
          <a:uFillTx/>
          <a:latin typeface="+mj-lt"/>
          <a:ea typeface="+mj-ea"/>
          <a:cs typeface="+mj-cs"/>
          <a:sym typeface="Calibri" panose="020F0502020204030204"/>
        </a:defRPr>
      </a:lvl1pPr>
      <a:lvl2pPr marL="723900" marR="0" indent="-266700" algn="l" defTabSz="914400" rtl="0" latinLnBrk="0">
        <a:lnSpc>
          <a:spcPct val="90000"/>
        </a:lnSpc>
        <a:spcBef>
          <a:spcPts val="1000"/>
        </a:spcBef>
        <a:spcAft>
          <a:spcPts val="0"/>
        </a:spcAft>
        <a:buClrTx/>
        <a:buSzPct val="100000"/>
        <a:buFont typeface="Arial" panose="020B0604020202020204"/>
        <a:buChar char="•"/>
        <a:defRPr sz="2800" b="0" i="0" u="none" strike="noStrike" cap="none" spc="0" baseline="0">
          <a:solidFill>
            <a:srgbClr val="000000"/>
          </a:solidFill>
          <a:uFillTx/>
          <a:latin typeface="+mj-lt"/>
          <a:ea typeface="+mj-ea"/>
          <a:cs typeface="+mj-cs"/>
          <a:sym typeface="Calibri" panose="020F0502020204030204"/>
        </a:defRPr>
      </a:lvl2pPr>
      <a:lvl3pPr marL="1234440" marR="0" indent="-320040" algn="l" defTabSz="914400" rtl="0" latinLnBrk="0">
        <a:lnSpc>
          <a:spcPct val="90000"/>
        </a:lnSpc>
        <a:spcBef>
          <a:spcPts val="1000"/>
        </a:spcBef>
        <a:spcAft>
          <a:spcPts val="0"/>
        </a:spcAft>
        <a:buClrTx/>
        <a:buSzPct val="100000"/>
        <a:buFont typeface="Arial" panose="020B0604020202020204"/>
        <a:buChar char="•"/>
        <a:defRPr sz="2800" b="0" i="0" u="none" strike="noStrike" cap="none" spc="0" baseline="0">
          <a:solidFill>
            <a:srgbClr val="000000"/>
          </a:solidFill>
          <a:uFillTx/>
          <a:latin typeface="+mj-lt"/>
          <a:ea typeface="+mj-ea"/>
          <a:cs typeface="+mj-cs"/>
          <a:sym typeface="Calibri" panose="020F0502020204030204"/>
        </a:defRPr>
      </a:lvl3pPr>
      <a:lvl4pPr marL="1727200" marR="0" indent="-355600" algn="l" defTabSz="914400" rtl="0" latinLnBrk="0">
        <a:lnSpc>
          <a:spcPct val="90000"/>
        </a:lnSpc>
        <a:spcBef>
          <a:spcPts val="1000"/>
        </a:spcBef>
        <a:spcAft>
          <a:spcPts val="0"/>
        </a:spcAft>
        <a:buClrTx/>
        <a:buSzPct val="100000"/>
        <a:buFont typeface="Arial" panose="020B0604020202020204"/>
        <a:buChar char="•"/>
        <a:defRPr sz="2800" b="0" i="0" u="none" strike="noStrike" cap="none" spc="0" baseline="0">
          <a:solidFill>
            <a:srgbClr val="000000"/>
          </a:solidFill>
          <a:uFillTx/>
          <a:latin typeface="+mj-lt"/>
          <a:ea typeface="+mj-ea"/>
          <a:cs typeface="+mj-cs"/>
          <a:sym typeface="Calibri" panose="020F0502020204030204"/>
        </a:defRPr>
      </a:lvl4pPr>
      <a:lvl5pPr marL="2184400" marR="0" indent="-355600" algn="l" defTabSz="914400" rtl="0" latinLnBrk="0">
        <a:lnSpc>
          <a:spcPct val="90000"/>
        </a:lnSpc>
        <a:spcBef>
          <a:spcPts val="1000"/>
        </a:spcBef>
        <a:spcAft>
          <a:spcPts val="0"/>
        </a:spcAft>
        <a:buClrTx/>
        <a:buSzPct val="100000"/>
        <a:buFont typeface="Arial" panose="020B0604020202020204"/>
        <a:buChar char="•"/>
        <a:defRPr sz="2800" b="0" i="0" u="none" strike="noStrike" cap="none" spc="0" baseline="0">
          <a:solidFill>
            <a:srgbClr val="000000"/>
          </a:solidFill>
          <a:uFillTx/>
          <a:latin typeface="+mj-lt"/>
          <a:ea typeface="+mj-ea"/>
          <a:cs typeface="+mj-cs"/>
          <a:sym typeface="Calibri" panose="020F0502020204030204"/>
        </a:defRPr>
      </a:lvl5pPr>
      <a:lvl6pPr marL="2641600" marR="0" indent="-355600" algn="l" defTabSz="914400" rtl="0" latinLnBrk="0">
        <a:lnSpc>
          <a:spcPct val="90000"/>
        </a:lnSpc>
        <a:spcBef>
          <a:spcPts val="1000"/>
        </a:spcBef>
        <a:spcAft>
          <a:spcPts val="0"/>
        </a:spcAft>
        <a:buClrTx/>
        <a:buSzPct val="100000"/>
        <a:buFont typeface="Arial" panose="020B0604020202020204"/>
        <a:buChar char="•"/>
        <a:defRPr sz="2800" b="0" i="0" u="none" strike="noStrike" cap="none" spc="0" baseline="0">
          <a:solidFill>
            <a:srgbClr val="000000"/>
          </a:solidFill>
          <a:uFillTx/>
          <a:latin typeface="+mj-lt"/>
          <a:ea typeface="+mj-ea"/>
          <a:cs typeface="+mj-cs"/>
          <a:sym typeface="Calibri" panose="020F0502020204030204"/>
        </a:defRPr>
      </a:lvl6pPr>
      <a:lvl7pPr marL="3098800" marR="0" indent="-355600" algn="l" defTabSz="914400" rtl="0" latinLnBrk="0">
        <a:lnSpc>
          <a:spcPct val="90000"/>
        </a:lnSpc>
        <a:spcBef>
          <a:spcPts val="1000"/>
        </a:spcBef>
        <a:spcAft>
          <a:spcPts val="0"/>
        </a:spcAft>
        <a:buClrTx/>
        <a:buSzPct val="100000"/>
        <a:buFont typeface="Arial" panose="020B0604020202020204"/>
        <a:buChar char="•"/>
        <a:defRPr sz="2800" b="0" i="0" u="none" strike="noStrike" cap="none" spc="0" baseline="0">
          <a:solidFill>
            <a:srgbClr val="000000"/>
          </a:solidFill>
          <a:uFillTx/>
          <a:latin typeface="+mj-lt"/>
          <a:ea typeface="+mj-ea"/>
          <a:cs typeface="+mj-cs"/>
          <a:sym typeface="Calibri" panose="020F0502020204030204"/>
        </a:defRPr>
      </a:lvl7pPr>
      <a:lvl8pPr marL="3556000" marR="0" indent="-355600" algn="l" defTabSz="914400" rtl="0" latinLnBrk="0">
        <a:lnSpc>
          <a:spcPct val="90000"/>
        </a:lnSpc>
        <a:spcBef>
          <a:spcPts val="1000"/>
        </a:spcBef>
        <a:spcAft>
          <a:spcPts val="0"/>
        </a:spcAft>
        <a:buClrTx/>
        <a:buSzPct val="100000"/>
        <a:buFont typeface="Arial" panose="020B0604020202020204"/>
        <a:buChar char="•"/>
        <a:defRPr sz="2800" b="0" i="0" u="none" strike="noStrike" cap="none" spc="0" baseline="0">
          <a:solidFill>
            <a:srgbClr val="000000"/>
          </a:solidFill>
          <a:uFillTx/>
          <a:latin typeface="+mj-lt"/>
          <a:ea typeface="+mj-ea"/>
          <a:cs typeface="+mj-cs"/>
          <a:sym typeface="Calibri" panose="020F0502020204030204"/>
        </a:defRPr>
      </a:lvl8pPr>
      <a:lvl9pPr marL="4013200" marR="0" indent="-355600" algn="l" defTabSz="914400" rtl="0" latinLnBrk="0">
        <a:lnSpc>
          <a:spcPct val="90000"/>
        </a:lnSpc>
        <a:spcBef>
          <a:spcPts val="1000"/>
        </a:spcBef>
        <a:spcAft>
          <a:spcPts val="0"/>
        </a:spcAft>
        <a:buClrTx/>
        <a:buSzPct val="100000"/>
        <a:buFont typeface="Arial" panose="020B0604020202020204"/>
        <a:buChar char="•"/>
        <a:defRPr sz="2800" b="0" i="0" u="none" strike="noStrike" cap="none" spc="0" baseline="0">
          <a:solidFill>
            <a:srgbClr val="000000"/>
          </a:solidFill>
          <a:uFillTx/>
          <a:latin typeface="+mj-lt"/>
          <a:ea typeface="+mj-ea"/>
          <a:cs typeface="+mj-cs"/>
          <a:sym typeface="Calibri" panose="020F0502020204030204"/>
        </a:defRPr>
      </a:lvl9pPr>
    </p:bodyStyle>
    <p:otherStyle>
      <a:lvl1pPr marL="0" marR="0" indent="0" algn="r" defTabSz="914400" rtl="0" latinLnBrk="0">
        <a:lnSpc>
          <a:spcPct val="100000"/>
        </a:lnSpc>
        <a:spcBef>
          <a:spcPts val="0"/>
        </a:spcBef>
        <a:spcAft>
          <a:spcPts val="0"/>
        </a:spcAft>
        <a:buClrTx/>
        <a:buSzTx/>
        <a:buFontTx/>
        <a:buNone/>
        <a:defRPr sz="1200" b="0" i="0" u="none" strike="noStrike" cap="none" spc="0" baseline="0">
          <a:solidFill>
            <a:schemeClr val="tx1"/>
          </a:solidFill>
          <a:uFillTx/>
          <a:latin typeface="+mn-lt"/>
          <a:ea typeface="+mn-ea"/>
          <a:cs typeface="+mn-cs"/>
          <a:sym typeface="Calibri" panose="020F0502020204030204"/>
        </a:defRPr>
      </a:lvl1pPr>
      <a:lvl2pPr marL="0" marR="0" indent="457200" algn="r" defTabSz="914400" rtl="0" latinLnBrk="0">
        <a:lnSpc>
          <a:spcPct val="100000"/>
        </a:lnSpc>
        <a:spcBef>
          <a:spcPts val="0"/>
        </a:spcBef>
        <a:spcAft>
          <a:spcPts val="0"/>
        </a:spcAft>
        <a:buClrTx/>
        <a:buSzTx/>
        <a:buFontTx/>
        <a:buNone/>
        <a:defRPr sz="1200" b="0" i="0" u="none" strike="noStrike" cap="none" spc="0" baseline="0">
          <a:solidFill>
            <a:schemeClr val="tx1"/>
          </a:solidFill>
          <a:uFillTx/>
          <a:latin typeface="+mn-lt"/>
          <a:ea typeface="+mn-ea"/>
          <a:cs typeface="+mn-cs"/>
          <a:sym typeface="Calibri" panose="020F0502020204030204"/>
        </a:defRPr>
      </a:lvl2pPr>
      <a:lvl3pPr marL="0" marR="0" indent="914400" algn="r" defTabSz="914400" rtl="0" latinLnBrk="0">
        <a:lnSpc>
          <a:spcPct val="100000"/>
        </a:lnSpc>
        <a:spcBef>
          <a:spcPts val="0"/>
        </a:spcBef>
        <a:spcAft>
          <a:spcPts val="0"/>
        </a:spcAft>
        <a:buClrTx/>
        <a:buSzTx/>
        <a:buFontTx/>
        <a:buNone/>
        <a:defRPr sz="1200" b="0" i="0" u="none" strike="noStrike" cap="none" spc="0" baseline="0">
          <a:solidFill>
            <a:schemeClr val="tx1"/>
          </a:solidFill>
          <a:uFillTx/>
          <a:latin typeface="+mn-lt"/>
          <a:ea typeface="+mn-ea"/>
          <a:cs typeface="+mn-cs"/>
          <a:sym typeface="Calibri" panose="020F0502020204030204"/>
        </a:defRPr>
      </a:lvl3pPr>
      <a:lvl4pPr marL="0" marR="0" indent="1371600" algn="r" defTabSz="914400" rtl="0" latinLnBrk="0">
        <a:lnSpc>
          <a:spcPct val="100000"/>
        </a:lnSpc>
        <a:spcBef>
          <a:spcPts val="0"/>
        </a:spcBef>
        <a:spcAft>
          <a:spcPts val="0"/>
        </a:spcAft>
        <a:buClrTx/>
        <a:buSzTx/>
        <a:buFontTx/>
        <a:buNone/>
        <a:defRPr sz="1200" b="0" i="0" u="none" strike="noStrike" cap="none" spc="0" baseline="0">
          <a:solidFill>
            <a:schemeClr val="tx1"/>
          </a:solidFill>
          <a:uFillTx/>
          <a:latin typeface="+mn-lt"/>
          <a:ea typeface="+mn-ea"/>
          <a:cs typeface="+mn-cs"/>
          <a:sym typeface="Calibri" panose="020F0502020204030204"/>
        </a:defRPr>
      </a:lvl4pPr>
      <a:lvl5pPr marL="0" marR="0" indent="1828800" algn="r" defTabSz="914400" rtl="0" latinLnBrk="0">
        <a:lnSpc>
          <a:spcPct val="100000"/>
        </a:lnSpc>
        <a:spcBef>
          <a:spcPts val="0"/>
        </a:spcBef>
        <a:spcAft>
          <a:spcPts val="0"/>
        </a:spcAft>
        <a:buClrTx/>
        <a:buSzTx/>
        <a:buFontTx/>
        <a:buNone/>
        <a:defRPr sz="1200" b="0" i="0" u="none" strike="noStrike" cap="none" spc="0" baseline="0">
          <a:solidFill>
            <a:schemeClr val="tx1"/>
          </a:solidFill>
          <a:uFillTx/>
          <a:latin typeface="+mn-lt"/>
          <a:ea typeface="+mn-ea"/>
          <a:cs typeface="+mn-cs"/>
          <a:sym typeface="Calibri" panose="020F0502020204030204"/>
        </a:defRPr>
      </a:lvl5pPr>
      <a:lvl6pPr marL="0" marR="0" indent="2286000" algn="r" defTabSz="914400" rtl="0" latinLnBrk="0">
        <a:lnSpc>
          <a:spcPct val="100000"/>
        </a:lnSpc>
        <a:spcBef>
          <a:spcPts val="0"/>
        </a:spcBef>
        <a:spcAft>
          <a:spcPts val="0"/>
        </a:spcAft>
        <a:buClrTx/>
        <a:buSzTx/>
        <a:buFontTx/>
        <a:buNone/>
        <a:defRPr sz="1200" b="0" i="0" u="none" strike="noStrike" cap="none" spc="0" baseline="0">
          <a:solidFill>
            <a:schemeClr val="tx1"/>
          </a:solidFill>
          <a:uFillTx/>
          <a:latin typeface="+mn-lt"/>
          <a:ea typeface="+mn-ea"/>
          <a:cs typeface="+mn-cs"/>
          <a:sym typeface="Calibri" panose="020F0502020204030204"/>
        </a:defRPr>
      </a:lvl6pPr>
      <a:lvl7pPr marL="0" marR="0" indent="2743200" algn="r" defTabSz="914400" rtl="0" latinLnBrk="0">
        <a:lnSpc>
          <a:spcPct val="100000"/>
        </a:lnSpc>
        <a:spcBef>
          <a:spcPts val="0"/>
        </a:spcBef>
        <a:spcAft>
          <a:spcPts val="0"/>
        </a:spcAft>
        <a:buClrTx/>
        <a:buSzTx/>
        <a:buFontTx/>
        <a:buNone/>
        <a:defRPr sz="1200" b="0" i="0" u="none" strike="noStrike" cap="none" spc="0" baseline="0">
          <a:solidFill>
            <a:schemeClr val="tx1"/>
          </a:solidFill>
          <a:uFillTx/>
          <a:latin typeface="+mn-lt"/>
          <a:ea typeface="+mn-ea"/>
          <a:cs typeface="+mn-cs"/>
          <a:sym typeface="Calibri" panose="020F0502020204030204"/>
        </a:defRPr>
      </a:lvl7pPr>
      <a:lvl8pPr marL="0" marR="0" indent="3200400" algn="r" defTabSz="914400" rtl="0" latinLnBrk="0">
        <a:lnSpc>
          <a:spcPct val="100000"/>
        </a:lnSpc>
        <a:spcBef>
          <a:spcPts val="0"/>
        </a:spcBef>
        <a:spcAft>
          <a:spcPts val="0"/>
        </a:spcAft>
        <a:buClrTx/>
        <a:buSzTx/>
        <a:buFontTx/>
        <a:buNone/>
        <a:defRPr sz="1200" b="0" i="0" u="none" strike="noStrike" cap="none" spc="0" baseline="0">
          <a:solidFill>
            <a:schemeClr val="tx1"/>
          </a:solidFill>
          <a:uFillTx/>
          <a:latin typeface="+mn-lt"/>
          <a:ea typeface="+mn-ea"/>
          <a:cs typeface="+mn-cs"/>
          <a:sym typeface="Calibri" panose="020F0502020204030204"/>
        </a:defRPr>
      </a:lvl8pPr>
      <a:lvl9pPr marL="0" marR="0" indent="3657600" algn="r" defTabSz="914400" rtl="0" latinLnBrk="0">
        <a:lnSpc>
          <a:spcPct val="100000"/>
        </a:lnSpc>
        <a:spcBef>
          <a:spcPts val="0"/>
        </a:spcBef>
        <a:spcAft>
          <a:spcPts val="0"/>
        </a:spcAft>
        <a:buClrTx/>
        <a:buSzTx/>
        <a:buFontTx/>
        <a:buNone/>
        <a:defRPr sz="1200" b="0" i="0" u="none" strike="noStrike" cap="none" spc="0" baseline="0">
          <a:solidFill>
            <a:schemeClr val="tx1"/>
          </a:solidFill>
          <a:uFillTx/>
          <a:latin typeface="+mn-lt"/>
          <a:ea typeface="+mn-ea"/>
          <a:cs typeface="+mn-cs"/>
          <a:sym typeface="Calibri" panose="020F0502020204030204"/>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2" Type="http://schemas.openxmlformats.org/officeDocument/2006/relationships/slideLayout" Target="../slideLayouts/slideLayout4.xml"/><Relationship Id="rId1" Type="http://schemas.openxmlformats.org/officeDocument/2006/relationships/image" Target="../media/image11.png"/></Relationships>
</file>

<file path=ppt/slides/_rels/slide5.xml.rels><?xml version="1.0" encoding="UTF-8" standalone="yes"?>
<Relationships xmlns="http://schemas.openxmlformats.org/package/2006/relationships"><Relationship Id="rId2" Type="http://schemas.openxmlformats.org/officeDocument/2006/relationships/slideLayout" Target="../slideLayouts/slideLayout4.xml"/><Relationship Id="rId1" Type="http://schemas.openxmlformats.org/officeDocument/2006/relationships/image" Target="../media/image12.png"/></Relationships>
</file>

<file path=ppt/slides/_rels/slide6.xml.rels><?xml version="1.0" encoding="UTF-8" standalone="yes"?>
<Relationships xmlns="http://schemas.openxmlformats.org/package/2006/relationships"><Relationship Id="rId3" Type="http://schemas.openxmlformats.org/officeDocument/2006/relationships/slideLayout" Target="../slideLayouts/slideLayout4.xml"/><Relationship Id="rId2" Type="http://schemas.openxmlformats.org/officeDocument/2006/relationships/image" Target="../media/image14.png"/><Relationship Id="rId1" Type="http://schemas.openxmlformats.org/officeDocument/2006/relationships/image" Target="../media/image13.png"/></Relationships>
</file>

<file path=ppt/slides/_rels/slide7.xml.rels><?xml version="1.0" encoding="UTF-8" standalone="yes"?>
<Relationships xmlns="http://schemas.openxmlformats.org/package/2006/relationships"><Relationship Id="rId2" Type="http://schemas.openxmlformats.org/officeDocument/2006/relationships/slideLayout" Target="../slideLayouts/slideLayout4.xml"/><Relationship Id="rId1" Type="http://schemas.openxmlformats.org/officeDocument/2006/relationships/image" Target="../media/image15.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4.xml"/><Relationship Id="rId1" Type="http://schemas.openxmlformats.org/officeDocument/2006/relationships/image" Target="../media/image16.png"/></Relationships>
</file>

<file path=ppt/slides/_rels/slide11.xml.rels><?xml version="1.0" encoding="UTF-8" standalone="yes"?>
<Relationships xmlns="http://schemas.openxmlformats.org/package/2006/relationships"><Relationship Id="rId7" Type="http://schemas.openxmlformats.org/officeDocument/2006/relationships/notesSlide" Target="../notesSlides/notesSlide3.xml"/><Relationship Id="rId6" Type="http://schemas.openxmlformats.org/officeDocument/2006/relationships/vmlDrawing" Target="../drawings/vmlDrawing1.vml"/><Relationship Id="rId5" Type="http://schemas.openxmlformats.org/officeDocument/2006/relationships/slideLayout" Target="../slideLayouts/slideLayout4.xml"/><Relationship Id="rId4" Type="http://schemas.openxmlformats.org/officeDocument/2006/relationships/image" Target="../media/image19.wmf"/><Relationship Id="rId3" Type="http://schemas.openxmlformats.org/officeDocument/2006/relationships/package" Target="../embeddings/Workbook1.xlsx"/><Relationship Id="rId2" Type="http://schemas.openxmlformats.org/officeDocument/2006/relationships/image" Target="../media/image18.png"/><Relationship Id="rId1" Type="http://schemas.openxmlformats.org/officeDocument/2006/relationships/image" Target="../media/image17.png"/></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4.xml"/><Relationship Id="rId1" Type="http://schemas.openxmlformats.org/officeDocument/2006/relationships/image" Target="../media/image20.jpeg"/></Relationships>
</file>

<file path=ppt/slides/_rels/slide13.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4.xml"/><Relationship Id="rId1" Type="http://schemas.openxmlformats.org/officeDocument/2006/relationships/image" Target="../media/image21.png"/></Relationships>
</file>

<file path=ppt/slides/_rels/slide14.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4.xml"/><Relationship Id="rId1" Type="http://schemas.openxmlformats.org/officeDocument/2006/relationships/image" Target="../media/image22.png"/></Relationships>
</file>

<file path=ppt/slides/_rels/slide15.xml.rels><?xml version="1.0" encoding="UTF-8" standalone="yes"?>
<Relationships xmlns="http://schemas.openxmlformats.org/package/2006/relationships"><Relationship Id="rId5" Type="http://schemas.openxmlformats.org/officeDocument/2006/relationships/slideLayout" Target="../slideLayouts/slideLayout4.xml"/><Relationship Id="rId4" Type="http://schemas.openxmlformats.org/officeDocument/2006/relationships/image" Target="../media/image26.png"/><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image" Target="../media/image23.png"/></Relationships>
</file>

<file path=ppt/slides/_rels/slide16.xml.rels><?xml version="1.0" encoding="UTF-8" standalone="yes"?>
<Relationships xmlns="http://schemas.openxmlformats.org/package/2006/relationships"><Relationship Id="rId8" Type="http://schemas.openxmlformats.org/officeDocument/2006/relationships/slideLayout" Target="../slideLayouts/slideLayout4.xml"/><Relationship Id="rId7" Type="http://schemas.openxmlformats.org/officeDocument/2006/relationships/image" Target="../media/image33.png"/><Relationship Id="rId6" Type="http://schemas.openxmlformats.org/officeDocument/2006/relationships/image" Target="../media/image32.png"/><Relationship Id="rId5" Type="http://schemas.openxmlformats.org/officeDocument/2006/relationships/image" Target="../media/image31.png"/><Relationship Id="rId4" Type="http://schemas.openxmlformats.org/officeDocument/2006/relationships/image" Target="../media/image30.png"/><Relationship Id="rId3" Type="http://schemas.openxmlformats.org/officeDocument/2006/relationships/image" Target="../media/image29.png"/><Relationship Id="rId2" Type="http://schemas.openxmlformats.org/officeDocument/2006/relationships/image" Target="../media/image28.png"/><Relationship Id="rId1" Type="http://schemas.openxmlformats.org/officeDocument/2006/relationships/image" Target="../media/image27.png"/></Relationships>
</file>

<file path=ppt/slides/_rels/slide17.xml.rels><?xml version="1.0" encoding="UTF-8" standalone="yes"?>
<Relationships xmlns="http://schemas.openxmlformats.org/package/2006/relationships"><Relationship Id="rId2" Type="http://schemas.openxmlformats.org/officeDocument/2006/relationships/slideLayout" Target="../slideLayouts/slideLayout4.xml"/><Relationship Id="rId1" Type="http://schemas.openxmlformats.org/officeDocument/2006/relationships/image" Target="../media/image34.png"/></Relationships>
</file>

<file path=ppt/slides/_rels/slide18.xml.rels><?xml version="1.0" encoding="UTF-8" standalone="yes"?>
<Relationships xmlns="http://schemas.openxmlformats.org/package/2006/relationships"><Relationship Id="rId2" Type="http://schemas.openxmlformats.org/officeDocument/2006/relationships/slideLayout" Target="../slideLayouts/slideLayout4.xml"/><Relationship Id="rId1" Type="http://schemas.openxmlformats.org/officeDocument/2006/relationships/image" Target="../media/image35.png"/></Relationships>
</file>

<file path=ppt/slides/_rels/slide19.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4.xml"/><Relationship Id="rId1" Type="http://schemas.openxmlformats.org/officeDocument/2006/relationships/image" Target="../media/image36.png"/></Relationships>
</file>

<file path=ppt/slides/_rels/slide20.xml.rels><?xml version="1.0" encoding="UTF-8" standalone="yes"?>
<Relationships xmlns="http://schemas.openxmlformats.org/package/2006/relationships"><Relationship Id="rId4" Type="http://schemas.openxmlformats.org/officeDocument/2006/relationships/notesSlide" Target="../notesSlides/notesSlide8.xml"/><Relationship Id="rId3" Type="http://schemas.openxmlformats.org/officeDocument/2006/relationships/slideLayout" Target="../slideLayouts/slideLayout4.xml"/><Relationship Id="rId2" Type="http://schemas.openxmlformats.org/officeDocument/2006/relationships/image" Target="../media/image38.png"/><Relationship Id="rId1" Type="http://schemas.openxmlformats.org/officeDocument/2006/relationships/image" Target="../media/image37.png"/></Relationships>
</file>

<file path=ppt/slides/_rels/slide21.xml.rels><?xml version="1.0" encoding="UTF-8" standalone="yes"?>
<Relationships xmlns="http://schemas.openxmlformats.org/package/2006/relationships"><Relationship Id="rId4" Type="http://schemas.openxmlformats.org/officeDocument/2006/relationships/notesSlide" Target="../notesSlides/notesSlide9.xml"/><Relationship Id="rId3" Type="http://schemas.openxmlformats.org/officeDocument/2006/relationships/slideLayout" Target="../slideLayouts/slideLayout4.xml"/><Relationship Id="rId2" Type="http://schemas.openxmlformats.org/officeDocument/2006/relationships/image" Target="../media/image40.png"/><Relationship Id="rId1" Type="http://schemas.openxmlformats.org/officeDocument/2006/relationships/image" Target="../media/image39.png"/></Relationships>
</file>

<file path=ppt/slides/_rels/slide22.xml.rels><?xml version="1.0" encoding="UTF-8" standalone="yes"?>
<Relationships xmlns="http://schemas.openxmlformats.org/package/2006/relationships"><Relationship Id="rId3" Type="http://schemas.openxmlformats.org/officeDocument/2006/relationships/slideLayout" Target="../slideLayouts/slideLayout4.xml"/><Relationship Id="rId2" Type="http://schemas.openxmlformats.org/officeDocument/2006/relationships/image" Target="../media/image42.png"/><Relationship Id="rId1" Type="http://schemas.openxmlformats.org/officeDocument/2006/relationships/image" Target="../media/image41.emf"/></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3" Type="http://schemas.openxmlformats.org/officeDocument/2006/relationships/slideLayout" Target="../slideLayouts/slideLayout4.xml"/><Relationship Id="rId2" Type="http://schemas.openxmlformats.org/officeDocument/2006/relationships/image" Target="../media/image44.emf"/><Relationship Id="rId1" Type="http://schemas.openxmlformats.org/officeDocument/2006/relationships/image" Target="../media/image43.emf"/></Relationships>
</file>

<file path=ppt/slides/_rels/slide25.xml.rels><?xml version="1.0" encoding="UTF-8" standalone="yes"?>
<Relationships xmlns="http://schemas.openxmlformats.org/package/2006/relationships"><Relationship Id="rId2" Type="http://schemas.openxmlformats.org/officeDocument/2006/relationships/slideLayout" Target="../slideLayouts/slideLayout4.xml"/><Relationship Id="rId1" Type="http://schemas.openxmlformats.org/officeDocument/2006/relationships/image" Target="../media/image45.emf"/></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7.xml.rels><?xml version="1.0" encoding="UTF-8" standalone="yes"?>
<Relationships xmlns="http://schemas.openxmlformats.org/package/2006/relationships"><Relationship Id="rId2" Type="http://schemas.openxmlformats.org/officeDocument/2006/relationships/slideLayout" Target="../slideLayouts/slideLayout4.xml"/><Relationship Id="rId1" Type="http://schemas.openxmlformats.org/officeDocument/2006/relationships/image" Target="../media/image46.emf"/></Relationships>
</file>

<file path=ppt/slides/_rels/slide28.xml.rels><?xml version="1.0" encoding="UTF-8" standalone="yes"?>
<Relationships xmlns="http://schemas.openxmlformats.org/package/2006/relationships"><Relationship Id="rId2" Type="http://schemas.openxmlformats.org/officeDocument/2006/relationships/slideLayout" Target="../slideLayouts/slideLayout4.xml"/><Relationship Id="rId1" Type="http://schemas.openxmlformats.org/officeDocument/2006/relationships/image" Target="../media/image47.png"/></Relationships>
</file>

<file path=ppt/slides/_rels/slide29.xml.rels><?xml version="1.0" encoding="UTF-8" standalone="yes"?>
<Relationships xmlns="http://schemas.openxmlformats.org/package/2006/relationships"><Relationship Id="rId2" Type="http://schemas.openxmlformats.org/officeDocument/2006/relationships/slideLayout" Target="../slideLayouts/slideLayout4.xml"/><Relationship Id="rId1" Type="http://schemas.openxmlformats.org/officeDocument/2006/relationships/image" Target="../media/image48.png"/></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4.xml"/></Relationships>
</file>

<file path=ppt/slides/_rels/slide31.xml.rels><?xml version="1.0" encoding="UTF-8" standalone="yes"?>
<Relationships xmlns="http://schemas.openxmlformats.org/package/2006/relationships"><Relationship Id="rId3" Type="http://schemas.openxmlformats.org/officeDocument/2006/relationships/slideLayout" Target="../slideLayouts/slideLayout4.xml"/><Relationship Id="rId2" Type="http://schemas.openxmlformats.org/officeDocument/2006/relationships/image" Target="../media/image50.png"/><Relationship Id="rId1" Type="http://schemas.openxmlformats.org/officeDocument/2006/relationships/image" Target="../media/image49.png"/></Relationships>
</file>

<file path=ppt/slides/_rels/slide32.xml.rels><?xml version="1.0" encoding="UTF-8" standalone="yes"?>
<Relationships xmlns="http://schemas.openxmlformats.org/package/2006/relationships"><Relationship Id="rId2" Type="http://schemas.openxmlformats.org/officeDocument/2006/relationships/slideLayout" Target="../slideLayouts/slideLayout4.xml"/><Relationship Id="rId1" Type="http://schemas.openxmlformats.org/officeDocument/2006/relationships/image" Target="../media/image51.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 name="连按此项以编辑"/>
          <p:cNvSpPr txBox="1"/>
          <p:nvPr>
            <p:ph type="ctrTitle"/>
          </p:nvPr>
        </p:nvSpPr>
        <p:spPr>
          <a:prstGeom prst="rect">
            <a:avLst/>
          </a:prstGeom>
        </p:spPr>
        <p:txBody>
          <a:bodyPr>
            <a:normAutofit fontScale="90000"/>
          </a:bodyPr>
          <a:lstStyle/>
          <a:p>
            <a:pPr algn="ctr"/>
            <a:r>
              <a:rPr lang="zh-CN" altLang="en-US"/>
              <a:t>用户投保意向预测模型结果</a:t>
            </a:r>
            <a:br>
              <a:rPr lang="zh-CN" altLang="en-US"/>
            </a:br>
            <a:r>
              <a:rPr lang="zh-CN" altLang="en-US"/>
              <a:t>汇报及测试方案</a:t>
            </a:r>
            <a:endParaRPr lang="en-US" altLang="zh-CN"/>
          </a:p>
        </p:txBody>
      </p:sp>
    </p:spTree>
  </p:cSld>
  <p:clrMapOvr>
    <a:masterClrMapping/>
  </p:clrMapOvr>
  <p:transition spd="me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p:nvPr>
            <p:ph type="title"/>
          </p:nvPr>
        </p:nvSpPr>
        <p:spPr>
          <a:xfrm>
            <a:off x="877570" y="341630"/>
            <a:ext cx="9912985" cy="675005"/>
          </a:xfrm>
        </p:spPr>
        <p:txBody>
          <a:bodyPr>
            <a:normAutofit/>
          </a:bodyPr>
          <a:p>
            <a:r>
              <a:rPr lang="zh-CN" sz="3555"/>
              <a:t>目录</a:t>
            </a:r>
            <a:endParaRPr lang="zh-CN" sz="3555"/>
          </a:p>
        </p:txBody>
      </p:sp>
      <p:sp>
        <p:nvSpPr>
          <p:cNvPr id="10" name="矩形 9"/>
          <p:cNvSpPr/>
          <p:nvPr/>
        </p:nvSpPr>
        <p:spPr>
          <a:xfrm>
            <a:off x="3936365" y="1988820"/>
            <a:ext cx="4440555" cy="2676525"/>
          </a:xfrm>
          <a:prstGeom prst="rect">
            <a:avLst/>
          </a:prstGeom>
          <a:ln>
            <a:noFill/>
          </a:ln>
        </p:spPr>
        <p:txBody>
          <a:bodyPr wrap="square">
            <a:spAutoFit/>
            <a:scene3d>
              <a:camera prst="orthographicFront"/>
              <a:lightRig rig="threePt" dir="t"/>
            </a:scene3d>
            <a:sp3d contourW="12700"/>
          </a:bodyPr>
          <a:p>
            <a:pPr marL="457200" indent="-457200" algn="l" hangingPunct="1">
              <a:lnSpc>
                <a:spcPct val="150000"/>
              </a:lnSpc>
              <a:buFont typeface="Wingdings" panose="05000000000000000000" charset="0"/>
              <a:buChar char="Ø"/>
            </a:pPr>
            <a:r>
              <a:rPr lang="zh-CN" sz="2800" b="1">
                <a:solidFill>
                  <a:srgbClr val="0564CD"/>
                </a:solidFill>
                <a:latin typeface="微软雅黑" panose="020B0503020204020204" charset="-122"/>
                <a:ea typeface="微软雅黑" panose="020B0503020204020204" charset="-122"/>
                <a:cs typeface="微软雅黑" panose="020B0503020204020204" charset="-122"/>
                <a:sym typeface="+mn-ea"/>
              </a:rPr>
              <a:t>一、项目背景</a:t>
            </a:r>
            <a:endParaRPr lang="zh-CN" sz="2800" b="1">
              <a:solidFill>
                <a:srgbClr val="0564CD"/>
              </a:solidFill>
              <a:latin typeface="微软雅黑" panose="020B0503020204020204" charset="-122"/>
              <a:ea typeface="微软雅黑" panose="020B0503020204020204" charset="-122"/>
              <a:cs typeface="微软雅黑" panose="020B0503020204020204" charset="-122"/>
              <a:sym typeface="+mn-ea"/>
            </a:endParaRPr>
          </a:p>
          <a:p>
            <a:pPr marL="457200" indent="-457200" algn="l" hangingPunct="1">
              <a:lnSpc>
                <a:spcPct val="150000"/>
              </a:lnSpc>
              <a:buFont typeface="Wingdings" panose="05000000000000000000" charset="0"/>
              <a:buChar char="Ø"/>
            </a:pPr>
            <a:r>
              <a:rPr lang="zh-CN" sz="2800" b="1">
                <a:solidFill>
                  <a:srgbClr val="0564CD"/>
                </a:solidFill>
                <a:latin typeface="微软雅黑" panose="020B0503020204020204" charset="-122"/>
                <a:ea typeface="微软雅黑" panose="020B0503020204020204" charset="-122"/>
                <a:cs typeface="微软雅黑" panose="020B0503020204020204" charset="-122"/>
                <a:sym typeface="+mn-ea"/>
              </a:rPr>
              <a:t>二、模型设计</a:t>
            </a:r>
            <a:endParaRPr lang="zh-CN" sz="2800" b="1">
              <a:solidFill>
                <a:srgbClr val="0564CD"/>
              </a:solidFill>
              <a:latin typeface="微软雅黑" panose="020B0503020204020204" charset="-122"/>
              <a:ea typeface="微软雅黑" panose="020B0503020204020204" charset="-122"/>
              <a:cs typeface="微软雅黑" panose="020B0503020204020204" charset="-122"/>
              <a:sym typeface="+mn-ea"/>
            </a:endParaRPr>
          </a:p>
          <a:p>
            <a:pPr marL="457200" indent="-457200" algn="l" hangingPunct="1">
              <a:lnSpc>
                <a:spcPct val="150000"/>
              </a:lnSpc>
              <a:buFont typeface="Wingdings" panose="05000000000000000000" charset="0"/>
              <a:buChar char="Ø"/>
            </a:pPr>
            <a:r>
              <a:rPr lang="zh-CN" sz="2800" b="1">
                <a:solidFill>
                  <a:srgbClr val="0564CD"/>
                </a:solidFill>
                <a:latin typeface="微软雅黑" panose="020B0503020204020204" charset="-122"/>
                <a:ea typeface="微软雅黑" panose="020B0503020204020204" charset="-122"/>
                <a:cs typeface="微软雅黑" panose="020B0503020204020204" charset="-122"/>
                <a:sym typeface="+mn-ea"/>
              </a:rPr>
              <a:t>三、模型建立</a:t>
            </a:r>
            <a:endParaRPr lang="zh-CN" sz="2800" b="1">
              <a:solidFill>
                <a:srgbClr val="0564CD"/>
              </a:solidFill>
              <a:latin typeface="微软雅黑" panose="020B0503020204020204" charset="-122"/>
              <a:ea typeface="微软雅黑" panose="020B0503020204020204" charset="-122"/>
              <a:cs typeface="微软雅黑" panose="020B0503020204020204" charset="-122"/>
              <a:sym typeface="+mn-ea"/>
            </a:endParaRPr>
          </a:p>
          <a:p>
            <a:pPr marL="457200" indent="-457200" algn="l" hangingPunct="1">
              <a:lnSpc>
                <a:spcPct val="150000"/>
              </a:lnSpc>
              <a:buFont typeface="Wingdings" panose="05000000000000000000" charset="0"/>
              <a:buChar char="Ø"/>
            </a:pPr>
            <a:r>
              <a:rPr lang="zh-CN" sz="2800" b="1">
                <a:solidFill>
                  <a:srgbClr val="0564CD"/>
                </a:solidFill>
                <a:latin typeface="微软雅黑" panose="020B0503020204020204" charset="-122"/>
                <a:ea typeface="微软雅黑" panose="020B0503020204020204" charset="-122"/>
                <a:cs typeface="微软雅黑" panose="020B0503020204020204" charset="-122"/>
                <a:sym typeface="+mn-ea"/>
              </a:rPr>
              <a:t>四、下一计划</a:t>
            </a:r>
            <a:endParaRPr lang="zh-CN" altLang="en-US" sz="2800" b="1" dirty="0">
              <a:solidFill>
                <a:srgbClr val="0564CD"/>
              </a:solidFill>
              <a:latin typeface="微软雅黑" panose="020B0503020204020204" charset="-122"/>
              <a:ea typeface="微软雅黑" panose="020B0503020204020204" charset="-122"/>
              <a:cs typeface="微软雅黑" panose="020B0503020204020204" charset="-122"/>
              <a:sym typeface="+mn-ea"/>
            </a:endParaRPr>
          </a:p>
        </p:txBody>
      </p:sp>
    </p:spTree>
  </p:cSld>
  <p:clrMapOvr>
    <a:masterClrMapping/>
  </p:clrMapOvr>
  <p:transition spd="me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p:nvPr>
            <p:ph type="title"/>
          </p:nvPr>
        </p:nvSpPr>
        <p:spPr>
          <a:xfrm>
            <a:off x="877570" y="341630"/>
            <a:ext cx="9912985" cy="675005"/>
          </a:xfrm>
        </p:spPr>
        <p:txBody>
          <a:bodyPr>
            <a:normAutofit/>
          </a:bodyPr>
          <a:p>
            <a:r>
              <a:rPr lang="en-US" altLang="zh-CN" sz="3555"/>
              <a:t>1. </a:t>
            </a:r>
            <a:r>
              <a:rPr lang="zh-CN" altLang="en-US" sz="3555"/>
              <a:t>项目背景与目标</a:t>
            </a:r>
            <a:endParaRPr lang="zh-CN" altLang="en-US" sz="3555"/>
          </a:p>
        </p:txBody>
      </p:sp>
      <p:sp>
        <p:nvSpPr>
          <p:cNvPr id="3" name="文本框 2"/>
          <p:cNvSpPr txBox="1"/>
          <p:nvPr/>
        </p:nvSpPr>
        <p:spPr>
          <a:xfrm>
            <a:off x="983615" y="2061210"/>
            <a:ext cx="9807575" cy="920750"/>
          </a:xfrm>
          <a:prstGeom prst="rect">
            <a:avLst/>
          </a:prstGeom>
          <a:noFill/>
          <a:ln w="12700" cap="flat">
            <a:noFill/>
            <a:miter lim="400000"/>
          </a:ln>
        </p:spPr>
        <p:style>
          <a:lnRef idx="0">
            <a:srgbClr val="FFFFFF"/>
          </a:lnRef>
          <a:fillRef idx="0">
            <a:srgbClr val="FFFFFF"/>
          </a:fillRef>
          <a:effectRef idx="0">
            <a:srgbClr val="FFFFFF"/>
          </a:effectRef>
          <a:fontRef idx="none"/>
        </p:style>
        <p:txBody>
          <a:bodyPr rot="0" vertOverflow="overflow" horzOverflow="overflow" vert="horz" wrap="square" lIns="45719" tIns="45719" rIns="45719" bIns="45719" numCol="1" spcCol="38100" rtlCol="0" anchor="t" forceAA="0" upright="0">
            <a:spAutoFit/>
          </a:bodyPr>
          <a:p>
            <a:pPr marL="0" marR="0" indent="0" algn="l" defTabSz="914400" rtl="0" fontAlgn="auto" latinLnBrk="0" hangingPunct="0">
              <a:lnSpc>
                <a:spcPct val="150000"/>
              </a:lnSpc>
              <a:spcBef>
                <a:spcPts val="0"/>
              </a:spcBef>
              <a:spcAft>
                <a:spcPts val="0"/>
              </a:spcAft>
              <a:buClrTx/>
              <a:buSzTx/>
              <a:buFontTx/>
              <a:buNone/>
            </a:pPr>
            <a:r>
              <a:rPr kumimoji="0" lang="en-US" altLang="zh-CN" sz="1800" b="0" i="0" u="none" strike="noStrike" cap="none" spc="0" normalizeH="0" baseline="0">
                <a:ln>
                  <a:noFill/>
                </a:ln>
                <a:solidFill>
                  <a:srgbClr val="000000"/>
                </a:solidFill>
                <a:effectLst/>
                <a:uFillTx/>
                <a:latin typeface="微软雅黑" panose="020B0503020204020204" charset="-122"/>
                <a:ea typeface="微软雅黑" panose="020B0503020204020204" charset="-122"/>
                <a:cs typeface="微软雅黑" panose="020B0503020204020204" charset="-122"/>
                <a:sym typeface="Calibri" panose="020F0502020204030204"/>
              </a:rPr>
              <a:t>        </a:t>
            </a:r>
            <a:r>
              <a:rPr kumimoji="0" lang="zh-CN" altLang="en-US" sz="1800" b="0" i="0" u="none" strike="noStrike" cap="none" spc="0" normalizeH="0" baseline="0">
                <a:ln>
                  <a:noFill/>
                </a:ln>
                <a:solidFill>
                  <a:srgbClr val="000000"/>
                </a:solidFill>
                <a:effectLst/>
                <a:uFillTx/>
                <a:latin typeface="微软雅黑" panose="020B0503020204020204" charset="-122"/>
                <a:ea typeface="微软雅黑" panose="020B0503020204020204" charset="-122"/>
                <a:cs typeface="微软雅黑" panose="020B0503020204020204" charset="-122"/>
                <a:sym typeface="Calibri" panose="020F0502020204030204"/>
              </a:rPr>
              <a:t>目前想对开放平台</a:t>
            </a:r>
            <a:r>
              <a:rPr kumimoji="0" lang="zh-CN" altLang="en-US" sz="1800" b="1" i="0" u="none" strike="noStrike" cap="none" spc="0" normalizeH="0" baseline="0">
                <a:ln>
                  <a:noFill/>
                </a:ln>
                <a:solidFill>
                  <a:srgbClr val="000000"/>
                </a:solidFill>
                <a:effectLst/>
                <a:uFillTx/>
                <a:latin typeface="微软雅黑" panose="020B0503020204020204" charset="-122"/>
                <a:ea typeface="微软雅黑" panose="020B0503020204020204" charset="-122"/>
                <a:cs typeface="微软雅黑" panose="020B0503020204020204" charset="-122"/>
                <a:sym typeface="Calibri" panose="020F0502020204030204"/>
              </a:rPr>
              <a:t>新商机用户</a:t>
            </a:r>
            <a:r>
              <a:rPr kumimoji="0" lang="zh-CN" altLang="en-US" sz="1800" b="0" i="0" u="none" strike="noStrike" cap="none" spc="0" normalizeH="0" baseline="0">
                <a:ln>
                  <a:noFill/>
                </a:ln>
                <a:solidFill>
                  <a:srgbClr val="000000"/>
                </a:solidFill>
                <a:effectLst/>
                <a:uFillTx/>
                <a:latin typeface="微软雅黑" panose="020B0503020204020204" charset="-122"/>
                <a:ea typeface="微软雅黑" panose="020B0503020204020204" charset="-122"/>
                <a:cs typeface="微软雅黑" panose="020B0503020204020204" charset="-122"/>
                <a:sym typeface="Calibri" panose="020F0502020204030204"/>
              </a:rPr>
              <a:t>进行投保意向预测，划分商机价值等级，用于商机分配及差异化运营。</a:t>
            </a:r>
            <a:endParaRPr kumimoji="0" lang="zh-CN" altLang="en-US" sz="1800" b="0" i="0" u="none" strike="noStrike" cap="none" spc="0" normalizeH="0" baseline="0">
              <a:ln>
                <a:noFill/>
              </a:ln>
              <a:solidFill>
                <a:srgbClr val="000000"/>
              </a:solidFill>
              <a:effectLst/>
              <a:uFillTx/>
              <a:latin typeface="微软雅黑" panose="020B0503020204020204" charset="-122"/>
              <a:ea typeface="微软雅黑" panose="020B0503020204020204" charset="-122"/>
              <a:cs typeface="微软雅黑" panose="020B0503020204020204" charset="-122"/>
              <a:sym typeface="Calibri" panose="020F0502020204030204"/>
            </a:endParaRPr>
          </a:p>
        </p:txBody>
      </p:sp>
      <p:sp>
        <p:nvSpPr>
          <p:cNvPr id="4" name="文本框 3"/>
          <p:cNvSpPr txBox="1"/>
          <p:nvPr/>
        </p:nvSpPr>
        <p:spPr>
          <a:xfrm>
            <a:off x="1077595" y="1423670"/>
            <a:ext cx="2288540" cy="459105"/>
          </a:xfrm>
          <a:prstGeom prst="rect">
            <a:avLst/>
          </a:prstGeom>
          <a:noFill/>
          <a:ln w="12700" cap="flat">
            <a:noFill/>
            <a:miter lim="400000"/>
          </a:ln>
        </p:spPr>
        <p:style>
          <a:lnRef idx="0">
            <a:srgbClr val="FFFFFF"/>
          </a:lnRef>
          <a:fillRef idx="0">
            <a:srgbClr val="FFFFFF"/>
          </a:fillRef>
          <a:effectRef idx="0">
            <a:srgbClr val="FFFFFF"/>
          </a:effectRef>
          <a:fontRef idx="none"/>
        </p:style>
        <p:txBody>
          <a:bodyPr rot="0" vertOverflow="overflow" horzOverflow="overflow" vert="horz" wrap="square" lIns="45719" tIns="45719" rIns="45719" bIns="45719" numCol="1" spcCol="38100" rtlCol="0" anchor="t" forceAA="0" upright="0">
            <a:spAutoFit/>
          </a:bodyPr>
          <a:p>
            <a:pPr marL="0" marR="0" indent="0" algn="l" defTabSz="914400" rtl="0" fontAlgn="auto" latinLnBrk="0" hangingPunct="0">
              <a:lnSpc>
                <a:spcPct val="100000"/>
              </a:lnSpc>
              <a:spcBef>
                <a:spcPts val="0"/>
              </a:spcBef>
              <a:spcAft>
                <a:spcPts val="0"/>
              </a:spcAft>
              <a:buClrTx/>
              <a:buSzTx/>
              <a:buFontTx/>
              <a:buNone/>
            </a:pPr>
            <a:r>
              <a:rPr kumimoji="0" lang="zh-CN" altLang="en-US" sz="2400" b="1" i="0" u="none" strike="noStrike" cap="none" spc="0" normalizeH="0" baseline="0">
                <a:solidFill>
                  <a:srgbClr val="0564CD"/>
                </a:solidFill>
                <a:uFillTx/>
                <a:latin typeface="微软雅黑" panose="020B0503020204020204" charset="-122"/>
                <a:ea typeface="微软雅黑" panose="020B0503020204020204" charset="-122"/>
                <a:cs typeface="微软雅黑" panose="020B0503020204020204" charset="-122"/>
                <a:sym typeface="Calibri" panose="020F0502020204030204"/>
              </a:rPr>
              <a:t>项目背景</a:t>
            </a:r>
            <a:endParaRPr kumimoji="0" lang="zh-CN" altLang="en-US" sz="2400" b="1" i="0" u="none" strike="noStrike" cap="none" spc="0" normalizeH="0" baseline="0">
              <a:ln>
                <a:noFill/>
              </a:ln>
              <a:solidFill>
                <a:srgbClr val="0564CD"/>
              </a:solidFill>
              <a:effectLst/>
              <a:uFillTx/>
              <a:latin typeface="微软雅黑" panose="020B0503020204020204" charset="-122"/>
              <a:ea typeface="微软雅黑" panose="020B0503020204020204" charset="-122"/>
              <a:cs typeface="微软雅黑" panose="020B0503020204020204" charset="-122"/>
              <a:sym typeface="Calibri" panose="020F0502020204030204"/>
            </a:endParaRPr>
          </a:p>
        </p:txBody>
      </p:sp>
      <p:sp>
        <p:nvSpPr>
          <p:cNvPr id="6" name="文本框 5"/>
          <p:cNvSpPr txBox="1"/>
          <p:nvPr/>
        </p:nvSpPr>
        <p:spPr>
          <a:xfrm>
            <a:off x="983615" y="3645535"/>
            <a:ext cx="9918065" cy="920750"/>
          </a:xfrm>
          <a:prstGeom prst="rect">
            <a:avLst/>
          </a:prstGeom>
          <a:noFill/>
          <a:ln w="12700" cap="flat">
            <a:noFill/>
            <a:miter lim="400000"/>
          </a:ln>
        </p:spPr>
        <p:style>
          <a:lnRef idx="0">
            <a:srgbClr val="FFFFFF"/>
          </a:lnRef>
          <a:fillRef idx="0">
            <a:srgbClr val="FFFFFF"/>
          </a:fillRef>
          <a:effectRef idx="0">
            <a:srgbClr val="FFFFFF"/>
          </a:effectRef>
          <a:fontRef idx="none"/>
        </p:style>
        <p:txBody>
          <a:bodyPr rot="0" vertOverflow="overflow" horzOverflow="overflow" vert="horz" wrap="square" lIns="45719" tIns="45719" rIns="45719" bIns="45719" numCol="1" spcCol="38100" rtlCol="0" fromWordArt="0" anchor="t" anchorCtr="0" forceAA="0" upright="0" compatLnSpc="1">
            <a:spAutoFit/>
          </a:bodyPr>
          <a:p>
            <a:pPr lvl="0" algn="l">
              <a:lnSpc>
                <a:spcPct val="150000"/>
              </a:lnSpc>
            </a:pPr>
            <a:r>
              <a:rPr lang="en-US" altLang="zh-CN">
                <a:latin typeface="微软雅黑" panose="020B0503020204020204" charset="-122"/>
                <a:ea typeface="微软雅黑" panose="020B0503020204020204" charset="-122"/>
                <a:cs typeface="微软雅黑" panose="020B0503020204020204" charset="-122"/>
                <a:sym typeface="Calibri" panose="020F0502020204030204"/>
              </a:rPr>
              <a:t>      通过机器学习算法对</a:t>
            </a:r>
            <a:r>
              <a:rPr lang="zh-CN" altLang="en-US">
                <a:latin typeface="微软雅黑" panose="020B0503020204020204" charset="-122"/>
                <a:ea typeface="微软雅黑" panose="020B0503020204020204" charset="-122"/>
                <a:cs typeface="微软雅黑" panose="020B0503020204020204" charset="-122"/>
                <a:sym typeface="Calibri" panose="020F0502020204030204"/>
              </a:rPr>
              <a:t>新商机用户</a:t>
            </a:r>
            <a:r>
              <a:rPr lang="en-US" altLang="zh-CN">
                <a:latin typeface="微软雅黑" panose="020B0503020204020204" charset="-122"/>
                <a:ea typeface="微软雅黑" panose="020B0503020204020204" charset="-122"/>
                <a:cs typeface="微软雅黑" panose="020B0503020204020204" charset="-122"/>
                <a:sym typeface="Calibri" panose="020F0502020204030204"/>
              </a:rPr>
              <a:t>进行</a:t>
            </a:r>
            <a:r>
              <a:rPr lang="zh-CN" altLang="en-US">
                <a:latin typeface="微软雅黑" panose="020B0503020204020204" charset="-122"/>
                <a:ea typeface="微软雅黑" panose="020B0503020204020204" charset="-122"/>
                <a:cs typeface="微软雅黑" panose="020B0503020204020204" charset="-122"/>
                <a:sym typeface="Calibri" panose="020F0502020204030204"/>
              </a:rPr>
              <a:t>投保意向预测</a:t>
            </a:r>
            <a:r>
              <a:rPr lang="en-US" altLang="zh-CN">
                <a:latin typeface="微软雅黑" panose="020B0503020204020204" charset="-122"/>
                <a:ea typeface="微软雅黑" panose="020B0503020204020204" charset="-122"/>
                <a:cs typeface="微软雅黑" panose="020B0503020204020204" charset="-122"/>
                <a:sym typeface="Calibri" panose="020F0502020204030204"/>
              </a:rPr>
              <a:t>，</a:t>
            </a:r>
            <a:r>
              <a:rPr lang="zh-CN" altLang="en-US">
                <a:latin typeface="微软雅黑" panose="020B0503020204020204" charset="-122"/>
                <a:ea typeface="微软雅黑" panose="020B0503020204020204" charset="-122"/>
                <a:cs typeface="微软雅黑" panose="020B0503020204020204" charset="-122"/>
                <a:sym typeface="Calibri" panose="020F0502020204030204"/>
              </a:rPr>
              <a:t>然后配合投放部、</a:t>
            </a:r>
            <a:r>
              <a:rPr lang="en-US" altLang="zh-CN">
                <a:latin typeface="微软雅黑" panose="020B0503020204020204" charset="-122"/>
                <a:ea typeface="微软雅黑" panose="020B0503020204020204" charset="-122"/>
                <a:cs typeface="微软雅黑" panose="020B0503020204020204" charset="-122"/>
                <a:sym typeface="Calibri" panose="020F0502020204030204"/>
              </a:rPr>
              <a:t>运营部进行</a:t>
            </a:r>
            <a:r>
              <a:rPr lang="zh-CN" altLang="en-US">
                <a:latin typeface="微软雅黑" panose="020B0503020204020204" charset="-122"/>
                <a:ea typeface="微软雅黑" panose="020B0503020204020204" charset="-122"/>
                <a:cs typeface="微软雅黑" panose="020B0503020204020204" charset="-122"/>
                <a:sym typeface="Calibri" panose="020F0502020204030204"/>
              </a:rPr>
              <a:t>用户</a:t>
            </a:r>
            <a:r>
              <a:rPr lang="en-US" altLang="zh-CN">
                <a:latin typeface="微软雅黑" panose="020B0503020204020204" charset="-122"/>
                <a:ea typeface="微软雅黑" panose="020B0503020204020204" charset="-122"/>
                <a:cs typeface="微软雅黑" panose="020B0503020204020204" charset="-122"/>
                <a:sym typeface="Calibri" panose="020F0502020204030204"/>
              </a:rPr>
              <a:t>运营，提升</a:t>
            </a:r>
            <a:r>
              <a:rPr lang="zh-CN" altLang="en-US">
                <a:latin typeface="微软雅黑" panose="020B0503020204020204" charset="-122"/>
                <a:ea typeface="微软雅黑" panose="020B0503020204020204" charset="-122"/>
                <a:cs typeface="微软雅黑" panose="020B0503020204020204" charset="-122"/>
                <a:sym typeface="Calibri" panose="020F0502020204030204"/>
              </a:rPr>
              <a:t>新</a:t>
            </a:r>
            <a:r>
              <a:rPr lang="en-US" altLang="zh-CN">
                <a:latin typeface="微软雅黑" panose="020B0503020204020204" charset="-122"/>
                <a:ea typeface="微软雅黑" panose="020B0503020204020204" charset="-122"/>
                <a:cs typeface="微软雅黑" panose="020B0503020204020204" charset="-122"/>
                <a:sym typeface="Calibri" panose="020F0502020204030204"/>
              </a:rPr>
              <a:t>商机的转化率</a:t>
            </a:r>
            <a:r>
              <a:rPr lang="zh-CN" altLang="en-US">
                <a:latin typeface="微软雅黑" panose="020B0503020204020204" charset="-122"/>
                <a:ea typeface="微软雅黑" panose="020B0503020204020204" charset="-122"/>
                <a:cs typeface="微软雅黑" panose="020B0503020204020204" charset="-122"/>
                <a:sym typeface="Calibri" panose="020F0502020204030204"/>
              </a:rPr>
              <a:t>、降低投入成本等</a:t>
            </a:r>
            <a:r>
              <a:rPr lang="en-US" altLang="zh-CN">
                <a:latin typeface="微软雅黑" panose="020B0503020204020204" charset="-122"/>
                <a:ea typeface="微软雅黑" panose="020B0503020204020204" charset="-122"/>
                <a:cs typeface="微软雅黑" panose="020B0503020204020204" charset="-122"/>
                <a:sym typeface="Calibri" panose="020F0502020204030204"/>
              </a:rPr>
              <a:t>。</a:t>
            </a:r>
            <a:endParaRPr lang="en-US" altLang="zh-CN">
              <a:latin typeface="微软雅黑" panose="020B0503020204020204" charset="-122"/>
              <a:ea typeface="微软雅黑" panose="020B0503020204020204" charset="-122"/>
              <a:cs typeface="微软雅黑" panose="020B0503020204020204" charset="-122"/>
              <a:sym typeface="Calibri" panose="020F0502020204030204"/>
            </a:endParaRPr>
          </a:p>
        </p:txBody>
      </p:sp>
      <p:sp>
        <p:nvSpPr>
          <p:cNvPr id="8" name="文本框 7"/>
          <p:cNvSpPr txBox="1"/>
          <p:nvPr/>
        </p:nvSpPr>
        <p:spPr>
          <a:xfrm>
            <a:off x="1056005" y="3141345"/>
            <a:ext cx="2078990" cy="459105"/>
          </a:xfrm>
          <a:prstGeom prst="rect">
            <a:avLst/>
          </a:prstGeom>
          <a:noFill/>
          <a:ln w="12700" cap="flat">
            <a:noFill/>
            <a:miter lim="400000"/>
          </a:ln>
        </p:spPr>
        <p:style>
          <a:lnRef idx="0">
            <a:srgbClr val="FFFFFF"/>
          </a:lnRef>
          <a:fillRef idx="0">
            <a:srgbClr val="FFFFFF"/>
          </a:fillRef>
          <a:effectRef idx="0">
            <a:srgbClr val="FFFFFF"/>
          </a:effectRef>
          <a:fontRef idx="none"/>
        </p:style>
        <p:txBody>
          <a:bodyPr rot="0" vertOverflow="overflow" horzOverflow="overflow" vert="horz" wrap="square" lIns="45719" tIns="45719" rIns="45719" bIns="45719" numCol="1" spcCol="38100" rtlCol="0" fromWordArt="0" anchor="t" anchorCtr="0" forceAA="0" upright="0" compatLnSpc="1">
            <a:spAutoFit/>
          </a:bodyPr>
          <a:p>
            <a:pPr lvl="0" algn="l"/>
            <a:r>
              <a:rPr lang="zh-CN" altLang="en-US" sz="2400" b="1">
                <a:solidFill>
                  <a:srgbClr val="0564CD"/>
                </a:solidFill>
                <a:latin typeface="微软雅黑" panose="020B0503020204020204" charset="-122"/>
                <a:ea typeface="微软雅黑" panose="020B0503020204020204" charset="-122"/>
                <a:cs typeface="微软雅黑" panose="020B0503020204020204" charset="-122"/>
                <a:sym typeface="Calibri" panose="020F0502020204030204"/>
              </a:rPr>
              <a:t>项目</a:t>
            </a:r>
            <a:r>
              <a:rPr lang="zh-CN" altLang="en-US" sz="2400" b="1">
                <a:solidFill>
                  <a:srgbClr val="0564CD"/>
                </a:solidFill>
                <a:latin typeface="微软雅黑" panose="020B0503020204020204" charset="-122"/>
                <a:ea typeface="微软雅黑" panose="020B0503020204020204" charset="-122"/>
                <a:cs typeface="微软雅黑" panose="020B0503020204020204" charset="-122"/>
                <a:sym typeface="Calibri" panose="020F0502020204030204"/>
              </a:rPr>
              <a:t>目标</a:t>
            </a:r>
            <a:endParaRPr lang="zh-CN" altLang="en-US" sz="2400" b="1">
              <a:solidFill>
                <a:srgbClr val="0564CD"/>
              </a:solidFill>
              <a:latin typeface="微软雅黑" panose="020B0503020204020204" charset="-122"/>
              <a:ea typeface="微软雅黑" panose="020B0503020204020204" charset="-122"/>
              <a:cs typeface="微软雅黑" panose="020B0503020204020204" charset="-122"/>
              <a:sym typeface="Calibri" panose="020F0502020204030204"/>
            </a:endParaRPr>
          </a:p>
        </p:txBody>
      </p:sp>
    </p:spTree>
  </p:cSld>
  <p:clrMapOvr>
    <a:masterClrMapping/>
  </p:clrMapOvr>
  <p:transition spd="me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p:nvPr>
            <p:ph type="title"/>
          </p:nvPr>
        </p:nvSpPr>
        <p:spPr>
          <a:xfrm>
            <a:off x="335915" y="260985"/>
            <a:ext cx="10714355" cy="675005"/>
          </a:xfrm>
        </p:spPr>
        <p:txBody>
          <a:bodyPr>
            <a:normAutofit/>
          </a:bodyPr>
          <a:p>
            <a:r>
              <a:rPr lang="en-US" altLang="zh-CN" sz="3555"/>
              <a:t>2. </a:t>
            </a:r>
            <a:r>
              <a:rPr lang="zh-CN" altLang="en-US" sz="3555"/>
              <a:t>模型设计</a:t>
            </a:r>
            <a:endParaRPr lang="zh-CN" altLang="en-US" sz="3555"/>
          </a:p>
        </p:txBody>
      </p:sp>
      <p:sp>
        <p:nvSpPr>
          <p:cNvPr id="6" name="文本框 5"/>
          <p:cNvSpPr txBox="1"/>
          <p:nvPr/>
        </p:nvSpPr>
        <p:spPr>
          <a:xfrm>
            <a:off x="695960" y="1485265"/>
            <a:ext cx="2288540" cy="459105"/>
          </a:xfrm>
          <a:prstGeom prst="rect">
            <a:avLst/>
          </a:prstGeom>
          <a:noFill/>
          <a:ln w="12700" cap="flat">
            <a:noFill/>
            <a:miter lim="400000"/>
          </a:ln>
        </p:spPr>
        <p:style>
          <a:lnRef idx="0">
            <a:srgbClr val="FFFFFF"/>
          </a:lnRef>
          <a:fillRef idx="0">
            <a:srgbClr val="FFFFFF"/>
          </a:fillRef>
          <a:effectRef idx="0">
            <a:srgbClr val="FFFFFF"/>
          </a:effectRef>
          <a:fontRef idx="none"/>
        </p:style>
        <p:txBody>
          <a:bodyPr rot="0" vertOverflow="overflow" horzOverflow="overflow" vert="horz" wrap="square" lIns="45719" tIns="45719" rIns="45719" bIns="45719" numCol="1" spcCol="38100" rtlCol="0" anchor="t" forceAA="0" upright="0">
            <a:spAutoFit/>
          </a:bodyPr>
          <a:p>
            <a:pPr marL="342900" marR="0" indent="-342900" algn="l" defTabSz="914400" rtl="0" fontAlgn="auto" latinLnBrk="0" hangingPunct="0">
              <a:lnSpc>
                <a:spcPct val="100000"/>
              </a:lnSpc>
              <a:spcBef>
                <a:spcPts val="0"/>
              </a:spcBef>
              <a:spcAft>
                <a:spcPts val="0"/>
              </a:spcAft>
              <a:buClrTx/>
              <a:buSzTx/>
              <a:buFont typeface="Wingdings" panose="05000000000000000000" charset="0"/>
              <a:buChar char="ü"/>
            </a:pPr>
            <a:r>
              <a:rPr kumimoji="0" lang="zh-CN" altLang="en-US" sz="2400" b="1" i="0" u="none" strike="noStrike" cap="none" spc="0" normalizeH="0" baseline="0">
                <a:solidFill>
                  <a:srgbClr val="0564CD"/>
                </a:solidFill>
                <a:uFillTx/>
                <a:latin typeface="微软雅黑" panose="020B0503020204020204" charset="-122"/>
                <a:ea typeface="微软雅黑" panose="020B0503020204020204" charset="-122"/>
                <a:cs typeface="微软雅黑" panose="020B0503020204020204" charset="-122"/>
                <a:sym typeface="Calibri" panose="020F0502020204030204"/>
              </a:rPr>
              <a:t>人群分析</a:t>
            </a:r>
            <a:endParaRPr kumimoji="0" lang="zh-CN" altLang="en-US" sz="2400" b="1" i="0" u="none" strike="noStrike" cap="none" spc="0" normalizeH="0" baseline="0">
              <a:ln>
                <a:noFill/>
              </a:ln>
              <a:solidFill>
                <a:srgbClr val="0564CD"/>
              </a:solidFill>
              <a:effectLst/>
              <a:uFillTx/>
              <a:latin typeface="微软雅黑" panose="020B0503020204020204" charset="-122"/>
              <a:ea typeface="微软雅黑" panose="020B0503020204020204" charset="-122"/>
              <a:cs typeface="微软雅黑" panose="020B0503020204020204" charset="-122"/>
              <a:sym typeface="Calibri" panose="020F0502020204030204"/>
            </a:endParaRPr>
          </a:p>
        </p:txBody>
      </p:sp>
      <p:sp>
        <p:nvSpPr>
          <p:cNvPr id="10" name="文本框 9"/>
          <p:cNvSpPr txBox="1"/>
          <p:nvPr/>
        </p:nvSpPr>
        <p:spPr>
          <a:xfrm>
            <a:off x="839470" y="2493010"/>
            <a:ext cx="7798435" cy="1336675"/>
          </a:xfrm>
          <a:prstGeom prst="rect">
            <a:avLst/>
          </a:prstGeom>
          <a:noFill/>
          <a:ln w="12700" cap="flat">
            <a:noFill/>
            <a:miter lim="400000"/>
          </a:ln>
        </p:spPr>
        <p:style>
          <a:lnRef idx="0">
            <a:srgbClr val="FFFFFF"/>
          </a:lnRef>
          <a:fillRef idx="0">
            <a:srgbClr val="FFFFFF"/>
          </a:fillRef>
          <a:effectRef idx="0">
            <a:srgbClr val="FFFFFF"/>
          </a:effectRef>
          <a:fontRef idx="none"/>
        </p:style>
        <p:txBody>
          <a:bodyPr rot="0" vertOverflow="overflow" horzOverflow="overflow" vert="horz" wrap="square" lIns="45719" tIns="45719" rIns="45719" bIns="45719" numCol="1" spcCol="38100" rtlCol="0" anchor="t" forceAA="0" upright="0">
            <a:spAutoFit/>
          </a:bodyPr>
          <a:p>
            <a:pPr marL="342900" marR="0" indent="-342900" algn="l" defTabSz="914400" rtl="0" fontAlgn="auto" latinLnBrk="0" hangingPunct="0">
              <a:lnSpc>
                <a:spcPct val="150000"/>
              </a:lnSpc>
              <a:spcBef>
                <a:spcPts val="0"/>
              </a:spcBef>
              <a:spcAft>
                <a:spcPts val="0"/>
              </a:spcAft>
              <a:buClrTx/>
              <a:buSzTx/>
              <a:buFont typeface="+mj-lt"/>
              <a:buAutoNum type="arabicPeriod"/>
            </a:pPr>
            <a:r>
              <a:rPr kumimoji="0" lang="zh-CN" altLang="en-US" sz="1800" b="0" i="0" u="none" strike="noStrike" cap="none" spc="0" normalizeH="0" baseline="0">
                <a:ln>
                  <a:noFill/>
                </a:ln>
                <a:solidFill>
                  <a:srgbClr val="000000"/>
                </a:solidFill>
                <a:effectLst/>
                <a:uFillTx/>
                <a:latin typeface="微软雅黑" panose="020B0503020204020204" charset="-122"/>
                <a:ea typeface="微软雅黑" panose="020B0503020204020204" charset="-122"/>
                <a:cs typeface="微软雅黑" panose="020B0503020204020204" charset="-122"/>
                <a:sym typeface="Calibri" panose="020F0502020204030204"/>
              </a:rPr>
              <a:t>本次建模分析人群为</a:t>
            </a:r>
            <a:r>
              <a:rPr kumimoji="0" lang="en-US" altLang="zh-CN" sz="1800" b="0" i="0" u="none" strike="noStrike" cap="none" spc="0" normalizeH="0" baseline="0">
                <a:ln>
                  <a:noFill/>
                </a:ln>
                <a:solidFill>
                  <a:srgbClr val="000000"/>
                </a:solidFill>
                <a:effectLst/>
                <a:uFillTx/>
                <a:latin typeface="微软雅黑" panose="020B0503020204020204" charset="-122"/>
                <a:ea typeface="微软雅黑" panose="020B0503020204020204" charset="-122"/>
                <a:cs typeface="微软雅黑" panose="020B0503020204020204" charset="-122"/>
                <a:sym typeface="Calibri" panose="020F0502020204030204"/>
              </a:rPr>
              <a:t>2021</a:t>
            </a:r>
            <a:r>
              <a:rPr kumimoji="0" lang="zh-CN" altLang="en-US" sz="1800" b="0" i="0" u="none" strike="noStrike" cap="none" spc="0" normalizeH="0" baseline="0">
                <a:ln>
                  <a:noFill/>
                </a:ln>
                <a:solidFill>
                  <a:srgbClr val="000000"/>
                </a:solidFill>
                <a:effectLst/>
                <a:uFillTx/>
                <a:latin typeface="微软雅黑" panose="020B0503020204020204" charset="-122"/>
                <a:ea typeface="微软雅黑" panose="020B0503020204020204" charset="-122"/>
                <a:cs typeface="微软雅黑" panose="020B0503020204020204" charset="-122"/>
                <a:sym typeface="Calibri" panose="020F0502020204030204"/>
              </a:rPr>
              <a:t>年的新用户，总体人群约</a:t>
            </a:r>
            <a:r>
              <a:rPr kumimoji="0" lang="en-US" altLang="zh-CN" sz="1800" b="0" i="0" u="none" strike="noStrike" cap="none" spc="0" normalizeH="0" baseline="0">
                <a:ln>
                  <a:noFill/>
                </a:ln>
                <a:solidFill>
                  <a:srgbClr val="000000"/>
                </a:solidFill>
                <a:effectLst/>
                <a:uFillTx/>
                <a:latin typeface="微软雅黑" panose="020B0503020204020204" charset="-122"/>
                <a:ea typeface="微软雅黑" panose="020B0503020204020204" charset="-122"/>
                <a:cs typeface="微软雅黑" panose="020B0503020204020204" charset="-122"/>
                <a:sym typeface="Calibri" panose="020F0502020204030204"/>
              </a:rPr>
              <a:t>32</a:t>
            </a:r>
            <a:r>
              <a:rPr kumimoji="0" lang="zh-CN" altLang="en-US" sz="1800" b="0" i="0" u="none" strike="noStrike" cap="none" spc="0" normalizeH="0" baseline="0">
                <a:ln>
                  <a:noFill/>
                </a:ln>
                <a:solidFill>
                  <a:srgbClr val="000000"/>
                </a:solidFill>
                <a:effectLst/>
                <a:uFillTx/>
                <a:latin typeface="微软雅黑" panose="020B0503020204020204" charset="-122"/>
                <a:ea typeface="微软雅黑" panose="020B0503020204020204" charset="-122"/>
                <a:cs typeface="微软雅黑" panose="020B0503020204020204" charset="-122"/>
                <a:sym typeface="Calibri" panose="020F0502020204030204"/>
              </a:rPr>
              <a:t>万，</a:t>
            </a:r>
            <a:endParaRPr kumimoji="0" lang="zh-CN" altLang="en-US" sz="1800" b="0" i="0" u="none" strike="noStrike" cap="none" spc="0" normalizeH="0" baseline="0">
              <a:ln>
                <a:noFill/>
              </a:ln>
              <a:solidFill>
                <a:srgbClr val="000000"/>
              </a:solidFill>
              <a:effectLst/>
              <a:uFillTx/>
              <a:latin typeface="微软雅黑" panose="020B0503020204020204" charset="-122"/>
              <a:ea typeface="微软雅黑" panose="020B0503020204020204" charset="-122"/>
              <a:cs typeface="微软雅黑" panose="020B0503020204020204" charset="-122"/>
              <a:sym typeface="Calibri" panose="020F0502020204030204"/>
            </a:endParaRPr>
          </a:p>
          <a:p>
            <a:pPr marL="342900" marR="0" indent="-342900" algn="l" defTabSz="914400" rtl="0" fontAlgn="auto" latinLnBrk="0" hangingPunct="0">
              <a:lnSpc>
                <a:spcPct val="150000"/>
              </a:lnSpc>
              <a:spcBef>
                <a:spcPts val="0"/>
              </a:spcBef>
              <a:spcAft>
                <a:spcPts val="0"/>
              </a:spcAft>
              <a:buClrTx/>
              <a:buSzTx/>
              <a:buFont typeface="+mj-lt"/>
              <a:buAutoNum type="arabicPeriod"/>
            </a:pPr>
            <a:r>
              <a:rPr kumimoji="0" lang="zh-CN" altLang="en-US" sz="1800" b="0" i="0" u="none" strike="noStrike" cap="none" spc="0" normalizeH="0" baseline="0">
                <a:ln>
                  <a:noFill/>
                </a:ln>
                <a:solidFill>
                  <a:srgbClr val="000000"/>
                </a:solidFill>
                <a:effectLst/>
                <a:uFillTx/>
                <a:latin typeface="微软雅黑" panose="020B0503020204020204" charset="-122"/>
                <a:ea typeface="微软雅黑" panose="020B0503020204020204" charset="-122"/>
                <a:cs typeface="微软雅黑" panose="020B0503020204020204" charset="-122"/>
                <a:sym typeface="Calibri" panose="020F0502020204030204"/>
              </a:rPr>
              <a:t>包含投放、慧择</a:t>
            </a:r>
            <a:r>
              <a:rPr kumimoji="0" lang="en-US" altLang="zh-CN" sz="1800" b="0" i="0" u="none" strike="noStrike" cap="none" spc="0" normalizeH="0" baseline="0">
                <a:ln>
                  <a:noFill/>
                </a:ln>
                <a:solidFill>
                  <a:srgbClr val="000000"/>
                </a:solidFill>
                <a:effectLst/>
                <a:uFillTx/>
                <a:latin typeface="微软雅黑" panose="020B0503020204020204" charset="-122"/>
                <a:ea typeface="微软雅黑" panose="020B0503020204020204" charset="-122"/>
                <a:cs typeface="微软雅黑" panose="020B0503020204020204" charset="-122"/>
                <a:sym typeface="Calibri" panose="020F0502020204030204"/>
              </a:rPr>
              <a:t>APP</a:t>
            </a:r>
            <a:r>
              <a:rPr kumimoji="0" lang="zh-CN" altLang="en-US" sz="1800" b="0" i="0" u="none" strike="noStrike" cap="none" spc="0" normalizeH="0" baseline="0">
                <a:ln>
                  <a:noFill/>
                </a:ln>
                <a:solidFill>
                  <a:srgbClr val="000000"/>
                </a:solidFill>
                <a:effectLst/>
                <a:uFillTx/>
                <a:latin typeface="微软雅黑" panose="020B0503020204020204" charset="-122"/>
                <a:ea typeface="微软雅黑" panose="020B0503020204020204" charset="-122"/>
                <a:cs typeface="微软雅黑" panose="020B0503020204020204" charset="-122"/>
                <a:sym typeface="Calibri" panose="020F0502020204030204"/>
              </a:rPr>
              <a:t>、慧择官网等</a:t>
            </a:r>
            <a:r>
              <a:rPr kumimoji="0" lang="en-US" altLang="zh-CN" sz="1800" b="0" i="0" u="none" strike="noStrike" cap="none" spc="0" normalizeH="0" baseline="0">
                <a:ln>
                  <a:noFill/>
                </a:ln>
                <a:solidFill>
                  <a:srgbClr val="000000"/>
                </a:solidFill>
                <a:effectLst/>
                <a:uFillTx/>
                <a:latin typeface="微软雅黑" panose="020B0503020204020204" charset="-122"/>
                <a:ea typeface="微软雅黑" panose="020B0503020204020204" charset="-122"/>
                <a:cs typeface="微软雅黑" panose="020B0503020204020204" charset="-122"/>
                <a:sym typeface="Calibri" panose="020F0502020204030204"/>
              </a:rPr>
              <a:t>19</a:t>
            </a:r>
            <a:r>
              <a:rPr kumimoji="0" lang="zh-CN" altLang="en-US" sz="1800" b="0" i="0" u="none" strike="noStrike" cap="none" spc="0" normalizeH="0" baseline="0">
                <a:ln>
                  <a:noFill/>
                </a:ln>
                <a:solidFill>
                  <a:srgbClr val="000000"/>
                </a:solidFill>
                <a:effectLst/>
                <a:uFillTx/>
                <a:latin typeface="微软雅黑" panose="020B0503020204020204" charset="-122"/>
                <a:ea typeface="微软雅黑" panose="020B0503020204020204" charset="-122"/>
                <a:cs typeface="微软雅黑" panose="020B0503020204020204" charset="-122"/>
                <a:sym typeface="Calibri" panose="020F0502020204030204"/>
              </a:rPr>
              <a:t>个渠道，如截图；</a:t>
            </a:r>
            <a:endParaRPr kumimoji="0" lang="zh-CN" altLang="en-US" sz="1800" b="0" i="0" u="none" strike="noStrike" cap="none" spc="0" normalizeH="0" baseline="0">
              <a:ln>
                <a:noFill/>
              </a:ln>
              <a:solidFill>
                <a:srgbClr val="000000"/>
              </a:solidFill>
              <a:effectLst/>
              <a:uFillTx/>
              <a:latin typeface="微软雅黑" panose="020B0503020204020204" charset="-122"/>
              <a:ea typeface="微软雅黑" panose="020B0503020204020204" charset="-122"/>
              <a:cs typeface="微软雅黑" panose="020B0503020204020204" charset="-122"/>
              <a:sym typeface="Calibri" panose="020F0502020204030204"/>
            </a:endParaRPr>
          </a:p>
          <a:p>
            <a:pPr marL="342900" marR="0" indent="-342900" algn="l" defTabSz="914400" rtl="0" fontAlgn="auto" latinLnBrk="0" hangingPunct="0">
              <a:lnSpc>
                <a:spcPct val="150000"/>
              </a:lnSpc>
              <a:spcBef>
                <a:spcPts val="0"/>
              </a:spcBef>
              <a:spcAft>
                <a:spcPts val="0"/>
              </a:spcAft>
              <a:buClrTx/>
              <a:buSzTx/>
              <a:buFont typeface="+mj-lt"/>
              <a:buAutoNum type="arabicPeriod"/>
            </a:pPr>
            <a:r>
              <a:rPr kumimoji="0" lang="zh-CN" altLang="en-US" sz="1800" b="0" i="0" u="none" strike="noStrike" cap="none" spc="0" normalizeH="0" baseline="0">
                <a:ln>
                  <a:noFill/>
                </a:ln>
                <a:solidFill>
                  <a:srgbClr val="000000"/>
                </a:solidFill>
                <a:effectLst/>
                <a:uFillTx/>
                <a:latin typeface="微软雅黑" panose="020B0503020204020204" charset="-122"/>
                <a:ea typeface="微软雅黑" panose="020B0503020204020204" charset="-122"/>
                <a:cs typeface="微软雅黑" panose="020B0503020204020204" charset="-122"/>
                <a:sym typeface="Calibri" panose="020F0502020204030204"/>
              </a:rPr>
              <a:t>以用户为分析粒度，其中新用户是在</a:t>
            </a:r>
            <a:r>
              <a:rPr kumimoji="0" lang="en-US" altLang="zh-CN" sz="1800" b="0" i="0" u="none" strike="noStrike" cap="none" spc="0" normalizeH="0" baseline="0">
                <a:ln>
                  <a:noFill/>
                </a:ln>
                <a:solidFill>
                  <a:srgbClr val="000000"/>
                </a:solidFill>
                <a:effectLst/>
                <a:uFillTx/>
                <a:latin typeface="微软雅黑" panose="020B0503020204020204" charset="-122"/>
                <a:ea typeface="微软雅黑" panose="020B0503020204020204" charset="-122"/>
                <a:cs typeface="微软雅黑" panose="020B0503020204020204" charset="-122"/>
                <a:sym typeface="Calibri" panose="020F0502020204030204"/>
              </a:rPr>
              <a:t>2021</a:t>
            </a:r>
            <a:r>
              <a:rPr kumimoji="0" lang="zh-CN" altLang="en-US" sz="1800" b="0" i="0" u="none" strike="noStrike" cap="none" spc="0" normalizeH="0" baseline="0">
                <a:ln>
                  <a:noFill/>
                </a:ln>
                <a:solidFill>
                  <a:srgbClr val="000000"/>
                </a:solidFill>
                <a:effectLst/>
                <a:uFillTx/>
                <a:latin typeface="微软雅黑" panose="020B0503020204020204" charset="-122"/>
                <a:ea typeface="微软雅黑" panose="020B0503020204020204" charset="-122"/>
                <a:cs typeface="微软雅黑" panose="020B0503020204020204" charset="-122"/>
                <a:sym typeface="Calibri" panose="020F0502020204030204"/>
              </a:rPr>
              <a:t>年第一次创建商机的用户；</a:t>
            </a:r>
            <a:endParaRPr kumimoji="0" lang="en-US" altLang="zh-CN" sz="1800" b="0" i="0" u="none" strike="noStrike" cap="none" spc="0" normalizeH="0" baseline="0">
              <a:ln>
                <a:noFill/>
              </a:ln>
              <a:solidFill>
                <a:srgbClr val="000000"/>
              </a:solidFill>
              <a:effectLst/>
              <a:uFillTx/>
              <a:latin typeface="微软雅黑" panose="020B0503020204020204" charset="-122"/>
              <a:ea typeface="微软雅黑" panose="020B0503020204020204" charset="-122"/>
              <a:cs typeface="微软雅黑" panose="020B0503020204020204" charset="-122"/>
              <a:sym typeface="Calibri" panose="020F0502020204030204"/>
            </a:endParaRPr>
          </a:p>
        </p:txBody>
      </p:sp>
      <p:sp>
        <p:nvSpPr>
          <p:cNvPr id="11" name="文本框 10"/>
          <p:cNvSpPr txBox="1"/>
          <p:nvPr/>
        </p:nvSpPr>
        <p:spPr>
          <a:xfrm>
            <a:off x="983615" y="4149090"/>
            <a:ext cx="4521835" cy="367030"/>
          </a:xfrm>
          <a:prstGeom prst="rect">
            <a:avLst/>
          </a:prstGeom>
          <a:noFill/>
          <a:ln w="12700" cap="flat">
            <a:noFill/>
            <a:miter lim="400000"/>
          </a:ln>
        </p:spPr>
        <p:style>
          <a:lnRef idx="0">
            <a:srgbClr val="FFFFFF"/>
          </a:lnRef>
          <a:fillRef idx="0">
            <a:srgbClr val="FFFFFF"/>
          </a:fillRef>
          <a:effectRef idx="0">
            <a:srgbClr val="FFFFFF"/>
          </a:effectRef>
          <a:fontRef idx="none"/>
        </p:style>
        <p:txBody>
          <a:bodyPr rot="0" vertOverflow="overflow" horzOverflow="overflow" vert="horz" wrap="square" lIns="45719" tIns="45719" rIns="45719" bIns="45719" numCol="1" spcCol="38100" rtlCol="0" anchor="t" forceAA="0" upright="0">
            <a:spAutoFit/>
          </a:bodyPr>
          <a:p>
            <a:pPr marL="0" marR="0" indent="0" algn="l" defTabSz="914400" rtl="0" fontAlgn="auto" latinLnBrk="0" hangingPunct="0">
              <a:lnSpc>
                <a:spcPct val="100000"/>
              </a:lnSpc>
              <a:spcBef>
                <a:spcPts val="0"/>
              </a:spcBef>
              <a:spcAft>
                <a:spcPts val="0"/>
              </a:spcAft>
              <a:buClrTx/>
              <a:buSzTx/>
              <a:buFontTx/>
              <a:buNone/>
            </a:pPr>
            <a:r>
              <a:rPr kumimoji="0" lang="zh-CN" altLang="en-US" sz="1800" b="1" i="0" u="none" strike="noStrike" cap="none" spc="0" normalizeH="0" baseline="0">
                <a:ln>
                  <a:noFill/>
                </a:ln>
                <a:solidFill>
                  <a:srgbClr val="FF0000"/>
                </a:solidFill>
                <a:effectLst/>
                <a:uFillTx/>
                <a:latin typeface="+mj-lt"/>
                <a:ea typeface="+mj-ea"/>
                <a:cs typeface="+mj-cs"/>
                <a:sym typeface="Calibri" panose="020F0502020204030204"/>
              </a:rPr>
              <a:t>数据统计截止时间：</a:t>
            </a:r>
            <a:r>
              <a:rPr kumimoji="0" lang="en-US" altLang="zh-CN" sz="1800" b="1" i="0" u="none" strike="noStrike" cap="none" spc="0" normalizeH="0" baseline="0">
                <a:ln>
                  <a:noFill/>
                </a:ln>
                <a:solidFill>
                  <a:srgbClr val="FF0000"/>
                </a:solidFill>
                <a:effectLst/>
                <a:uFillTx/>
                <a:latin typeface="+mj-lt"/>
                <a:ea typeface="+mj-ea"/>
                <a:cs typeface="+mj-cs"/>
                <a:sym typeface="Calibri" panose="020F0502020204030204"/>
              </a:rPr>
              <a:t>2021</a:t>
            </a:r>
            <a:r>
              <a:rPr kumimoji="0" lang="zh-CN" altLang="en-US" sz="1800" b="1" i="0" u="none" strike="noStrike" cap="none" spc="0" normalizeH="0" baseline="0">
                <a:ln>
                  <a:noFill/>
                </a:ln>
                <a:solidFill>
                  <a:srgbClr val="FF0000"/>
                </a:solidFill>
                <a:effectLst/>
                <a:uFillTx/>
                <a:latin typeface="+mj-lt"/>
                <a:ea typeface="宋体" panose="02010600030101010101" pitchFamily="2" charset="-122"/>
                <a:cs typeface="+mj-cs"/>
                <a:sym typeface="Calibri" panose="020F0502020204030204"/>
              </a:rPr>
              <a:t>年</a:t>
            </a:r>
            <a:r>
              <a:rPr kumimoji="0" lang="en-US" altLang="zh-CN" sz="1800" b="1" i="0" u="none" strike="noStrike" cap="none" spc="0" normalizeH="0" baseline="0">
                <a:ln>
                  <a:noFill/>
                </a:ln>
                <a:solidFill>
                  <a:srgbClr val="FF0000"/>
                </a:solidFill>
                <a:effectLst/>
                <a:uFillTx/>
                <a:latin typeface="+mj-lt"/>
                <a:ea typeface="宋体" panose="02010600030101010101" pitchFamily="2" charset="-122"/>
                <a:cs typeface="+mj-cs"/>
                <a:sym typeface="Calibri" panose="020F0502020204030204"/>
              </a:rPr>
              <a:t>12</a:t>
            </a:r>
            <a:r>
              <a:rPr kumimoji="0" lang="zh-CN" altLang="en-US" sz="1800" b="1" i="0" u="none" strike="noStrike" cap="none" spc="0" normalizeH="0" baseline="0">
                <a:ln>
                  <a:noFill/>
                </a:ln>
                <a:solidFill>
                  <a:srgbClr val="FF0000"/>
                </a:solidFill>
                <a:effectLst/>
                <a:uFillTx/>
                <a:latin typeface="+mj-lt"/>
                <a:ea typeface="宋体" panose="02010600030101010101" pitchFamily="2" charset="-122"/>
                <a:cs typeface="+mj-cs"/>
                <a:sym typeface="Calibri" panose="020F0502020204030204"/>
              </a:rPr>
              <a:t>月</a:t>
            </a:r>
            <a:r>
              <a:rPr kumimoji="0" lang="en-US" altLang="zh-CN" sz="1800" b="1" i="0" u="none" strike="noStrike" cap="none" spc="0" normalizeH="0" baseline="0">
                <a:ln>
                  <a:noFill/>
                </a:ln>
                <a:solidFill>
                  <a:srgbClr val="FF0000"/>
                </a:solidFill>
                <a:effectLst/>
                <a:uFillTx/>
                <a:latin typeface="+mj-lt"/>
                <a:ea typeface="宋体" panose="02010600030101010101" pitchFamily="2" charset="-122"/>
                <a:cs typeface="+mj-cs"/>
                <a:sym typeface="Calibri" panose="020F0502020204030204"/>
              </a:rPr>
              <a:t>20</a:t>
            </a:r>
            <a:r>
              <a:rPr kumimoji="0" lang="zh-CN" altLang="en-US" sz="1800" b="1" i="0" u="none" strike="noStrike" cap="none" spc="0" normalizeH="0" baseline="0">
                <a:ln>
                  <a:noFill/>
                </a:ln>
                <a:solidFill>
                  <a:srgbClr val="FF0000"/>
                </a:solidFill>
                <a:effectLst/>
                <a:uFillTx/>
                <a:latin typeface="+mj-lt"/>
                <a:ea typeface="宋体" panose="02010600030101010101" pitchFamily="2" charset="-122"/>
                <a:cs typeface="+mj-cs"/>
                <a:sym typeface="Calibri" panose="020F0502020204030204"/>
              </a:rPr>
              <a:t>日，下同</a:t>
            </a:r>
            <a:endParaRPr kumimoji="0" lang="zh-CN" altLang="en-US" sz="1800" b="1" i="0" u="none" strike="noStrike" cap="none" spc="0" normalizeH="0" baseline="0">
              <a:ln>
                <a:noFill/>
              </a:ln>
              <a:solidFill>
                <a:srgbClr val="FF0000"/>
              </a:solidFill>
              <a:effectLst/>
              <a:uFillTx/>
              <a:latin typeface="+mj-lt"/>
              <a:ea typeface="宋体" panose="02010600030101010101" pitchFamily="2" charset="-122"/>
              <a:cs typeface="+mj-cs"/>
              <a:sym typeface="Calibri" panose="020F0502020204030204"/>
            </a:endParaRPr>
          </a:p>
        </p:txBody>
      </p:sp>
      <p:pic>
        <p:nvPicPr>
          <p:cNvPr id="4" name="图片 3"/>
          <p:cNvPicPr>
            <a:picLocks noChangeAspect="1"/>
          </p:cNvPicPr>
          <p:nvPr/>
        </p:nvPicPr>
        <p:blipFill>
          <a:blip r:embed="rId1"/>
          <a:stretch>
            <a:fillRect/>
          </a:stretch>
        </p:blipFill>
        <p:spPr>
          <a:xfrm>
            <a:off x="8637905" y="1069340"/>
            <a:ext cx="1773555" cy="4718685"/>
          </a:xfrm>
          <a:prstGeom prst="rect">
            <a:avLst/>
          </a:prstGeom>
        </p:spPr>
      </p:pic>
    </p:spTree>
  </p:cSld>
  <p:clrMapOvr>
    <a:masterClrMapping/>
  </p:clrMapOvr>
  <p:transition spd="me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p:nvPr>
            <p:ph type="title"/>
          </p:nvPr>
        </p:nvSpPr>
        <p:spPr>
          <a:xfrm>
            <a:off x="335915" y="260985"/>
            <a:ext cx="10714355" cy="675005"/>
          </a:xfrm>
        </p:spPr>
        <p:txBody>
          <a:bodyPr>
            <a:normAutofit/>
          </a:bodyPr>
          <a:p>
            <a:r>
              <a:rPr sz="3555"/>
              <a:t>2. 模型设计</a:t>
            </a:r>
            <a:endParaRPr sz="3555"/>
          </a:p>
        </p:txBody>
      </p:sp>
      <p:sp>
        <p:nvSpPr>
          <p:cNvPr id="5" name="文本框 4"/>
          <p:cNvSpPr txBox="1"/>
          <p:nvPr/>
        </p:nvSpPr>
        <p:spPr>
          <a:xfrm>
            <a:off x="695960" y="1268730"/>
            <a:ext cx="2288540" cy="459105"/>
          </a:xfrm>
          <a:prstGeom prst="rect">
            <a:avLst/>
          </a:prstGeom>
          <a:noFill/>
          <a:ln w="12700" cap="flat">
            <a:noFill/>
            <a:miter lim="400000"/>
          </a:ln>
        </p:spPr>
        <p:style>
          <a:lnRef idx="0">
            <a:srgbClr val="FFFFFF"/>
          </a:lnRef>
          <a:fillRef idx="0">
            <a:srgbClr val="FFFFFF"/>
          </a:fillRef>
          <a:effectRef idx="0">
            <a:srgbClr val="FFFFFF"/>
          </a:effectRef>
          <a:fontRef idx="none"/>
        </p:style>
        <p:txBody>
          <a:bodyPr rot="0" vertOverflow="overflow" horzOverflow="overflow" vert="horz" wrap="square" lIns="45719" tIns="45719" rIns="45719" bIns="45719" numCol="1" spcCol="38100" rtlCol="0" anchor="t" forceAA="0" upright="0">
            <a:spAutoFit/>
          </a:bodyPr>
          <a:p>
            <a:pPr marL="342900" marR="0" indent="-342900" algn="l" defTabSz="914400" rtl="0" fontAlgn="auto" latinLnBrk="0" hangingPunct="0">
              <a:lnSpc>
                <a:spcPct val="100000"/>
              </a:lnSpc>
              <a:spcBef>
                <a:spcPts val="0"/>
              </a:spcBef>
              <a:spcAft>
                <a:spcPts val="0"/>
              </a:spcAft>
              <a:buClrTx/>
              <a:buSzTx/>
              <a:buFont typeface="Wingdings" panose="05000000000000000000" charset="0"/>
              <a:buChar char="ü"/>
            </a:pPr>
            <a:r>
              <a:rPr kumimoji="0" lang="zh-CN" altLang="en-US" sz="2400" b="1" i="0" u="none" strike="noStrike" cap="none" spc="0" normalizeH="0" baseline="0">
                <a:solidFill>
                  <a:srgbClr val="0564CD"/>
                </a:solidFill>
                <a:uFillTx/>
                <a:latin typeface="微软雅黑" panose="020B0503020204020204" charset="-122"/>
                <a:ea typeface="微软雅黑" panose="020B0503020204020204" charset="-122"/>
                <a:cs typeface="微软雅黑" panose="020B0503020204020204" charset="-122"/>
                <a:sym typeface="Calibri" panose="020F0502020204030204"/>
              </a:rPr>
              <a:t>目标定义</a:t>
            </a:r>
            <a:endParaRPr kumimoji="0" lang="zh-CN" altLang="en-US" sz="2400" b="1" i="0" u="none" strike="noStrike" cap="none" spc="0" normalizeH="0" baseline="0">
              <a:ln>
                <a:noFill/>
              </a:ln>
              <a:solidFill>
                <a:srgbClr val="0564CD"/>
              </a:solidFill>
              <a:effectLst/>
              <a:uFillTx/>
              <a:latin typeface="微软雅黑" panose="020B0503020204020204" charset="-122"/>
              <a:ea typeface="微软雅黑" panose="020B0503020204020204" charset="-122"/>
              <a:cs typeface="微软雅黑" panose="020B0503020204020204" charset="-122"/>
              <a:sym typeface="Calibri" panose="020F0502020204030204"/>
            </a:endParaRPr>
          </a:p>
        </p:txBody>
      </p:sp>
      <p:sp>
        <p:nvSpPr>
          <p:cNvPr id="7" name="文本框 6"/>
          <p:cNvSpPr txBox="1"/>
          <p:nvPr/>
        </p:nvSpPr>
        <p:spPr>
          <a:xfrm>
            <a:off x="555625" y="2061210"/>
            <a:ext cx="6613525" cy="2167255"/>
          </a:xfrm>
          <a:prstGeom prst="rect">
            <a:avLst/>
          </a:prstGeom>
          <a:noFill/>
          <a:ln w="12700" cap="flat">
            <a:noFill/>
            <a:miter lim="400000"/>
          </a:ln>
        </p:spPr>
        <p:style>
          <a:lnRef idx="0">
            <a:srgbClr val="FFFFFF"/>
          </a:lnRef>
          <a:fillRef idx="0">
            <a:srgbClr val="FFFFFF"/>
          </a:fillRef>
          <a:effectRef idx="0">
            <a:srgbClr val="FFFFFF"/>
          </a:effectRef>
          <a:fontRef idx="none"/>
        </p:style>
        <p:txBody>
          <a:bodyPr rot="0" vertOverflow="overflow" horzOverflow="overflow" vert="horz" wrap="square" lIns="45719" tIns="45719" rIns="45719" bIns="45719" numCol="1" spcCol="38100" rtlCol="0" anchor="t" forceAA="0" upright="0">
            <a:spAutoFit/>
          </a:bodyPr>
          <a:p>
            <a:pPr marL="342900" marR="0" indent="-342900" algn="l" defTabSz="914400" rtl="0" fontAlgn="auto" latinLnBrk="0" hangingPunct="0">
              <a:lnSpc>
                <a:spcPct val="150000"/>
              </a:lnSpc>
              <a:spcBef>
                <a:spcPts val="0"/>
              </a:spcBef>
              <a:spcAft>
                <a:spcPts val="0"/>
              </a:spcAft>
              <a:buClrTx/>
              <a:buSzTx/>
              <a:buFont typeface="+mj-lt"/>
              <a:buAutoNum type="arabicPeriod"/>
            </a:pPr>
            <a:r>
              <a:rPr kumimoji="0" lang="zh-CN" altLang="en-US" sz="1800" b="0" i="0" u="none" strike="noStrike" cap="none" spc="0" normalizeH="0" baseline="0">
                <a:ln>
                  <a:noFill/>
                </a:ln>
                <a:solidFill>
                  <a:srgbClr val="000000"/>
                </a:solidFill>
                <a:effectLst/>
                <a:uFillTx/>
                <a:latin typeface="微软雅黑" panose="020B0503020204020204" charset="-122"/>
                <a:ea typeface="微软雅黑" panose="020B0503020204020204" charset="-122"/>
                <a:cs typeface="微软雅黑" panose="020B0503020204020204" charset="-122"/>
                <a:sym typeface="Calibri" panose="020F0502020204030204"/>
              </a:rPr>
              <a:t>经合开放平台的业务场景，在给定转化表现期内用户生成投保单号则定为“下单”，否则定为“不下单”。</a:t>
            </a:r>
            <a:endParaRPr kumimoji="0" lang="zh-CN" altLang="en-US" sz="1800" b="0" i="0" u="none" strike="noStrike" cap="none" spc="0" normalizeH="0" baseline="0">
              <a:ln>
                <a:noFill/>
              </a:ln>
              <a:solidFill>
                <a:srgbClr val="000000"/>
              </a:solidFill>
              <a:effectLst/>
              <a:uFillTx/>
              <a:latin typeface="微软雅黑" panose="020B0503020204020204" charset="-122"/>
              <a:ea typeface="微软雅黑" panose="020B0503020204020204" charset="-122"/>
              <a:cs typeface="微软雅黑" panose="020B0503020204020204" charset="-122"/>
              <a:sym typeface="Calibri" panose="020F0502020204030204"/>
            </a:endParaRPr>
          </a:p>
          <a:p>
            <a:pPr marL="342900" marR="0" indent="-342900" algn="l" defTabSz="914400" rtl="0" fontAlgn="auto" latinLnBrk="0" hangingPunct="0">
              <a:lnSpc>
                <a:spcPct val="150000"/>
              </a:lnSpc>
              <a:spcBef>
                <a:spcPts val="0"/>
              </a:spcBef>
              <a:spcAft>
                <a:spcPts val="0"/>
              </a:spcAft>
              <a:buClrTx/>
              <a:buSzTx/>
              <a:buFont typeface="+mj-lt"/>
              <a:buAutoNum type="arabicPeriod"/>
            </a:pPr>
            <a:r>
              <a:rPr kumimoji="0" lang="zh-CN" altLang="en-US" sz="1800" b="0" i="0" u="none" strike="noStrike" cap="none" spc="0" normalizeH="0" baseline="0">
                <a:ln>
                  <a:noFill/>
                </a:ln>
                <a:solidFill>
                  <a:srgbClr val="000000"/>
                </a:solidFill>
                <a:effectLst/>
                <a:uFillTx/>
                <a:latin typeface="微软雅黑" panose="020B0503020204020204" charset="-122"/>
                <a:ea typeface="微软雅黑" panose="020B0503020204020204" charset="-122"/>
                <a:cs typeface="微软雅黑" panose="020B0503020204020204" charset="-122"/>
                <a:sym typeface="Calibri" panose="020F0502020204030204"/>
              </a:rPr>
              <a:t>通过分析全量的下单数据中商机注册到下单的间隔天数，约8</a:t>
            </a:r>
            <a:r>
              <a:rPr kumimoji="0" lang="en-US" altLang="zh-CN" sz="1800" b="0" i="0" u="none" strike="noStrike" cap="none" spc="0" normalizeH="0" baseline="0">
                <a:ln>
                  <a:noFill/>
                </a:ln>
                <a:solidFill>
                  <a:srgbClr val="000000"/>
                </a:solidFill>
                <a:effectLst/>
                <a:uFillTx/>
                <a:latin typeface="微软雅黑" panose="020B0503020204020204" charset="-122"/>
                <a:ea typeface="微软雅黑" panose="020B0503020204020204" charset="-122"/>
                <a:cs typeface="微软雅黑" panose="020B0503020204020204" charset="-122"/>
                <a:sym typeface="Calibri" panose="020F0502020204030204"/>
              </a:rPr>
              <a:t>6</a:t>
            </a:r>
            <a:r>
              <a:rPr kumimoji="0" lang="zh-CN" altLang="en-US" sz="1800" b="0" i="0" u="none" strike="noStrike" cap="none" spc="0" normalizeH="0" baseline="0">
                <a:ln>
                  <a:noFill/>
                </a:ln>
                <a:solidFill>
                  <a:srgbClr val="000000"/>
                </a:solidFill>
                <a:effectLst/>
                <a:uFillTx/>
                <a:latin typeface="微软雅黑" panose="020B0503020204020204" charset="-122"/>
                <a:ea typeface="微软雅黑" panose="020B0503020204020204" charset="-122"/>
                <a:cs typeface="微软雅黑" panose="020B0503020204020204" charset="-122"/>
                <a:sym typeface="Calibri" panose="020F0502020204030204"/>
              </a:rPr>
              <a:t>%商机在30天以内会进行转化，所以本次建模转化表现期定为</a:t>
            </a:r>
            <a:r>
              <a:rPr kumimoji="0" lang="en-US" altLang="zh-CN" sz="1800" b="0" i="0" u="none" strike="noStrike" cap="none" spc="0" normalizeH="0" baseline="0">
                <a:ln>
                  <a:noFill/>
                </a:ln>
                <a:solidFill>
                  <a:srgbClr val="000000"/>
                </a:solidFill>
                <a:effectLst/>
                <a:uFillTx/>
                <a:latin typeface="微软雅黑" panose="020B0503020204020204" charset="-122"/>
                <a:ea typeface="微软雅黑" panose="020B0503020204020204" charset="-122"/>
                <a:cs typeface="微软雅黑" panose="020B0503020204020204" charset="-122"/>
                <a:sym typeface="Calibri" panose="020F0502020204030204"/>
              </a:rPr>
              <a:t>30</a:t>
            </a:r>
            <a:r>
              <a:rPr kumimoji="0" lang="zh-CN" altLang="en-US" sz="1800" b="0" i="0" u="none" strike="noStrike" cap="none" spc="0" normalizeH="0" baseline="0">
                <a:ln>
                  <a:noFill/>
                </a:ln>
                <a:solidFill>
                  <a:srgbClr val="000000"/>
                </a:solidFill>
                <a:effectLst/>
                <a:uFillTx/>
                <a:latin typeface="微软雅黑" panose="020B0503020204020204" charset="-122"/>
                <a:ea typeface="微软雅黑" panose="020B0503020204020204" charset="-122"/>
                <a:cs typeface="微软雅黑" panose="020B0503020204020204" charset="-122"/>
                <a:sym typeface="Calibri" panose="020F0502020204030204"/>
              </a:rPr>
              <a:t>天。</a:t>
            </a:r>
            <a:endParaRPr kumimoji="0" lang="zh-CN" altLang="en-US" sz="1800" b="0" i="0" u="none" strike="noStrike" cap="none" spc="0" normalizeH="0" baseline="0">
              <a:ln>
                <a:noFill/>
              </a:ln>
              <a:solidFill>
                <a:srgbClr val="000000"/>
              </a:solidFill>
              <a:effectLst/>
              <a:uFillTx/>
              <a:latin typeface="微软雅黑" panose="020B0503020204020204" charset="-122"/>
              <a:ea typeface="微软雅黑" panose="020B0503020204020204" charset="-122"/>
              <a:cs typeface="微软雅黑" panose="020B0503020204020204" charset="-122"/>
              <a:sym typeface="Calibri" panose="020F0502020204030204"/>
            </a:endParaRPr>
          </a:p>
        </p:txBody>
      </p:sp>
      <p:pic>
        <p:nvPicPr>
          <p:cNvPr id="3" name="图片 2"/>
          <p:cNvPicPr>
            <a:picLocks noChangeAspect="1"/>
          </p:cNvPicPr>
          <p:nvPr/>
        </p:nvPicPr>
        <p:blipFill>
          <a:blip r:embed="rId1"/>
          <a:stretch>
            <a:fillRect/>
          </a:stretch>
        </p:blipFill>
        <p:spPr>
          <a:xfrm>
            <a:off x="7968615" y="1988820"/>
            <a:ext cx="2870200" cy="2581910"/>
          </a:xfrm>
          <a:prstGeom prst="rect">
            <a:avLst/>
          </a:prstGeom>
        </p:spPr>
      </p:pic>
    </p:spTree>
  </p:cSld>
  <p:clrMapOvr>
    <a:masterClrMapping/>
  </p:clrMapOvr>
  <p:transition spd="me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p:nvPr>
            <p:ph type="title"/>
          </p:nvPr>
        </p:nvSpPr>
        <p:spPr>
          <a:xfrm>
            <a:off x="335915" y="260985"/>
            <a:ext cx="10714355" cy="675005"/>
          </a:xfrm>
        </p:spPr>
        <p:txBody>
          <a:bodyPr>
            <a:normAutofit/>
          </a:bodyPr>
          <a:p>
            <a:r>
              <a:rPr sz="3555"/>
              <a:t>2. 模型设计</a:t>
            </a:r>
            <a:endParaRPr sz="3555"/>
          </a:p>
        </p:txBody>
      </p:sp>
      <p:sp>
        <p:nvSpPr>
          <p:cNvPr id="5" name="文本框 4"/>
          <p:cNvSpPr txBox="1"/>
          <p:nvPr/>
        </p:nvSpPr>
        <p:spPr>
          <a:xfrm>
            <a:off x="695960" y="1125220"/>
            <a:ext cx="2288540" cy="459105"/>
          </a:xfrm>
          <a:prstGeom prst="rect">
            <a:avLst/>
          </a:prstGeom>
          <a:noFill/>
          <a:ln w="12700" cap="flat">
            <a:noFill/>
            <a:miter lim="400000"/>
          </a:ln>
        </p:spPr>
        <p:style>
          <a:lnRef idx="0">
            <a:srgbClr val="FFFFFF"/>
          </a:lnRef>
          <a:fillRef idx="0">
            <a:srgbClr val="FFFFFF"/>
          </a:fillRef>
          <a:effectRef idx="0">
            <a:srgbClr val="FFFFFF"/>
          </a:effectRef>
          <a:fontRef idx="none"/>
        </p:style>
        <p:txBody>
          <a:bodyPr rot="0" vertOverflow="overflow" horzOverflow="overflow" vert="horz" wrap="square" lIns="45719" tIns="45719" rIns="45719" bIns="45719" numCol="1" spcCol="38100" rtlCol="0" anchor="t" forceAA="0" upright="0">
            <a:spAutoFit/>
          </a:bodyPr>
          <a:p>
            <a:pPr marL="342900" marR="0" indent="-342900" algn="l" defTabSz="914400" rtl="0" fontAlgn="auto" latinLnBrk="0" hangingPunct="0">
              <a:lnSpc>
                <a:spcPct val="100000"/>
              </a:lnSpc>
              <a:spcBef>
                <a:spcPts val="0"/>
              </a:spcBef>
              <a:spcAft>
                <a:spcPts val="0"/>
              </a:spcAft>
              <a:buClrTx/>
              <a:buSzTx/>
              <a:buFont typeface="Wingdings" panose="05000000000000000000" charset="0"/>
              <a:buChar char="ü"/>
            </a:pPr>
            <a:r>
              <a:rPr kumimoji="0" lang="zh-CN" altLang="en-US" sz="2400" b="1" i="0" u="none" strike="noStrike" cap="none" spc="0" normalizeH="0" baseline="0">
                <a:ln>
                  <a:noFill/>
                </a:ln>
                <a:solidFill>
                  <a:srgbClr val="0564CD"/>
                </a:solidFill>
                <a:effectLst/>
                <a:uFillTx/>
                <a:latin typeface="微软雅黑" panose="020B0503020204020204" charset="-122"/>
                <a:ea typeface="微软雅黑" panose="020B0503020204020204" charset="-122"/>
                <a:cs typeface="微软雅黑" panose="020B0503020204020204" charset="-122"/>
                <a:sym typeface="Calibri" panose="020F0502020204030204"/>
              </a:rPr>
              <a:t>样本划分</a:t>
            </a:r>
            <a:endParaRPr kumimoji="0" lang="zh-CN" altLang="en-US" sz="2400" b="1" i="0" u="none" strike="noStrike" cap="none" spc="0" normalizeH="0" baseline="0">
              <a:ln>
                <a:noFill/>
              </a:ln>
              <a:solidFill>
                <a:srgbClr val="0564CD"/>
              </a:solidFill>
              <a:effectLst/>
              <a:uFillTx/>
              <a:latin typeface="微软雅黑" panose="020B0503020204020204" charset="-122"/>
              <a:ea typeface="微软雅黑" panose="020B0503020204020204" charset="-122"/>
              <a:cs typeface="微软雅黑" panose="020B0503020204020204" charset="-122"/>
              <a:sym typeface="Calibri" panose="020F0502020204030204"/>
            </a:endParaRPr>
          </a:p>
        </p:txBody>
      </p:sp>
      <p:sp>
        <p:nvSpPr>
          <p:cNvPr id="7" name="文本框 6"/>
          <p:cNvSpPr txBox="1"/>
          <p:nvPr/>
        </p:nvSpPr>
        <p:spPr>
          <a:xfrm>
            <a:off x="551815" y="1701165"/>
            <a:ext cx="7363460" cy="2998470"/>
          </a:xfrm>
          <a:prstGeom prst="rect">
            <a:avLst/>
          </a:prstGeom>
          <a:noFill/>
          <a:ln w="12700" cap="flat">
            <a:noFill/>
            <a:miter lim="400000"/>
          </a:ln>
        </p:spPr>
        <p:style>
          <a:lnRef idx="0">
            <a:srgbClr val="FFFFFF"/>
          </a:lnRef>
          <a:fillRef idx="0">
            <a:srgbClr val="FFFFFF"/>
          </a:fillRef>
          <a:effectRef idx="0">
            <a:srgbClr val="FFFFFF"/>
          </a:effectRef>
          <a:fontRef idx="none"/>
        </p:style>
        <p:txBody>
          <a:bodyPr rot="0" vertOverflow="overflow" horzOverflow="overflow" vert="horz" wrap="square" lIns="45719" tIns="45719" rIns="45719" bIns="45719" numCol="1" spcCol="38100" rtlCol="0" anchor="t" forceAA="0" upright="0">
            <a:spAutoFit/>
          </a:bodyPr>
          <a:p>
            <a:pPr marL="342900" marR="0" indent="-342900" algn="l" defTabSz="914400" rtl="0" fontAlgn="auto" latinLnBrk="0" hangingPunct="0">
              <a:lnSpc>
                <a:spcPct val="150000"/>
              </a:lnSpc>
              <a:spcBef>
                <a:spcPts val="0"/>
              </a:spcBef>
              <a:spcAft>
                <a:spcPts val="0"/>
              </a:spcAft>
              <a:buClrTx/>
              <a:buSzTx/>
              <a:buFont typeface="+mj-lt"/>
              <a:buAutoNum type="arabicPeriod"/>
            </a:pPr>
            <a:r>
              <a:rPr kumimoji="0" lang="zh-CN" altLang="en-US" sz="1800" b="0" i="0" u="none" strike="noStrike" cap="none" spc="0" normalizeH="0" baseline="0">
                <a:ln>
                  <a:noFill/>
                </a:ln>
                <a:solidFill>
                  <a:srgbClr val="000000"/>
                </a:solidFill>
                <a:effectLst/>
                <a:uFillTx/>
                <a:latin typeface="微软雅黑" panose="020B0503020204020204" charset="-122"/>
                <a:ea typeface="微软雅黑" panose="020B0503020204020204" charset="-122"/>
                <a:cs typeface="微软雅黑" panose="020B0503020204020204" charset="-122"/>
                <a:sym typeface="Calibri" panose="020F0502020204030204"/>
              </a:rPr>
              <a:t>通过对</a:t>
            </a:r>
            <a:r>
              <a:rPr kumimoji="0" lang="en-US" altLang="zh-CN" sz="1800" b="0" i="0" u="none" strike="noStrike" cap="none" spc="0" normalizeH="0" baseline="0">
                <a:ln>
                  <a:noFill/>
                </a:ln>
                <a:solidFill>
                  <a:srgbClr val="000000"/>
                </a:solidFill>
                <a:effectLst/>
                <a:uFillTx/>
                <a:latin typeface="微软雅黑" panose="020B0503020204020204" charset="-122"/>
                <a:ea typeface="微软雅黑" panose="020B0503020204020204" charset="-122"/>
                <a:cs typeface="微软雅黑" panose="020B0503020204020204" charset="-122"/>
                <a:sym typeface="Calibri" panose="020F0502020204030204"/>
              </a:rPr>
              <a:t>2021</a:t>
            </a:r>
            <a:r>
              <a:rPr kumimoji="0" lang="zh-CN" altLang="en-US" sz="1800" b="0" i="0" u="none" strike="noStrike" cap="none" spc="0" normalizeH="0" baseline="0">
                <a:ln>
                  <a:noFill/>
                </a:ln>
                <a:solidFill>
                  <a:srgbClr val="000000"/>
                </a:solidFill>
                <a:effectLst/>
                <a:uFillTx/>
                <a:latin typeface="微软雅黑" panose="020B0503020204020204" charset="-122"/>
                <a:ea typeface="微软雅黑" panose="020B0503020204020204" charset="-122"/>
                <a:cs typeface="微软雅黑" panose="020B0503020204020204" charset="-122"/>
                <a:sym typeface="Calibri" panose="020F0502020204030204"/>
              </a:rPr>
              <a:t>年新用户进行下单率分析，</a:t>
            </a:r>
            <a:r>
              <a:rPr kumimoji="0" lang="en-US" altLang="zh-CN" sz="1800" b="0" i="0" u="none" strike="noStrike" cap="none" spc="0" normalizeH="0" baseline="0">
                <a:ln>
                  <a:noFill/>
                </a:ln>
                <a:solidFill>
                  <a:srgbClr val="000000"/>
                </a:solidFill>
                <a:effectLst/>
                <a:uFillTx/>
                <a:latin typeface="微软雅黑" panose="020B0503020204020204" charset="-122"/>
                <a:ea typeface="微软雅黑" panose="020B0503020204020204" charset="-122"/>
                <a:cs typeface="微软雅黑" panose="020B0503020204020204" charset="-122"/>
                <a:sym typeface="Calibri" panose="020F0502020204030204"/>
              </a:rPr>
              <a:t>2021</a:t>
            </a:r>
            <a:r>
              <a:rPr kumimoji="0" lang="zh-CN" altLang="en-US" sz="1800" b="0" i="0" u="none" strike="noStrike" cap="none" spc="0" normalizeH="0" baseline="0">
                <a:ln>
                  <a:noFill/>
                </a:ln>
                <a:solidFill>
                  <a:srgbClr val="000000"/>
                </a:solidFill>
                <a:effectLst/>
                <a:uFillTx/>
                <a:latin typeface="微软雅黑" panose="020B0503020204020204" charset="-122"/>
                <a:ea typeface="微软雅黑" panose="020B0503020204020204" charset="-122"/>
                <a:cs typeface="微软雅黑" panose="020B0503020204020204" charset="-122"/>
                <a:sym typeface="Calibri" panose="020F0502020204030204"/>
              </a:rPr>
              <a:t>年</a:t>
            </a:r>
            <a:r>
              <a:rPr kumimoji="0" lang="en-US" altLang="zh-CN" sz="1800" b="0" i="0" u="none" strike="noStrike" cap="none" spc="0" normalizeH="0" baseline="0">
                <a:ln>
                  <a:noFill/>
                </a:ln>
                <a:solidFill>
                  <a:srgbClr val="000000"/>
                </a:solidFill>
                <a:effectLst/>
                <a:uFillTx/>
                <a:latin typeface="微软雅黑" panose="020B0503020204020204" charset="-122"/>
                <a:ea typeface="微软雅黑" panose="020B0503020204020204" charset="-122"/>
                <a:cs typeface="微软雅黑" panose="020B0503020204020204" charset="-122"/>
                <a:sym typeface="Calibri" panose="020F0502020204030204"/>
              </a:rPr>
              <a:t>2</a:t>
            </a:r>
            <a:r>
              <a:rPr kumimoji="0" lang="zh-CN" altLang="en-US" sz="1800" b="0" i="0" u="none" strike="noStrike" cap="none" spc="0" normalizeH="0" baseline="0">
                <a:ln>
                  <a:noFill/>
                </a:ln>
                <a:solidFill>
                  <a:srgbClr val="000000"/>
                </a:solidFill>
                <a:effectLst/>
                <a:uFillTx/>
                <a:latin typeface="微软雅黑" panose="020B0503020204020204" charset="-122"/>
                <a:ea typeface="微软雅黑" panose="020B0503020204020204" charset="-122"/>
                <a:cs typeface="微软雅黑" panose="020B0503020204020204" charset="-122"/>
                <a:sym typeface="Calibri" panose="020F0502020204030204"/>
              </a:rPr>
              <a:t>月</a:t>
            </a:r>
            <a:r>
              <a:rPr kumimoji="0" lang="en-US" altLang="zh-CN" sz="1800" b="0" i="0" u="none" strike="noStrike" cap="none" spc="0" normalizeH="0" baseline="0">
                <a:ln>
                  <a:noFill/>
                </a:ln>
                <a:solidFill>
                  <a:srgbClr val="000000"/>
                </a:solidFill>
                <a:effectLst/>
                <a:uFillTx/>
                <a:latin typeface="微软雅黑" panose="020B0503020204020204" charset="-122"/>
                <a:ea typeface="微软雅黑" panose="020B0503020204020204" charset="-122"/>
                <a:cs typeface="微软雅黑" panose="020B0503020204020204" charset="-122"/>
                <a:sym typeface="Calibri" panose="020F0502020204030204"/>
              </a:rPr>
              <a:t>-2021</a:t>
            </a:r>
            <a:r>
              <a:rPr kumimoji="0" lang="zh-CN" altLang="en-US" sz="1800" b="0" i="0" u="none" strike="noStrike" cap="none" spc="0" normalizeH="0" baseline="0">
                <a:ln>
                  <a:noFill/>
                </a:ln>
                <a:solidFill>
                  <a:srgbClr val="000000"/>
                </a:solidFill>
                <a:effectLst/>
                <a:uFillTx/>
                <a:latin typeface="微软雅黑" panose="020B0503020204020204" charset="-122"/>
                <a:ea typeface="微软雅黑" panose="020B0503020204020204" charset="-122"/>
                <a:cs typeface="微软雅黑" panose="020B0503020204020204" charset="-122"/>
                <a:sym typeface="Calibri" panose="020F0502020204030204"/>
              </a:rPr>
              <a:t>年</a:t>
            </a:r>
            <a:r>
              <a:rPr kumimoji="0" lang="en-US" altLang="zh-CN" sz="1800" b="0" i="0" u="none" strike="noStrike" cap="none" spc="0" normalizeH="0" baseline="0">
                <a:ln>
                  <a:noFill/>
                </a:ln>
                <a:solidFill>
                  <a:srgbClr val="000000"/>
                </a:solidFill>
                <a:effectLst/>
                <a:uFillTx/>
                <a:latin typeface="微软雅黑" panose="020B0503020204020204" charset="-122"/>
                <a:ea typeface="微软雅黑" panose="020B0503020204020204" charset="-122"/>
                <a:cs typeface="微软雅黑" panose="020B0503020204020204" charset="-122"/>
                <a:sym typeface="Calibri" panose="020F0502020204030204"/>
              </a:rPr>
              <a:t>12</a:t>
            </a:r>
            <a:r>
              <a:rPr kumimoji="0" lang="zh-CN" altLang="en-US" sz="1800" b="0" i="0" u="none" strike="noStrike" cap="none" spc="0" normalizeH="0" baseline="0">
                <a:ln>
                  <a:noFill/>
                </a:ln>
                <a:solidFill>
                  <a:srgbClr val="000000"/>
                </a:solidFill>
                <a:effectLst/>
                <a:uFillTx/>
                <a:latin typeface="微软雅黑" panose="020B0503020204020204" charset="-122"/>
                <a:ea typeface="微软雅黑" panose="020B0503020204020204" charset="-122"/>
                <a:cs typeface="微软雅黑" panose="020B0503020204020204" charset="-122"/>
                <a:sym typeface="Calibri" panose="020F0502020204030204"/>
              </a:rPr>
              <a:t>月下单率在</a:t>
            </a:r>
            <a:r>
              <a:rPr kumimoji="0" lang="en-US" altLang="zh-CN" sz="1800" b="0" i="0" u="none" strike="noStrike" cap="none" spc="0" normalizeH="0" baseline="0">
                <a:ln>
                  <a:noFill/>
                </a:ln>
                <a:solidFill>
                  <a:srgbClr val="000000"/>
                </a:solidFill>
                <a:effectLst/>
                <a:uFillTx/>
                <a:latin typeface="微软雅黑" panose="020B0503020204020204" charset="-122"/>
                <a:ea typeface="微软雅黑" panose="020B0503020204020204" charset="-122"/>
                <a:cs typeface="微软雅黑" panose="020B0503020204020204" charset="-122"/>
                <a:sym typeface="Calibri" panose="020F0502020204030204"/>
              </a:rPr>
              <a:t>4%</a:t>
            </a:r>
            <a:r>
              <a:rPr kumimoji="0" lang="zh-CN" altLang="en-US" sz="1800" b="0" i="0" u="none" strike="noStrike" cap="none" spc="0" normalizeH="0" baseline="0">
                <a:ln>
                  <a:noFill/>
                </a:ln>
                <a:solidFill>
                  <a:srgbClr val="000000"/>
                </a:solidFill>
                <a:effectLst/>
                <a:uFillTx/>
                <a:latin typeface="微软雅黑" panose="020B0503020204020204" charset="-122"/>
                <a:ea typeface="微软雅黑" panose="020B0503020204020204" charset="-122"/>
                <a:cs typeface="微软雅黑" panose="020B0503020204020204" charset="-122"/>
                <a:sym typeface="Calibri" panose="020F0502020204030204"/>
              </a:rPr>
              <a:t>左右，较为稳定，从下单率稳定性、贴近当前业务及转化表现期角度考虑，</a:t>
            </a:r>
            <a:r>
              <a:rPr kumimoji="0" lang="zh-CN" altLang="en-US" sz="1800" b="0" i="0" u="none" strike="noStrike" cap="none" spc="0" normalizeH="0" baseline="0">
                <a:ln>
                  <a:noFill/>
                </a:ln>
                <a:solidFill>
                  <a:schemeClr val="tx1"/>
                </a:solidFill>
                <a:effectLst/>
                <a:uFillTx/>
                <a:latin typeface="微软雅黑" panose="020B0503020204020204" charset="-122"/>
                <a:ea typeface="微软雅黑" panose="020B0503020204020204" charset="-122"/>
                <a:cs typeface="微软雅黑" panose="020B0503020204020204" charset="-122"/>
                <a:sym typeface="Calibri" panose="020F0502020204030204"/>
              </a:rPr>
              <a:t>选取</a:t>
            </a:r>
            <a:r>
              <a:rPr kumimoji="0" lang="en-US" altLang="zh-CN" sz="1800" b="0" i="0" u="none" strike="noStrike" cap="none" spc="0" normalizeH="0" baseline="0">
                <a:ln>
                  <a:noFill/>
                </a:ln>
                <a:solidFill>
                  <a:schemeClr val="tx1"/>
                </a:solidFill>
                <a:effectLst/>
                <a:uFillTx/>
                <a:latin typeface="微软雅黑" panose="020B0503020204020204" charset="-122"/>
                <a:ea typeface="微软雅黑" panose="020B0503020204020204" charset="-122"/>
                <a:cs typeface="微软雅黑" panose="020B0503020204020204" charset="-122"/>
                <a:sym typeface="Calibri" panose="020F0502020204030204"/>
              </a:rPr>
              <a:t>2021</a:t>
            </a:r>
            <a:r>
              <a:rPr kumimoji="0" lang="zh-CN" altLang="en-US" sz="1800" b="0" i="0" u="none" strike="noStrike" cap="none" spc="0" normalizeH="0" baseline="0">
                <a:ln>
                  <a:noFill/>
                </a:ln>
                <a:solidFill>
                  <a:schemeClr val="tx1"/>
                </a:solidFill>
                <a:effectLst/>
                <a:uFillTx/>
                <a:latin typeface="微软雅黑" panose="020B0503020204020204" charset="-122"/>
                <a:ea typeface="微软雅黑" panose="020B0503020204020204" charset="-122"/>
                <a:cs typeface="微软雅黑" panose="020B0503020204020204" charset="-122"/>
                <a:sym typeface="Calibri" panose="020F0502020204030204"/>
              </a:rPr>
              <a:t>年</a:t>
            </a:r>
            <a:r>
              <a:rPr kumimoji="0" lang="en-US" altLang="zh-CN" sz="1800" b="0" i="0" u="none" strike="noStrike" cap="none" spc="0" normalizeH="0" baseline="0">
                <a:ln>
                  <a:noFill/>
                </a:ln>
                <a:solidFill>
                  <a:schemeClr val="tx1"/>
                </a:solidFill>
                <a:effectLst/>
                <a:uFillTx/>
                <a:latin typeface="微软雅黑" panose="020B0503020204020204" charset="-122"/>
                <a:ea typeface="微软雅黑" panose="020B0503020204020204" charset="-122"/>
                <a:cs typeface="微软雅黑" panose="020B0503020204020204" charset="-122"/>
                <a:sym typeface="Calibri" panose="020F0502020204030204"/>
              </a:rPr>
              <a:t>06</a:t>
            </a:r>
            <a:r>
              <a:rPr kumimoji="0" lang="zh-CN" altLang="en-US" sz="1800" b="0" i="0" u="none" strike="noStrike" cap="none" spc="0" normalizeH="0" baseline="0">
                <a:ln>
                  <a:noFill/>
                </a:ln>
                <a:solidFill>
                  <a:schemeClr val="tx1"/>
                </a:solidFill>
                <a:effectLst/>
                <a:uFillTx/>
                <a:latin typeface="微软雅黑" panose="020B0503020204020204" charset="-122"/>
                <a:ea typeface="微软雅黑" panose="020B0503020204020204" charset="-122"/>
                <a:cs typeface="微软雅黑" panose="020B0503020204020204" charset="-122"/>
                <a:sym typeface="Calibri" panose="020F0502020204030204"/>
              </a:rPr>
              <a:t>月</a:t>
            </a:r>
            <a:r>
              <a:rPr kumimoji="0" lang="en-US" altLang="zh-CN" sz="1800" b="0" i="0" u="none" strike="noStrike" cap="none" spc="0" normalizeH="0" baseline="0">
                <a:ln>
                  <a:noFill/>
                </a:ln>
                <a:solidFill>
                  <a:schemeClr val="tx1"/>
                </a:solidFill>
                <a:effectLst/>
                <a:uFillTx/>
                <a:latin typeface="微软雅黑" panose="020B0503020204020204" charset="-122"/>
                <a:ea typeface="微软雅黑" panose="020B0503020204020204" charset="-122"/>
                <a:cs typeface="微软雅黑" panose="020B0503020204020204" charset="-122"/>
                <a:sym typeface="Calibri" panose="020F0502020204030204"/>
              </a:rPr>
              <a:t>-2021</a:t>
            </a:r>
            <a:r>
              <a:rPr kumimoji="0" lang="zh-CN" altLang="en-US" sz="1800" b="0" i="0" u="none" strike="noStrike" cap="none" spc="0" normalizeH="0" baseline="0">
                <a:ln>
                  <a:noFill/>
                </a:ln>
                <a:solidFill>
                  <a:schemeClr val="tx1"/>
                </a:solidFill>
                <a:effectLst/>
                <a:uFillTx/>
                <a:latin typeface="微软雅黑" panose="020B0503020204020204" charset="-122"/>
                <a:ea typeface="微软雅黑" panose="020B0503020204020204" charset="-122"/>
                <a:cs typeface="微软雅黑" panose="020B0503020204020204" charset="-122"/>
                <a:sym typeface="Calibri" panose="020F0502020204030204"/>
              </a:rPr>
              <a:t>年</a:t>
            </a:r>
            <a:r>
              <a:rPr kumimoji="0" lang="en-US" altLang="zh-CN" sz="1800" b="0" i="0" u="none" strike="noStrike" cap="none" spc="0" normalizeH="0" baseline="0">
                <a:ln>
                  <a:noFill/>
                </a:ln>
                <a:solidFill>
                  <a:schemeClr val="tx1"/>
                </a:solidFill>
                <a:effectLst/>
                <a:uFillTx/>
                <a:latin typeface="微软雅黑" panose="020B0503020204020204" charset="-122"/>
                <a:ea typeface="微软雅黑" panose="020B0503020204020204" charset="-122"/>
                <a:cs typeface="微软雅黑" panose="020B0503020204020204" charset="-122"/>
                <a:sym typeface="Calibri" panose="020F0502020204030204"/>
              </a:rPr>
              <a:t>09</a:t>
            </a:r>
            <a:r>
              <a:rPr kumimoji="0" lang="zh-CN" altLang="en-US" sz="1800" b="0" i="0" u="none" strike="noStrike" cap="none" spc="0" normalizeH="0" baseline="0">
                <a:ln>
                  <a:noFill/>
                </a:ln>
                <a:solidFill>
                  <a:schemeClr val="tx1"/>
                </a:solidFill>
                <a:effectLst/>
                <a:uFillTx/>
                <a:latin typeface="微软雅黑" panose="020B0503020204020204" charset="-122"/>
                <a:ea typeface="微软雅黑" panose="020B0503020204020204" charset="-122"/>
                <a:cs typeface="微软雅黑" panose="020B0503020204020204" charset="-122"/>
                <a:sym typeface="Calibri" panose="020F0502020204030204"/>
              </a:rPr>
              <a:t>月作为</a:t>
            </a:r>
            <a:r>
              <a:rPr kumimoji="0" lang="zh-CN" altLang="en-US" sz="1800" b="0" i="0" u="none" strike="noStrike" cap="none" spc="0" normalizeH="0" baseline="0">
                <a:ln>
                  <a:noFill/>
                </a:ln>
                <a:solidFill>
                  <a:srgbClr val="C00000"/>
                </a:solidFill>
                <a:effectLst/>
                <a:uFillTx/>
                <a:latin typeface="微软雅黑" panose="020B0503020204020204" charset="-122"/>
                <a:ea typeface="微软雅黑" panose="020B0503020204020204" charset="-122"/>
                <a:cs typeface="微软雅黑" panose="020B0503020204020204" charset="-122"/>
                <a:sym typeface="Calibri" panose="020F0502020204030204"/>
              </a:rPr>
              <a:t>训练集、验证集，测试集</a:t>
            </a:r>
            <a:r>
              <a:rPr kumimoji="0" lang="en-US" altLang="zh-CN" sz="1800" b="0" i="0" u="none" strike="noStrike" cap="none" spc="0" normalizeH="0" baseline="0">
                <a:ln>
                  <a:noFill/>
                </a:ln>
                <a:solidFill>
                  <a:srgbClr val="C00000"/>
                </a:solidFill>
                <a:effectLst/>
                <a:uFillTx/>
                <a:latin typeface="微软雅黑" panose="020B0503020204020204" charset="-122"/>
                <a:ea typeface="微软雅黑" panose="020B0503020204020204" charset="-122"/>
                <a:cs typeface="微软雅黑" panose="020B0503020204020204" charset="-122"/>
                <a:sym typeface="Calibri" panose="020F0502020204030204"/>
              </a:rPr>
              <a:t>1</a:t>
            </a:r>
            <a:r>
              <a:rPr kumimoji="0" lang="zh-CN" altLang="en-US" sz="1800" b="0" i="0" u="none" strike="noStrike" cap="none" spc="0" normalizeH="0" baseline="0">
                <a:ln>
                  <a:noFill/>
                </a:ln>
                <a:solidFill>
                  <a:schemeClr val="tx1"/>
                </a:solidFill>
                <a:effectLst/>
                <a:uFillTx/>
                <a:latin typeface="微软雅黑" panose="020B0503020204020204" charset="-122"/>
                <a:ea typeface="微软雅黑" panose="020B0503020204020204" charset="-122"/>
                <a:cs typeface="微软雅黑" panose="020B0503020204020204" charset="-122"/>
                <a:sym typeface="Calibri" panose="020F0502020204030204"/>
              </a:rPr>
              <a:t>（</a:t>
            </a:r>
            <a:r>
              <a:rPr kumimoji="0" lang="en-US" altLang="zh-CN" sz="1800" b="0" i="0" u="none" strike="noStrike" cap="none" spc="0" normalizeH="0" baseline="0">
                <a:ln>
                  <a:noFill/>
                </a:ln>
                <a:solidFill>
                  <a:schemeClr val="tx1"/>
                </a:solidFill>
                <a:effectLst/>
                <a:uFillTx/>
                <a:latin typeface="微软雅黑" panose="020B0503020204020204" charset="-122"/>
                <a:ea typeface="微软雅黑" panose="020B0503020204020204" charset="-122"/>
                <a:cs typeface="微软雅黑" panose="020B0503020204020204" charset="-122"/>
                <a:sym typeface="Calibri" panose="020F0502020204030204"/>
              </a:rPr>
              <a:t>2021</a:t>
            </a:r>
            <a:r>
              <a:rPr kumimoji="0" lang="zh-CN" altLang="en-US" sz="1800" b="0" i="0" u="none" strike="noStrike" cap="none" spc="0" normalizeH="0" baseline="0">
                <a:ln>
                  <a:noFill/>
                </a:ln>
                <a:solidFill>
                  <a:schemeClr val="tx1"/>
                </a:solidFill>
                <a:effectLst/>
                <a:uFillTx/>
                <a:latin typeface="微软雅黑" panose="020B0503020204020204" charset="-122"/>
                <a:ea typeface="微软雅黑" panose="020B0503020204020204" charset="-122"/>
                <a:cs typeface="微软雅黑" panose="020B0503020204020204" charset="-122"/>
                <a:sym typeface="Calibri" panose="020F0502020204030204"/>
              </a:rPr>
              <a:t>年</a:t>
            </a:r>
            <a:r>
              <a:rPr kumimoji="0" lang="en-US" altLang="zh-CN" sz="1800" b="0" i="0" u="none" strike="noStrike" cap="none" spc="0" normalizeH="0" baseline="0">
                <a:ln>
                  <a:noFill/>
                </a:ln>
                <a:solidFill>
                  <a:schemeClr val="tx1"/>
                </a:solidFill>
                <a:effectLst/>
                <a:uFillTx/>
                <a:latin typeface="微软雅黑" panose="020B0503020204020204" charset="-122"/>
                <a:ea typeface="微软雅黑" panose="020B0503020204020204" charset="-122"/>
                <a:cs typeface="微软雅黑" panose="020B0503020204020204" charset="-122"/>
                <a:sym typeface="Calibri" panose="020F0502020204030204"/>
              </a:rPr>
              <a:t>10</a:t>
            </a:r>
            <a:r>
              <a:rPr kumimoji="0" lang="zh-CN" altLang="en-US" sz="1800" b="0" i="0" u="none" strike="noStrike" cap="none" spc="0" normalizeH="0" baseline="0">
                <a:ln>
                  <a:noFill/>
                </a:ln>
                <a:solidFill>
                  <a:schemeClr val="tx1"/>
                </a:solidFill>
                <a:effectLst/>
                <a:uFillTx/>
                <a:latin typeface="微软雅黑" panose="020B0503020204020204" charset="-122"/>
                <a:ea typeface="微软雅黑" panose="020B0503020204020204" charset="-122"/>
                <a:cs typeface="微软雅黑" panose="020B0503020204020204" charset="-122"/>
                <a:sym typeface="Calibri" panose="020F0502020204030204"/>
              </a:rPr>
              <a:t>、</a:t>
            </a:r>
            <a:r>
              <a:rPr kumimoji="0" lang="en-US" altLang="zh-CN" sz="1800" b="0" i="0" u="none" strike="noStrike" cap="none" spc="0" normalizeH="0" baseline="0">
                <a:ln>
                  <a:noFill/>
                </a:ln>
                <a:solidFill>
                  <a:schemeClr val="tx1"/>
                </a:solidFill>
                <a:effectLst/>
                <a:uFillTx/>
                <a:latin typeface="微软雅黑" panose="020B0503020204020204" charset="-122"/>
                <a:ea typeface="微软雅黑" panose="020B0503020204020204" charset="-122"/>
                <a:cs typeface="微软雅黑" panose="020B0503020204020204" charset="-122"/>
                <a:sym typeface="Calibri" panose="020F0502020204030204"/>
              </a:rPr>
              <a:t>11</a:t>
            </a:r>
            <a:r>
              <a:rPr kumimoji="0" lang="zh-CN" altLang="en-US" sz="1800" b="0" i="0" u="none" strike="noStrike" cap="none" spc="0" normalizeH="0" baseline="0">
                <a:ln>
                  <a:noFill/>
                </a:ln>
                <a:solidFill>
                  <a:schemeClr val="tx1"/>
                </a:solidFill>
                <a:effectLst/>
                <a:uFillTx/>
                <a:latin typeface="微软雅黑" panose="020B0503020204020204" charset="-122"/>
                <a:ea typeface="微软雅黑" panose="020B0503020204020204" charset="-122"/>
                <a:cs typeface="微软雅黑" panose="020B0503020204020204" charset="-122"/>
                <a:sym typeface="Calibri" panose="020F0502020204030204"/>
              </a:rPr>
              <a:t>月）用于模型效果测试；</a:t>
            </a:r>
            <a:endParaRPr kumimoji="0" lang="zh-CN" altLang="en-US" sz="1800" b="0" i="0" u="none" strike="noStrike" cap="none" spc="0" normalizeH="0" baseline="0">
              <a:ln>
                <a:noFill/>
              </a:ln>
              <a:solidFill>
                <a:srgbClr val="000000"/>
              </a:solidFill>
              <a:effectLst/>
              <a:uFillTx/>
              <a:latin typeface="微软雅黑" panose="020B0503020204020204" charset="-122"/>
              <a:ea typeface="微软雅黑" panose="020B0503020204020204" charset="-122"/>
              <a:cs typeface="微软雅黑" panose="020B0503020204020204" charset="-122"/>
              <a:sym typeface="Calibri" panose="020F0502020204030204"/>
            </a:endParaRPr>
          </a:p>
          <a:p>
            <a:pPr marL="342900" marR="0" indent="-342900" algn="l" defTabSz="914400" rtl="0" fontAlgn="auto" latinLnBrk="0" hangingPunct="0">
              <a:lnSpc>
                <a:spcPct val="150000"/>
              </a:lnSpc>
              <a:spcBef>
                <a:spcPts val="0"/>
              </a:spcBef>
              <a:spcAft>
                <a:spcPts val="0"/>
              </a:spcAft>
              <a:buClrTx/>
              <a:buSzTx/>
              <a:buFont typeface="+mj-lt"/>
              <a:buAutoNum type="arabicPeriod"/>
            </a:pPr>
            <a:r>
              <a:rPr kumimoji="0" lang="zh-CN" altLang="en-US" sz="1800" b="0" i="0" u="none" strike="noStrike" cap="none" spc="0" normalizeH="0" baseline="0">
                <a:ln>
                  <a:noFill/>
                </a:ln>
                <a:solidFill>
                  <a:srgbClr val="000000"/>
                </a:solidFill>
                <a:effectLst/>
                <a:uFillTx/>
                <a:latin typeface="微软雅黑" panose="020B0503020204020204" charset="-122"/>
                <a:ea typeface="微软雅黑" panose="020B0503020204020204" charset="-122"/>
                <a:cs typeface="微软雅黑" panose="020B0503020204020204" charset="-122"/>
                <a:sym typeface="Calibri" panose="020F0502020204030204"/>
              </a:rPr>
              <a:t>而测试集</a:t>
            </a:r>
            <a:r>
              <a:rPr kumimoji="0" lang="en-US" altLang="zh-CN" sz="1800" b="0" i="0" u="none" strike="noStrike" cap="none" spc="0" normalizeH="0" baseline="0">
                <a:ln>
                  <a:noFill/>
                </a:ln>
                <a:solidFill>
                  <a:srgbClr val="000000"/>
                </a:solidFill>
                <a:effectLst/>
                <a:uFillTx/>
                <a:latin typeface="微软雅黑" panose="020B0503020204020204" charset="-122"/>
                <a:ea typeface="微软雅黑" panose="020B0503020204020204" charset="-122"/>
                <a:cs typeface="微软雅黑" panose="020B0503020204020204" charset="-122"/>
                <a:sym typeface="Calibri" panose="020F0502020204030204"/>
              </a:rPr>
              <a:t>3</a:t>
            </a:r>
            <a:r>
              <a:rPr kumimoji="0" lang="zh-CN" altLang="en-US" sz="1800" b="0" i="0" u="none" strike="noStrike" cap="none" spc="0" normalizeH="0" baseline="0">
                <a:ln>
                  <a:noFill/>
                </a:ln>
                <a:solidFill>
                  <a:srgbClr val="000000"/>
                </a:solidFill>
                <a:effectLst/>
                <a:uFillTx/>
                <a:latin typeface="微软雅黑" panose="020B0503020204020204" charset="-122"/>
                <a:ea typeface="微软雅黑" panose="020B0503020204020204" charset="-122"/>
                <a:cs typeface="微软雅黑" panose="020B0503020204020204" charset="-122"/>
                <a:sym typeface="Calibri" panose="020F0502020204030204"/>
              </a:rPr>
              <a:t>由于转化表现期不够充分，作为备用测试，测试集</a:t>
            </a:r>
            <a:r>
              <a:rPr kumimoji="0" lang="en-US" altLang="zh-CN" sz="1800" b="0" i="0" u="none" strike="noStrike" cap="none" spc="0" normalizeH="0" baseline="0">
                <a:ln>
                  <a:noFill/>
                </a:ln>
                <a:solidFill>
                  <a:srgbClr val="000000"/>
                </a:solidFill>
                <a:effectLst/>
                <a:uFillTx/>
                <a:latin typeface="微软雅黑" panose="020B0503020204020204" charset="-122"/>
                <a:ea typeface="微软雅黑" panose="020B0503020204020204" charset="-122"/>
                <a:cs typeface="微软雅黑" panose="020B0503020204020204" charset="-122"/>
                <a:sym typeface="Calibri" panose="020F0502020204030204"/>
              </a:rPr>
              <a:t>2</a:t>
            </a:r>
            <a:r>
              <a:rPr kumimoji="0" lang="zh-CN" altLang="en-US" sz="1800" b="0" i="0" u="none" strike="noStrike" cap="none" spc="0" normalizeH="0" baseline="0">
                <a:ln>
                  <a:noFill/>
                </a:ln>
                <a:solidFill>
                  <a:srgbClr val="000000"/>
                </a:solidFill>
                <a:effectLst/>
                <a:uFillTx/>
                <a:latin typeface="微软雅黑" panose="020B0503020204020204" charset="-122"/>
                <a:ea typeface="微软雅黑" panose="020B0503020204020204" charset="-122"/>
                <a:cs typeface="微软雅黑" panose="020B0503020204020204" charset="-122"/>
                <a:sym typeface="Calibri" panose="020F0502020204030204"/>
              </a:rPr>
              <a:t>为相对较老的数据，也作为备用测试，</a:t>
            </a:r>
            <a:r>
              <a:rPr kumimoji="0" lang="en-US" altLang="zh-CN" sz="1800" b="1" i="0" u="none" strike="noStrike" cap="none" spc="0" normalizeH="0" baseline="0">
                <a:ln>
                  <a:noFill/>
                </a:ln>
                <a:solidFill>
                  <a:srgbClr val="000000"/>
                </a:solidFill>
                <a:effectLst/>
                <a:uFillTx/>
                <a:latin typeface="微软雅黑" panose="020B0503020204020204" charset="-122"/>
                <a:ea typeface="微软雅黑" panose="020B0503020204020204" charset="-122"/>
                <a:cs typeface="微软雅黑" panose="020B0503020204020204" charset="-122"/>
                <a:sym typeface="Calibri" panose="020F0502020204030204"/>
              </a:rPr>
              <a:t>2021</a:t>
            </a:r>
            <a:r>
              <a:rPr kumimoji="0" lang="zh-CN" altLang="en-US" sz="1800" b="1" i="0" u="none" strike="noStrike" cap="none" spc="0" normalizeH="0" baseline="0">
                <a:ln>
                  <a:noFill/>
                </a:ln>
                <a:solidFill>
                  <a:srgbClr val="000000"/>
                </a:solidFill>
                <a:effectLst/>
                <a:uFillTx/>
                <a:latin typeface="微软雅黑" panose="020B0503020204020204" charset="-122"/>
                <a:ea typeface="微软雅黑" panose="020B0503020204020204" charset="-122"/>
                <a:cs typeface="微软雅黑" panose="020B0503020204020204" charset="-122"/>
                <a:sym typeface="Calibri" panose="020F0502020204030204"/>
              </a:rPr>
              <a:t>年</a:t>
            </a:r>
            <a:r>
              <a:rPr kumimoji="0" lang="en-US" altLang="zh-CN" sz="1800" b="1" i="0" u="none" strike="noStrike" cap="none" spc="0" normalizeH="0" baseline="0">
                <a:ln>
                  <a:noFill/>
                </a:ln>
                <a:solidFill>
                  <a:srgbClr val="000000"/>
                </a:solidFill>
                <a:effectLst/>
                <a:uFillTx/>
                <a:latin typeface="微软雅黑" panose="020B0503020204020204" charset="-122"/>
                <a:ea typeface="微软雅黑" panose="020B0503020204020204" charset="-122"/>
                <a:cs typeface="微软雅黑" panose="020B0503020204020204" charset="-122"/>
                <a:sym typeface="Calibri" panose="020F0502020204030204"/>
              </a:rPr>
              <a:t>1</a:t>
            </a:r>
            <a:r>
              <a:rPr kumimoji="0" lang="zh-CN" altLang="en-US" sz="1800" b="1" i="0" u="none" strike="noStrike" cap="none" spc="0" normalizeH="0" baseline="0">
                <a:ln>
                  <a:noFill/>
                </a:ln>
                <a:solidFill>
                  <a:srgbClr val="000000"/>
                </a:solidFill>
                <a:effectLst/>
                <a:uFillTx/>
                <a:latin typeface="微软雅黑" panose="020B0503020204020204" charset="-122"/>
                <a:ea typeface="微软雅黑" panose="020B0503020204020204" charset="-122"/>
                <a:cs typeface="微软雅黑" panose="020B0503020204020204" charset="-122"/>
                <a:sym typeface="Calibri" panose="020F0502020204030204"/>
              </a:rPr>
              <a:t>月</a:t>
            </a:r>
            <a:r>
              <a:rPr kumimoji="0" lang="zh-CN" altLang="en-US" sz="1800" b="0" i="0" u="none" strike="noStrike" cap="none" spc="0" normalizeH="0" baseline="0">
                <a:ln>
                  <a:noFill/>
                </a:ln>
                <a:solidFill>
                  <a:srgbClr val="000000"/>
                </a:solidFill>
                <a:effectLst/>
                <a:uFillTx/>
                <a:latin typeface="微软雅黑" panose="020B0503020204020204" charset="-122"/>
                <a:ea typeface="微软雅黑" panose="020B0503020204020204" charset="-122"/>
                <a:cs typeface="微软雅黑" panose="020B0503020204020204" charset="-122"/>
                <a:sym typeface="Calibri" panose="020F0502020204030204"/>
              </a:rPr>
              <a:t>由于下单率异常，将其剔除，不作为建模人群。</a:t>
            </a:r>
            <a:endParaRPr kumimoji="0" lang="zh-CN" altLang="en-US" sz="1800" b="0" i="0" u="none" strike="noStrike" cap="none" spc="0" normalizeH="0" baseline="0">
              <a:ln>
                <a:noFill/>
              </a:ln>
              <a:solidFill>
                <a:srgbClr val="000000"/>
              </a:solidFill>
              <a:effectLst/>
              <a:uFillTx/>
              <a:latin typeface="微软雅黑" panose="020B0503020204020204" charset="-122"/>
              <a:ea typeface="微软雅黑" panose="020B0503020204020204" charset="-122"/>
              <a:cs typeface="微软雅黑" panose="020B0503020204020204" charset="-122"/>
              <a:sym typeface="Calibri" panose="020F0502020204030204"/>
            </a:endParaRPr>
          </a:p>
        </p:txBody>
      </p:sp>
      <p:pic>
        <p:nvPicPr>
          <p:cNvPr id="6" name="图片 5" descr="kx_smp_dist"/>
          <p:cNvPicPr>
            <a:picLocks noChangeAspect="1"/>
          </p:cNvPicPr>
          <p:nvPr/>
        </p:nvPicPr>
        <p:blipFill>
          <a:blip r:embed="rId1"/>
          <a:stretch>
            <a:fillRect/>
          </a:stretch>
        </p:blipFill>
        <p:spPr>
          <a:xfrm>
            <a:off x="8152765" y="1701165"/>
            <a:ext cx="3845560" cy="2302510"/>
          </a:xfrm>
          <a:prstGeom prst="rect">
            <a:avLst/>
          </a:prstGeom>
        </p:spPr>
      </p:pic>
      <p:pic>
        <p:nvPicPr>
          <p:cNvPr id="8" name="图片 7" descr="kx_smp_dist_graph"/>
          <p:cNvPicPr>
            <a:picLocks noChangeAspect="1"/>
          </p:cNvPicPr>
          <p:nvPr/>
        </p:nvPicPr>
        <p:blipFill>
          <a:blip r:embed="rId2"/>
          <a:srcRect l="1295" t="3254" r="7264" b="6024"/>
          <a:stretch>
            <a:fillRect/>
          </a:stretch>
        </p:blipFill>
        <p:spPr>
          <a:xfrm>
            <a:off x="3572510" y="4293235"/>
            <a:ext cx="4240530" cy="2489835"/>
          </a:xfrm>
          <a:prstGeom prst="rect">
            <a:avLst/>
          </a:prstGeom>
        </p:spPr>
      </p:pic>
    </p:spTree>
  </p:cSld>
  <p:clrMapOvr>
    <a:masterClrMapping/>
  </p:clrMapOvr>
  <p:transition spd="med"/>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p:nvPr>
            <p:ph type="title"/>
          </p:nvPr>
        </p:nvSpPr>
        <p:spPr>
          <a:xfrm>
            <a:off x="335915" y="260985"/>
            <a:ext cx="10714355" cy="675005"/>
          </a:xfrm>
        </p:spPr>
        <p:txBody>
          <a:bodyPr>
            <a:normAutofit/>
          </a:bodyPr>
          <a:p>
            <a:r>
              <a:rPr sz="3555"/>
              <a:t>2. 模型设计</a:t>
            </a:r>
            <a:endParaRPr sz="3555"/>
          </a:p>
        </p:txBody>
      </p:sp>
      <p:sp>
        <p:nvSpPr>
          <p:cNvPr id="5" name="文本框 4"/>
          <p:cNvSpPr txBox="1"/>
          <p:nvPr/>
        </p:nvSpPr>
        <p:spPr>
          <a:xfrm>
            <a:off x="695960" y="1125220"/>
            <a:ext cx="2288540" cy="459105"/>
          </a:xfrm>
          <a:prstGeom prst="rect">
            <a:avLst/>
          </a:prstGeom>
          <a:noFill/>
          <a:ln w="12700" cap="flat">
            <a:noFill/>
            <a:miter lim="400000"/>
          </a:ln>
        </p:spPr>
        <p:style>
          <a:lnRef idx="0">
            <a:srgbClr val="FFFFFF"/>
          </a:lnRef>
          <a:fillRef idx="0">
            <a:srgbClr val="FFFFFF"/>
          </a:fillRef>
          <a:effectRef idx="0">
            <a:srgbClr val="FFFFFF"/>
          </a:effectRef>
          <a:fontRef idx="none"/>
        </p:style>
        <p:txBody>
          <a:bodyPr rot="0" vertOverflow="overflow" horzOverflow="overflow" vert="horz" wrap="square" lIns="45719" tIns="45719" rIns="45719" bIns="45719" numCol="1" spcCol="38100" rtlCol="0" anchor="t" forceAA="0" upright="0">
            <a:spAutoFit/>
          </a:bodyPr>
          <a:p>
            <a:pPr marL="342900" marR="0" indent="-342900" algn="l" defTabSz="914400" rtl="0" fontAlgn="auto" latinLnBrk="0" hangingPunct="0">
              <a:lnSpc>
                <a:spcPct val="100000"/>
              </a:lnSpc>
              <a:spcBef>
                <a:spcPts val="0"/>
              </a:spcBef>
              <a:spcAft>
                <a:spcPts val="0"/>
              </a:spcAft>
              <a:buClrTx/>
              <a:buSzTx/>
              <a:buFont typeface="Wingdings" panose="05000000000000000000" charset="0"/>
              <a:buChar char="ü"/>
            </a:pPr>
            <a:r>
              <a:rPr kumimoji="0" lang="zh-CN" altLang="en-US" sz="2400" b="1" i="0" u="none" strike="noStrike" cap="none" spc="0" normalizeH="0" baseline="0">
                <a:ln>
                  <a:noFill/>
                </a:ln>
                <a:solidFill>
                  <a:srgbClr val="0564CD"/>
                </a:solidFill>
                <a:effectLst/>
                <a:uFillTx/>
                <a:latin typeface="微软雅黑" panose="020B0503020204020204" charset="-122"/>
                <a:ea typeface="微软雅黑" panose="020B0503020204020204" charset="-122"/>
                <a:cs typeface="微软雅黑" panose="020B0503020204020204" charset="-122"/>
                <a:sym typeface="Calibri" panose="020F0502020204030204"/>
              </a:rPr>
              <a:t>样本划分</a:t>
            </a:r>
            <a:endParaRPr kumimoji="0" lang="zh-CN" altLang="en-US" sz="2400" b="1" i="0" u="none" strike="noStrike" cap="none" spc="0" normalizeH="0" baseline="0">
              <a:ln>
                <a:noFill/>
              </a:ln>
              <a:solidFill>
                <a:srgbClr val="0564CD"/>
              </a:solidFill>
              <a:effectLst/>
              <a:uFillTx/>
              <a:latin typeface="微软雅黑" panose="020B0503020204020204" charset="-122"/>
              <a:ea typeface="微软雅黑" panose="020B0503020204020204" charset="-122"/>
              <a:cs typeface="微软雅黑" panose="020B0503020204020204" charset="-122"/>
              <a:sym typeface="Calibri" panose="020F0502020204030204"/>
            </a:endParaRPr>
          </a:p>
        </p:txBody>
      </p:sp>
      <p:sp>
        <p:nvSpPr>
          <p:cNvPr id="7" name="文本框 6"/>
          <p:cNvSpPr txBox="1"/>
          <p:nvPr/>
        </p:nvSpPr>
        <p:spPr>
          <a:xfrm>
            <a:off x="838835" y="1794510"/>
            <a:ext cx="10211435" cy="920750"/>
          </a:xfrm>
          <a:prstGeom prst="rect">
            <a:avLst/>
          </a:prstGeom>
          <a:noFill/>
          <a:ln w="12700" cap="flat">
            <a:noFill/>
            <a:miter lim="400000"/>
          </a:ln>
        </p:spPr>
        <p:style>
          <a:lnRef idx="0">
            <a:srgbClr val="FFFFFF"/>
          </a:lnRef>
          <a:fillRef idx="0">
            <a:srgbClr val="FFFFFF"/>
          </a:fillRef>
          <a:effectRef idx="0">
            <a:srgbClr val="FFFFFF"/>
          </a:effectRef>
          <a:fontRef idx="none"/>
        </p:style>
        <p:txBody>
          <a:bodyPr rot="0" vertOverflow="overflow" horzOverflow="overflow" vert="horz" wrap="square" lIns="45719" tIns="45719" rIns="45719" bIns="45719" numCol="1" spcCol="38100" rtlCol="0" anchor="t" forceAA="0" upright="0">
            <a:spAutoFit/>
          </a:bodyPr>
          <a:p>
            <a:pPr marL="342900" marR="0" indent="-342900" algn="l" defTabSz="914400" rtl="0" fontAlgn="auto" latinLnBrk="0" hangingPunct="0">
              <a:lnSpc>
                <a:spcPct val="150000"/>
              </a:lnSpc>
              <a:spcBef>
                <a:spcPts val="0"/>
              </a:spcBef>
              <a:spcAft>
                <a:spcPts val="0"/>
              </a:spcAft>
              <a:buClrTx/>
              <a:buSzTx/>
              <a:buFont typeface="+mj-lt"/>
              <a:buAutoNum type="arabicPeriod" startAt="3"/>
            </a:pPr>
            <a:r>
              <a:rPr kumimoji="0" lang="zh-CN" sz="1800" b="0" i="0" u="none" strike="noStrike" cap="none" spc="0" normalizeH="0" baseline="0">
                <a:ln>
                  <a:noFill/>
                </a:ln>
                <a:solidFill>
                  <a:srgbClr val="000000"/>
                </a:solidFill>
                <a:effectLst/>
                <a:uFillTx/>
                <a:latin typeface="微软雅黑" panose="020B0503020204020204" charset="-122"/>
                <a:ea typeface="微软雅黑" panose="020B0503020204020204" charset="-122"/>
                <a:cs typeface="微软雅黑" panose="020B0503020204020204" charset="-122"/>
                <a:sym typeface="Calibri" panose="020F0502020204030204"/>
              </a:rPr>
              <a:t>训练集验证集按照</a:t>
            </a:r>
            <a:r>
              <a:rPr kumimoji="0" lang="en-US" altLang="zh-CN" sz="1800" b="0" i="0" u="none" strike="noStrike" cap="none" spc="0" normalizeH="0" baseline="0">
                <a:ln>
                  <a:noFill/>
                </a:ln>
                <a:solidFill>
                  <a:srgbClr val="000000"/>
                </a:solidFill>
                <a:effectLst/>
                <a:uFillTx/>
                <a:latin typeface="微软雅黑" panose="020B0503020204020204" charset="-122"/>
                <a:ea typeface="微软雅黑" panose="020B0503020204020204" charset="-122"/>
                <a:cs typeface="微软雅黑" panose="020B0503020204020204" charset="-122"/>
                <a:sym typeface="Calibri" panose="020F0502020204030204"/>
              </a:rPr>
              <a:t>7:3</a:t>
            </a:r>
            <a:r>
              <a:rPr kumimoji="0" lang="zh-CN" altLang="en-US" sz="1800" b="0" i="0" u="none" strike="noStrike" cap="none" spc="0" normalizeH="0" baseline="0">
                <a:ln>
                  <a:noFill/>
                </a:ln>
                <a:solidFill>
                  <a:srgbClr val="000000"/>
                </a:solidFill>
                <a:effectLst/>
                <a:uFillTx/>
                <a:latin typeface="微软雅黑" panose="020B0503020204020204" charset="-122"/>
                <a:ea typeface="微软雅黑" panose="020B0503020204020204" charset="-122"/>
                <a:cs typeface="微软雅黑" panose="020B0503020204020204" charset="-122"/>
                <a:sym typeface="Calibri" panose="020F0502020204030204"/>
              </a:rPr>
              <a:t>比例进行划分，并平衡了训练集与验证集的下单率，下单率为</a:t>
            </a:r>
            <a:r>
              <a:rPr kumimoji="0" lang="en-US" altLang="zh-CN" sz="1800" b="0" i="0" u="none" strike="noStrike" cap="none" spc="0" normalizeH="0" baseline="0">
                <a:ln>
                  <a:noFill/>
                </a:ln>
                <a:solidFill>
                  <a:srgbClr val="000000"/>
                </a:solidFill>
                <a:effectLst/>
                <a:uFillTx/>
                <a:latin typeface="微软雅黑" panose="020B0503020204020204" charset="-122"/>
                <a:ea typeface="微软雅黑" panose="020B0503020204020204" charset="-122"/>
                <a:cs typeface="微软雅黑" panose="020B0503020204020204" charset="-122"/>
                <a:sym typeface="Calibri" panose="020F0502020204030204"/>
              </a:rPr>
              <a:t>3.4%</a:t>
            </a:r>
            <a:r>
              <a:rPr kumimoji="0" lang="zh-CN" altLang="en-US" sz="1800" b="0" i="0" u="none" strike="noStrike" cap="none" spc="0" normalizeH="0" baseline="0">
                <a:ln>
                  <a:noFill/>
                </a:ln>
                <a:solidFill>
                  <a:srgbClr val="000000"/>
                </a:solidFill>
                <a:effectLst/>
                <a:uFillTx/>
                <a:latin typeface="微软雅黑" panose="020B0503020204020204" charset="-122"/>
                <a:ea typeface="微软雅黑" panose="020B0503020204020204" charset="-122"/>
                <a:cs typeface="微软雅黑" panose="020B0503020204020204" charset="-122"/>
                <a:sym typeface="Calibri" panose="020F0502020204030204"/>
              </a:rPr>
              <a:t>，测试集的下单率为</a:t>
            </a:r>
            <a:r>
              <a:rPr kumimoji="0" lang="en-US" altLang="zh-CN" sz="1800" b="0" i="0" u="none" strike="noStrike" cap="none" spc="0" normalizeH="0" baseline="0">
                <a:ln>
                  <a:noFill/>
                </a:ln>
                <a:solidFill>
                  <a:srgbClr val="000000"/>
                </a:solidFill>
                <a:effectLst/>
                <a:uFillTx/>
                <a:latin typeface="微软雅黑" panose="020B0503020204020204" charset="-122"/>
                <a:ea typeface="微软雅黑" panose="020B0503020204020204" charset="-122"/>
                <a:cs typeface="微软雅黑" panose="020B0503020204020204" charset="-122"/>
                <a:sym typeface="Calibri" panose="020F0502020204030204"/>
              </a:rPr>
              <a:t>3.1%</a:t>
            </a:r>
            <a:r>
              <a:rPr kumimoji="0" lang="zh-CN" altLang="en-US" sz="1800" b="0" i="0" u="none" strike="noStrike" cap="none" spc="0" normalizeH="0" baseline="0">
                <a:ln>
                  <a:noFill/>
                </a:ln>
                <a:solidFill>
                  <a:srgbClr val="000000"/>
                </a:solidFill>
                <a:effectLst/>
                <a:uFillTx/>
                <a:latin typeface="微软雅黑" panose="020B0503020204020204" charset="-122"/>
                <a:ea typeface="微软雅黑" panose="020B0503020204020204" charset="-122"/>
                <a:cs typeface="微软雅黑" panose="020B0503020204020204" charset="-122"/>
                <a:sym typeface="Calibri" panose="020F0502020204030204"/>
              </a:rPr>
              <a:t>。</a:t>
            </a:r>
            <a:endParaRPr kumimoji="0" lang="zh-CN" altLang="en-US" sz="1800" b="0" i="0" u="none" strike="noStrike" cap="none" spc="0" normalizeH="0" baseline="0">
              <a:ln>
                <a:noFill/>
              </a:ln>
              <a:solidFill>
                <a:srgbClr val="000000"/>
              </a:solidFill>
              <a:effectLst/>
              <a:uFillTx/>
              <a:latin typeface="微软雅黑" panose="020B0503020204020204" charset="-122"/>
              <a:ea typeface="微软雅黑" panose="020B0503020204020204" charset="-122"/>
              <a:cs typeface="微软雅黑" panose="020B0503020204020204" charset="-122"/>
              <a:sym typeface="Calibri" panose="020F0502020204030204"/>
            </a:endParaRPr>
          </a:p>
        </p:txBody>
      </p:sp>
      <p:pic>
        <p:nvPicPr>
          <p:cNvPr id="4" name="图片 3" descr="kx_smp_table"/>
          <p:cNvPicPr>
            <a:picLocks noChangeAspect="1"/>
          </p:cNvPicPr>
          <p:nvPr/>
        </p:nvPicPr>
        <p:blipFill>
          <a:blip r:embed="rId1"/>
          <a:stretch>
            <a:fillRect/>
          </a:stretch>
        </p:blipFill>
        <p:spPr>
          <a:xfrm>
            <a:off x="3143250" y="2924810"/>
            <a:ext cx="5905500" cy="1625600"/>
          </a:xfrm>
          <a:prstGeom prst="rect">
            <a:avLst/>
          </a:prstGeom>
        </p:spPr>
      </p:pic>
    </p:spTree>
  </p:cSld>
  <p:clrMapOvr>
    <a:masterClrMapping/>
  </p:clrMapOvr>
  <p:transition spd="med"/>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p:nvPr>
            <p:ph type="title"/>
          </p:nvPr>
        </p:nvSpPr>
        <p:spPr>
          <a:xfrm>
            <a:off x="335915" y="260985"/>
            <a:ext cx="10714355" cy="675005"/>
          </a:xfrm>
        </p:spPr>
        <p:txBody>
          <a:bodyPr>
            <a:normAutofit/>
          </a:bodyPr>
          <a:p>
            <a:r>
              <a:rPr sz="3555"/>
              <a:t>2. 模型设计</a:t>
            </a:r>
            <a:endParaRPr sz="3555"/>
          </a:p>
        </p:txBody>
      </p:sp>
      <p:sp>
        <p:nvSpPr>
          <p:cNvPr id="5" name="文本框 4"/>
          <p:cNvSpPr txBox="1"/>
          <p:nvPr/>
        </p:nvSpPr>
        <p:spPr>
          <a:xfrm>
            <a:off x="695960" y="1125220"/>
            <a:ext cx="2288540" cy="459105"/>
          </a:xfrm>
          <a:prstGeom prst="rect">
            <a:avLst/>
          </a:prstGeom>
          <a:noFill/>
          <a:ln w="12700" cap="flat">
            <a:noFill/>
            <a:miter lim="400000"/>
          </a:ln>
        </p:spPr>
        <p:style>
          <a:lnRef idx="0">
            <a:srgbClr val="FFFFFF"/>
          </a:lnRef>
          <a:fillRef idx="0">
            <a:srgbClr val="FFFFFF"/>
          </a:fillRef>
          <a:effectRef idx="0">
            <a:srgbClr val="FFFFFF"/>
          </a:effectRef>
          <a:fontRef idx="none"/>
        </p:style>
        <p:txBody>
          <a:bodyPr rot="0" vertOverflow="overflow" horzOverflow="overflow" vert="horz" wrap="square" lIns="45719" tIns="45719" rIns="45719" bIns="45719" numCol="1" spcCol="38100" rtlCol="0" anchor="t" forceAA="0" upright="0">
            <a:spAutoFit/>
          </a:bodyPr>
          <a:p>
            <a:pPr marL="342900" marR="0" indent="-342900" algn="l" defTabSz="914400" rtl="0" fontAlgn="auto" latinLnBrk="0" hangingPunct="0">
              <a:lnSpc>
                <a:spcPct val="100000"/>
              </a:lnSpc>
              <a:spcBef>
                <a:spcPts val="0"/>
              </a:spcBef>
              <a:spcAft>
                <a:spcPts val="0"/>
              </a:spcAft>
              <a:buClrTx/>
              <a:buSzTx/>
              <a:buFont typeface="Wingdings" panose="05000000000000000000" charset="0"/>
              <a:buChar char="ü"/>
            </a:pPr>
            <a:r>
              <a:rPr kumimoji="0" lang="zh-CN" altLang="en-US" sz="2400" b="1" i="0" u="none" strike="noStrike" cap="none" spc="0" normalizeH="0" baseline="0">
                <a:ln>
                  <a:noFill/>
                </a:ln>
                <a:solidFill>
                  <a:srgbClr val="0564CD"/>
                </a:solidFill>
                <a:effectLst/>
                <a:uFillTx/>
                <a:latin typeface="微软雅黑" panose="020B0503020204020204" charset="-122"/>
                <a:ea typeface="微软雅黑" panose="020B0503020204020204" charset="-122"/>
                <a:cs typeface="微软雅黑" panose="020B0503020204020204" charset="-122"/>
                <a:sym typeface="Calibri" panose="020F0502020204030204"/>
              </a:rPr>
              <a:t>算法确定</a:t>
            </a:r>
            <a:endParaRPr kumimoji="0" lang="zh-CN" altLang="en-US" sz="2400" b="1" i="0" u="none" strike="noStrike" cap="none" spc="0" normalizeH="0" baseline="0">
              <a:ln>
                <a:noFill/>
              </a:ln>
              <a:solidFill>
                <a:srgbClr val="0564CD"/>
              </a:solidFill>
              <a:effectLst/>
              <a:uFillTx/>
              <a:latin typeface="微软雅黑" panose="020B0503020204020204" charset="-122"/>
              <a:ea typeface="微软雅黑" panose="020B0503020204020204" charset="-122"/>
              <a:cs typeface="微软雅黑" panose="020B0503020204020204" charset="-122"/>
              <a:sym typeface="Calibri" panose="020F0502020204030204"/>
            </a:endParaRPr>
          </a:p>
        </p:txBody>
      </p:sp>
      <p:sp>
        <p:nvSpPr>
          <p:cNvPr id="7" name="文本框 6"/>
          <p:cNvSpPr txBox="1"/>
          <p:nvPr/>
        </p:nvSpPr>
        <p:spPr>
          <a:xfrm>
            <a:off x="1315085" y="1772920"/>
            <a:ext cx="9735820" cy="2998470"/>
          </a:xfrm>
          <a:prstGeom prst="rect">
            <a:avLst/>
          </a:prstGeom>
          <a:noFill/>
          <a:ln w="12700" cap="flat">
            <a:noFill/>
            <a:miter lim="400000"/>
          </a:ln>
        </p:spPr>
        <p:style>
          <a:lnRef idx="0">
            <a:srgbClr val="FFFFFF"/>
          </a:lnRef>
          <a:fillRef idx="0">
            <a:srgbClr val="FFFFFF"/>
          </a:fillRef>
          <a:effectRef idx="0">
            <a:srgbClr val="FFFFFF"/>
          </a:effectRef>
          <a:fontRef idx="none"/>
        </p:style>
        <p:txBody>
          <a:bodyPr rot="0" vertOverflow="overflow" horzOverflow="overflow" vert="horz" wrap="square" lIns="45719" tIns="45719" rIns="45719" bIns="45719" numCol="1" spcCol="38100" rtlCol="0" anchor="t" forceAA="0" upright="0">
            <a:spAutoFit/>
          </a:bodyPr>
          <a:p>
            <a:pPr marR="0" algn="l" defTabSz="914400" rtl="0" fontAlgn="auto" latinLnBrk="0" hangingPunct="0">
              <a:lnSpc>
                <a:spcPct val="150000"/>
              </a:lnSpc>
              <a:spcBef>
                <a:spcPts val="0"/>
              </a:spcBef>
              <a:spcAft>
                <a:spcPts val="0"/>
              </a:spcAft>
              <a:buClrTx/>
              <a:buSzTx/>
              <a:buFont typeface="+mj-lt"/>
            </a:pPr>
            <a:r>
              <a:rPr kumimoji="0" lang="en-US" altLang="zh-CN" sz="1800" b="0" i="0" u="none" strike="noStrike" cap="none" spc="0" normalizeH="0" baseline="0">
                <a:ln>
                  <a:noFill/>
                </a:ln>
                <a:solidFill>
                  <a:srgbClr val="000000"/>
                </a:solidFill>
                <a:effectLst/>
                <a:uFillTx/>
                <a:latin typeface="微软雅黑" panose="020B0503020204020204" charset="-122"/>
                <a:ea typeface="微软雅黑" panose="020B0503020204020204" charset="-122"/>
                <a:cs typeface="微软雅黑" panose="020B0503020204020204" charset="-122"/>
                <a:sym typeface="Calibri" panose="020F0502020204030204"/>
              </a:rPr>
              <a:t>          </a:t>
            </a:r>
            <a:r>
              <a:rPr kumimoji="0" lang="zh-CN" altLang="en-US" sz="1800" b="0" i="0" u="none" strike="noStrike" cap="none" spc="0" normalizeH="0" baseline="0">
                <a:ln>
                  <a:noFill/>
                </a:ln>
                <a:solidFill>
                  <a:srgbClr val="000000"/>
                </a:solidFill>
                <a:effectLst/>
                <a:uFillTx/>
                <a:latin typeface="微软雅黑" panose="020B0503020204020204" charset="-122"/>
                <a:ea typeface="微软雅黑" panose="020B0503020204020204" charset="-122"/>
                <a:cs typeface="微软雅黑" panose="020B0503020204020204" charset="-122"/>
                <a:sym typeface="Calibri" panose="020F0502020204030204"/>
              </a:rPr>
              <a:t>结合开放平台当前业务及数据情况，本次使用</a:t>
            </a:r>
            <a:r>
              <a:rPr kumimoji="0" lang="zh-CN" altLang="en-US" sz="1800" b="1" i="0" u="none" strike="noStrike" cap="none" spc="0" normalizeH="0" baseline="0">
                <a:ln>
                  <a:noFill/>
                </a:ln>
                <a:solidFill>
                  <a:srgbClr val="000000"/>
                </a:solidFill>
                <a:effectLst/>
                <a:uFillTx/>
                <a:latin typeface="微软雅黑" panose="020B0503020204020204" charset="-122"/>
                <a:ea typeface="微软雅黑" panose="020B0503020204020204" charset="-122"/>
                <a:cs typeface="微软雅黑" panose="020B0503020204020204" charset="-122"/>
                <a:sym typeface="Calibri" panose="020F0502020204030204"/>
              </a:rPr>
              <a:t>深度神经网络</a:t>
            </a:r>
            <a:r>
              <a:rPr kumimoji="0" lang="zh-CN" altLang="en-US" sz="1800" b="1" i="0" u="none" strike="noStrike" cap="none" spc="0" normalizeH="0" baseline="0">
                <a:ln>
                  <a:noFill/>
                </a:ln>
                <a:solidFill>
                  <a:srgbClr val="000000"/>
                </a:solidFill>
                <a:effectLst/>
                <a:uFillTx/>
                <a:latin typeface="微软雅黑" panose="020B0503020204020204" charset="-122"/>
                <a:ea typeface="微软雅黑" panose="020B0503020204020204" charset="-122"/>
                <a:cs typeface="微软雅黑" panose="020B0503020204020204" charset="-122"/>
                <a:sym typeface="Calibri" panose="020F0502020204030204"/>
              </a:rPr>
              <a:t>、</a:t>
            </a:r>
            <a:r>
              <a:rPr kumimoji="0" lang="en-US" altLang="zh-CN" sz="1800" b="1" i="0" u="none" strike="noStrike" cap="none" spc="0" normalizeH="0" baseline="0">
                <a:ln>
                  <a:noFill/>
                </a:ln>
                <a:solidFill>
                  <a:srgbClr val="000000"/>
                </a:solidFill>
                <a:effectLst/>
                <a:uFillTx/>
                <a:latin typeface="微软雅黑" panose="020B0503020204020204" charset="-122"/>
                <a:ea typeface="微软雅黑" panose="020B0503020204020204" charset="-122"/>
                <a:cs typeface="微软雅黑" panose="020B0503020204020204" charset="-122"/>
                <a:sym typeface="Calibri" panose="020F0502020204030204"/>
              </a:rPr>
              <a:t>XGBOOST</a:t>
            </a:r>
            <a:r>
              <a:rPr kumimoji="0" lang="zh-CN" altLang="en-US" sz="1800" b="0" i="0" u="none" strike="noStrike" cap="none" spc="0" normalizeH="0" baseline="0">
                <a:ln>
                  <a:noFill/>
                </a:ln>
                <a:solidFill>
                  <a:srgbClr val="000000"/>
                </a:solidFill>
                <a:effectLst/>
                <a:uFillTx/>
                <a:latin typeface="微软雅黑" panose="020B0503020204020204" charset="-122"/>
                <a:ea typeface="微软雅黑" panose="020B0503020204020204" charset="-122"/>
                <a:cs typeface="微软雅黑" panose="020B0503020204020204" charset="-122"/>
                <a:sym typeface="Calibri" panose="020F0502020204030204"/>
              </a:rPr>
              <a:t>算法进行建模：</a:t>
            </a:r>
            <a:endParaRPr kumimoji="0" lang="zh-CN" altLang="en-US" sz="1800" b="0" i="0" u="none" strike="noStrike" cap="none" spc="0" normalizeH="0" baseline="0">
              <a:ln>
                <a:noFill/>
              </a:ln>
              <a:solidFill>
                <a:srgbClr val="000000"/>
              </a:solidFill>
              <a:effectLst/>
              <a:uFillTx/>
              <a:latin typeface="微软雅黑" panose="020B0503020204020204" charset="-122"/>
              <a:ea typeface="微软雅黑" panose="020B0503020204020204" charset="-122"/>
              <a:cs typeface="微软雅黑" panose="020B0503020204020204" charset="-122"/>
              <a:sym typeface="Calibri" panose="020F0502020204030204"/>
            </a:endParaRPr>
          </a:p>
          <a:p>
            <a:pPr marL="285750" marR="0" indent="-285750" algn="l" defTabSz="914400" rtl="0" fontAlgn="auto" latinLnBrk="0" hangingPunct="0">
              <a:lnSpc>
                <a:spcPct val="150000"/>
              </a:lnSpc>
              <a:spcBef>
                <a:spcPts val="0"/>
              </a:spcBef>
              <a:spcAft>
                <a:spcPts val="0"/>
              </a:spcAft>
              <a:buClrTx/>
              <a:buSzTx/>
              <a:buFont typeface="Wingdings" panose="05000000000000000000" charset="0"/>
              <a:buChar char="Ø"/>
            </a:pPr>
            <a:r>
              <a:rPr kumimoji="0" lang="zh-CN" altLang="en-US" sz="1800" b="1" i="0" u="none" strike="noStrike" cap="none" spc="0" normalizeH="0" baseline="0">
                <a:ln>
                  <a:noFill/>
                </a:ln>
                <a:solidFill>
                  <a:srgbClr val="000000"/>
                </a:solidFill>
                <a:effectLst/>
                <a:uFillTx/>
                <a:latin typeface="微软雅黑" panose="020B0503020204020204" charset="-122"/>
                <a:ea typeface="微软雅黑" panose="020B0503020204020204" charset="-122"/>
                <a:cs typeface="微软雅黑" panose="020B0503020204020204" charset="-122"/>
                <a:sym typeface="Calibri" panose="020F0502020204030204"/>
              </a:rPr>
              <a:t>深度神经网络</a:t>
            </a:r>
            <a:endParaRPr kumimoji="0" lang="zh-CN" altLang="en-US" sz="1800" b="1" i="0" u="none" strike="noStrike" cap="none" spc="0" normalizeH="0" baseline="0">
              <a:ln>
                <a:noFill/>
              </a:ln>
              <a:solidFill>
                <a:srgbClr val="000000"/>
              </a:solidFill>
              <a:effectLst/>
              <a:uFillTx/>
              <a:latin typeface="微软雅黑" panose="020B0503020204020204" charset="-122"/>
              <a:ea typeface="微软雅黑" panose="020B0503020204020204" charset="-122"/>
              <a:cs typeface="微软雅黑" panose="020B0503020204020204" charset="-122"/>
              <a:sym typeface="Calibri" panose="020F0502020204030204"/>
            </a:endParaRPr>
          </a:p>
          <a:p>
            <a:pPr marL="342900" marR="0" indent="-342900" algn="l" defTabSz="914400" rtl="0" fontAlgn="auto" latinLnBrk="0" hangingPunct="0">
              <a:lnSpc>
                <a:spcPct val="150000"/>
              </a:lnSpc>
              <a:spcBef>
                <a:spcPts val="0"/>
              </a:spcBef>
              <a:spcAft>
                <a:spcPts val="0"/>
              </a:spcAft>
              <a:buClrTx/>
              <a:buSzTx/>
              <a:buFont typeface="+mj-lt"/>
              <a:buAutoNum type="arabicPeriod"/>
            </a:pPr>
            <a:r>
              <a:rPr kumimoji="0" lang="zh-CN" altLang="en-US" sz="1800" b="0" i="0" u="none" strike="noStrike" cap="none" spc="0" normalizeH="0" baseline="0">
                <a:ln>
                  <a:noFill/>
                </a:ln>
                <a:solidFill>
                  <a:srgbClr val="000000"/>
                </a:solidFill>
                <a:effectLst/>
                <a:uFillTx/>
                <a:latin typeface="微软雅黑" panose="020B0503020204020204" charset="-122"/>
                <a:ea typeface="微软雅黑" panose="020B0503020204020204" charset="-122"/>
                <a:cs typeface="微软雅黑" panose="020B0503020204020204" charset="-122"/>
                <a:sym typeface="Calibri" panose="020F0502020204030204"/>
              </a:rPr>
              <a:t>优点：表征能力、拟合能力强，精度高；</a:t>
            </a:r>
            <a:endParaRPr kumimoji="0" lang="zh-CN" altLang="en-US" sz="1800" b="0" i="0" u="none" strike="noStrike" cap="none" spc="0" normalizeH="0" baseline="0">
              <a:ln>
                <a:noFill/>
              </a:ln>
              <a:solidFill>
                <a:srgbClr val="000000"/>
              </a:solidFill>
              <a:effectLst/>
              <a:uFillTx/>
              <a:latin typeface="微软雅黑" panose="020B0503020204020204" charset="-122"/>
              <a:ea typeface="微软雅黑" panose="020B0503020204020204" charset="-122"/>
              <a:cs typeface="微软雅黑" panose="020B0503020204020204" charset="-122"/>
              <a:sym typeface="Calibri" panose="020F0502020204030204"/>
            </a:endParaRPr>
          </a:p>
          <a:p>
            <a:pPr marL="342900" marR="0" indent="-342900" algn="l" defTabSz="914400" rtl="0" fontAlgn="auto" latinLnBrk="0" hangingPunct="0">
              <a:lnSpc>
                <a:spcPct val="150000"/>
              </a:lnSpc>
              <a:spcBef>
                <a:spcPts val="0"/>
              </a:spcBef>
              <a:spcAft>
                <a:spcPts val="0"/>
              </a:spcAft>
              <a:buClrTx/>
              <a:buSzTx/>
              <a:buFont typeface="+mj-lt"/>
              <a:buAutoNum type="arabicPeriod"/>
            </a:pPr>
            <a:r>
              <a:rPr kumimoji="0" lang="zh-CN" altLang="en-US" sz="1800" b="0" i="0" u="none" strike="noStrike" cap="none" spc="0" normalizeH="0" baseline="0">
                <a:ln>
                  <a:noFill/>
                </a:ln>
                <a:solidFill>
                  <a:srgbClr val="000000"/>
                </a:solidFill>
                <a:effectLst/>
                <a:uFillTx/>
                <a:latin typeface="微软雅黑" panose="020B0503020204020204" charset="-122"/>
                <a:ea typeface="微软雅黑" panose="020B0503020204020204" charset="-122"/>
                <a:cs typeface="微软雅黑" panose="020B0503020204020204" charset="-122"/>
                <a:sym typeface="Calibri" panose="020F0502020204030204"/>
              </a:rPr>
              <a:t>缺点：参数复杂，训练时间长，</a:t>
            </a:r>
            <a:r>
              <a:rPr kumimoji="0" lang="en-US" altLang="zh-CN" sz="1800" b="0" i="0" u="none" strike="noStrike" cap="none" spc="0" normalizeH="0" baseline="0">
                <a:ln>
                  <a:noFill/>
                </a:ln>
                <a:solidFill>
                  <a:srgbClr val="000000"/>
                </a:solidFill>
                <a:effectLst/>
                <a:uFillTx/>
                <a:latin typeface="微软雅黑" panose="020B0503020204020204" charset="-122"/>
                <a:ea typeface="微软雅黑" panose="020B0503020204020204" charset="-122"/>
                <a:cs typeface="微软雅黑" panose="020B0503020204020204" charset="-122"/>
                <a:sym typeface="Calibri" panose="020F0502020204030204"/>
              </a:rPr>
              <a:t>’</a:t>
            </a:r>
            <a:r>
              <a:rPr kumimoji="0" lang="zh-CN" altLang="en-US" sz="1800" b="0" i="0" u="none" strike="noStrike" cap="none" spc="0" normalizeH="0" baseline="0">
                <a:ln>
                  <a:noFill/>
                </a:ln>
                <a:solidFill>
                  <a:srgbClr val="000000"/>
                </a:solidFill>
                <a:effectLst/>
                <a:uFillTx/>
                <a:latin typeface="微软雅黑" panose="020B0503020204020204" charset="-122"/>
                <a:ea typeface="微软雅黑" panose="020B0503020204020204" charset="-122"/>
                <a:cs typeface="微软雅黑" panose="020B0503020204020204" charset="-122"/>
                <a:sym typeface="Calibri" panose="020F0502020204030204"/>
              </a:rPr>
              <a:t>黑箱</a:t>
            </a:r>
            <a:r>
              <a:rPr kumimoji="0" lang="en-US" altLang="zh-CN" sz="1800" b="0" i="0" u="none" strike="noStrike" cap="none" spc="0" normalizeH="0" baseline="0">
                <a:ln>
                  <a:noFill/>
                </a:ln>
                <a:solidFill>
                  <a:srgbClr val="000000"/>
                </a:solidFill>
                <a:effectLst/>
                <a:uFillTx/>
                <a:latin typeface="微软雅黑" panose="020B0503020204020204" charset="-122"/>
                <a:ea typeface="微软雅黑" panose="020B0503020204020204" charset="-122"/>
                <a:cs typeface="微软雅黑" panose="020B0503020204020204" charset="-122"/>
                <a:sym typeface="Calibri" panose="020F0502020204030204"/>
              </a:rPr>
              <a:t>‘</a:t>
            </a:r>
            <a:r>
              <a:rPr kumimoji="0" lang="zh-CN" altLang="en-US" sz="1800" b="0" i="0" u="none" strike="noStrike" cap="none" spc="0" normalizeH="0" baseline="0">
                <a:ln>
                  <a:noFill/>
                </a:ln>
                <a:solidFill>
                  <a:srgbClr val="000000"/>
                </a:solidFill>
                <a:effectLst/>
                <a:uFillTx/>
                <a:latin typeface="微软雅黑" panose="020B0503020204020204" charset="-122"/>
                <a:ea typeface="微软雅黑" panose="020B0503020204020204" charset="-122"/>
                <a:cs typeface="微软雅黑" panose="020B0503020204020204" charset="-122"/>
                <a:sym typeface="Calibri" panose="020F0502020204030204"/>
              </a:rPr>
              <a:t>算法，解释性差，上线难度较高；</a:t>
            </a:r>
            <a:endParaRPr kumimoji="0" lang="zh-CN" altLang="en-US" sz="1800" b="0" i="0" u="none" strike="noStrike" cap="none" spc="0" normalizeH="0" baseline="0">
              <a:ln>
                <a:noFill/>
              </a:ln>
              <a:solidFill>
                <a:srgbClr val="000000"/>
              </a:solidFill>
              <a:effectLst/>
              <a:uFillTx/>
              <a:latin typeface="微软雅黑" panose="020B0503020204020204" charset="-122"/>
              <a:ea typeface="微软雅黑" panose="020B0503020204020204" charset="-122"/>
              <a:cs typeface="微软雅黑" panose="020B0503020204020204" charset="-122"/>
              <a:sym typeface="Calibri" panose="020F0502020204030204"/>
            </a:endParaRPr>
          </a:p>
          <a:p>
            <a:pPr marL="285750" marR="0" indent="-285750" algn="l" defTabSz="914400" rtl="0" fontAlgn="auto" latinLnBrk="0" hangingPunct="0">
              <a:lnSpc>
                <a:spcPct val="150000"/>
              </a:lnSpc>
              <a:spcBef>
                <a:spcPts val="0"/>
              </a:spcBef>
              <a:spcAft>
                <a:spcPts val="0"/>
              </a:spcAft>
              <a:buClrTx/>
              <a:buSzTx/>
              <a:buFont typeface="Wingdings" panose="05000000000000000000" charset="0"/>
              <a:buChar char="Ø"/>
            </a:pPr>
            <a:r>
              <a:rPr lang="en-US" altLang="zh-CN" b="1">
                <a:latin typeface="微软雅黑" panose="020B0503020204020204" charset="-122"/>
                <a:ea typeface="微软雅黑" panose="020B0503020204020204" charset="-122"/>
                <a:cs typeface="微软雅黑" panose="020B0503020204020204" charset="-122"/>
                <a:sym typeface="Calibri" panose="020F0502020204030204"/>
              </a:rPr>
              <a:t>XGBOOST</a:t>
            </a:r>
            <a:endParaRPr lang="zh-CN" altLang="en-US" b="1">
              <a:latin typeface="微软雅黑" panose="020B0503020204020204" charset="-122"/>
              <a:ea typeface="微软雅黑" panose="020B0503020204020204" charset="-122"/>
              <a:cs typeface="微软雅黑" panose="020B0503020204020204" charset="-122"/>
              <a:sym typeface="Calibri" panose="020F0502020204030204"/>
            </a:endParaRPr>
          </a:p>
          <a:p>
            <a:pPr marL="342900" marR="0" indent="-342900" algn="l" defTabSz="914400" rtl="0" fontAlgn="auto" latinLnBrk="0" hangingPunct="0">
              <a:lnSpc>
                <a:spcPct val="150000"/>
              </a:lnSpc>
              <a:spcBef>
                <a:spcPts val="0"/>
              </a:spcBef>
              <a:spcAft>
                <a:spcPts val="0"/>
              </a:spcAft>
              <a:buClrTx/>
              <a:buSzTx/>
              <a:buFont typeface="+mj-lt"/>
              <a:buAutoNum type="arabicPeriod"/>
            </a:pPr>
            <a:r>
              <a:rPr lang="zh-CN" altLang="en-US">
                <a:latin typeface="微软雅黑" panose="020B0503020204020204" charset="-122"/>
                <a:ea typeface="微软雅黑" panose="020B0503020204020204" charset="-122"/>
                <a:cs typeface="微软雅黑" panose="020B0503020204020204" charset="-122"/>
                <a:sym typeface="Calibri" panose="020F0502020204030204"/>
              </a:rPr>
              <a:t>优点：精度高，训练快，不容易出现过拟合，有一定解释性。</a:t>
            </a:r>
            <a:endParaRPr kumimoji="0" lang="zh-CN" altLang="en-US" b="0" i="0" u="none" strike="noStrike" cap="none" spc="0" normalizeH="0" baseline="0">
              <a:ln>
                <a:noFill/>
              </a:ln>
              <a:solidFill>
                <a:srgbClr val="000000"/>
              </a:solidFill>
              <a:effectLst/>
              <a:uFillTx/>
              <a:latin typeface="微软雅黑" panose="020B0503020204020204" charset="-122"/>
              <a:ea typeface="微软雅黑" panose="020B0503020204020204" charset="-122"/>
              <a:cs typeface="微软雅黑" panose="020B0503020204020204" charset="-122"/>
              <a:sym typeface="Calibri" panose="020F0502020204030204"/>
            </a:endParaRPr>
          </a:p>
          <a:p>
            <a:pPr marL="342900" marR="0" indent="-342900" algn="l" defTabSz="914400" rtl="0" fontAlgn="auto" latinLnBrk="0" hangingPunct="0">
              <a:lnSpc>
                <a:spcPct val="150000"/>
              </a:lnSpc>
              <a:spcBef>
                <a:spcPts val="0"/>
              </a:spcBef>
              <a:spcAft>
                <a:spcPts val="0"/>
              </a:spcAft>
              <a:buClrTx/>
              <a:buSzTx/>
              <a:buFont typeface="+mj-lt"/>
              <a:buAutoNum type="arabicPeriod"/>
            </a:pPr>
            <a:r>
              <a:rPr lang="zh-CN" altLang="en-US">
                <a:latin typeface="微软雅黑" panose="020B0503020204020204" charset="-122"/>
                <a:ea typeface="微软雅黑" panose="020B0503020204020204" charset="-122"/>
                <a:cs typeface="微软雅黑" panose="020B0503020204020204" charset="-122"/>
                <a:sym typeface="Calibri" panose="020F0502020204030204"/>
              </a:rPr>
              <a:t>缺点：上线难度较高，需考虑公司现有硬件资源；</a:t>
            </a:r>
            <a:endParaRPr kumimoji="0" lang="zh-CN" altLang="en-US" sz="1800" b="0" i="0" u="none" strike="noStrike" cap="none" spc="0" normalizeH="0" baseline="0">
              <a:ln>
                <a:noFill/>
              </a:ln>
              <a:solidFill>
                <a:srgbClr val="000000"/>
              </a:solidFill>
              <a:effectLst/>
              <a:uFillTx/>
              <a:latin typeface="微软雅黑" panose="020B0503020204020204" charset="-122"/>
              <a:ea typeface="微软雅黑" panose="020B0503020204020204" charset="-122"/>
              <a:cs typeface="微软雅黑" panose="020B0503020204020204" charset="-122"/>
              <a:sym typeface="Calibri" panose="020F0502020204030204"/>
            </a:endParaRPr>
          </a:p>
        </p:txBody>
      </p:sp>
    </p:spTree>
  </p:cSld>
  <p:clrMapOvr>
    <a:masterClrMapping/>
  </p:clrMapOvr>
  <p:transition spd="med"/>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p:nvPr>
            <p:ph type="title"/>
          </p:nvPr>
        </p:nvSpPr>
        <p:spPr>
          <a:xfrm>
            <a:off x="335915" y="260985"/>
            <a:ext cx="10714355" cy="675005"/>
          </a:xfrm>
        </p:spPr>
        <p:txBody>
          <a:bodyPr>
            <a:normAutofit/>
          </a:bodyPr>
          <a:p>
            <a:r>
              <a:rPr lang="en-US" altLang="zh-CN" sz="3555"/>
              <a:t>3. </a:t>
            </a:r>
            <a:r>
              <a:rPr lang="zh-CN" altLang="en-US" sz="3555"/>
              <a:t>模型建立</a:t>
            </a:r>
            <a:r>
              <a:rPr lang="en-US" altLang="zh-CN" sz="3555"/>
              <a:t>-</a:t>
            </a:r>
            <a:r>
              <a:rPr lang="zh-CN" altLang="en-US" sz="3555"/>
              <a:t>数据维度</a:t>
            </a:r>
            <a:endParaRPr lang="zh-CN" altLang="en-US" sz="3555"/>
          </a:p>
        </p:txBody>
      </p:sp>
      <p:sp>
        <p:nvSpPr>
          <p:cNvPr id="25" name="文本框 24"/>
          <p:cNvSpPr txBox="1"/>
          <p:nvPr/>
        </p:nvSpPr>
        <p:spPr>
          <a:xfrm>
            <a:off x="695960" y="1125220"/>
            <a:ext cx="2288540" cy="459105"/>
          </a:xfrm>
          <a:prstGeom prst="rect">
            <a:avLst/>
          </a:prstGeom>
          <a:noFill/>
          <a:ln w="12700" cap="flat">
            <a:noFill/>
            <a:miter lim="400000"/>
          </a:ln>
        </p:spPr>
        <p:style>
          <a:lnRef idx="0">
            <a:srgbClr val="FFFFFF"/>
          </a:lnRef>
          <a:fillRef idx="0">
            <a:srgbClr val="FFFFFF"/>
          </a:fillRef>
          <a:effectRef idx="0">
            <a:srgbClr val="FFFFFF"/>
          </a:effectRef>
          <a:fontRef idx="none"/>
        </p:style>
        <p:txBody>
          <a:bodyPr rot="0" vertOverflow="overflow" horzOverflow="overflow" vert="horz" wrap="square" lIns="45719" tIns="45719" rIns="45719" bIns="45719" numCol="1" spcCol="38100" rtlCol="0" anchor="t" forceAA="0" upright="0">
            <a:spAutoFit/>
          </a:bodyPr>
          <a:p>
            <a:pPr marL="342900" marR="0" indent="-342900" algn="l" defTabSz="914400" rtl="0" fontAlgn="auto" latinLnBrk="0" hangingPunct="0">
              <a:lnSpc>
                <a:spcPct val="100000"/>
              </a:lnSpc>
              <a:spcBef>
                <a:spcPts val="0"/>
              </a:spcBef>
              <a:spcAft>
                <a:spcPts val="0"/>
              </a:spcAft>
              <a:buClrTx/>
              <a:buSzTx/>
              <a:buFont typeface="Wingdings" panose="05000000000000000000" charset="0"/>
              <a:buChar char="ü"/>
            </a:pPr>
            <a:r>
              <a:rPr kumimoji="0" lang="zh-CN" altLang="en-US" sz="2400" b="1" i="0" u="none" strike="noStrike" cap="none" spc="0" normalizeH="0" baseline="0">
                <a:ln>
                  <a:noFill/>
                </a:ln>
                <a:solidFill>
                  <a:srgbClr val="0564CD"/>
                </a:solidFill>
                <a:effectLst/>
                <a:uFillTx/>
                <a:latin typeface="微软雅黑" panose="020B0503020204020204" charset="-122"/>
                <a:ea typeface="微软雅黑" panose="020B0503020204020204" charset="-122"/>
                <a:cs typeface="微软雅黑" panose="020B0503020204020204" charset="-122"/>
                <a:sym typeface="Calibri" panose="020F0502020204030204"/>
              </a:rPr>
              <a:t>数据维度</a:t>
            </a:r>
            <a:endParaRPr kumimoji="0" lang="zh-CN" altLang="en-US" sz="2400" b="1" i="0" u="none" strike="noStrike" cap="none" spc="0" normalizeH="0" baseline="0">
              <a:ln>
                <a:noFill/>
              </a:ln>
              <a:solidFill>
                <a:srgbClr val="0564CD"/>
              </a:solidFill>
              <a:effectLst/>
              <a:uFillTx/>
              <a:latin typeface="微软雅黑" panose="020B0503020204020204" charset="-122"/>
              <a:ea typeface="微软雅黑" panose="020B0503020204020204" charset="-122"/>
              <a:cs typeface="微软雅黑" panose="020B0503020204020204" charset="-122"/>
              <a:sym typeface="Calibri" panose="020F0502020204030204"/>
            </a:endParaRPr>
          </a:p>
        </p:txBody>
      </p:sp>
      <p:graphicFrame>
        <p:nvGraphicFramePr>
          <p:cNvPr id="32" name="表格 31"/>
          <p:cNvGraphicFramePr/>
          <p:nvPr/>
        </p:nvGraphicFramePr>
        <p:xfrm>
          <a:off x="2207895" y="3141345"/>
          <a:ext cx="6703060" cy="1860550"/>
        </p:xfrm>
        <a:graphic>
          <a:graphicData uri="http://schemas.openxmlformats.org/drawingml/2006/table">
            <a:tbl>
              <a:tblPr firstRow="1" bandRow="1">
                <a:tableStyleId>{5C22544A-7EE6-4342-B048-85BDC9FD1C3A}</a:tableStyleId>
              </a:tblPr>
              <a:tblGrid>
                <a:gridCol w="882650"/>
                <a:gridCol w="1510030"/>
                <a:gridCol w="3419475"/>
                <a:gridCol w="890905"/>
              </a:tblGrid>
              <a:tr h="372110">
                <a:tc>
                  <a:txBody>
                    <a:bodyPr/>
                    <a:p>
                      <a:pPr algn="l">
                        <a:buNone/>
                      </a:pPr>
                      <a:r>
                        <a:rPr lang="zh-CN" sz="1400" b="1">
                          <a:solidFill>
                            <a:srgbClr val="000000"/>
                          </a:solidFill>
                          <a:latin typeface="Arial" panose="020B0604020202020204" pitchFamily="34" charset="0"/>
                          <a:ea typeface="等线" panose="02010600030101010101" charset="-122"/>
                        </a:rPr>
                        <a:t>业务节点</a:t>
                      </a:r>
                      <a:endParaRPr lang="zh-CN" altLang="en-US" sz="1400" b="1">
                        <a:solidFill>
                          <a:srgbClr val="000000"/>
                        </a:solidFill>
                        <a:latin typeface="Arial" panose="020B0604020202020204" pitchFamily="34" charset="0"/>
                        <a:ea typeface="等线" panose="02010600030101010101" charset="-122"/>
                      </a:endParaRPr>
                    </a:p>
                  </a:txBody>
                  <a:tcPr marL="12700" marR="12700" marT="12700" vert="horz" anchor="b"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00B0F0"/>
                    </a:solidFill>
                  </a:tcPr>
                </a:tc>
                <a:tc>
                  <a:txBody>
                    <a:bodyPr/>
                    <a:p>
                      <a:pPr algn="l">
                        <a:buNone/>
                      </a:pPr>
                      <a:r>
                        <a:rPr lang="zh-CN" sz="1400" b="1">
                          <a:solidFill>
                            <a:srgbClr val="000000"/>
                          </a:solidFill>
                          <a:latin typeface="Arial" panose="020B0604020202020204" pitchFamily="34" charset="0"/>
                          <a:ea typeface="等线" panose="02010600030101010101" charset="-122"/>
                        </a:rPr>
                        <a:t>数据区分</a:t>
                      </a:r>
                      <a:endParaRPr lang="zh-CN" altLang="en-US" sz="1400" b="1">
                        <a:solidFill>
                          <a:srgbClr val="000000"/>
                        </a:solidFill>
                        <a:latin typeface="Arial" panose="020B0604020202020204" pitchFamily="34" charset="0"/>
                        <a:ea typeface="等线" panose="02010600030101010101" charset="-122"/>
                      </a:endParaRPr>
                    </a:p>
                  </a:txBody>
                  <a:tcPr marL="12700" marR="12700" marT="12700" vert="horz" anchor="b"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00B0F0"/>
                    </a:solidFill>
                  </a:tcPr>
                </a:tc>
                <a:tc>
                  <a:txBody>
                    <a:bodyPr/>
                    <a:p>
                      <a:pPr algn="l">
                        <a:buNone/>
                      </a:pPr>
                      <a:r>
                        <a:rPr lang="zh-CN" sz="1400" b="1">
                          <a:solidFill>
                            <a:srgbClr val="000000"/>
                          </a:solidFill>
                          <a:latin typeface="Arial" panose="020B0604020202020204" pitchFamily="34" charset="0"/>
                          <a:ea typeface="等线" panose="02010600030101010101" charset="-122"/>
                        </a:rPr>
                        <a:t>数据表</a:t>
                      </a:r>
                      <a:endParaRPr lang="zh-CN" altLang="en-US" sz="1400" b="1">
                        <a:solidFill>
                          <a:srgbClr val="000000"/>
                        </a:solidFill>
                        <a:latin typeface="Arial" panose="020B0604020202020204" pitchFamily="34" charset="0"/>
                        <a:ea typeface="等线" panose="02010600030101010101" charset="-122"/>
                      </a:endParaRPr>
                    </a:p>
                  </a:txBody>
                  <a:tcPr marL="12700" marR="12700" marT="12700" vert="horz" anchor="b"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00B0F0"/>
                    </a:solidFill>
                  </a:tcPr>
                </a:tc>
                <a:tc>
                  <a:txBody>
                    <a:bodyPr/>
                    <a:p>
                      <a:pPr algn="l">
                        <a:buNone/>
                      </a:pPr>
                      <a:r>
                        <a:rPr lang="zh-CN" sz="1400" b="1">
                          <a:solidFill>
                            <a:srgbClr val="000000"/>
                          </a:solidFill>
                          <a:latin typeface="Arial" panose="020B0604020202020204" pitchFamily="34" charset="0"/>
                          <a:ea typeface="等线" panose="02010600030101010101" charset="-122"/>
                        </a:rPr>
                        <a:t>字段个数</a:t>
                      </a:r>
                      <a:endParaRPr lang="zh-CN" altLang="en-US" sz="1400" b="1">
                        <a:solidFill>
                          <a:srgbClr val="000000"/>
                        </a:solidFill>
                        <a:latin typeface="Arial" panose="020B0604020202020204" pitchFamily="34" charset="0"/>
                        <a:ea typeface="等线" panose="02010600030101010101" charset="-122"/>
                      </a:endParaRPr>
                    </a:p>
                  </a:txBody>
                  <a:tcPr marL="12700" marR="12700" marT="12700" vert="horz" anchor="b"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00B0F0"/>
                    </a:solidFill>
                  </a:tcPr>
                </a:tc>
              </a:tr>
              <a:tr h="372110">
                <a:tc>
                  <a:txBody>
                    <a:bodyPr/>
                    <a:p>
                      <a:pPr algn="l">
                        <a:buNone/>
                      </a:pPr>
                      <a:r>
                        <a:rPr lang="zh-CN" sz="1400">
                          <a:solidFill>
                            <a:srgbClr val="000000"/>
                          </a:solidFill>
                          <a:latin typeface="Arial" panose="020B0604020202020204" pitchFamily="34" charset="0"/>
                          <a:ea typeface="等线" panose="02010600030101010101" charset="-122"/>
                        </a:rPr>
                        <a:t>渠道</a:t>
                      </a:r>
                      <a:endParaRPr lang="zh-CN" altLang="zh-CN" sz="1400">
                        <a:solidFill>
                          <a:srgbClr val="000000"/>
                        </a:solidFill>
                        <a:latin typeface="Arial" panose="020B0604020202020204" pitchFamily="34" charset="0"/>
                        <a:ea typeface="等线" panose="02010600030101010101" charset="-122"/>
                      </a:endParaRPr>
                    </a:p>
                  </a:txBody>
                  <a:tcPr marL="12700" marR="12700" marT="12700" vert="horz" anchor="b"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algn="l">
                        <a:buNone/>
                      </a:pPr>
                      <a:r>
                        <a:rPr lang="zh-CN" sz="1400">
                          <a:solidFill>
                            <a:srgbClr val="000000"/>
                          </a:solidFill>
                          <a:latin typeface="Arial" panose="020B0604020202020204" pitchFamily="34" charset="0"/>
                          <a:ea typeface="等线" panose="02010600030101010101" charset="-122"/>
                        </a:rPr>
                        <a:t>渠道数据</a:t>
                      </a:r>
                      <a:endParaRPr lang="zh-CN" altLang="en-US" sz="1400">
                        <a:solidFill>
                          <a:srgbClr val="000000"/>
                        </a:solidFill>
                        <a:latin typeface="Arial" panose="020B0604020202020204" pitchFamily="34" charset="0"/>
                        <a:ea typeface="等线" panose="02010600030101010101" charset="-122"/>
                      </a:endParaRPr>
                    </a:p>
                  </a:txBody>
                  <a:tcPr marL="12700" marR="12700" marT="12700" vert="horz" anchor="b"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algn="l">
                        <a:buNone/>
                      </a:pPr>
                      <a:r>
                        <a:rPr lang="en-US" altLang="en-US" sz="1400">
                          <a:solidFill>
                            <a:srgbClr val="000000"/>
                          </a:solidFill>
                          <a:latin typeface="等线" panose="02010600030101010101" charset="-122"/>
                        </a:rPr>
                        <a:t>dwd_acq_ad_search_batch_utm_data_df</a:t>
                      </a:r>
                      <a:endParaRPr lang="en-US" altLang="en-US" sz="1400">
                        <a:solidFill>
                          <a:srgbClr val="000000"/>
                        </a:solidFill>
                        <a:latin typeface="等线" panose="02010600030101010101" charset="-122"/>
                      </a:endParaRPr>
                    </a:p>
                  </a:txBody>
                  <a:tcPr marL="12700" marR="12700" marT="12700" vert="horz" anchor="b"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algn="l">
                        <a:buNone/>
                      </a:pPr>
                      <a:r>
                        <a:rPr lang="en-US" altLang="en-US" sz="1400">
                          <a:solidFill>
                            <a:srgbClr val="000000"/>
                          </a:solidFill>
                          <a:latin typeface="等线" panose="02010600030101010101" charset="-122"/>
                        </a:rPr>
                        <a:t>11</a:t>
                      </a:r>
                      <a:endParaRPr lang="en-US" altLang="en-US" sz="1400">
                        <a:solidFill>
                          <a:srgbClr val="000000"/>
                        </a:solidFill>
                        <a:latin typeface="等线" panose="02010600030101010101" charset="-122"/>
                      </a:endParaRPr>
                    </a:p>
                  </a:txBody>
                  <a:tcPr marL="12700" marR="12700" marT="12700" vert="horz" anchor="b"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r>
              <a:tr h="372110">
                <a:tc>
                  <a:txBody>
                    <a:bodyPr/>
                    <a:p>
                      <a:pPr algn="l">
                        <a:buNone/>
                      </a:pPr>
                      <a:r>
                        <a:rPr lang="zh-CN" sz="1400">
                          <a:solidFill>
                            <a:srgbClr val="000000"/>
                          </a:solidFill>
                          <a:latin typeface="Arial" panose="020B0604020202020204" pitchFamily="34" charset="0"/>
                          <a:ea typeface="等线" panose="02010600030101010101" charset="-122"/>
                        </a:rPr>
                        <a:t>商机生成</a:t>
                      </a:r>
                      <a:endParaRPr lang="zh-CN" altLang="en-US" sz="1400">
                        <a:solidFill>
                          <a:srgbClr val="000000"/>
                        </a:solidFill>
                        <a:latin typeface="Arial" panose="020B0604020202020204" pitchFamily="34" charset="0"/>
                        <a:ea typeface="等线" panose="02010600030101010101" charset="-122"/>
                      </a:endParaRPr>
                    </a:p>
                  </a:txBody>
                  <a:tcPr marL="12700" marR="12700" marT="12700" vert="horz" anchor="b"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algn="l">
                        <a:buNone/>
                      </a:pPr>
                      <a:r>
                        <a:rPr lang="zh-CN" sz="1400">
                          <a:solidFill>
                            <a:srgbClr val="000000"/>
                          </a:solidFill>
                          <a:latin typeface="Arial" panose="020B0604020202020204" pitchFamily="34" charset="0"/>
                          <a:ea typeface="等线" panose="02010600030101010101" charset="-122"/>
                        </a:rPr>
                        <a:t>商机数据</a:t>
                      </a:r>
                      <a:endParaRPr lang="zh-CN" altLang="en-US" sz="1400">
                        <a:solidFill>
                          <a:srgbClr val="000000"/>
                        </a:solidFill>
                        <a:latin typeface="Arial" panose="020B0604020202020204" pitchFamily="34" charset="0"/>
                        <a:ea typeface="等线" panose="02010600030101010101" charset="-122"/>
                      </a:endParaRPr>
                    </a:p>
                  </a:txBody>
                  <a:tcPr marL="12700" marR="12700" marT="12700" vert="horz" anchor="b"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algn="l">
                        <a:buNone/>
                      </a:pPr>
                      <a:r>
                        <a:rPr lang="en-US" altLang="en-US" sz="1400">
                          <a:solidFill>
                            <a:srgbClr val="000000"/>
                          </a:solidFill>
                          <a:latin typeface="等线" panose="02010600030101010101" charset="-122"/>
                        </a:rPr>
                        <a:t>dwd_acq_open_plat_opp_df</a:t>
                      </a:r>
                      <a:endParaRPr lang="en-US" altLang="en-US" sz="1400">
                        <a:solidFill>
                          <a:srgbClr val="000000"/>
                        </a:solidFill>
                        <a:latin typeface="等线" panose="02010600030101010101" charset="-122"/>
                      </a:endParaRPr>
                    </a:p>
                  </a:txBody>
                  <a:tcPr marL="12700" marR="12700" marT="12700" vert="horz" anchor="b"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algn="l">
                        <a:buNone/>
                      </a:pPr>
                      <a:r>
                        <a:rPr lang="en-US" sz="1400">
                          <a:solidFill>
                            <a:srgbClr val="000000"/>
                          </a:solidFill>
                          <a:latin typeface="等线" panose="02010600030101010101" charset="-122"/>
                        </a:rPr>
                        <a:t>176</a:t>
                      </a:r>
                      <a:endParaRPr lang="en-US" altLang="en-US" sz="1400">
                        <a:solidFill>
                          <a:srgbClr val="000000"/>
                        </a:solidFill>
                        <a:latin typeface="等线" panose="02010600030101010101" charset="-122"/>
                      </a:endParaRPr>
                    </a:p>
                  </a:txBody>
                  <a:tcPr marL="12700" marR="12700" marT="12700" vert="horz" anchor="b"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r>
              <a:tr h="372110">
                <a:tc>
                  <a:txBody>
                    <a:bodyPr/>
                    <a:p>
                      <a:pPr algn="l">
                        <a:buNone/>
                      </a:pPr>
                      <a:r>
                        <a:rPr lang="zh-CN" sz="1400">
                          <a:solidFill>
                            <a:srgbClr val="000000"/>
                          </a:solidFill>
                          <a:latin typeface="Arial" panose="020B0604020202020204" pitchFamily="34" charset="0"/>
                          <a:ea typeface="等线" panose="02010600030101010101" charset="-122"/>
                        </a:rPr>
                        <a:t>变量衍生</a:t>
                      </a:r>
                      <a:endParaRPr lang="zh-CN" altLang="en-US" sz="1400">
                        <a:solidFill>
                          <a:srgbClr val="000000"/>
                        </a:solidFill>
                        <a:latin typeface="Arial" panose="020B0604020202020204" pitchFamily="34" charset="0"/>
                        <a:ea typeface="等线" panose="02010600030101010101" charset="-122"/>
                      </a:endParaRPr>
                    </a:p>
                  </a:txBody>
                  <a:tcPr marL="12700" marR="12700" marT="12700" vert="horz" anchor="b"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F8CBAD"/>
                    </a:solidFill>
                  </a:tcPr>
                </a:tc>
                <a:tc>
                  <a:txBody>
                    <a:bodyPr/>
                    <a:p>
                      <a:pPr algn="l">
                        <a:buNone/>
                      </a:pPr>
                      <a:r>
                        <a:rPr lang="zh-CN" sz="1400">
                          <a:solidFill>
                            <a:srgbClr val="000000"/>
                          </a:solidFill>
                          <a:latin typeface="Arial" panose="020B0604020202020204" pitchFamily="34" charset="0"/>
                          <a:ea typeface="等线" panose="02010600030101010101" charset="-122"/>
                        </a:rPr>
                        <a:t>沟通记录衍生表</a:t>
                      </a:r>
                      <a:endParaRPr lang="zh-CN" altLang="en-US" sz="1400">
                        <a:solidFill>
                          <a:srgbClr val="000000"/>
                        </a:solidFill>
                        <a:latin typeface="Arial" panose="020B0604020202020204" pitchFamily="34" charset="0"/>
                        <a:ea typeface="等线" panose="02010600030101010101" charset="-122"/>
                      </a:endParaRPr>
                    </a:p>
                  </a:txBody>
                  <a:tcPr marL="12700" marR="12700" marT="12700" vert="horz" anchor="b"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F8CBAD"/>
                    </a:solidFill>
                  </a:tcPr>
                </a:tc>
                <a:tc>
                  <a:txBody>
                    <a:bodyPr/>
                    <a:p>
                      <a:pPr algn="l">
                        <a:buNone/>
                      </a:pPr>
                      <a:r>
                        <a:rPr lang="en-US" altLang="en-US" sz="1400">
                          <a:solidFill>
                            <a:srgbClr val="000000"/>
                          </a:solidFill>
                          <a:latin typeface="等线" panose="02010600030101010101" charset="-122"/>
                        </a:rPr>
                        <a:t>channel_opp_df</a:t>
                      </a:r>
                      <a:endParaRPr lang="en-US" altLang="en-US" sz="1400">
                        <a:solidFill>
                          <a:srgbClr val="000000"/>
                        </a:solidFill>
                        <a:latin typeface="等线" panose="02010600030101010101" charset="-122"/>
                      </a:endParaRPr>
                    </a:p>
                  </a:txBody>
                  <a:tcPr marL="12700" marR="12700" marT="12700" vert="horz" anchor="b"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F8CBAD"/>
                    </a:solidFill>
                  </a:tcPr>
                </a:tc>
                <a:tc>
                  <a:txBody>
                    <a:bodyPr/>
                    <a:p>
                      <a:pPr algn="l">
                        <a:buNone/>
                      </a:pPr>
                      <a:r>
                        <a:rPr lang="en-US" altLang="en-US" sz="1400">
                          <a:solidFill>
                            <a:srgbClr val="000000"/>
                          </a:solidFill>
                          <a:latin typeface="等线" panose="02010600030101010101" charset="-122"/>
                        </a:rPr>
                        <a:t>98</a:t>
                      </a:r>
                      <a:endParaRPr lang="en-US" altLang="en-US" sz="1400">
                        <a:solidFill>
                          <a:srgbClr val="000000"/>
                        </a:solidFill>
                        <a:latin typeface="等线" panose="02010600030101010101" charset="-122"/>
                      </a:endParaRPr>
                    </a:p>
                  </a:txBody>
                  <a:tcPr marL="12700" marR="12700" marT="12700" vert="horz" anchor="b"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solidFill>
                      <a:srgbClr val="F8CBAD"/>
                    </a:solidFill>
                  </a:tcPr>
                </a:tc>
              </a:tr>
              <a:tr h="372110">
                <a:tc>
                  <a:txBody>
                    <a:bodyPr/>
                    <a:p>
                      <a:pPr algn="l">
                        <a:buNone/>
                      </a:pPr>
                      <a:r>
                        <a:rPr lang="zh-CN" sz="1400">
                          <a:solidFill>
                            <a:srgbClr val="000000"/>
                          </a:solidFill>
                          <a:latin typeface="Arial" panose="020B0604020202020204" pitchFamily="34" charset="0"/>
                          <a:ea typeface="等线" panose="02010600030101010101" charset="-122"/>
                        </a:rPr>
                        <a:t>成交</a:t>
                      </a:r>
                      <a:endParaRPr lang="zh-CN" altLang="en-US" sz="1400">
                        <a:solidFill>
                          <a:srgbClr val="000000"/>
                        </a:solidFill>
                        <a:latin typeface="Arial" panose="020B0604020202020204" pitchFamily="34" charset="0"/>
                        <a:ea typeface="等线" panose="02010600030101010101" charset="-122"/>
                      </a:endParaRPr>
                    </a:p>
                  </a:txBody>
                  <a:tcPr marL="12700" marR="12700" marT="12700" vert="horz" anchor="b"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algn="l">
                        <a:buNone/>
                      </a:pPr>
                      <a:r>
                        <a:rPr lang="zh-CN" sz="1400">
                          <a:solidFill>
                            <a:srgbClr val="000000"/>
                          </a:solidFill>
                          <a:latin typeface="Arial" panose="020B0604020202020204" pitchFamily="34" charset="0"/>
                          <a:ea typeface="等线" panose="02010600030101010101" charset="-122"/>
                        </a:rPr>
                        <a:t>下单数据</a:t>
                      </a:r>
                      <a:endParaRPr lang="zh-CN" altLang="en-US" sz="1400">
                        <a:solidFill>
                          <a:srgbClr val="000000"/>
                        </a:solidFill>
                        <a:latin typeface="Arial" panose="020B0604020202020204" pitchFamily="34" charset="0"/>
                        <a:ea typeface="等线" panose="02010600030101010101" charset="-122"/>
                      </a:endParaRPr>
                    </a:p>
                  </a:txBody>
                  <a:tcPr marL="12700" marR="12700" marT="12700" vert="horz" anchor="b"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algn="l">
                        <a:buNone/>
                      </a:pPr>
                      <a:r>
                        <a:rPr lang="en-US" altLang="en-US" sz="1400">
                          <a:solidFill>
                            <a:srgbClr val="000000"/>
                          </a:solidFill>
                          <a:latin typeface="等线" panose="02010600030101010101" charset="-122"/>
                        </a:rPr>
                        <a:t>dwd_trx_insure_di</a:t>
                      </a:r>
                      <a:endParaRPr lang="en-US" altLang="en-US" sz="1400">
                        <a:solidFill>
                          <a:srgbClr val="000000"/>
                        </a:solidFill>
                        <a:latin typeface="等线" panose="02010600030101010101" charset="-122"/>
                      </a:endParaRPr>
                    </a:p>
                  </a:txBody>
                  <a:tcPr marL="12700" marR="12700" marT="12700" vert="horz" anchor="b"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p>
                      <a:pPr algn="l">
                        <a:buNone/>
                      </a:pPr>
                      <a:r>
                        <a:rPr lang="en-US" altLang="en-US" sz="1400">
                          <a:solidFill>
                            <a:srgbClr val="000000"/>
                          </a:solidFill>
                          <a:latin typeface="等线" panose="02010600030101010101" charset="-122"/>
                        </a:rPr>
                        <a:t>54</a:t>
                      </a:r>
                      <a:endParaRPr lang="en-US" altLang="en-US" sz="1400">
                        <a:solidFill>
                          <a:srgbClr val="000000"/>
                        </a:solidFill>
                        <a:latin typeface="等线" panose="02010600030101010101" charset="-122"/>
                      </a:endParaRPr>
                    </a:p>
                  </a:txBody>
                  <a:tcPr marL="12700" marR="12700" marT="12700" vert="horz" anchor="b"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r>
            </a:tbl>
          </a:graphicData>
        </a:graphic>
      </p:graphicFrame>
      <p:sp>
        <p:nvSpPr>
          <p:cNvPr id="33" name="文本框 32"/>
          <p:cNvSpPr txBox="1"/>
          <p:nvPr/>
        </p:nvSpPr>
        <p:spPr>
          <a:xfrm>
            <a:off x="983615" y="1917065"/>
            <a:ext cx="9479280" cy="920750"/>
          </a:xfrm>
          <a:prstGeom prst="rect">
            <a:avLst/>
          </a:prstGeom>
          <a:noFill/>
          <a:ln w="12700" cap="flat">
            <a:noFill/>
            <a:miter lim="400000"/>
          </a:ln>
        </p:spPr>
        <p:style>
          <a:lnRef idx="0">
            <a:srgbClr val="FFFFFF"/>
          </a:lnRef>
          <a:fillRef idx="0">
            <a:srgbClr val="FFFFFF"/>
          </a:fillRef>
          <a:effectRef idx="0">
            <a:srgbClr val="FFFFFF"/>
          </a:effectRef>
          <a:fontRef idx="none"/>
        </p:style>
        <p:txBody>
          <a:bodyPr rot="0" vertOverflow="overflow" horzOverflow="overflow" vert="horz" wrap="square" lIns="45719" tIns="45719" rIns="45719" bIns="45719" numCol="1" spcCol="38100" rtlCol="0" anchor="t" forceAA="0" upright="0">
            <a:spAutoFit/>
          </a:bodyPr>
          <a:p>
            <a:pPr marL="0" marR="0" indent="0" algn="l" defTabSz="914400" rtl="0" fontAlgn="auto" latinLnBrk="0" hangingPunct="0">
              <a:lnSpc>
                <a:spcPct val="150000"/>
              </a:lnSpc>
              <a:spcBef>
                <a:spcPts val="0"/>
              </a:spcBef>
              <a:spcAft>
                <a:spcPts val="0"/>
              </a:spcAft>
              <a:buClrTx/>
              <a:buSzTx/>
              <a:buFontTx/>
              <a:buNone/>
            </a:pPr>
            <a:r>
              <a:rPr kumimoji="0" lang="en-US" altLang="zh-CN" sz="1800" b="0" i="0" u="none" strike="noStrike" cap="none" spc="0" normalizeH="0" baseline="0">
                <a:ln>
                  <a:noFill/>
                </a:ln>
                <a:solidFill>
                  <a:srgbClr val="000000"/>
                </a:solidFill>
                <a:effectLst/>
                <a:uFillTx/>
                <a:latin typeface="微软雅黑" panose="020B0503020204020204" charset="-122"/>
                <a:ea typeface="微软雅黑" panose="020B0503020204020204" charset="-122"/>
                <a:cs typeface="微软雅黑" panose="020B0503020204020204" charset="-122"/>
                <a:sym typeface="Calibri" panose="020F0502020204030204"/>
              </a:rPr>
              <a:t>1</a:t>
            </a:r>
            <a:r>
              <a:rPr kumimoji="0" lang="zh-CN" altLang="en-US" sz="1800" b="0" i="0" u="none" strike="noStrike" cap="none" spc="0" normalizeH="0" baseline="0">
                <a:ln>
                  <a:noFill/>
                </a:ln>
                <a:solidFill>
                  <a:srgbClr val="000000"/>
                </a:solidFill>
                <a:effectLst/>
                <a:uFillTx/>
                <a:latin typeface="微软雅黑" panose="020B0503020204020204" charset="-122"/>
                <a:ea typeface="微软雅黑" panose="020B0503020204020204" charset="-122"/>
                <a:cs typeface="微软雅黑" panose="020B0503020204020204" charset="-122"/>
                <a:sym typeface="Calibri" panose="020F0502020204030204"/>
              </a:rPr>
              <a:t>、数据大的维度包括少部分渠道数据、商机数据、变量衍生数据；</a:t>
            </a:r>
            <a:endParaRPr kumimoji="0" lang="zh-CN" altLang="en-US" sz="1800" b="0" i="0" u="none" strike="noStrike" cap="none" spc="0" normalizeH="0" baseline="0">
              <a:ln>
                <a:noFill/>
              </a:ln>
              <a:solidFill>
                <a:srgbClr val="000000"/>
              </a:solidFill>
              <a:effectLst/>
              <a:uFillTx/>
              <a:latin typeface="微软雅黑" panose="020B0503020204020204" charset="-122"/>
              <a:ea typeface="微软雅黑" panose="020B0503020204020204" charset="-122"/>
              <a:cs typeface="微软雅黑" panose="020B0503020204020204" charset="-122"/>
              <a:sym typeface="Calibri" panose="020F0502020204030204"/>
            </a:endParaRPr>
          </a:p>
          <a:p>
            <a:pPr marL="0" marR="0" indent="0" algn="l" defTabSz="914400" rtl="0" fontAlgn="auto" latinLnBrk="0" hangingPunct="0">
              <a:lnSpc>
                <a:spcPct val="150000"/>
              </a:lnSpc>
              <a:spcBef>
                <a:spcPts val="0"/>
              </a:spcBef>
              <a:spcAft>
                <a:spcPts val="0"/>
              </a:spcAft>
              <a:buClrTx/>
              <a:buSzTx/>
              <a:buFontTx/>
              <a:buNone/>
            </a:pPr>
            <a:r>
              <a:rPr kumimoji="0" lang="en-US" altLang="zh-CN" sz="1800" b="0" i="0" u="none" strike="noStrike" cap="none" spc="0" normalizeH="0" baseline="0">
                <a:ln>
                  <a:noFill/>
                </a:ln>
                <a:solidFill>
                  <a:srgbClr val="000000"/>
                </a:solidFill>
                <a:effectLst/>
                <a:uFillTx/>
                <a:latin typeface="微软雅黑" panose="020B0503020204020204" charset="-122"/>
                <a:ea typeface="微软雅黑" panose="020B0503020204020204" charset="-122"/>
                <a:cs typeface="微软雅黑" panose="020B0503020204020204" charset="-122"/>
                <a:sym typeface="Calibri" panose="020F0502020204030204"/>
              </a:rPr>
              <a:t>2</a:t>
            </a:r>
            <a:r>
              <a:rPr kumimoji="0" lang="zh-CN" altLang="en-US" sz="1800" b="0" i="0" u="none" strike="noStrike" cap="none" spc="0" normalizeH="0" baseline="0">
                <a:ln>
                  <a:noFill/>
                </a:ln>
                <a:solidFill>
                  <a:srgbClr val="000000"/>
                </a:solidFill>
                <a:effectLst/>
                <a:uFillTx/>
                <a:latin typeface="微软雅黑" panose="020B0503020204020204" charset="-122"/>
                <a:ea typeface="微软雅黑" panose="020B0503020204020204" charset="-122"/>
                <a:cs typeface="微软雅黑" panose="020B0503020204020204" charset="-122"/>
                <a:sym typeface="Calibri" panose="020F0502020204030204"/>
              </a:rPr>
              <a:t>、</a:t>
            </a:r>
            <a:r>
              <a:rPr kumimoji="0" lang="zh-CN" sz="1800" b="0" i="0" u="none" strike="noStrike" cap="none" spc="0" normalizeH="0" baseline="0">
                <a:ln>
                  <a:noFill/>
                </a:ln>
                <a:solidFill>
                  <a:srgbClr val="000000"/>
                </a:solidFill>
                <a:effectLst/>
                <a:uFillTx/>
                <a:latin typeface="微软雅黑" panose="020B0503020204020204" charset="-122"/>
                <a:ea typeface="微软雅黑" panose="020B0503020204020204" charset="-122"/>
                <a:cs typeface="微软雅黑" panose="020B0503020204020204" charset="-122"/>
                <a:sym typeface="Calibri" panose="020F0502020204030204"/>
              </a:rPr>
              <a:t>由于数据维度极少，前期花了较多的时间进行变量衍生</a:t>
            </a:r>
            <a:r>
              <a:rPr kumimoji="0" lang="zh-CN" altLang="en-US" sz="1800" b="0" i="0" u="none" strike="noStrike" cap="none" spc="0" normalizeH="0" baseline="0">
                <a:ln>
                  <a:noFill/>
                </a:ln>
                <a:solidFill>
                  <a:srgbClr val="000000"/>
                </a:solidFill>
                <a:effectLst/>
                <a:uFillTx/>
                <a:latin typeface="微软雅黑" panose="020B0503020204020204" charset="-122"/>
                <a:ea typeface="微软雅黑" panose="020B0503020204020204" charset="-122"/>
                <a:cs typeface="微软雅黑" panose="020B0503020204020204" charset="-122"/>
                <a:sym typeface="Calibri" panose="020F0502020204030204"/>
              </a:rPr>
              <a:t>；</a:t>
            </a:r>
            <a:endParaRPr kumimoji="0" lang="en-US" altLang="zh-CN" sz="1800" b="0" i="0" u="none" strike="noStrike" cap="none" spc="0" normalizeH="0" baseline="0">
              <a:ln>
                <a:noFill/>
              </a:ln>
              <a:solidFill>
                <a:srgbClr val="000000"/>
              </a:solidFill>
              <a:effectLst/>
              <a:uFillTx/>
              <a:latin typeface="微软雅黑" panose="020B0503020204020204" charset="-122"/>
              <a:ea typeface="微软雅黑" panose="020B0503020204020204" charset="-122"/>
              <a:cs typeface="微软雅黑" panose="020B0503020204020204" charset="-122"/>
              <a:sym typeface="Calibri" panose="020F0502020204030204"/>
            </a:endParaRPr>
          </a:p>
        </p:txBody>
      </p:sp>
      <p:sp>
        <p:nvSpPr>
          <p:cNvPr id="38" name="文本框 37"/>
          <p:cNvSpPr txBox="1"/>
          <p:nvPr/>
        </p:nvSpPr>
        <p:spPr>
          <a:xfrm>
            <a:off x="4799965" y="5229225"/>
            <a:ext cx="1727835" cy="335915"/>
          </a:xfrm>
          <a:prstGeom prst="rect">
            <a:avLst/>
          </a:prstGeom>
          <a:noFill/>
          <a:ln w="12700" cap="flat">
            <a:noFill/>
            <a:miter lim="400000"/>
          </a:ln>
        </p:spPr>
        <p:style>
          <a:lnRef idx="0">
            <a:srgbClr val="FFFFFF"/>
          </a:lnRef>
          <a:fillRef idx="0">
            <a:srgbClr val="FFFFFF"/>
          </a:fillRef>
          <a:effectRef idx="0">
            <a:srgbClr val="FFFFFF"/>
          </a:effectRef>
          <a:fontRef idx="none"/>
        </p:style>
        <p:txBody>
          <a:bodyPr rot="0" vertOverflow="overflow" horzOverflow="overflow" vert="horz" wrap="square" lIns="45719" tIns="45719" rIns="45719" bIns="45719" numCol="1" spcCol="38100" rtlCol="0" anchor="t" forceAA="0" upright="0">
            <a:spAutoFit/>
          </a:bodyPr>
          <a:p>
            <a:pPr marL="0" marR="0" indent="0" algn="l" defTabSz="914400" rtl="0" fontAlgn="auto" latinLnBrk="0" hangingPunct="0">
              <a:lnSpc>
                <a:spcPct val="100000"/>
              </a:lnSpc>
              <a:spcBef>
                <a:spcPts val="0"/>
              </a:spcBef>
              <a:spcAft>
                <a:spcPts val="0"/>
              </a:spcAft>
              <a:buClrTx/>
              <a:buSzTx/>
              <a:buFontTx/>
              <a:buNone/>
            </a:pPr>
            <a:r>
              <a:rPr kumimoji="0" lang="zh-CN" altLang="en-US" sz="1600" b="0" i="0" u="none" strike="noStrike" cap="none" spc="0" normalizeH="0" baseline="0">
                <a:ln>
                  <a:noFill/>
                </a:ln>
                <a:solidFill>
                  <a:srgbClr val="000000"/>
                </a:solidFill>
                <a:effectLst/>
                <a:uFillTx/>
                <a:latin typeface="微软雅黑" panose="020B0503020204020204" charset="-122"/>
                <a:ea typeface="微软雅黑" panose="020B0503020204020204" charset="-122"/>
                <a:cs typeface="+mj-cs"/>
                <a:sym typeface="Calibri" panose="020F0502020204030204"/>
              </a:rPr>
              <a:t>数据源</a:t>
            </a:r>
            <a:endParaRPr kumimoji="0" lang="zh-CN" altLang="en-US" sz="1600" b="0" i="0" u="none" strike="noStrike" cap="none" spc="0" normalizeH="0" baseline="0">
              <a:ln>
                <a:noFill/>
              </a:ln>
              <a:solidFill>
                <a:srgbClr val="000000"/>
              </a:solidFill>
              <a:effectLst/>
              <a:uFillTx/>
              <a:latin typeface="微软雅黑" panose="020B0503020204020204" charset="-122"/>
              <a:ea typeface="微软雅黑" panose="020B0503020204020204" charset="-122"/>
              <a:cs typeface="+mj-cs"/>
              <a:sym typeface="Calibri" panose="020F0502020204030204"/>
            </a:endParaRPr>
          </a:p>
        </p:txBody>
      </p:sp>
    </p:spTree>
  </p:cSld>
  <p:clrMapOvr>
    <a:masterClrMapping/>
  </p:clrMapOvr>
  <p:transition spd="med"/>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p:nvPr>
            <p:ph type="title"/>
          </p:nvPr>
        </p:nvSpPr>
        <p:spPr>
          <a:xfrm>
            <a:off x="335915" y="260985"/>
            <a:ext cx="10714355" cy="675005"/>
          </a:xfrm>
        </p:spPr>
        <p:txBody>
          <a:bodyPr>
            <a:normAutofit/>
          </a:bodyPr>
          <a:p>
            <a:r>
              <a:rPr lang="en-US" altLang="zh-CN" sz="3555"/>
              <a:t>3. </a:t>
            </a:r>
            <a:r>
              <a:rPr lang="zh-CN" altLang="en-US" sz="3555"/>
              <a:t>模型建立</a:t>
            </a:r>
            <a:r>
              <a:rPr lang="en-US" altLang="zh-CN" sz="3555"/>
              <a:t>-</a:t>
            </a:r>
            <a:r>
              <a:rPr lang="zh-CN" altLang="en-US" sz="3555"/>
              <a:t>数据维度</a:t>
            </a:r>
            <a:endParaRPr lang="zh-CN" altLang="en-US" sz="3555"/>
          </a:p>
        </p:txBody>
      </p:sp>
      <p:sp>
        <p:nvSpPr>
          <p:cNvPr id="25" name="文本框 24"/>
          <p:cNvSpPr txBox="1"/>
          <p:nvPr/>
        </p:nvSpPr>
        <p:spPr>
          <a:xfrm>
            <a:off x="695960" y="1125220"/>
            <a:ext cx="2288540" cy="459105"/>
          </a:xfrm>
          <a:prstGeom prst="rect">
            <a:avLst/>
          </a:prstGeom>
          <a:noFill/>
          <a:ln w="12700" cap="flat">
            <a:noFill/>
            <a:miter lim="400000"/>
          </a:ln>
        </p:spPr>
        <p:style>
          <a:lnRef idx="0">
            <a:srgbClr val="FFFFFF"/>
          </a:lnRef>
          <a:fillRef idx="0">
            <a:srgbClr val="FFFFFF"/>
          </a:fillRef>
          <a:effectRef idx="0">
            <a:srgbClr val="FFFFFF"/>
          </a:effectRef>
          <a:fontRef idx="none"/>
        </p:style>
        <p:txBody>
          <a:bodyPr rot="0" vertOverflow="overflow" horzOverflow="overflow" vert="horz" wrap="square" lIns="45719" tIns="45719" rIns="45719" bIns="45719" numCol="1" spcCol="38100" rtlCol="0" anchor="t" forceAA="0" upright="0">
            <a:spAutoFit/>
          </a:bodyPr>
          <a:p>
            <a:pPr marL="342900" marR="0" indent="-342900" algn="l" defTabSz="914400" rtl="0" fontAlgn="auto" latinLnBrk="0" hangingPunct="0">
              <a:lnSpc>
                <a:spcPct val="100000"/>
              </a:lnSpc>
              <a:spcBef>
                <a:spcPts val="0"/>
              </a:spcBef>
              <a:spcAft>
                <a:spcPts val="0"/>
              </a:spcAft>
              <a:buClrTx/>
              <a:buSzTx/>
              <a:buFont typeface="Wingdings" panose="05000000000000000000" charset="0"/>
              <a:buChar char="ü"/>
            </a:pPr>
            <a:r>
              <a:rPr kumimoji="0" lang="zh-CN" altLang="en-US" sz="2400" b="1" i="0" u="none" strike="noStrike" cap="none" spc="0" normalizeH="0" baseline="0">
                <a:ln>
                  <a:noFill/>
                </a:ln>
                <a:solidFill>
                  <a:srgbClr val="0564CD"/>
                </a:solidFill>
                <a:effectLst/>
                <a:uFillTx/>
                <a:latin typeface="微软雅黑" panose="020B0503020204020204" charset="-122"/>
                <a:ea typeface="微软雅黑" panose="020B0503020204020204" charset="-122"/>
                <a:cs typeface="微软雅黑" panose="020B0503020204020204" charset="-122"/>
                <a:sym typeface="Calibri" panose="020F0502020204030204"/>
              </a:rPr>
              <a:t>变量衍生</a:t>
            </a:r>
            <a:endParaRPr kumimoji="0" lang="zh-CN" altLang="en-US" sz="2400" b="1" i="0" u="none" strike="noStrike" cap="none" spc="0" normalizeH="0" baseline="0">
              <a:ln>
                <a:noFill/>
              </a:ln>
              <a:solidFill>
                <a:srgbClr val="0564CD"/>
              </a:solidFill>
              <a:effectLst/>
              <a:uFillTx/>
              <a:latin typeface="微软雅黑" panose="020B0503020204020204" charset="-122"/>
              <a:ea typeface="微软雅黑" panose="020B0503020204020204" charset="-122"/>
              <a:cs typeface="微软雅黑" panose="020B0503020204020204" charset="-122"/>
              <a:sym typeface="Calibri" panose="020F0502020204030204"/>
            </a:endParaRPr>
          </a:p>
        </p:txBody>
      </p:sp>
      <p:sp>
        <p:nvSpPr>
          <p:cNvPr id="33" name="文本框 32"/>
          <p:cNvSpPr txBox="1"/>
          <p:nvPr/>
        </p:nvSpPr>
        <p:spPr>
          <a:xfrm>
            <a:off x="983615" y="1917065"/>
            <a:ext cx="5457825" cy="2583180"/>
          </a:xfrm>
          <a:prstGeom prst="rect">
            <a:avLst/>
          </a:prstGeom>
          <a:noFill/>
          <a:ln w="12700" cap="flat">
            <a:noFill/>
            <a:miter lim="400000"/>
          </a:ln>
        </p:spPr>
        <p:style>
          <a:lnRef idx="0">
            <a:srgbClr val="FFFFFF"/>
          </a:lnRef>
          <a:fillRef idx="0">
            <a:srgbClr val="FFFFFF"/>
          </a:fillRef>
          <a:effectRef idx="0">
            <a:srgbClr val="FFFFFF"/>
          </a:effectRef>
          <a:fontRef idx="none"/>
        </p:style>
        <p:txBody>
          <a:bodyPr rot="0" vertOverflow="overflow" horzOverflow="overflow" vert="horz" wrap="square" lIns="45719" tIns="45719" rIns="45719" bIns="45719" numCol="1" spcCol="38100" rtlCol="0" anchor="t" forceAA="0" upright="0">
            <a:spAutoFit/>
          </a:bodyPr>
          <a:p>
            <a:pPr marL="0" marR="0" indent="0" algn="l" defTabSz="914400" rtl="0" fontAlgn="auto" latinLnBrk="0" hangingPunct="0">
              <a:lnSpc>
                <a:spcPct val="150000"/>
              </a:lnSpc>
              <a:spcBef>
                <a:spcPts val="0"/>
              </a:spcBef>
              <a:spcAft>
                <a:spcPts val="0"/>
              </a:spcAft>
              <a:buClrTx/>
              <a:buSzTx/>
              <a:buFontTx/>
              <a:buNone/>
            </a:pPr>
            <a:r>
              <a:rPr kumimoji="0" lang="en-US" altLang="zh-CN" sz="1800" b="0" i="0" u="none" strike="noStrike" cap="none" spc="0" normalizeH="0" baseline="0">
                <a:ln>
                  <a:noFill/>
                </a:ln>
                <a:solidFill>
                  <a:srgbClr val="000000"/>
                </a:solidFill>
                <a:effectLst/>
                <a:uFillTx/>
                <a:latin typeface="微软雅黑" panose="020B0503020204020204" charset="-122"/>
                <a:ea typeface="微软雅黑" panose="020B0503020204020204" charset="-122"/>
                <a:cs typeface="微软雅黑" panose="020B0503020204020204" charset="-122"/>
                <a:sym typeface="Calibri" panose="020F0502020204030204"/>
              </a:rPr>
              <a:t>1</a:t>
            </a:r>
            <a:r>
              <a:rPr kumimoji="0" lang="zh-CN" altLang="en-US" sz="1800" b="0" i="0" u="none" strike="noStrike" cap="none" spc="0" normalizeH="0" baseline="0">
                <a:ln>
                  <a:noFill/>
                </a:ln>
                <a:solidFill>
                  <a:srgbClr val="000000"/>
                </a:solidFill>
                <a:effectLst/>
                <a:uFillTx/>
                <a:latin typeface="微软雅黑" panose="020B0503020204020204" charset="-122"/>
                <a:ea typeface="微软雅黑" panose="020B0503020204020204" charset="-122"/>
                <a:cs typeface="微软雅黑" panose="020B0503020204020204" charset="-122"/>
                <a:sym typeface="Calibri" panose="020F0502020204030204"/>
              </a:rPr>
              <a:t>、此次模型应用场景是在</a:t>
            </a:r>
            <a:r>
              <a:rPr kumimoji="0" lang="zh-CN" altLang="en-US" sz="1800" b="1" i="0" u="none" strike="noStrike" cap="none" spc="0" normalizeH="0" baseline="0">
                <a:ln>
                  <a:noFill/>
                </a:ln>
                <a:solidFill>
                  <a:srgbClr val="000000"/>
                </a:solidFill>
                <a:effectLst/>
                <a:uFillTx/>
                <a:latin typeface="微软雅黑" panose="020B0503020204020204" charset="-122"/>
                <a:ea typeface="微软雅黑" panose="020B0503020204020204" charset="-122"/>
                <a:cs typeface="微软雅黑" panose="020B0503020204020204" charset="-122"/>
                <a:sym typeface="Calibri" panose="020F0502020204030204"/>
              </a:rPr>
              <a:t>商机分配之前</a:t>
            </a:r>
            <a:r>
              <a:rPr kumimoji="0" lang="zh-CN" altLang="en-US" sz="1800" b="0" i="0" u="none" strike="noStrike" cap="none" spc="0" normalizeH="0" baseline="0">
                <a:ln>
                  <a:noFill/>
                </a:ln>
                <a:solidFill>
                  <a:srgbClr val="000000"/>
                </a:solidFill>
                <a:effectLst/>
                <a:uFillTx/>
                <a:latin typeface="微软雅黑" panose="020B0503020204020204" charset="-122"/>
                <a:ea typeface="微软雅黑" panose="020B0503020204020204" charset="-122"/>
                <a:cs typeface="微软雅黑" panose="020B0503020204020204" charset="-122"/>
                <a:sym typeface="Calibri" panose="020F0502020204030204"/>
              </a:rPr>
              <a:t>，数据维度较少；</a:t>
            </a:r>
            <a:endParaRPr kumimoji="0" lang="zh-CN" altLang="en-US" sz="1800" b="0" i="0" u="none" strike="noStrike" cap="none" spc="0" normalizeH="0" baseline="0">
              <a:ln>
                <a:noFill/>
              </a:ln>
              <a:solidFill>
                <a:srgbClr val="000000"/>
              </a:solidFill>
              <a:effectLst/>
              <a:uFillTx/>
              <a:latin typeface="微软雅黑" panose="020B0503020204020204" charset="-122"/>
              <a:ea typeface="微软雅黑" panose="020B0503020204020204" charset="-122"/>
              <a:cs typeface="微软雅黑" panose="020B0503020204020204" charset="-122"/>
              <a:sym typeface="Calibri" panose="020F0502020204030204"/>
            </a:endParaRPr>
          </a:p>
          <a:p>
            <a:pPr marL="0" marR="0" indent="0" algn="l" defTabSz="914400" rtl="0" fontAlgn="auto" latinLnBrk="0" hangingPunct="0">
              <a:lnSpc>
                <a:spcPct val="150000"/>
              </a:lnSpc>
              <a:spcBef>
                <a:spcPts val="0"/>
              </a:spcBef>
              <a:spcAft>
                <a:spcPts val="0"/>
              </a:spcAft>
              <a:buClrTx/>
              <a:buSzTx/>
              <a:buFontTx/>
              <a:buNone/>
            </a:pPr>
            <a:r>
              <a:rPr kumimoji="0" lang="en-US" altLang="zh-CN" sz="1800" b="0" i="0" u="none" strike="noStrike" cap="none" spc="0" normalizeH="0" baseline="0">
                <a:ln>
                  <a:noFill/>
                </a:ln>
                <a:solidFill>
                  <a:srgbClr val="000000"/>
                </a:solidFill>
                <a:effectLst/>
                <a:uFillTx/>
                <a:latin typeface="微软雅黑" panose="020B0503020204020204" charset="-122"/>
                <a:ea typeface="微软雅黑" panose="020B0503020204020204" charset="-122"/>
                <a:cs typeface="微软雅黑" panose="020B0503020204020204" charset="-122"/>
                <a:sym typeface="Calibri" panose="020F0502020204030204"/>
              </a:rPr>
              <a:t>2</a:t>
            </a:r>
            <a:r>
              <a:rPr kumimoji="0" lang="zh-CN" altLang="en-US" sz="1800" b="0" i="0" u="none" strike="noStrike" cap="none" spc="0" normalizeH="0" baseline="0">
                <a:ln>
                  <a:noFill/>
                </a:ln>
                <a:solidFill>
                  <a:srgbClr val="000000"/>
                </a:solidFill>
                <a:effectLst/>
                <a:uFillTx/>
                <a:latin typeface="微软雅黑" panose="020B0503020204020204" charset="-122"/>
                <a:ea typeface="微软雅黑" panose="020B0503020204020204" charset="-122"/>
                <a:cs typeface="微软雅黑" panose="020B0503020204020204" charset="-122"/>
                <a:sym typeface="Calibri" panose="020F0502020204030204"/>
              </a:rPr>
              <a:t>、部分数据（比如商机描述）存在</a:t>
            </a:r>
            <a:r>
              <a:rPr kumimoji="0" lang="zh-CN" altLang="en-US" sz="1800" b="1" i="0" u="none" strike="noStrike" cap="none" spc="0" normalizeH="0" baseline="0">
                <a:ln>
                  <a:noFill/>
                </a:ln>
                <a:solidFill>
                  <a:srgbClr val="000000"/>
                </a:solidFill>
                <a:effectLst/>
                <a:uFillTx/>
                <a:latin typeface="微软雅黑" panose="020B0503020204020204" charset="-122"/>
                <a:ea typeface="微软雅黑" panose="020B0503020204020204" charset="-122"/>
                <a:cs typeface="微软雅黑" panose="020B0503020204020204" charset="-122"/>
                <a:sym typeface="Calibri" panose="020F0502020204030204"/>
              </a:rPr>
              <a:t>不规范</a:t>
            </a:r>
            <a:r>
              <a:rPr kumimoji="0" lang="zh-CN" altLang="en-US" sz="1800" b="0" i="0" u="none" strike="noStrike" cap="none" spc="0" normalizeH="0" baseline="0">
                <a:ln>
                  <a:noFill/>
                </a:ln>
                <a:solidFill>
                  <a:srgbClr val="000000"/>
                </a:solidFill>
                <a:effectLst/>
                <a:uFillTx/>
                <a:latin typeface="微软雅黑" panose="020B0503020204020204" charset="-122"/>
                <a:ea typeface="微软雅黑" panose="020B0503020204020204" charset="-122"/>
                <a:cs typeface="微软雅黑" panose="020B0503020204020204" charset="-122"/>
                <a:sym typeface="Calibri" panose="020F0502020204030204"/>
              </a:rPr>
              <a:t>的情况，包括用词不一、填写格式不一、范围划分不一、标点符号不一等等；</a:t>
            </a:r>
            <a:endParaRPr kumimoji="0" lang="zh-CN" altLang="en-US" sz="1800" b="0" i="0" u="none" strike="noStrike" cap="none" spc="0" normalizeH="0" baseline="0">
              <a:ln>
                <a:noFill/>
              </a:ln>
              <a:solidFill>
                <a:srgbClr val="000000"/>
              </a:solidFill>
              <a:effectLst/>
              <a:uFillTx/>
              <a:latin typeface="微软雅黑" panose="020B0503020204020204" charset="-122"/>
              <a:ea typeface="微软雅黑" panose="020B0503020204020204" charset="-122"/>
              <a:cs typeface="微软雅黑" panose="020B0503020204020204" charset="-122"/>
              <a:sym typeface="Calibri" panose="020F0502020204030204"/>
            </a:endParaRPr>
          </a:p>
          <a:p>
            <a:pPr marL="0" marR="0" indent="0" algn="l" defTabSz="914400" rtl="0" fontAlgn="auto" latinLnBrk="0" hangingPunct="0">
              <a:lnSpc>
                <a:spcPct val="150000"/>
              </a:lnSpc>
              <a:spcBef>
                <a:spcPts val="0"/>
              </a:spcBef>
              <a:spcAft>
                <a:spcPts val="0"/>
              </a:spcAft>
              <a:buClrTx/>
              <a:buSzTx/>
              <a:buFontTx/>
              <a:buNone/>
            </a:pPr>
            <a:r>
              <a:rPr kumimoji="0" lang="en-US" altLang="zh-CN" sz="1800" b="0" i="0" u="none" strike="noStrike" cap="none" spc="0" normalizeH="0" baseline="0">
                <a:ln>
                  <a:noFill/>
                </a:ln>
                <a:solidFill>
                  <a:srgbClr val="000000"/>
                </a:solidFill>
                <a:effectLst/>
                <a:uFillTx/>
                <a:latin typeface="微软雅黑" panose="020B0503020204020204" charset="-122"/>
                <a:ea typeface="微软雅黑" panose="020B0503020204020204" charset="-122"/>
                <a:cs typeface="微软雅黑" panose="020B0503020204020204" charset="-122"/>
                <a:sym typeface="Calibri" panose="020F0502020204030204"/>
              </a:rPr>
              <a:t>3</a:t>
            </a:r>
            <a:r>
              <a:rPr kumimoji="0" lang="zh-CN" altLang="en-US" sz="1800" b="0" i="0" u="none" strike="noStrike" cap="none" spc="0" normalizeH="0" baseline="0">
                <a:ln>
                  <a:noFill/>
                </a:ln>
                <a:solidFill>
                  <a:srgbClr val="000000"/>
                </a:solidFill>
                <a:effectLst/>
                <a:uFillTx/>
                <a:latin typeface="微软雅黑" panose="020B0503020204020204" charset="-122"/>
                <a:ea typeface="微软雅黑" panose="020B0503020204020204" charset="-122"/>
                <a:cs typeface="微软雅黑" panose="020B0503020204020204" charset="-122"/>
                <a:sym typeface="Calibri" panose="020F0502020204030204"/>
              </a:rPr>
              <a:t>、</a:t>
            </a:r>
            <a:r>
              <a:rPr kumimoji="0" lang="zh-CN" altLang="en-US" sz="1800" b="1" i="0" u="none" strike="noStrike" cap="none" spc="0" normalizeH="0" baseline="0">
                <a:ln>
                  <a:noFill/>
                </a:ln>
                <a:solidFill>
                  <a:srgbClr val="000000"/>
                </a:solidFill>
                <a:effectLst/>
                <a:uFillTx/>
                <a:latin typeface="微软雅黑" panose="020B0503020204020204" charset="-122"/>
                <a:ea typeface="微软雅黑" panose="020B0503020204020204" charset="-122"/>
                <a:cs typeface="微软雅黑" panose="020B0503020204020204" charset="-122"/>
                <a:sym typeface="Calibri" panose="020F0502020204030204"/>
              </a:rPr>
              <a:t>需要进行较多变量衍生与特征工程工作；</a:t>
            </a:r>
            <a:endParaRPr kumimoji="0" lang="zh-CN" altLang="en-US" sz="1800" b="1" i="0" u="none" strike="noStrike" cap="none" spc="0" normalizeH="0" baseline="0">
              <a:ln>
                <a:noFill/>
              </a:ln>
              <a:solidFill>
                <a:srgbClr val="000000"/>
              </a:solidFill>
              <a:effectLst/>
              <a:uFillTx/>
              <a:latin typeface="微软雅黑" panose="020B0503020204020204" charset="-122"/>
              <a:ea typeface="微软雅黑" panose="020B0503020204020204" charset="-122"/>
              <a:cs typeface="微软雅黑" panose="020B0503020204020204" charset="-122"/>
              <a:sym typeface="Calibri" panose="020F0502020204030204"/>
            </a:endParaRPr>
          </a:p>
        </p:txBody>
      </p:sp>
      <p:pic>
        <p:nvPicPr>
          <p:cNvPr id="4" name="图片 3" descr="desc"/>
          <p:cNvPicPr>
            <a:picLocks noChangeAspect="1"/>
          </p:cNvPicPr>
          <p:nvPr/>
        </p:nvPicPr>
        <p:blipFill>
          <a:blip r:embed="rId1"/>
          <a:stretch>
            <a:fillRect/>
          </a:stretch>
        </p:blipFill>
        <p:spPr>
          <a:xfrm>
            <a:off x="6528435" y="1584325"/>
            <a:ext cx="5097780" cy="4491990"/>
          </a:xfrm>
          <a:prstGeom prst="rect">
            <a:avLst/>
          </a:prstGeom>
        </p:spPr>
      </p:pic>
    </p:spTree>
  </p:cSld>
  <p:clrMapOvr>
    <a:masterClrMapping/>
  </p:clrMapOvr>
  <p:transition spd="med"/>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p:nvPr>
            <p:ph type="title"/>
          </p:nvPr>
        </p:nvSpPr>
        <p:spPr>
          <a:xfrm>
            <a:off x="335915" y="260985"/>
            <a:ext cx="10714355" cy="675005"/>
          </a:xfrm>
        </p:spPr>
        <p:txBody>
          <a:bodyPr>
            <a:normAutofit/>
          </a:bodyPr>
          <a:p>
            <a:r>
              <a:rPr lang="en-US" altLang="zh-CN" sz="3555"/>
              <a:t>3. </a:t>
            </a:r>
            <a:r>
              <a:rPr lang="zh-CN" altLang="en-US" sz="3555"/>
              <a:t>模型建立</a:t>
            </a:r>
            <a:r>
              <a:rPr lang="en-US" altLang="zh-CN" sz="3555"/>
              <a:t>-</a:t>
            </a:r>
            <a:r>
              <a:rPr lang="zh-CN" altLang="en-US" sz="3555"/>
              <a:t>数据维度</a:t>
            </a:r>
            <a:endParaRPr lang="zh-CN" altLang="en-US" sz="3555"/>
          </a:p>
        </p:txBody>
      </p:sp>
      <p:sp>
        <p:nvSpPr>
          <p:cNvPr id="25" name="文本框 24"/>
          <p:cNvSpPr txBox="1"/>
          <p:nvPr/>
        </p:nvSpPr>
        <p:spPr>
          <a:xfrm>
            <a:off x="695960" y="1125220"/>
            <a:ext cx="2288540" cy="459105"/>
          </a:xfrm>
          <a:prstGeom prst="rect">
            <a:avLst/>
          </a:prstGeom>
          <a:noFill/>
          <a:ln w="12700" cap="flat">
            <a:noFill/>
            <a:miter lim="400000"/>
          </a:ln>
        </p:spPr>
        <p:style>
          <a:lnRef idx="0">
            <a:srgbClr val="FFFFFF"/>
          </a:lnRef>
          <a:fillRef idx="0">
            <a:srgbClr val="FFFFFF"/>
          </a:fillRef>
          <a:effectRef idx="0">
            <a:srgbClr val="FFFFFF"/>
          </a:effectRef>
          <a:fontRef idx="none"/>
        </p:style>
        <p:txBody>
          <a:bodyPr rot="0" vertOverflow="overflow" horzOverflow="overflow" vert="horz" wrap="square" lIns="45719" tIns="45719" rIns="45719" bIns="45719" numCol="1" spcCol="38100" rtlCol="0" anchor="t" forceAA="0" upright="0">
            <a:spAutoFit/>
          </a:bodyPr>
          <a:p>
            <a:pPr marL="342900" marR="0" indent="-342900" algn="l" defTabSz="914400" rtl="0" fontAlgn="auto" latinLnBrk="0" hangingPunct="0">
              <a:lnSpc>
                <a:spcPct val="100000"/>
              </a:lnSpc>
              <a:spcBef>
                <a:spcPts val="0"/>
              </a:spcBef>
              <a:spcAft>
                <a:spcPts val="0"/>
              </a:spcAft>
              <a:buClrTx/>
              <a:buSzTx/>
              <a:buFont typeface="Wingdings" panose="05000000000000000000" charset="0"/>
              <a:buChar char="ü"/>
            </a:pPr>
            <a:r>
              <a:rPr kumimoji="0" lang="zh-CN" altLang="en-US" sz="2400" b="1" i="0" u="none" strike="noStrike" cap="none" spc="0" normalizeH="0" baseline="0">
                <a:ln>
                  <a:noFill/>
                </a:ln>
                <a:solidFill>
                  <a:srgbClr val="0564CD"/>
                </a:solidFill>
                <a:effectLst/>
                <a:uFillTx/>
                <a:latin typeface="微软雅黑" panose="020B0503020204020204" charset="-122"/>
                <a:ea typeface="微软雅黑" panose="020B0503020204020204" charset="-122"/>
                <a:cs typeface="微软雅黑" panose="020B0503020204020204" charset="-122"/>
                <a:sym typeface="Calibri" panose="020F0502020204030204"/>
              </a:rPr>
              <a:t>变量衍生</a:t>
            </a:r>
            <a:endParaRPr kumimoji="0" lang="zh-CN" altLang="en-US" sz="2400" b="1" i="0" u="none" strike="noStrike" cap="none" spc="0" normalizeH="0" baseline="0">
              <a:ln>
                <a:noFill/>
              </a:ln>
              <a:solidFill>
                <a:srgbClr val="0564CD"/>
              </a:solidFill>
              <a:effectLst/>
              <a:uFillTx/>
              <a:latin typeface="微软雅黑" panose="020B0503020204020204" charset="-122"/>
              <a:ea typeface="微软雅黑" panose="020B0503020204020204" charset="-122"/>
              <a:cs typeface="微软雅黑" panose="020B0503020204020204" charset="-122"/>
              <a:sym typeface="Calibri" panose="020F0502020204030204"/>
            </a:endParaRPr>
          </a:p>
        </p:txBody>
      </p:sp>
      <p:pic>
        <p:nvPicPr>
          <p:cNvPr id="5" name="图片 4" descr="kx_feas"/>
          <p:cNvPicPr>
            <a:picLocks noChangeAspect="1"/>
          </p:cNvPicPr>
          <p:nvPr/>
        </p:nvPicPr>
        <p:blipFill>
          <a:blip r:embed="rId1"/>
          <a:stretch>
            <a:fillRect/>
          </a:stretch>
        </p:blipFill>
        <p:spPr>
          <a:xfrm>
            <a:off x="551815" y="2134235"/>
            <a:ext cx="8093075" cy="4018280"/>
          </a:xfrm>
          <a:prstGeom prst="rect">
            <a:avLst/>
          </a:prstGeom>
        </p:spPr>
      </p:pic>
      <p:sp>
        <p:nvSpPr>
          <p:cNvPr id="6" name="文本框 5"/>
          <p:cNvSpPr txBox="1"/>
          <p:nvPr/>
        </p:nvSpPr>
        <p:spPr>
          <a:xfrm>
            <a:off x="983615" y="1628775"/>
            <a:ext cx="5457825" cy="505460"/>
          </a:xfrm>
          <a:prstGeom prst="rect">
            <a:avLst/>
          </a:prstGeom>
          <a:noFill/>
          <a:ln w="12700" cap="flat">
            <a:noFill/>
            <a:miter lim="400000"/>
          </a:ln>
        </p:spPr>
        <p:style>
          <a:lnRef idx="0">
            <a:srgbClr val="FFFFFF"/>
          </a:lnRef>
          <a:fillRef idx="0">
            <a:srgbClr val="FFFFFF"/>
          </a:fillRef>
          <a:effectRef idx="0">
            <a:srgbClr val="FFFFFF"/>
          </a:effectRef>
          <a:fontRef idx="none"/>
        </p:style>
        <p:txBody>
          <a:bodyPr rot="0" vertOverflow="overflow" horzOverflow="overflow" vert="horz" wrap="square" lIns="45719" tIns="45719" rIns="45719" bIns="45719" numCol="1" spcCol="38100" rtlCol="0" anchor="t" forceAA="0" upright="0">
            <a:spAutoFit/>
          </a:bodyPr>
          <a:p>
            <a:pPr marL="0" marR="0" indent="0" algn="l" defTabSz="914400" rtl="0" fontAlgn="auto" latinLnBrk="0" hangingPunct="0">
              <a:lnSpc>
                <a:spcPct val="150000"/>
              </a:lnSpc>
              <a:spcBef>
                <a:spcPts val="0"/>
              </a:spcBef>
              <a:spcAft>
                <a:spcPts val="0"/>
              </a:spcAft>
              <a:buClrTx/>
              <a:buSzTx/>
              <a:buFontTx/>
              <a:buNone/>
            </a:pPr>
            <a:r>
              <a:rPr kumimoji="0" lang="zh-CN" altLang="en-US" sz="1800" b="0" i="0" u="none" strike="noStrike" cap="none" spc="0" normalizeH="0" baseline="0">
                <a:ln>
                  <a:noFill/>
                </a:ln>
                <a:solidFill>
                  <a:srgbClr val="000000"/>
                </a:solidFill>
                <a:effectLst/>
                <a:uFillTx/>
                <a:latin typeface="微软雅黑" panose="020B0503020204020204" charset="-122"/>
                <a:ea typeface="微软雅黑" panose="020B0503020204020204" charset="-122"/>
                <a:cs typeface="微软雅黑" panose="020B0503020204020204" charset="-122"/>
                <a:sym typeface="Calibri" panose="020F0502020204030204"/>
              </a:rPr>
              <a:t>总共衍生</a:t>
            </a:r>
            <a:r>
              <a:rPr kumimoji="0" lang="en-US" altLang="zh-CN" sz="1800" b="1" i="0" u="none" strike="noStrike" cap="none" spc="0" normalizeH="0" baseline="0">
                <a:ln>
                  <a:noFill/>
                </a:ln>
                <a:solidFill>
                  <a:srgbClr val="000000"/>
                </a:solidFill>
                <a:effectLst/>
                <a:uFillTx/>
                <a:latin typeface="微软雅黑" panose="020B0503020204020204" charset="-122"/>
                <a:ea typeface="微软雅黑" panose="020B0503020204020204" charset="-122"/>
                <a:cs typeface="微软雅黑" panose="020B0503020204020204" charset="-122"/>
                <a:sym typeface="Calibri" panose="020F0502020204030204"/>
              </a:rPr>
              <a:t>29(</a:t>
            </a:r>
            <a:r>
              <a:rPr kumimoji="0" lang="zh-CN" altLang="en-US" sz="1800" b="1" i="0" u="none" strike="noStrike" cap="none" spc="0" normalizeH="0" baseline="0">
                <a:ln>
                  <a:noFill/>
                </a:ln>
                <a:solidFill>
                  <a:srgbClr val="000000"/>
                </a:solidFill>
                <a:effectLst/>
                <a:uFillTx/>
                <a:latin typeface="微软雅黑" panose="020B0503020204020204" charset="-122"/>
                <a:ea typeface="微软雅黑" panose="020B0503020204020204" charset="-122"/>
                <a:cs typeface="微软雅黑" panose="020B0503020204020204" charset="-122"/>
                <a:sym typeface="Calibri" panose="020F0502020204030204"/>
              </a:rPr>
              <a:t>商机</a:t>
            </a:r>
            <a:r>
              <a:rPr kumimoji="0" lang="en-US" altLang="zh-CN" sz="1800" b="1" i="0" u="none" strike="noStrike" cap="none" spc="0" normalizeH="0" baseline="0">
                <a:ln>
                  <a:noFill/>
                </a:ln>
                <a:solidFill>
                  <a:srgbClr val="000000"/>
                </a:solidFill>
                <a:effectLst/>
                <a:uFillTx/>
                <a:latin typeface="微软雅黑" panose="020B0503020204020204" charset="-122"/>
                <a:ea typeface="微软雅黑" panose="020B0503020204020204" charset="-122"/>
                <a:cs typeface="微软雅黑" panose="020B0503020204020204" charset="-122"/>
                <a:sym typeface="Calibri" panose="020F0502020204030204"/>
              </a:rPr>
              <a:t>)+69(</a:t>
            </a:r>
            <a:r>
              <a:rPr kumimoji="0" lang="zh-CN" altLang="en-US" sz="1800" b="1" i="0" u="none" strike="noStrike" cap="none" spc="0" normalizeH="0" baseline="0">
                <a:ln>
                  <a:noFill/>
                </a:ln>
                <a:solidFill>
                  <a:srgbClr val="000000"/>
                </a:solidFill>
                <a:effectLst/>
                <a:uFillTx/>
                <a:latin typeface="微软雅黑" panose="020B0503020204020204" charset="-122"/>
                <a:ea typeface="微软雅黑" panose="020B0503020204020204" charset="-122"/>
                <a:cs typeface="微软雅黑" panose="020B0503020204020204" charset="-122"/>
                <a:sym typeface="Calibri" panose="020F0502020204030204"/>
              </a:rPr>
              <a:t>渠道</a:t>
            </a:r>
            <a:r>
              <a:rPr kumimoji="0" lang="en-US" altLang="zh-CN" sz="1800" b="1" i="0" u="none" strike="noStrike" cap="none" spc="0" normalizeH="0" baseline="0">
                <a:ln>
                  <a:noFill/>
                </a:ln>
                <a:solidFill>
                  <a:srgbClr val="000000"/>
                </a:solidFill>
                <a:effectLst/>
                <a:uFillTx/>
                <a:latin typeface="微软雅黑" panose="020B0503020204020204" charset="-122"/>
                <a:ea typeface="微软雅黑" panose="020B0503020204020204" charset="-122"/>
                <a:cs typeface="微软雅黑" panose="020B0503020204020204" charset="-122"/>
                <a:sym typeface="Calibri" panose="020F0502020204030204"/>
              </a:rPr>
              <a:t>)=98</a:t>
            </a:r>
            <a:r>
              <a:rPr kumimoji="0" lang="zh-CN" altLang="en-US" sz="1800" b="1" i="0" u="none" strike="noStrike" cap="none" spc="0" normalizeH="0" baseline="0">
                <a:ln>
                  <a:noFill/>
                </a:ln>
                <a:solidFill>
                  <a:srgbClr val="000000"/>
                </a:solidFill>
                <a:effectLst/>
                <a:uFillTx/>
                <a:latin typeface="微软雅黑" panose="020B0503020204020204" charset="-122"/>
                <a:ea typeface="微软雅黑" panose="020B0503020204020204" charset="-122"/>
                <a:cs typeface="微软雅黑" panose="020B0503020204020204" charset="-122"/>
                <a:sym typeface="Calibri" panose="020F0502020204030204"/>
              </a:rPr>
              <a:t>个变量</a:t>
            </a:r>
            <a:r>
              <a:rPr kumimoji="0" lang="zh-CN" altLang="en-US" sz="1800" b="0" i="0" u="none" strike="noStrike" cap="none" spc="0" normalizeH="0" baseline="0">
                <a:ln>
                  <a:noFill/>
                </a:ln>
                <a:solidFill>
                  <a:srgbClr val="000000"/>
                </a:solidFill>
                <a:effectLst/>
                <a:uFillTx/>
                <a:latin typeface="微软雅黑" panose="020B0503020204020204" charset="-122"/>
                <a:ea typeface="微软雅黑" panose="020B0503020204020204" charset="-122"/>
                <a:cs typeface="微软雅黑" panose="020B0503020204020204" charset="-122"/>
                <a:sym typeface="Calibri" panose="020F0502020204030204"/>
              </a:rPr>
              <a:t>；</a:t>
            </a:r>
            <a:endParaRPr kumimoji="0" lang="en-US" altLang="zh-CN" sz="1800" b="0" i="0" u="none" strike="noStrike" cap="none" spc="0" normalizeH="0" baseline="0">
              <a:ln>
                <a:noFill/>
              </a:ln>
              <a:solidFill>
                <a:srgbClr val="000000"/>
              </a:solidFill>
              <a:effectLst/>
              <a:uFillTx/>
              <a:latin typeface="微软雅黑" panose="020B0503020204020204" charset="-122"/>
              <a:ea typeface="微软雅黑" panose="020B0503020204020204" charset="-122"/>
              <a:cs typeface="微软雅黑" panose="020B0503020204020204" charset="-122"/>
              <a:sym typeface="Calibri" panose="020F0502020204030204"/>
            </a:endParaRPr>
          </a:p>
        </p:txBody>
      </p:sp>
      <p:pic>
        <p:nvPicPr>
          <p:cNvPr id="7" name="图片 6" descr="kx_渠道_feas"/>
          <p:cNvPicPr>
            <a:picLocks noChangeAspect="1"/>
          </p:cNvPicPr>
          <p:nvPr/>
        </p:nvPicPr>
        <p:blipFill>
          <a:blip r:embed="rId2"/>
          <a:stretch>
            <a:fillRect/>
          </a:stretch>
        </p:blipFill>
        <p:spPr>
          <a:xfrm>
            <a:off x="8832850" y="1125220"/>
            <a:ext cx="2547620" cy="5521960"/>
          </a:xfrm>
          <a:prstGeom prst="rect">
            <a:avLst/>
          </a:prstGeom>
        </p:spPr>
      </p:pic>
      <p:graphicFrame>
        <p:nvGraphicFramePr>
          <p:cNvPr id="9" name="对象 8">
            <a:hlinkClick r:id="" action="ppaction://ole?verb="/>
          </p:cNvPr>
          <p:cNvGraphicFramePr>
            <a:graphicFrameLocks noChangeAspect="1"/>
          </p:cNvGraphicFramePr>
          <p:nvPr/>
        </p:nvGraphicFramePr>
        <p:xfrm>
          <a:off x="5422900" y="1125220"/>
          <a:ext cx="971550" cy="952500"/>
        </p:xfrm>
        <a:graphic>
          <a:graphicData uri="http://schemas.openxmlformats.org/presentationml/2006/ole">
            <mc:AlternateContent xmlns:mc="http://schemas.openxmlformats.org/markup-compatibility/2006">
              <mc:Choice xmlns:v="urn:schemas-microsoft-com:vml" Requires="v">
                <p:oleObj spid="_x0000_s1026" name="" showAsIcon="1" r:id="rId3" imgW="971550" imgH="952500" progId="Package">
                  <p:embed/>
                </p:oleObj>
              </mc:Choice>
              <mc:Fallback>
                <p:oleObj name="" showAsIcon="1" r:id="rId3" imgW="971550" imgH="952500" progId="Package">
                  <p:embed/>
                  <p:pic>
                    <p:nvPicPr>
                      <p:cNvPr id="0" name="图片 1025"/>
                      <p:cNvPicPr/>
                      <p:nvPr/>
                    </p:nvPicPr>
                    <p:blipFill>
                      <a:blip r:embed="rId4"/>
                      <a:stretch>
                        <a:fillRect/>
                      </a:stretch>
                    </p:blipFill>
                    <p:spPr>
                      <a:xfrm>
                        <a:off x="5422900" y="1125220"/>
                        <a:ext cx="971550" cy="952500"/>
                      </a:xfrm>
                      <a:prstGeom prst="rect">
                        <a:avLst/>
                      </a:prstGeom>
                    </p:spPr>
                  </p:pic>
                </p:oleObj>
              </mc:Fallback>
            </mc:AlternateContent>
          </a:graphicData>
        </a:graphic>
      </p:graphicFrame>
    </p:spTree>
  </p:cSld>
  <p:clrMapOvr>
    <a:masterClrMapping/>
  </p:clrMapOvr>
  <p:transition spd="med"/>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p:nvPr>
            <p:ph type="title"/>
          </p:nvPr>
        </p:nvSpPr>
        <p:spPr>
          <a:xfrm>
            <a:off x="335915" y="260985"/>
            <a:ext cx="10714355" cy="675005"/>
          </a:xfrm>
        </p:spPr>
        <p:txBody>
          <a:bodyPr>
            <a:normAutofit/>
          </a:bodyPr>
          <a:p>
            <a:r>
              <a:rPr lang="en-US" altLang="zh-CN" sz="3555"/>
              <a:t>3. </a:t>
            </a:r>
            <a:r>
              <a:rPr lang="zh-CN" altLang="en-US" sz="3555"/>
              <a:t>模型建立</a:t>
            </a:r>
            <a:r>
              <a:rPr lang="en-US" altLang="zh-CN" sz="3555"/>
              <a:t>-</a:t>
            </a:r>
            <a:r>
              <a:rPr lang="zh-CN" altLang="en-US" sz="3555"/>
              <a:t>数据维度</a:t>
            </a:r>
            <a:endParaRPr lang="zh-CN" altLang="en-US" sz="3555"/>
          </a:p>
        </p:txBody>
      </p:sp>
      <p:sp>
        <p:nvSpPr>
          <p:cNvPr id="25" name="文本框 24"/>
          <p:cNvSpPr txBox="1"/>
          <p:nvPr/>
        </p:nvSpPr>
        <p:spPr>
          <a:xfrm>
            <a:off x="695960" y="1125220"/>
            <a:ext cx="4869180" cy="459105"/>
          </a:xfrm>
          <a:prstGeom prst="rect">
            <a:avLst/>
          </a:prstGeom>
          <a:noFill/>
          <a:ln w="12700" cap="flat">
            <a:noFill/>
            <a:miter lim="400000"/>
          </a:ln>
        </p:spPr>
        <p:style>
          <a:lnRef idx="0">
            <a:srgbClr val="FFFFFF"/>
          </a:lnRef>
          <a:fillRef idx="0">
            <a:srgbClr val="FFFFFF"/>
          </a:fillRef>
          <a:effectRef idx="0">
            <a:srgbClr val="FFFFFF"/>
          </a:effectRef>
          <a:fontRef idx="none"/>
        </p:style>
        <p:txBody>
          <a:bodyPr rot="0" vertOverflow="overflow" horzOverflow="overflow" vert="horz" wrap="square" lIns="45719" tIns="45719" rIns="45719" bIns="45719" numCol="1" spcCol="38100" rtlCol="0" anchor="t" forceAA="0" upright="0">
            <a:spAutoFit/>
          </a:bodyPr>
          <a:p>
            <a:pPr marL="342900" marR="0" indent="-342900" algn="l" defTabSz="914400" rtl="0" fontAlgn="auto" latinLnBrk="0" hangingPunct="0">
              <a:lnSpc>
                <a:spcPct val="100000"/>
              </a:lnSpc>
              <a:spcBef>
                <a:spcPts val="0"/>
              </a:spcBef>
              <a:spcAft>
                <a:spcPts val="0"/>
              </a:spcAft>
              <a:buClrTx/>
              <a:buSzTx/>
              <a:buFont typeface="Wingdings" panose="05000000000000000000" charset="0"/>
              <a:buChar char="ü"/>
            </a:pPr>
            <a:r>
              <a:rPr kumimoji="0" lang="zh-CN" altLang="en-US" sz="2400" b="1" i="0" u="none" strike="noStrike" cap="none" spc="0" normalizeH="0" baseline="0">
                <a:ln>
                  <a:noFill/>
                </a:ln>
                <a:solidFill>
                  <a:srgbClr val="0564CD"/>
                </a:solidFill>
                <a:effectLst/>
                <a:uFillTx/>
                <a:latin typeface="微软雅黑" panose="020B0503020204020204" charset="-122"/>
                <a:ea typeface="微软雅黑" panose="020B0503020204020204" charset="-122"/>
                <a:cs typeface="微软雅黑" panose="020B0503020204020204" charset="-122"/>
                <a:sym typeface="Calibri" panose="020F0502020204030204"/>
              </a:rPr>
              <a:t>变量衍生（年龄、性别举例）</a:t>
            </a:r>
            <a:endParaRPr kumimoji="0" lang="zh-CN" altLang="en-US" sz="2400" b="1" i="0" u="none" strike="noStrike" cap="none" spc="0" normalizeH="0" baseline="0">
              <a:ln>
                <a:noFill/>
              </a:ln>
              <a:solidFill>
                <a:srgbClr val="0564CD"/>
              </a:solidFill>
              <a:effectLst/>
              <a:uFillTx/>
              <a:latin typeface="微软雅黑" panose="020B0503020204020204" charset="-122"/>
              <a:ea typeface="微软雅黑" panose="020B0503020204020204" charset="-122"/>
              <a:cs typeface="微软雅黑" panose="020B0503020204020204" charset="-122"/>
              <a:sym typeface="Calibri" panose="020F0502020204030204"/>
            </a:endParaRPr>
          </a:p>
        </p:txBody>
      </p:sp>
      <p:sp>
        <p:nvSpPr>
          <p:cNvPr id="33" name="文本框 32"/>
          <p:cNvSpPr txBox="1"/>
          <p:nvPr/>
        </p:nvSpPr>
        <p:spPr>
          <a:xfrm>
            <a:off x="727710" y="1917065"/>
            <a:ext cx="6244590" cy="2583180"/>
          </a:xfrm>
          <a:prstGeom prst="rect">
            <a:avLst/>
          </a:prstGeom>
          <a:noFill/>
          <a:ln w="12700" cap="flat">
            <a:noFill/>
            <a:miter lim="400000"/>
          </a:ln>
        </p:spPr>
        <p:style>
          <a:lnRef idx="0">
            <a:srgbClr val="FFFFFF"/>
          </a:lnRef>
          <a:fillRef idx="0">
            <a:srgbClr val="FFFFFF"/>
          </a:fillRef>
          <a:effectRef idx="0">
            <a:srgbClr val="FFFFFF"/>
          </a:effectRef>
          <a:fontRef idx="none"/>
        </p:style>
        <p:txBody>
          <a:bodyPr rot="0" vertOverflow="overflow" horzOverflow="overflow" vert="horz" wrap="square" lIns="45719" tIns="45719" rIns="45719" bIns="45719" numCol="1" spcCol="38100" rtlCol="0" anchor="t" forceAA="0" upright="0">
            <a:spAutoFit/>
          </a:bodyPr>
          <a:p>
            <a:pPr marL="285750" marR="0" indent="-285750" algn="l" defTabSz="914400" rtl="0" fontAlgn="auto" latinLnBrk="0" hangingPunct="0">
              <a:lnSpc>
                <a:spcPct val="150000"/>
              </a:lnSpc>
              <a:spcBef>
                <a:spcPts val="0"/>
              </a:spcBef>
              <a:spcAft>
                <a:spcPts val="0"/>
              </a:spcAft>
              <a:buClrTx/>
              <a:buSzTx/>
              <a:buFont typeface="Arial" panose="020B0604020202020204" pitchFamily="34" charset="0"/>
              <a:buChar char="•"/>
            </a:pPr>
            <a:r>
              <a:rPr kumimoji="0" lang="zh-CN" altLang="en-US" sz="1800" b="0" i="0" u="none" strike="noStrike" cap="none" spc="0" normalizeH="0" baseline="0">
                <a:ln>
                  <a:noFill/>
                </a:ln>
                <a:solidFill>
                  <a:srgbClr val="000000"/>
                </a:solidFill>
                <a:effectLst/>
                <a:uFillTx/>
                <a:latin typeface="微软雅黑" panose="020B0503020204020204" charset="-122"/>
                <a:ea typeface="微软雅黑" panose="020B0503020204020204" charset="-122"/>
                <a:cs typeface="微软雅黑" panose="020B0503020204020204" charset="-122"/>
                <a:sym typeface="Calibri" panose="020F0502020204030204"/>
              </a:rPr>
              <a:t>商机描述里的年龄有</a:t>
            </a:r>
            <a:r>
              <a:rPr kumimoji="0" lang="zh-CN" altLang="en-US" sz="1800" b="1" i="0" u="none" strike="noStrike" cap="none" spc="0" normalizeH="0" baseline="0">
                <a:ln>
                  <a:noFill/>
                </a:ln>
                <a:solidFill>
                  <a:srgbClr val="000000"/>
                </a:solidFill>
                <a:effectLst/>
                <a:uFillTx/>
                <a:latin typeface="微软雅黑" panose="020B0503020204020204" charset="-122"/>
                <a:ea typeface="微软雅黑" panose="020B0503020204020204" charset="-122"/>
                <a:cs typeface="微软雅黑" panose="020B0503020204020204" charset="-122"/>
                <a:sym typeface="Calibri" panose="020F0502020204030204"/>
              </a:rPr>
              <a:t>正常数值、范围、异常值、生日</a:t>
            </a:r>
            <a:r>
              <a:rPr kumimoji="0" lang="zh-CN" altLang="en-US" sz="1800" b="0" i="0" u="none" strike="noStrike" cap="none" spc="0" normalizeH="0" baseline="0">
                <a:ln>
                  <a:noFill/>
                </a:ln>
                <a:solidFill>
                  <a:srgbClr val="000000"/>
                </a:solidFill>
                <a:effectLst/>
                <a:uFillTx/>
                <a:latin typeface="微软雅黑" panose="020B0503020204020204" charset="-122"/>
                <a:ea typeface="微软雅黑" panose="020B0503020204020204" charset="-122"/>
                <a:cs typeface="微软雅黑" panose="020B0503020204020204" charset="-122"/>
                <a:sym typeface="Calibri" panose="020F0502020204030204"/>
              </a:rPr>
              <a:t>等。处理手法为范围取均值、数值大于</a:t>
            </a:r>
            <a:r>
              <a:rPr kumimoji="0" lang="en-US" altLang="zh-CN" sz="1800" b="0" i="0" u="none" strike="noStrike" cap="none" spc="0" normalizeH="0" baseline="0">
                <a:ln>
                  <a:noFill/>
                </a:ln>
                <a:solidFill>
                  <a:srgbClr val="000000"/>
                </a:solidFill>
                <a:effectLst/>
                <a:uFillTx/>
                <a:latin typeface="微软雅黑" panose="020B0503020204020204" charset="-122"/>
                <a:ea typeface="微软雅黑" panose="020B0503020204020204" charset="-122"/>
                <a:cs typeface="微软雅黑" panose="020B0503020204020204" charset="-122"/>
                <a:sym typeface="Calibri" panose="020F0502020204030204"/>
              </a:rPr>
              <a:t>125</a:t>
            </a:r>
            <a:r>
              <a:rPr kumimoji="0" lang="zh-CN" altLang="en-US" sz="1800" b="0" i="0" u="none" strike="noStrike" cap="none" spc="0" normalizeH="0" baseline="0">
                <a:ln>
                  <a:noFill/>
                </a:ln>
                <a:solidFill>
                  <a:srgbClr val="000000"/>
                </a:solidFill>
                <a:effectLst/>
                <a:uFillTx/>
                <a:latin typeface="微软雅黑" panose="020B0503020204020204" charset="-122"/>
                <a:ea typeface="微软雅黑" panose="020B0503020204020204" charset="-122"/>
                <a:cs typeface="微软雅黑" panose="020B0503020204020204" charset="-122"/>
                <a:sym typeface="Calibri" panose="020F0502020204030204"/>
              </a:rPr>
              <a:t>剔除、填写生日的计算其年龄。</a:t>
            </a:r>
            <a:endParaRPr kumimoji="0" lang="en-US" altLang="zh-CN" sz="1800" b="0" i="0" u="none" strike="noStrike" cap="none" spc="0" normalizeH="0" baseline="0">
              <a:ln>
                <a:noFill/>
              </a:ln>
              <a:solidFill>
                <a:srgbClr val="000000"/>
              </a:solidFill>
              <a:effectLst/>
              <a:uFillTx/>
              <a:latin typeface="微软雅黑" panose="020B0503020204020204" charset="-122"/>
              <a:ea typeface="微软雅黑" panose="020B0503020204020204" charset="-122"/>
              <a:cs typeface="微软雅黑" panose="020B0503020204020204" charset="-122"/>
              <a:sym typeface="Calibri" panose="020F0502020204030204"/>
            </a:endParaRPr>
          </a:p>
          <a:p>
            <a:pPr marL="285750" marR="0" indent="-285750" algn="l" defTabSz="914400" rtl="0" fontAlgn="auto" latinLnBrk="0" hangingPunct="0">
              <a:lnSpc>
                <a:spcPct val="150000"/>
              </a:lnSpc>
              <a:spcBef>
                <a:spcPts val="0"/>
              </a:spcBef>
              <a:spcAft>
                <a:spcPts val="0"/>
              </a:spcAft>
              <a:buClrTx/>
              <a:buSzTx/>
              <a:buFont typeface="Arial" panose="020B0604020202020204" pitchFamily="34" charset="0"/>
              <a:buChar char="•"/>
            </a:pPr>
            <a:endParaRPr kumimoji="0" lang="zh-CN" altLang="en-US" sz="1800" b="0" i="0" u="none" strike="noStrike" cap="none" spc="0" normalizeH="0" baseline="0">
              <a:ln>
                <a:noFill/>
              </a:ln>
              <a:solidFill>
                <a:srgbClr val="000000"/>
              </a:solidFill>
              <a:effectLst/>
              <a:uFillTx/>
              <a:latin typeface="微软雅黑" panose="020B0503020204020204" charset="-122"/>
              <a:ea typeface="微软雅黑" panose="020B0503020204020204" charset="-122"/>
              <a:cs typeface="微软雅黑" panose="020B0503020204020204" charset="-122"/>
              <a:sym typeface="Calibri" panose="020F0502020204030204"/>
            </a:endParaRPr>
          </a:p>
          <a:p>
            <a:pPr marL="285750" marR="0" indent="-285750" algn="l" defTabSz="914400" rtl="0" fontAlgn="auto" latinLnBrk="0" hangingPunct="0">
              <a:lnSpc>
                <a:spcPct val="150000"/>
              </a:lnSpc>
              <a:spcBef>
                <a:spcPts val="0"/>
              </a:spcBef>
              <a:spcAft>
                <a:spcPts val="0"/>
              </a:spcAft>
              <a:buClrTx/>
              <a:buSzTx/>
              <a:buFont typeface="Arial" panose="020B0604020202020204" pitchFamily="34" charset="0"/>
              <a:buChar char="•"/>
            </a:pPr>
            <a:r>
              <a:rPr lang="zh-CN" altLang="en-US">
                <a:latin typeface="微软雅黑" panose="020B0503020204020204" charset="-122"/>
                <a:ea typeface="微软雅黑" panose="020B0503020204020204" charset="-122"/>
                <a:cs typeface="微软雅黑" panose="020B0503020204020204" charset="-122"/>
                <a:sym typeface="Calibri" panose="020F0502020204030204"/>
              </a:rPr>
              <a:t>商机描述里的性别有男、女、帅哥、美女、</a:t>
            </a:r>
            <a:r>
              <a:rPr lang="en-US" altLang="zh-CN">
                <a:latin typeface="微软雅黑" panose="020B0503020204020204" charset="-122"/>
                <a:ea typeface="微软雅黑" panose="020B0503020204020204" charset="-122"/>
                <a:cs typeface="微软雅黑" panose="020B0503020204020204" charset="-122"/>
                <a:sym typeface="Calibri" panose="020F0502020204030204"/>
              </a:rPr>
              <a:t>F</a:t>
            </a:r>
            <a:r>
              <a:rPr lang="zh-CN" altLang="en-US">
                <a:latin typeface="微软雅黑" panose="020B0503020204020204" charset="-122"/>
                <a:ea typeface="微软雅黑" panose="020B0503020204020204" charset="-122"/>
                <a:cs typeface="微软雅黑" panose="020B0503020204020204" charset="-122"/>
                <a:sym typeface="Calibri" panose="020F0502020204030204"/>
              </a:rPr>
              <a:t>、</a:t>
            </a:r>
            <a:r>
              <a:rPr lang="en-US" altLang="zh-CN">
                <a:latin typeface="微软雅黑" panose="020B0503020204020204" charset="-122"/>
                <a:ea typeface="微软雅黑" panose="020B0503020204020204" charset="-122"/>
                <a:cs typeface="微软雅黑" panose="020B0503020204020204" charset="-122"/>
                <a:sym typeface="Calibri" panose="020F0502020204030204"/>
              </a:rPr>
              <a:t>M</a:t>
            </a:r>
            <a:r>
              <a:rPr lang="zh-CN" altLang="en-US">
                <a:latin typeface="微软雅黑" panose="020B0503020204020204" charset="-122"/>
                <a:ea typeface="微软雅黑" panose="020B0503020204020204" charset="-122"/>
                <a:cs typeface="微软雅黑" panose="020B0503020204020204" charset="-122"/>
                <a:sym typeface="Calibri" panose="020F0502020204030204"/>
              </a:rPr>
              <a:t>等。</a:t>
            </a:r>
            <a:r>
              <a:rPr lang="zh-CN" altLang="en-US" b="1">
                <a:latin typeface="微软雅黑" panose="020B0503020204020204" charset="-122"/>
                <a:ea typeface="微软雅黑" panose="020B0503020204020204" charset="-122"/>
                <a:cs typeface="微软雅黑" panose="020B0503020204020204" charset="-122"/>
                <a:sym typeface="Calibri" panose="020F0502020204030204"/>
              </a:rPr>
              <a:t>统一分类成男或女</a:t>
            </a:r>
            <a:r>
              <a:rPr lang="zh-CN" altLang="en-US">
                <a:latin typeface="微软雅黑" panose="020B0503020204020204" charset="-122"/>
                <a:ea typeface="微软雅黑" panose="020B0503020204020204" charset="-122"/>
                <a:cs typeface="微软雅黑" panose="020B0503020204020204" charset="-122"/>
                <a:sym typeface="Calibri" panose="020F0502020204030204"/>
              </a:rPr>
              <a:t>。</a:t>
            </a:r>
            <a:endParaRPr kumimoji="0" lang="en-US" altLang="zh-CN" sz="1800" b="0" i="0" u="none" strike="noStrike" cap="none" spc="0" normalizeH="0" baseline="0">
              <a:ln>
                <a:noFill/>
              </a:ln>
              <a:solidFill>
                <a:srgbClr val="000000"/>
              </a:solidFill>
              <a:effectLst/>
              <a:uFillTx/>
              <a:latin typeface="微软雅黑" panose="020B0503020204020204" charset="-122"/>
              <a:ea typeface="微软雅黑" panose="020B0503020204020204" charset="-122"/>
              <a:cs typeface="微软雅黑" panose="020B0503020204020204" charset="-122"/>
              <a:sym typeface="Calibri" panose="020F0502020204030204"/>
            </a:endParaRPr>
          </a:p>
        </p:txBody>
      </p:sp>
      <p:pic>
        <p:nvPicPr>
          <p:cNvPr id="5" name="图片 4" descr="Inkedage_desc_LI"/>
          <p:cNvPicPr>
            <a:picLocks noChangeAspect="1"/>
          </p:cNvPicPr>
          <p:nvPr/>
        </p:nvPicPr>
        <p:blipFill>
          <a:blip r:embed="rId1"/>
          <a:stretch>
            <a:fillRect/>
          </a:stretch>
        </p:blipFill>
        <p:spPr>
          <a:xfrm>
            <a:off x="7464425" y="1917065"/>
            <a:ext cx="4181475" cy="2305050"/>
          </a:xfrm>
          <a:prstGeom prst="rect">
            <a:avLst/>
          </a:prstGeom>
        </p:spPr>
      </p:pic>
    </p:spTree>
  </p:cSld>
  <p:clrMapOvr>
    <a:masterClrMapping/>
  </p:clrMapOvr>
  <p:transition spd="med"/>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p:nvPr>
            <p:ph type="title"/>
          </p:nvPr>
        </p:nvSpPr>
        <p:spPr>
          <a:xfrm>
            <a:off x="335915" y="260985"/>
            <a:ext cx="10714355" cy="675005"/>
          </a:xfrm>
        </p:spPr>
        <p:txBody>
          <a:bodyPr>
            <a:normAutofit/>
          </a:bodyPr>
          <a:p>
            <a:r>
              <a:rPr lang="en-US" altLang="zh-CN" sz="3555"/>
              <a:t>3. </a:t>
            </a:r>
            <a:r>
              <a:rPr lang="zh-CN" altLang="en-US" sz="3555"/>
              <a:t>模型建立</a:t>
            </a:r>
            <a:r>
              <a:rPr lang="en-US" altLang="zh-CN" sz="3555"/>
              <a:t>-</a:t>
            </a:r>
            <a:r>
              <a:rPr lang="zh-CN" altLang="en-US" sz="3555"/>
              <a:t>数据维度</a:t>
            </a:r>
            <a:endParaRPr lang="zh-CN" altLang="en-US" sz="3555"/>
          </a:p>
        </p:txBody>
      </p:sp>
      <p:sp>
        <p:nvSpPr>
          <p:cNvPr id="25" name="文本框 24"/>
          <p:cNvSpPr txBox="1"/>
          <p:nvPr/>
        </p:nvSpPr>
        <p:spPr>
          <a:xfrm>
            <a:off x="695960" y="1125220"/>
            <a:ext cx="5725160" cy="459105"/>
          </a:xfrm>
          <a:prstGeom prst="rect">
            <a:avLst/>
          </a:prstGeom>
          <a:noFill/>
          <a:ln w="12700" cap="flat">
            <a:noFill/>
            <a:miter lim="400000"/>
          </a:ln>
        </p:spPr>
        <p:style>
          <a:lnRef idx="0">
            <a:srgbClr val="FFFFFF"/>
          </a:lnRef>
          <a:fillRef idx="0">
            <a:srgbClr val="FFFFFF"/>
          </a:fillRef>
          <a:effectRef idx="0">
            <a:srgbClr val="FFFFFF"/>
          </a:effectRef>
          <a:fontRef idx="none"/>
        </p:style>
        <p:txBody>
          <a:bodyPr rot="0" vertOverflow="overflow" horzOverflow="overflow" vert="horz" wrap="square" lIns="45719" tIns="45719" rIns="45719" bIns="45719" numCol="1" spcCol="38100" rtlCol="0" anchor="t" forceAA="0" upright="0">
            <a:spAutoFit/>
          </a:bodyPr>
          <a:p>
            <a:pPr marL="342900" marR="0" indent="-342900" algn="l" defTabSz="914400" rtl="0" fontAlgn="auto" latinLnBrk="0" hangingPunct="0">
              <a:lnSpc>
                <a:spcPct val="100000"/>
              </a:lnSpc>
              <a:spcBef>
                <a:spcPts val="0"/>
              </a:spcBef>
              <a:spcAft>
                <a:spcPts val="0"/>
              </a:spcAft>
              <a:buClrTx/>
              <a:buSzTx/>
              <a:buFont typeface="Wingdings" panose="05000000000000000000" charset="0"/>
              <a:buChar char="ü"/>
            </a:pPr>
            <a:r>
              <a:rPr kumimoji="0" lang="zh-CN" altLang="en-US" sz="2400" b="1" i="0" u="none" strike="noStrike" cap="none" spc="0" normalizeH="0" baseline="0">
                <a:ln>
                  <a:noFill/>
                </a:ln>
                <a:solidFill>
                  <a:srgbClr val="0564CD"/>
                </a:solidFill>
                <a:effectLst/>
                <a:uFillTx/>
                <a:latin typeface="微软雅黑" panose="020B0503020204020204" charset="-122"/>
                <a:ea typeface="微软雅黑" panose="020B0503020204020204" charset="-122"/>
                <a:cs typeface="微软雅黑" panose="020B0503020204020204" charset="-122"/>
                <a:sym typeface="Calibri" panose="020F0502020204030204"/>
              </a:rPr>
              <a:t>变量衍生（保费、保额举例）</a:t>
            </a:r>
            <a:endParaRPr kumimoji="0" lang="zh-CN" altLang="en-US" sz="2400" b="1" i="0" u="none" strike="noStrike" cap="none" spc="0" normalizeH="0" baseline="0">
              <a:ln>
                <a:noFill/>
              </a:ln>
              <a:solidFill>
                <a:srgbClr val="0564CD"/>
              </a:solidFill>
              <a:effectLst/>
              <a:uFillTx/>
              <a:latin typeface="微软雅黑" panose="020B0503020204020204" charset="-122"/>
              <a:ea typeface="微软雅黑" panose="020B0503020204020204" charset="-122"/>
              <a:cs typeface="微软雅黑" panose="020B0503020204020204" charset="-122"/>
              <a:sym typeface="Calibri" panose="020F0502020204030204"/>
            </a:endParaRPr>
          </a:p>
        </p:txBody>
      </p:sp>
      <p:sp>
        <p:nvSpPr>
          <p:cNvPr id="33" name="文本框 32"/>
          <p:cNvSpPr txBox="1"/>
          <p:nvPr/>
        </p:nvSpPr>
        <p:spPr>
          <a:xfrm>
            <a:off x="767715" y="1701165"/>
            <a:ext cx="6047740" cy="2998470"/>
          </a:xfrm>
          <a:prstGeom prst="rect">
            <a:avLst/>
          </a:prstGeom>
          <a:noFill/>
          <a:ln w="12700" cap="flat">
            <a:noFill/>
            <a:miter lim="400000"/>
          </a:ln>
        </p:spPr>
        <p:style>
          <a:lnRef idx="0">
            <a:srgbClr val="FFFFFF"/>
          </a:lnRef>
          <a:fillRef idx="0">
            <a:srgbClr val="FFFFFF"/>
          </a:fillRef>
          <a:effectRef idx="0">
            <a:srgbClr val="FFFFFF"/>
          </a:effectRef>
          <a:fontRef idx="none"/>
        </p:style>
        <p:txBody>
          <a:bodyPr rot="0" vertOverflow="overflow" horzOverflow="overflow" vert="horz" wrap="square" lIns="45719" tIns="45719" rIns="45719" bIns="45719" numCol="1" spcCol="38100" rtlCol="0" anchor="t" forceAA="0" upright="0">
            <a:spAutoFit/>
          </a:bodyPr>
          <a:p>
            <a:pPr marL="285750" marR="0" indent="-285750" algn="l" defTabSz="914400" rtl="0" fontAlgn="auto" latinLnBrk="0" hangingPunct="0">
              <a:lnSpc>
                <a:spcPct val="150000"/>
              </a:lnSpc>
              <a:spcBef>
                <a:spcPts val="0"/>
              </a:spcBef>
              <a:spcAft>
                <a:spcPts val="0"/>
              </a:spcAft>
              <a:buClrTx/>
              <a:buSzTx/>
              <a:buFont typeface="Arial" panose="020B0604020202020204" pitchFamily="34" charset="0"/>
              <a:buChar char="•"/>
            </a:pPr>
            <a:r>
              <a:rPr kumimoji="0" lang="zh-CN" altLang="en-US" sz="1800" b="0" i="0" u="none" strike="noStrike" cap="none" spc="0" normalizeH="0" baseline="0">
                <a:ln>
                  <a:noFill/>
                </a:ln>
                <a:solidFill>
                  <a:srgbClr val="000000"/>
                </a:solidFill>
                <a:effectLst/>
                <a:uFillTx/>
                <a:latin typeface="微软雅黑" panose="020B0503020204020204" charset="-122"/>
                <a:ea typeface="微软雅黑" panose="020B0503020204020204" charset="-122"/>
                <a:cs typeface="微软雅黑" panose="020B0503020204020204" charset="-122"/>
                <a:sym typeface="Calibri" panose="020F0502020204030204"/>
              </a:rPr>
              <a:t>商机描述里的保费用词不一，有</a:t>
            </a:r>
            <a:r>
              <a:rPr kumimoji="0" lang="zh-CN" altLang="en-US" sz="1800" b="1" i="0" u="none" strike="noStrike" cap="none" spc="0" normalizeH="0" baseline="0">
                <a:ln>
                  <a:noFill/>
                </a:ln>
                <a:solidFill>
                  <a:srgbClr val="000000"/>
                </a:solidFill>
                <a:effectLst/>
                <a:uFillTx/>
                <a:latin typeface="微软雅黑" panose="020B0503020204020204" charset="-122"/>
                <a:ea typeface="微软雅黑" panose="020B0503020204020204" charset="-122"/>
                <a:cs typeface="微软雅黑" panose="020B0503020204020204" charset="-122"/>
                <a:sym typeface="Calibri" panose="020F0502020204030204"/>
              </a:rPr>
              <a:t>保费预算、投入金额、保费、年交保费</a:t>
            </a:r>
            <a:r>
              <a:rPr kumimoji="0" lang="zh-CN" altLang="en-US" sz="1800" b="0" i="0" u="none" strike="noStrike" cap="none" spc="0" normalizeH="0" baseline="0">
                <a:ln>
                  <a:noFill/>
                </a:ln>
                <a:solidFill>
                  <a:srgbClr val="000000"/>
                </a:solidFill>
                <a:effectLst/>
                <a:uFillTx/>
                <a:latin typeface="微软雅黑" panose="020B0503020204020204" charset="-122"/>
                <a:ea typeface="微软雅黑" panose="020B0503020204020204" charset="-122"/>
                <a:cs typeface="微软雅黑" panose="020B0503020204020204" charset="-122"/>
                <a:sym typeface="Calibri" panose="020F0502020204030204"/>
              </a:rPr>
              <a:t>等。填写数据有</a:t>
            </a:r>
            <a:r>
              <a:rPr kumimoji="0" lang="zh-CN" altLang="en-US" sz="1800" b="1" i="0" u="none" strike="noStrike" cap="none" spc="0" normalizeH="0" baseline="0">
                <a:ln>
                  <a:noFill/>
                </a:ln>
                <a:solidFill>
                  <a:srgbClr val="000000"/>
                </a:solidFill>
                <a:effectLst/>
                <a:uFillTx/>
                <a:latin typeface="微软雅黑" panose="020B0503020204020204" charset="-122"/>
                <a:ea typeface="微软雅黑" panose="020B0503020204020204" charset="-122"/>
                <a:cs typeface="微软雅黑" panose="020B0503020204020204" charset="-122"/>
                <a:sym typeface="Calibri" panose="020F0502020204030204"/>
              </a:rPr>
              <a:t>正常数值、范围、文本</a:t>
            </a:r>
            <a:r>
              <a:rPr kumimoji="0" lang="zh-CN" altLang="en-US" sz="1800" b="0" i="0" u="none" strike="noStrike" cap="none" spc="0" normalizeH="0" baseline="0">
                <a:ln>
                  <a:noFill/>
                </a:ln>
                <a:solidFill>
                  <a:srgbClr val="000000"/>
                </a:solidFill>
                <a:effectLst/>
                <a:uFillTx/>
                <a:latin typeface="微软雅黑" panose="020B0503020204020204" charset="-122"/>
                <a:ea typeface="微软雅黑" panose="020B0503020204020204" charset="-122"/>
                <a:cs typeface="微软雅黑" panose="020B0503020204020204" charset="-122"/>
                <a:sym typeface="Calibri" panose="020F0502020204030204"/>
              </a:rPr>
              <a:t>等。处理手法为范围先取均值、再按数值从低到高排序，再分组编码。</a:t>
            </a:r>
            <a:endParaRPr kumimoji="0" lang="zh-CN" altLang="en-US" sz="1800" b="0" i="0" u="none" strike="noStrike" cap="none" spc="0" normalizeH="0" baseline="0">
              <a:ln>
                <a:noFill/>
              </a:ln>
              <a:solidFill>
                <a:srgbClr val="000000"/>
              </a:solidFill>
              <a:effectLst/>
              <a:uFillTx/>
              <a:latin typeface="微软雅黑" panose="020B0503020204020204" charset="-122"/>
              <a:ea typeface="微软雅黑" panose="020B0503020204020204" charset="-122"/>
              <a:cs typeface="微软雅黑" panose="020B0503020204020204" charset="-122"/>
              <a:sym typeface="Calibri" panose="020F0502020204030204"/>
            </a:endParaRPr>
          </a:p>
          <a:p>
            <a:pPr marL="285750" marR="0" indent="-285750" algn="l" defTabSz="914400" rtl="0" fontAlgn="auto" latinLnBrk="0" hangingPunct="0">
              <a:lnSpc>
                <a:spcPct val="150000"/>
              </a:lnSpc>
              <a:spcBef>
                <a:spcPts val="0"/>
              </a:spcBef>
              <a:spcAft>
                <a:spcPts val="0"/>
              </a:spcAft>
              <a:buClrTx/>
              <a:buSzTx/>
              <a:buFont typeface="Arial" panose="020B0604020202020204" pitchFamily="34" charset="0"/>
              <a:buChar char="•"/>
            </a:pPr>
            <a:endParaRPr kumimoji="0" lang="zh-CN" altLang="en-US" sz="1800" b="0" i="0" u="none" strike="noStrike" cap="none" spc="0" normalizeH="0" baseline="0">
              <a:ln>
                <a:noFill/>
              </a:ln>
              <a:solidFill>
                <a:srgbClr val="000000"/>
              </a:solidFill>
              <a:effectLst/>
              <a:uFillTx/>
              <a:latin typeface="微软雅黑" panose="020B0503020204020204" charset="-122"/>
              <a:ea typeface="微软雅黑" panose="020B0503020204020204" charset="-122"/>
              <a:cs typeface="微软雅黑" panose="020B0503020204020204" charset="-122"/>
              <a:sym typeface="Calibri" panose="020F0502020204030204"/>
            </a:endParaRPr>
          </a:p>
          <a:p>
            <a:pPr marL="285750" marR="0" indent="-285750" algn="l" defTabSz="914400" rtl="0" fontAlgn="auto" latinLnBrk="0" hangingPunct="0">
              <a:lnSpc>
                <a:spcPct val="150000"/>
              </a:lnSpc>
              <a:spcBef>
                <a:spcPts val="0"/>
              </a:spcBef>
              <a:spcAft>
                <a:spcPts val="0"/>
              </a:spcAft>
              <a:buClrTx/>
              <a:buSzTx/>
              <a:buFont typeface="Arial" panose="020B0604020202020204" pitchFamily="34" charset="0"/>
              <a:buChar char="•"/>
            </a:pPr>
            <a:r>
              <a:rPr lang="zh-CN" altLang="en-US">
                <a:latin typeface="微软雅黑" panose="020B0503020204020204" charset="-122"/>
                <a:ea typeface="微软雅黑" panose="020B0503020204020204" charset="-122"/>
                <a:cs typeface="微软雅黑" panose="020B0503020204020204" charset="-122"/>
                <a:sym typeface="Calibri" panose="020F0502020204030204"/>
              </a:rPr>
              <a:t>商机描述里的保额</a:t>
            </a:r>
            <a:r>
              <a:rPr lang="zh-CN">
                <a:latin typeface="微软雅黑" panose="020B0503020204020204" charset="-122"/>
                <a:ea typeface="微软雅黑" panose="020B0503020204020204" charset="-122"/>
                <a:cs typeface="微软雅黑" panose="020B0503020204020204" charset="-122"/>
                <a:sym typeface="Calibri" panose="020F0502020204030204"/>
              </a:rPr>
              <a:t>也有类似的数据不一情况。</a:t>
            </a:r>
            <a:r>
              <a:rPr lang="zh-CN" altLang="en-US">
                <a:latin typeface="微软雅黑" panose="020B0503020204020204" charset="-122"/>
                <a:ea typeface="微软雅黑" panose="020B0503020204020204" charset="-122"/>
                <a:cs typeface="微软雅黑" panose="020B0503020204020204" charset="-122"/>
                <a:sym typeface="Calibri" panose="020F0502020204030204"/>
              </a:rPr>
              <a:t>处理手法和保费一致。</a:t>
            </a:r>
            <a:endParaRPr kumimoji="0" lang="zh-CN" sz="1800" b="0" i="0" u="none" strike="noStrike" cap="none" spc="0" normalizeH="0" baseline="0">
              <a:ln>
                <a:noFill/>
              </a:ln>
              <a:solidFill>
                <a:srgbClr val="000000"/>
              </a:solidFill>
              <a:effectLst/>
              <a:uFillTx/>
              <a:latin typeface="微软雅黑" panose="020B0503020204020204" charset="-122"/>
              <a:ea typeface="微软雅黑" panose="020B0503020204020204" charset="-122"/>
              <a:cs typeface="微软雅黑" panose="020B0503020204020204" charset="-122"/>
              <a:sym typeface="Calibri" panose="020F0502020204030204"/>
            </a:endParaRPr>
          </a:p>
        </p:txBody>
      </p:sp>
      <p:pic>
        <p:nvPicPr>
          <p:cNvPr id="3" name="图片 2" descr="budget_desc"/>
          <p:cNvPicPr>
            <a:picLocks noChangeAspect="1"/>
          </p:cNvPicPr>
          <p:nvPr/>
        </p:nvPicPr>
        <p:blipFill>
          <a:blip r:embed="rId1"/>
          <a:stretch>
            <a:fillRect/>
          </a:stretch>
        </p:blipFill>
        <p:spPr>
          <a:xfrm>
            <a:off x="7248525" y="1664970"/>
            <a:ext cx="4034790" cy="3070860"/>
          </a:xfrm>
          <a:prstGeom prst="rect">
            <a:avLst/>
          </a:prstGeom>
        </p:spPr>
      </p:pic>
    </p:spTree>
  </p:cSld>
  <p:clrMapOvr>
    <a:masterClrMapping/>
  </p:clrMapOvr>
  <p:transition spd="med"/>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p:nvPr>
            <p:ph type="title"/>
          </p:nvPr>
        </p:nvSpPr>
        <p:spPr>
          <a:xfrm>
            <a:off x="335915" y="260985"/>
            <a:ext cx="10714355" cy="675005"/>
          </a:xfrm>
        </p:spPr>
        <p:txBody>
          <a:bodyPr>
            <a:normAutofit/>
          </a:bodyPr>
          <a:p>
            <a:r>
              <a:rPr lang="en-US" altLang="zh-CN" sz="3555"/>
              <a:t>3. </a:t>
            </a:r>
            <a:r>
              <a:rPr lang="zh-CN" altLang="en-US" sz="3555"/>
              <a:t>模型建立</a:t>
            </a:r>
            <a:r>
              <a:rPr lang="en-US" altLang="zh-CN" sz="3555"/>
              <a:t>-</a:t>
            </a:r>
            <a:r>
              <a:rPr lang="zh-CN" altLang="en-US" sz="3555"/>
              <a:t>数据维度</a:t>
            </a:r>
            <a:endParaRPr lang="zh-CN" altLang="en-US" sz="3555"/>
          </a:p>
        </p:txBody>
      </p:sp>
      <p:sp>
        <p:nvSpPr>
          <p:cNvPr id="25" name="文本框 24"/>
          <p:cNvSpPr txBox="1"/>
          <p:nvPr/>
        </p:nvSpPr>
        <p:spPr>
          <a:xfrm>
            <a:off x="695960" y="1125220"/>
            <a:ext cx="5725160" cy="459105"/>
          </a:xfrm>
          <a:prstGeom prst="rect">
            <a:avLst/>
          </a:prstGeom>
          <a:noFill/>
          <a:ln w="12700" cap="flat">
            <a:noFill/>
            <a:miter lim="400000"/>
          </a:ln>
        </p:spPr>
        <p:style>
          <a:lnRef idx="0">
            <a:srgbClr val="FFFFFF"/>
          </a:lnRef>
          <a:fillRef idx="0">
            <a:srgbClr val="FFFFFF"/>
          </a:fillRef>
          <a:effectRef idx="0">
            <a:srgbClr val="FFFFFF"/>
          </a:effectRef>
          <a:fontRef idx="none"/>
        </p:style>
        <p:txBody>
          <a:bodyPr rot="0" vertOverflow="overflow" horzOverflow="overflow" vert="horz" wrap="square" lIns="45719" tIns="45719" rIns="45719" bIns="45719" numCol="1" spcCol="38100" rtlCol="0" anchor="t" forceAA="0" upright="0">
            <a:spAutoFit/>
          </a:bodyPr>
          <a:p>
            <a:pPr marL="342900" marR="0" indent="-342900" algn="l" defTabSz="914400" rtl="0" fontAlgn="auto" latinLnBrk="0" hangingPunct="0">
              <a:lnSpc>
                <a:spcPct val="100000"/>
              </a:lnSpc>
              <a:spcBef>
                <a:spcPts val="0"/>
              </a:spcBef>
              <a:spcAft>
                <a:spcPts val="0"/>
              </a:spcAft>
              <a:buClrTx/>
              <a:buSzTx/>
              <a:buFont typeface="Wingdings" panose="05000000000000000000" charset="0"/>
              <a:buChar char="ü"/>
            </a:pPr>
            <a:r>
              <a:rPr kumimoji="0" lang="zh-CN" altLang="en-US" sz="2400" b="1" i="0" u="none" strike="noStrike" cap="none" spc="0" normalizeH="0" baseline="0">
                <a:ln>
                  <a:noFill/>
                </a:ln>
                <a:solidFill>
                  <a:srgbClr val="0564CD"/>
                </a:solidFill>
                <a:effectLst/>
                <a:uFillTx/>
                <a:latin typeface="微软雅黑" panose="020B0503020204020204" charset="-122"/>
                <a:ea typeface="微软雅黑" panose="020B0503020204020204" charset="-122"/>
                <a:cs typeface="微软雅黑" panose="020B0503020204020204" charset="-122"/>
                <a:sym typeface="Calibri" panose="020F0502020204030204"/>
              </a:rPr>
              <a:t>建模宽表</a:t>
            </a:r>
            <a:endParaRPr kumimoji="0" lang="zh-CN" altLang="en-US" sz="2400" b="1" i="0" u="none" strike="noStrike" cap="none" spc="0" normalizeH="0" baseline="0">
              <a:ln>
                <a:noFill/>
              </a:ln>
              <a:solidFill>
                <a:srgbClr val="0564CD"/>
              </a:solidFill>
              <a:effectLst/>
              <a:uFillTx/>
              <a:latin typeface="微软雅黑" panose="020B0503020204020204" charset="-122"/>
              <a:ea typeface="微软雅黑" panose="020B0503020204020204" charset="-122"/>
              <a:cs typeface="微软雅黑" panose="020B0503020204020204" charset="-122"/>
              <a:sym typeface="Calibri" panose="020F0502020204030204"/>
            </a:endParaRPr>
          </a:p>
        </p:txBody>
      </p:sp>
      <p:pic>
        <p:nvPicPr>
          <p:cNvPr id="6" name="图片 5"/>
          <p:cNvPicPr>
            <a:picLocks noChangeAspect="1"/>
          </p:cNvPicPr>
          <p:nvPr/>
        </p:nvPicPr>
        <p:blipFill>
          <a:blip r:embed="rId1"/>
          <a:stretch>
            <a:fillRect/>
          </a:stretch>
        </p:blipFill>
        <p:spPr>
          <a:xfrm>
            <a:off x="2063750" y="1950720"/>
            <a:ext cx="7531100" cy="2956560"/>
          </a:xfrm>
          <a:prstGeom prst="rect">
            <a:avLst/>
          </a:prstGeom>
        </p:spPr>
      </p:pic>
      <p:sp>
        <p:nvSpPr>
          <p:cNvPr id="7" name="文本框 6"/>
          <p:cNvSpPr txBox="1"/>
          <p:nvPr/>
        </p:nvSpPr>
        <p:spPr>
          <a:xfrm>
            <a:off x="1776095" y="5229225"/>
            <a:ext cx="8744585" cy="920750"/>
          </a:xfrm>
          <a:prstGeom prst="rect">
            <a:avLst/>
          </a:prstGeom>
          <a:noFill/>
          <a:ln w="12700" cap="flat">
            <a:noFill/>
            <a:miter lim="400000"/>
          </a:ln>
        </p:spPr>
        <p:style>
          <a:lnRef idx="0">
            <a:srgbClr val="FFFFFF"/>
          </a:lnRef>
          <a:fillRef idx="0">
            <a:srgbClr val="FFFFFF"/>
          </a:fillRef>
          <a:effectRef idx="0">
            <a:srgbClr val="FFFFFF"/>
          </a:effectRef>
          <a:fontRef idx="none"/>
        </p:style>
        <p:txBody>
          <a:bodyPr rot="0" vertOverflow="overflow" horzOverflow="overflow" vert="horz" wrap="square" lIns="45719" tIns="45719" rIns="45719" bIns="45719" numCol="1" spcCol="38100" rtlCol="0" fromWordArt="0" anchor="t" anchorCtr="0" forceAA="0" upright="0" compatLnSpc="1">
            <a:spAutoFit/>
          </a:bodyPr>
          <a:p>
            <a:pPr lvl="0" algn="l">
              <a:lnSpc>
                <a:spcPct val="150000"/>
              </a:lnSpc>
              <a:buFont typeface="Arial" panose="020B0604020202020204" pitchFamily="34" charset="0"/>
            </a:pPr>
            <a:r>
              <a:rPr lang="zh-CN" altLang="en-US">
                <a:latin typeface="微软雅黑" panose="020B0503020204020204" charset="-122"/>
                <a:ea typeface="微软雅黑" panose="020B0503020204020204" charset="-122"/>
                <a:cs typeface="微软雅黑" panose="020B0503020204020204" charset="-122"/>
                <a:sym typeface="Calibri" panose="020F0502020204030204"/>
              </a:rPr>
              <a:t>原始变量</a:t>
            </a:r>
            <a:r>
              <a:rPr lang="zh-CN" altLang="en-US">
                <a:latin typeface="微软雅黑" panose="020B0503020204020204" charset="-122"/>
                <a:ea typeface="微软雅黑" panose="020B0503020204020204" charset="-122"/>
                <a:cs typeface="微软雅黑" panose="020B0503020204020204" charset="-122"/>
                <a:sym typeface="Calibri" panose="020F0502020204030204"/>
              </a:rPr>
              <a:t>176</a:t>
            </a:r>
            <a:r>
              <a:rPr lang="zh-CN" altLang="en-US">
                <a:latin typeface="微软雅黑" panose="020B0503020204020204" charset="-122"/>
                <a:ea typeface="微软雅黑" panose="020B0503020204020204" charset="-122"/>
                <a:cs typeface="微软雅黑" panose="020B0503020204020204" charset="-122"/>
                <a:sym typeface="Calibri" panose="020F0502020204030204"/>
              </a:rPr>
              <a:t>个经过，初步筛选及变量衍生后，建模宽表的变量个数为</a:t>
            </a:r>
            <a:r>
              <a:rPr lang="zh-CN" altLang="en-US">
                <a:latin typeface="微软雅黑" panose="020B0503020204020204" charset="-122"/>
                <a:ea typeface="微软雅黑" panose="020B0503020204020204" charset="-122"/>
                <a:cs typeface="微软雅黑" panose="020B0503020204020204" charset="-122"/>
                <a:sym typeface="Calibri" panose="020F0502020204030204"/>
              </a:rPr>
              <a:t>182</a:t>
            </a:r>
            <a:r>
              <a:rPr lang="zh-CN" altLang="en-US">
                <a:latin typeface="微软雅黑" panose="020B0503020204020204" charset="-122"/>
                <a:ea typeface="微软雅黑" panose="020B0503020204020204" charset="-122"/>
                <a:cs typeface="微软雅黑" panose="020B0503020204020204" charset="-122"/>
                <a:sym typeface="Calibri" panose="020F0502020204030204"/>
              </a:rPr>
              <a:t>个</a:t>
            </a:r>
            <a:r>
              <a:rPr lang="en-US" altLang="zh-CN">
                <a:latin typeface="微软雅黑" panose="020B0503020204020204" charset="-122"/>
                <a:ea typeface="微软雅黑" panose="020B0503020204020204" charset="-122"/>
                <a:cs typeface="微软雅黑" panose="020B0503020204020204" charset="-122"/>
                <a:sym typeface="Calibri" panose="020F0502020204030204"/>
              </a:rPr>
              <a:t>,</a:t>
            </a:r>
            <a:r>
              <a:rPr lang="zh-CN" altLang="en-US">
                <a:latin typeface="微软雅黑" panose="020B0503020204020204" charset="-122"/>
                <a:ea typeface="微软雅黑" panose="020B0503020204020204" charset="-122"/>
                <a:cs typeface="微软雅黑" panose="020B0503020204020204" charset="-122"/>
                <a:sym typeface="Calibri" panose="020F0502020204030204"/>
              </a:rPr>
              <a:t>其中数值型</a:t>
            </a:r>
            <a:r>
              <a:rPr lang="en-US" altLang="zh-CN">
                <a:latin typeface="微软雅黑" panose="020B0503020204020204" charset="-122"/>
                <a:ea typeface="微软雅黑" panose="020B0503020204020204" charset="-122"/>
                <a:cs typeface="微软雅黑" panose="020B0503020204020204" charset="-122"/>
                <a:sym typeface="Calibri" panose="020F0502020204030204"/>
              </a:rPr>
              <a:t>125</a:t>
            </a:r>
            <a:r>
              <a:rPr lang="zh-CN" altLang="en-US">
                <a:latin typeface="微软雅黑" panose="020B0503020204020204" charset="-122"/>
                <a:ea typeface="微软雅黑" panose="020B0503020204020204" charset="-122"/>
                <a:cs typeface="微软雅黑" panose="020B0503020204020204" charset="-122"/>
                <a:sym typeface="Calibri" panose="020F0502020204030204"/>
              </a:rPr>
              <a:t>个，字符型为</a:t>
            </a:r>
            <a:r>
              <a:rPr lang="en-US" altLang="zh-CN">
                <a:latin typeface="微软雅黑" panose="020B0503020204020204" charset="-122"/>
                <a:ea typeface="微软雅黑" panose="020B0503020204020204" charset="-122"/>
                <a:cs typeface="微软雅黑" panose="020B0503020204020204" charset="-122"/>
                <a:sym typeface="Calibri" panose="020F0502020204030204"/>
              </a:rPr>
              <a:t>57</a:t>
            </a:r>
            <a:r>
              <a:rPr lang="zh-CN" altLang="en-US">
                <a:latin typeface="微软雅黑" panose="020B0503020204020204" charset="-122"/>
                <a:ea typeface="微软雅黑" panose="020B0503020204020204" charset="-122"/>
                <a:cs typeface="微软雅黑" panose="020B0503020204020204" charset="-122"/>
                <a:sym typeface="Calibri" panose="020F0502020204030204"/>
              </a:rPr>
              <a:t>个</a:t>
            </a:r>
            <a:r>
              <a:rPr lang="en-US" altLang="zh-CN">
                <a:latin typeface="微软雅黑" panose="020B0503020204020204" charset="-122"/>
                <a:ea typeface="微软雅黑" panose="020B0503020204020204" charset="-122"/>
                <a:cs typeface="微软雅黑" panose="020B0503020204020204" charset="-122"/>
                <a:sym typeface="Calibri" panose="020F0502020204030204"/>
              </a:rPr>
              <a:t>;</a:t>
            </a:r>
            <a:endParaRPr lang="en-US" altLang="zh-CN">
              <a:latin typeface="微软雅黑" panose="020B0503020204020204" charset="-122"/>
              <a:ea typeface="微软雅黑" panose="020B0503020204020204" charset="-122"/>
              <a:cs typeface="微软雅黑" panose="020B0503020204020204" charset="-122"/>
              <a:sym typeface="Calibri" panose="020F0502020204030204"/>
            </a:endParaRPr>
          </a:p>
        </p:txBody>
      </p:sp>
    </p:spTree>
  </p:cSld>
  <p:clrMapOvr>
    <a:masterClrMapping/>
  </p:clrMapOvr>
  <p:transition spd="med"/>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p:nvPr>
            <p:ph type="title"/>
          </p:nvPr>
        </p:nvSpPr>
        <p:spPr>
          <a:xfrm>
            <a:off x="335915" y="260985"/>
            <a:ext cx="10714355" cy="675005"/>
          </a:xfrm>
        </p:spPr>
        <p:txBody>
          <a:bodyPr>
            <a:normAutofit/>
          </a:bodyPr>
          <a:p>
            <a:r>
              <a:rPr lang="en-US" altLang="zh-CN" sz="3555"/>
              <a:t>3. </a:t>
            </a:r>
            <a:r>
              <a:rPr lang="zh-CN" altLang="en-US" sz="3555"/>
              <a:t>模型建立</a:t>
            </a:r>
            <a:r>
              <a:rPr lang="en-US" altLang="zh-CN" sz="3550">
                <a:sym typeface="+mn-ea"/>
              </a:rPr>
              <a:t>-XGBOOST</a:t>
            </a:r>
            <a:endParaRPr lang="en-US" altLang="zh-CN" sz="3550">
              <a:sym typeface="+mn-ea"/>
            </a:endParaRPr>
          </a:p>
        </p:txBody>
      </p:sp>
      <p:sp>
        <p:nvSpPr>
          <p:cNvPr id="25" name="文本框 24"/>
          <p:cNvSpPr txBox="1"/>
          <p:nvPr/>
        </p:nvSpPr>
        <p:spPr>
          <a:xfrm>
            <a:off x="695960" y="1125220"/>
            <a:ext cx="2288540" cy="459105"/>
          </a:xfrm>
          <a:prstGeom prst="rect">
            <a:avLst/>
          </a:prstGeom>
          <a:noFill/>
          <a:ln w="12700" cap="flat">
            <a:noFill/>
            <a:miter lim="400000"/>
          </a:ln>
        </p:spPr>
        <p:style>
          <a:lnRef idx="0">
            <a:srgbClr val="FFFFFF"/>
          </a:lnRef>
          <a:fillRef idx="0">
            <a:srgbClr val="FFFFFF"/>
          </a:fillRef>
          <a:effectRef idx="0">
            <a:srgbClr val="FFFFFF"/>
          </a:effectRef>
          <a:fontRef idx="none"/>
        </p:style>
        <p:txBody>
          <a:bodyPr rot="0" vertOverflow="overflow" horzOverflow="overflow" vert="horz" wrap="square" lIns="45719" tIns="45719" rIns="45719" bIns="45719" numCol="1" spcCol="38100" rtlCol="0" anchor="t" forceAA="0" upright="0">
            <a:spAutoFit/>
          </a:bodyPr>
          <a:p>
            <a:pPr marL="342900" marR="0" indent="-342900" algn="l" defTabSz="914400" rtl="0" fontAlgn="auto" latinLnBrk="0" hangingPunct="0">
              <a:lnSpc>
                <a:spcPct val="100000"/>
              </a:lnSpc>
              <a:spcBef>
                <a:spcPts val="0"/>
              </a:spcBef>
              <a:spcAft>
                <a:spcPts val="0"/>
              </a:spcAft>
              <a:buClrTx/>
              <a:buSzTx/>
              <a:buFont typeface="Wingdings" panose="05000000000000000000" charset="0"/>
              <a:buChar char="ü"/>
            </a:pPr>
            <a:r>
              <a:rPr kumimoji="0" lang="zh-CN" altLang="en-US" sz="2400" b="1" i="0" u="none" strike="noStrike" cap="none" spc="0" normalizeH="0" baseline="0">
                <a:ln>
                  <a:noFill/>
                </a:ln>
                <a:solidFill>
                  <a:srgbClr val="0564CD"/>
                </a:solidFill>
                <a:effectLst/>
                <a:uFillTx/>
                <a:latin typeface="微软雅黑" panose="020B0503020204020204" charset="-122"/>
                <a:ea typeface="微软雅黑" panose="020B0503020204020204" charset="-122"/>
                <a:cs typeface="微软雅黑" panose="020B0503020204020204" charset="-122"/>
                <a:sym typeface="Calibri" panose="020F0502020204030204"/>
              </a:rPr>
              <a:t>总体效果</a:t>
            </a:r>
            <a:endParaRPr kumimoji="0" lang="zh-CN" altLang="en-US" sz="2400" b="1" i="0" u="none" strike="noStrike" cap="none" spc="0" normalizeH="0" baseline="0">
              <a:ln>
                <a:noFill/>
              </a:ln>
              <a:solidFill>
                <a:srgbClr val="0564CD"/>
              </a:solidFill>
              <a:effectLst/>
              <a:uFillTx/>
              <a:latin typeface="微软雅黑" panose="020B0503020204020204" charset="-122"/>
              <a:ea typeface="微软雅黑" panose="020B0503020204020204" charset="-122"/>
              <a:cs typeface="微软雅黑" panose="020B0503020204020204" charset="-122"/>
              <a:sym typeface="Calibri" panose="020F0502020204030204"/>
            </a:endParaRPr>
          </a:p>
        </p:txBody>
      </p:sp>
      <p:sp>
        <p:nvSpPr>
          <p:cNvPr id="11" name="文本框 10"/>
          <p:cNvSpPr txBox="1"/>
          <p:nvPr/>
        </p:nvSpPr>
        <p:spPr>
          <a:xfrm>
            <a:off x="7752080" y="3218180"/>
            <a:ext cx="1123315" cy="337185"/>
          </a:xfrm>
          <a:prstGeom prst="rect">
            <a:avLst/>
          </a:prstGeom>
          <a:noFill/>
        </p:spPr>
        <p:txBody>
          <a:bodyPr wrap="square" rtlCol="0">
            <a:spAutoFit/>
          </a:bodyPr>
          <a:p>
            <a:pPr algn="ctr"/>
            <a:r>
              <a:rPr lang="zh-CN" altLang="en-US" sz="1600">
                <a:latin typeface="微软雅黑" panose="020B0503020204020204" charset="-122"/>
                <a:ea typeface="微软雅黑" panose="020B0503020204020204" charset="-122"/>
              </a:rPr>
              <a:t>训练集</a:t>
            </a:r>
            <a:endParaRPr lang="zh-CN" altLang="en-US" sz="1600">
              <a:latin typeface="微软雅黑" panose="020B0503020204020204" charset="-122"/>
              <a:ea typeface="微软雅黑" panose="020B0503020204020204" charset="-122"/>
            </a:endParaRPr>
          </a:p>
        </p:txBody>
      </p:sp>
      <p:sp>
        <p:nvSpPr>
          <p:cNvPr id="12" name="文本框 11"/>
          <p:cNvSpPr txBox="1"/>
          <p:nvPr/>
        </p:nvSpPr>
        <p:spPr>
          <a:xfrm>
            <a:off x="5735955" y="6299200"/>
            <a:ext cx="1143000" cy="337185"/>
          </a:xfrm>
          <a:prstGeom prst="rect">
            <a:avLst/>
          </a:prstGeom>
          <a:noFill/>
        </p:spPr>
        <p:txBody>
          <a:bodyPr wrap="square" rtlCol="0">
            <a:spAutoFit/>
          </a:bodyPr>
          <a:p>
            <a:pPr algn="ctr"/>
            <a:r>
              <a:rPr lang="zh-CN" altLang="en-US" sz="1600">
                <a:latin typeface="微软雅黑" panose="020B0503020204020204" charset="-122"/>
                <a:ea typeface="微软雅黑" panose="020B0503020204020204" charset="-122"/>
              </a:rPr>
              <a:t>验证集</a:t>
            </a:r>
            <a:endParaRPr lang="zh-CN" altLang="en-US" sz="1600">
              <a:latin typeface="微软雅黑" panose="020B0503020204020204" charset="-122"/>
              <a:ea typeface="微软雅黑" panose="020B0503020204020204" charset="-122"/>
            </a:endParaRPr>
          </a:p>
        </p:txBody>
      </p:sp>
      <p:sp>
        <p:nvSpPr>
          <p:cNvPr id="16" name="文本框 15"/>
          <p:cNvSpPr txBox="1"/>
          <p:nvPr/>
        </p:nvSpPr>
        <p:spPr>
          <a:xfrm>
            <a:off x="623570" y="5517515"/>
            <a:ext cx="3670300" cy="520700"/>
          </a:xfrm>
          <a:prstGeom prst="rect">
            <a:avLst/>
          </a:prstGeom>
          <a:noFill/>
          <a:ln w="12700" cap="flat">
            <a:noFill/>
            <a:miter lim="400000"/>
          </a:ln>
        </p:spPr>
        <p:style>
          <a:lnRef idx="0">
            <a:srgbClr val="FFFFFF"/>
          </a:lnRef>
          <a:fillRef idx="0">
            <a:srgbClr val="FFFFFF"/>
          </a:fillRef>
          <a:effectRef idx="0">
            <a:srgbClr val="FFFFFF"/>
          </a:effectRef>
          <a:fontRef idx="none"/>
        </p:style>
        <p:txBody>
          <a:bodyPr rot="0" vertOverflow="overflow" horzOverflow="overflow" vert="horz" wrap="square" lIns="45719" tIns="45719" rIns="45719" bIns="45719" numCol="1" spcCol="38100" rtlCol="0" anchor="t" forceAA="0" upright="0">
            <a:spAutoFit/>
          </a:bodyPr>
          <a:p>
            <a:pPr marL="0" marR="0" indent="0" algn="l" defTabSz="914400" rtl="0" fontAlgn="auto" latinLnBrk="0" hangingPunct="0">
              <a:lnSpc>
                <a:spcPct val="100000"/>
              </a:lnSpc>
              <a:spcBef>
                <a:spcPts val="0"/>
              </a:spcBef>
              <a:spcAft>
                <a:spcPts val="0"/>
              </a:spcAft>
              <a:buClrTx/>
              <a:buSzTx/>
              <a:buFontTx/>
              <a:buNone/>
            </a:pPr>
            <a:r>
              <a:rPr lang="en-US" altLang="zh-CN" sz="1400" b="1">
                <a:latin typeface="微软雅黑" panose="020B0503020204020204" charset="-122"/>
                <a:ea typeface="微软雅黑" panose="020B0503020204020204" charset="-122"/>
                <a:cs typeface="微软雅黑" panose="020B0503020204020204" charset="-122"/>
                <a:sym typeface="+mn-ea"/>
              </a:rPr>
              <a:t>AUC</a:t>
            </a:r>
            <a:r>
              <a:rPr lang="zh-CN" altLang="en-US" sz="1400">
                <a:latin typeface="微软雅黑" panose="020B0503020204020204" charset="-122"/>
                <a:ea typeface="微软雅黑" panose="020B0503020204020204" charset="-122"/>
                <a:cs typeface="微软雅黑" panose="020B0503020204020204" charset="-122"/>
                <a:sym typeface="+mn-ea"/>
              </a:rPr>
              <a:t>是</a:t>
            </a:r>
            <a:r>
              <a:rPr lang="en-US" altLang="zh-CN" sz="1400">
                <a:latin typeface="微软雅黑" panose="020B0503020204020204" charset="-122"/>
                <a:ea typeface="微软雅黑" panose="020B0503020204020204" charset="-122"/>
                <a:cs typeface="微软雅黑" panose="020B0503020204020204" charset="-122"/>
                <a:sym typeface="+mn-ea"/>
              </a:rPr>
              <a:t>ROC</a:t>
            </a:r>
            <a:r>
              <a:rPr lang="zh-CN" altLang="en-US" sz="1400">
                <a:latin typeface="微软雅黑" panose="020B0503020204020204" charset="-122"/>
                <a:ea typeface="微软雅黑" panose="020B0503020204020204" charset="-122"/>
                <a:cs typeface="微软雅黑" panose="020B0503020204020204" charset="-122"/>
                <a:sym typeface="+mn-ea"/>
              </a:rPr>
              <a:t>曲线下面的面积，数值介于</a:t>
            </a:r>
            <a:r>
              <a:rPr lang="en-US" altLang="zh-CN" sz="1400">
                <a:latin typeface="微软雅黑" panose="020B0503020204020204" charset="-122"/>
                <a:ea typeface="微软雅黑" panose="020B0503020204020204" charset="-122"/>
                <a:cs typeface="微软雅黑" panose="020B0503020204020204" charset="-122"/>
                <a:sym typeface="+mn-ea"/>
              </a:rPr>
              <a:t>0-1</a:t>
            </a:r>
            <a:r>
              <a:rPr lang="zh-CN" altLang="en-US" sz="1400">
                <a:latin typeface="微软雅黑" panose="020B0503020204020204" charset="-122"/>
                <a:ea typeface="微软雅黑" panose="020B0503020204020204" charset="-122"/>
                <a:cs typeface="微软雅黑" panose="020B0503020204020204" charset="-122"/>
                <a:sym typeface="+mn-ea"/>
              </a:rPr>
              <a:t>，越好的模型会有越高的</a:t>
            </a:r>
            <a:r>
              <a:rPr lang="en-US" altLang="zh-CN" sz="1400">
                <a:latin typeface="微软雅黑" panose="020B0503020204020204" charset="-122"/>
                <a:ea typeface="微软雅黑" panose="020B0503020204020204" charset="-122"/>
                <a:cs typeface="微软雅黑" panose="020B0503020204020204" charset="-122"/>
                <a:sym typeface="+mn-ea"/>
              </a:rPr>
              <a:t>AUC</a:t>
            </a:r>
            <a:r>
              <a:rPr lang="zh-CN" altLang="en-US" sz="1400">
                <a:latin typeface="微软雅黑" panose="020B0503020204020204" charset="-122"/>
                <a:ea typeface="微软雅黑" panose="020B0503020204020204" charset="-122"/>
                <a:cs typeface="微软雅黑" panose="020B0503020204020204" charset="-122"/>
                <a:sym typeface="+mn-ea"/>
              </a:rPr>
              <a:t>值。</a:t>
            </a:r>
            <a:endParaRPr kumimoji="0" lang="zh-CN" altLang="en-US" sz="1400" b="0" i="0" u="none" strike="noStrike" cap="none" spc="0" normalizeH="0" baseline="0">
              <a:ln>
                <a:noFill/>
              </a:ln>
              <a:solidFill>
                <a:srgbClr val="000000"/>
              </a:solidFill>
              <a:effectLst/>
              <a:uFillTx/>
              <a:latin typeface="微软雅黑" panose="020B0503020204020204" charset="-122"/>
              <a:ea typeface="微软雅黑" panose="020B0503020204020204" charset="-122"/>
              <a:cs typeface="微软雅黑" panose="020B0503020204020204" charset="-122"/>
              <a:sym typeface="+mn-ea"/>
            </a:endParaRPr>
          </a:p>
        </p:txBody>
      </p:sp>
      <p:sp>
        <p:nvSpPr>
          <p:cNvPr id="17" name="文本框 16"/>
          <p:cNvSpPr txBox="1"/>
          <p:nvPr/>
        </p:nvSpPr>
        <p:spPr>
          <a:xfrm>
            <a:off x="623570" y="4221480"/>
            <a:ext cx="4050665" cy="920750"/>
          </a:xfrm>
          <a:prstGeom prst="rect">
            <a:avLst/>
          </a:prstGeom>
          <a:noFill/>
          <a:ln w="12700" cap="flat">
            <a:noFill/>
            <a:miter lim="400000"/>
          </a:ln>
        </p:spPr>
        <p:style>
          <a:lnRef idx="0">
            <a:srgbClr val="FFFFFF"/>
          </a:lnRef>
          <a:fillRef idx="0">
            <a:srgbClr val="FFFFFF"/>
          </a:fillRef>
          <a:effectRef idx="0">
            <a:srgbClr val="FFFFFF"/>
          </a:effectRef>
          <a:fontRef idx="none"/>
        </p:style>
        <p:txBody>
          <a:bodyPr rot="0" vertOverflow="overflow" horzOverflow="overflow" vert="horz" wrap="square" lIns="45719" tIns="45719" rIns="45719" bIns="45719" numCol="1" spcCol="38100" rtlCol="0" anchor="t" forceAA="0" upright="0">
            <a:spAutoFit/>
          </a:bodyPr>
          <a:p>
            <a:pPr marL="0" marR="0" indent="0" algn="l" defTabSz="914400" rtl="0" fontAlgn="auto" latinLnBrk="0" hangingPunct="0">
              <a:lnSpc>
                <a:spcPct val="150000"/>
              </a:lnSpc>
              <a:spcBef>
                <a:spcPts val="0"/>
              </a:spcBef>
              <a:spcAft>
                <a:spcPts val="0"/>
              </a:spcAft>
              <a:buClrTx/>
              <a:buSzTx/>
              <a:buFontTx/>
              <a:buNone/>
            </a:pPr>
            <a:r>
              <a:rPr kumimoji="0" lang="en-US" altLang="zh-CN" sz="1800" b="0" i="0" u="none" strike="noStrike" cap="none" spc="0" normalizeH="0" baseline="0">
                <a:ln>
                  <a:noFill/>
                </a:ln>
                <a:solidFill>
                  <a:srgbClr val="000000"/>
                </a:solidFill>
                <a:effectLst/>
                <a:uFillTx/>
                <a:latin typeface="微软雅黑" panose="020B0503020204020204" charset="-122"/>
                <a:ea typeface="微软雅黑" panose="020B0503020204020204" charset="-122"/>
                <a:cs typeface="微软雅黑" panose="020B0503020204020204" charset="-122"/>
                <a:sym typeface="Calibri" panose="020F0502020204030204"/>
              </a:rPr>
              <a:t>xgboost</a:t>
            </a:r>
            <a:r>
              <a:rPr kumimoji="0" lang="zh-CN" altLang="en-US" sz="1800" b="0" i="0" u="none" strike="noStrike" cap="none" spc="0" normalizeH="0" baseline="0">
                <a:ln>
                  <a:noFill/>
                </a:ln>
                <a:solidFill>
                  <a:srgbClr val="000000"/>
                </a:solidFill>
                <a:effectLst/>
                <a:uFillTx/>
                <a:latin typeface="微软雅黑" panose="020B0503020204020204" charset="-122"/>
                <a:ea typeface="微软雅黑" panose="020B0503020204020204" charset="-122"/>
                <a:cs typeface="微软雅黑" panose="020B0503020204020204" charset="-122"/>
                <a:sym typeface="Calibri" panose="020F0502020204030204"/>
              </a:rPr>
              <a:t>模型整体效果较好，经过验证集与测试集</a:t>
            </a:r>
            <a:r>
              <a:rPr kumimoji="0" lang="en-US" altLang="zh-CN" sz="1800" b="0" i="0" u="none" strike="noStrike" cap="none" spc="0" normalizeH="0" baseline="0">
                <a:ln>
                  <a:noFill/>
                </a:ln>
                <a:solidFill>
                  <a:srgbClr val="000000"/>
                </a:solidFill>
                <a:effectLst/>
                <a:uFillTx/>
                <a:latin typeface="微软雅黑" panose="020B0503020204020204" charset="-122"/>
                <a:ea typeface="微软雅黑" panose="020B0503020204020204" charset="-122"/>
                <a:cs typeface="微软雅黑" panose="020B0503020204020204" charset="-122"/>
                <a:sym typeface="Calibri" panose="020F0502020204030204"/>
              </a:rPr>
              <a:t>1</a:t>
            </a:r>
            <a:r>
              <a:rPr kumimoji="0" lang="zh-CN" altLang="en-US" sz="1800" b="0" i="0" u="none" strike="noStrike" cap="none" spc="0" normalizeH="0" baseline="0">
                <a:ln>
                  <a:noFill/>
                </a:ln>
                <a:solidFill>
                  <a:srgbClr val="000000"/>
                </a:solidFill>
                <a:effectLst/>
                <a:uFillTx/>
                <a:latin typeface="微软雅黑" panose="020B0503020204020204" charset="-122"/>
                <a:ea typeface="微软雅黑" panose="020B0503020204020204" charset="-122"/>
                <a:cs typeface="微软雅黑" panose="020B0503020204020204" charset="-122"/>
                <a:sym typeface="Calibri" panose="020F0502020204030204"/>
              </a:rPr>
              <a:t>进行验证，效果稳定。</a:t>
            </a:r>
            <a:endParaRPr kumimoji="0" lang="zh-CN" altLang="en-US" sz="1800" b="0" i="0" u="none" strike="noStrike" cap="none" spc="0" normalizeH="0" baseline="0">
              <a:ln>
                <a:noFill/>
              </a:ln>
              <a:solidFill>
                <a:srgbClr val="000000"/>
              </a:solidFill>
              <a:effectLst/>
              <a:uFillTx/>
              <a:latin typeface="微软雅黑" panose="020B0503020204020204" charset="-122"/>
              <a:ea typeface="微软雅黑" panose="020B0503020204020204" charset="-122"/>
              <a:cs typeface="微软雅黑" panose="020B0503020204020204" charset="-122"/>
              <a:sym typeface="Calibri" panose="020F0502020204030204"/>
            </a:endParaRPr>
          </a:p>
        </p:txBody>
      </p:sp>
      <p:sp>
        <p:nvSpPr>
          <p:cNvPr id="9" name="文本框 8"/>
          <p:cNvSpPr txBox="1"/>
          <p:nvPr/>
        </p:nvSpPr>
        <p:spPr>
          <a:xfrm>
            <a:off x="9839960" y="6299200"/>
            <a:ext cx="1143000" cy="337185"/>
          </a:xfrm>
          <a:prstGeom prst="rect">
            <a:avLst/>
          </a:prstGeom>
          <a:noFill/>
        </p:spPr>
        <p:txBody>
          <a:bodyPr wrap="square" rtlCol="0">
            <a:spAutoFit/>
          </a:bodyPr>
          <a:p>
            <a:pPr algn="ctr"/>
            <a:r>
              <a:rPr lang="zh-CN" altLang="en-US" sz="1600">
                <a:latin typeface="微软雅黑" panose="020B0503020204020204" charset="-122"/>
                <a:ea typeface="微软雅黑" panose="020B0503020204020204" charset="-122"/>
                <a:cs typeface="微软雅黑" panose="020B0503020204020204" charset="-122"/>
              </a:rPr>
              <a:t>测试集</a:t>
            </a:r>
            <a:r>
              <a:rPr lang="en-US" altLang="zh-CN" sz="1600">
                <a:latin typeface="微软雅黑" panose="020B0503020204020204" charset="-122"/>
                <a:ea typeface="微软雅黑" panose="020B0503020204020204" charset="-122"/>
                <a:cs typeface="微软雅黑" panose="020B0503020204020204" charset="-122"/>
              </a:rPr>
              <a:t>1</a:t>
            </a:r>
            <a:endParaRPr lang="en-US" altLang="zh-CN" sz="1600">
              <a:latin typeface="微软雅黑" panose="020B0503020204020204" charset="-122"/>
              <a:ea typeface="微软雅黑" panose="020B0503020204020204" charset="-122"/>
              <a:cs typeface="微软雅黑" panose="020B0503020204020204" charset="-122"/>
            </a:endParaRPr>
          </a:p>
        </p:txBody>
      </p:sp>
      <p:pic>
        <p:nvPicPr>
          <p:cNvPr id="4" name="图片 3" descr="kx_auc_0120"/>
          <p:cNvPicPr>
            <a:picLocks noChangeAspect="1"/>
          </p:cNvPicPr>
          <p:nvPr/>
        </p:nvPicPr>
        <p:blipFill>
          <a:blip r:embed="rId1"/>
          <a:stretch>
            <a:fillRect/>
          </a:stretch>
        </p:blipFill>
        <p:spPr>
          <a:xfrm>
            <a:off x="695960" y="1732915"/>
            <a:ext cx="3600000" cy="2340636"/>
          </a:xfrm>
          <a:prstGeom prst="rect">
            <a:avLst/>
          </a:prstGeom>
        </p:spPr>
      </p:pic>
      <p:pic>
        <p:nvPicPr>
          <p:cNvPr id="6" name="图片 5" descr="kx_train_roc_0120"/>
          <p:cNvPicPr>
            <a:picLocks noChangeAspect="1"/>
          </p:cNvPicPr>
          <p:nvPr/>
        </p:nvPicPr>
        <p:blipFill>
          <a:blip r:embed="rId2"/>
          <a:srcRect l="3102" t="7488" r="6991" b="4271"/>
          <a:stretch>
            <a:fillRect/>
          </a:stretch>
        </p:blipFill>
        <p:spPr>
          <a:xfrm>
            <a:off x="6692900" y="179705"/>
            <a:ext cx="3096000" cy="3038608"/>
          </a:xfrm>
          <a:prstGeom prst="rect">
            <a:avLst/>
          </a:prstGeom>
        </p:spPr>
      </p:pic>
      <p:pic>
        <p:nvPicPr>
          <p:cNvPr id="7" name="图片 6" descr="kx_valid_roc_0120"/>
          <p:cNvPicPr>
            <a:picLocks noChangeAspect="1"/>
          </p:cNvPicPr>
          <p:nvPr/>
        </p:nvPicPr>
        <p:blipFill>
          <a:blip r:embed="rId3"/>
          <a:srcRect l="3102" t="7488" r="7187" b="5035"/>
          <a:stretch>
            <a:fillRect/>
          </a:stretch>
        </p:blipFill>
        <p:spPr>
          <a:xfrm>
            <a:off x="4727575" y="3218180"/>
            <a:ext cx="3096000" cy="3018910"/>
          </a:xfrm>
          <a:prstGeom prst="rect">
            <a:avLst/>
          </a:prstGeom>
        </p:spPr>
      </p:pic>
      <p:pic>
        <p:nvPicPr>
          <p:cNvPr id="8" name="图片 7" descr="test_roc_0120"/>
          <p:cNvPicPr>
            <a:picLocks noChangeAspect="1"/>
          </p:cNvPicPr>
          <p:nvPr/>
        </p:nvPicPr>
        <p:blipFill>
          <a:blip r:embed="rId4"/>
          <a:srcRect l="3102" t="7674" r="7384" b="5231"/>
          <a:stretch>
            <a:fillRect/>
          </a:stretch>
        </p:blipFill>
        <p:spPr>
          <a:xfrm>
            <a:off x="8688070" y="3218180"/>
            <a:ext cx="3096000" cy="3012335"/>
          </a:xfrm>
          <a:prstGeom prst="rect">
            <a:avLst/>
          </a:prstGeom>
        </p:spPr>
      </p:pic>
    </p:spTree>
  </p:cSld>
  <p:clrMapOvr>
    <a:masterClrMapping/>
  </p:clrMapOvr>
  <p:transition spd="med"/>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p:nvPr>
            <p:ph type="title"/>
          </p:nvPr>
        </p:nvSpPr>
        <p:spPr>
          <a:xfrm>
            <a:off x="335915" y="260985"/>
            <a:ext cx="10714355" cy="675005"/>
          </a:xfrm>
        </p:spPr>
        <p:txBody>
          <a:bodyPr>
            <a:normAutofit/>
          </a:bodyPr>
          <a:p>
            <a:r>
              <a:rPr lang="en-US" altLang="zh-CN" sz="3555"/>
              <a:t>3. </a:t>
            </a:r>
            <a:r>
              <a:rPr lang="zh-CN" altLang="en-US" sz="3555"/>
              <a:t>模型建立</a:t>
            </a:r>
            <a:r>
              <a:rPr lang="en-US" altLang="zh-CN" sz="3550">
                <a:sym typeface="+mn-ea"/>
              </a:rPr>
              <a:t>-XGBOOST</a:t>
            </a:r>
            <a:endParaRPr lang="en-US" altLang="zh-CN" sz="3550">
              <a:sym typeface="+mn-ea"/>
            </a:endParaRPr>
          </a:p>
        </p:txBody>
      </p:sp>
      <p:sp>
        <p:nvSpPr>
          <p:cNvPr id="25" name="文本框 24"/>
          <p:cNvSpPr txBox="1"/>
          <p:nvPr/>
        </p:nvSpPr>
        <p:spPr>
          <a:xfrm>
            <a:off x="695960" y="1125220"/>
            <a:ext cx="3537585" cy="459105"/>
          </a:xfrm>
          <a:prstGeom prst="rect">
            <a:avLst/>
          </a:prstGeom>
          <a:noFill/>
          <a:ln w="12700" cap="flat">
            <a:noFill/>
            <a:miter lim="400000"/>
          </a:ln>
        </p:spPr>
        <p:style>
          <a:lnRef idx="0">
            <a:srgbClr val="FFFFFF"/>
          </a:lnRef>
          <a:fillRef idx="0">
            <a:srgbClr val="FFFFFF"/>
          </a:fillRef>
          <a:effectRef idx="0">
            <a:srgbClr val="FFFFFF"/>
          </a:effectRef>
          <a:fontRef idx="none"/>
        </p:style>
        <p:txBody>
          <a:bodyPr rot="0" vertOverflow="overflow" horzOverflow="overflow" vert="horz" wrap="square" lIns="45719" tIns="45719" rIns="45719" bIns="45719" numCol="1" spcCol="38100" rtlCol="0" anchor="t" forceAA="0" upright="0">
            <a:spAutoFit/>
          </a:bodyPr>
          <a:p>
            <a:pPr marL="342900" marR="0" indent="-342900" algn="l" defTabSz="914400" rtl="0" fontAlgn="auto" latinLnBrk="0" hangingPunct="0">
              <a:lnSpc>
                <a:spcPct val="100000"/>
              </a:lnSpc>
              <a:spcBef>
                <a:spcPts val="0"/>
              </a:spcBef>
              <a:spcAft>
                <a:spcPts val="0"/>
              </a:spcAft>
              <a:buClrTx/>
              <a:buSzTx/>
              <a:buFont typeface="Wingdings" panose="05000000000000000000" charset="0"/>
              <a:buChar char="ü"/>
            </a:pPr>
            <a:r>
              <a:rPr kumimoji="0" lang="zh-CN" altLang="en-US" sz="2400" b="1" i="0" u="none" strike="noStrike" cap="none" spc="0" normalizeH="0" baseline="0">
                <a:ln>
                  <a:noFill/>
                </a:ln>
                <a:solidFill>
                  <a:srgbClr val="0564CD"/>
                </a:solidFill>
                <a:effectLst/>
                <a:uFillTx/>
                <a:latin typeface="微软雅黑" panose="020B0503020204020204" charset="-122"/>
                <a:ea typeface="微软雅黑" panose="020B0503020204020204" charset="-122"/>
                <a:cs typeface="微软雅黑" panose="020B0503020204020204" charset="-122"/>
                <a:sym typeface="Calibri" panose="020F0502020204030204"/>
              </a:rPr>
              <a:t>精确率、召回率等指标</a:t>
            </a:r>
            <a:endParaRPr kumimoji="0" lang="zh-CN" altLang="en-US" sz="2400" b="1" i="0" u="none" strike="noStrike" cap="none" spc="0" normalizeH="0" baseline="0">
              <a:ln>
                <a:noFill/>
              </a:ln>
              <a:solidFill>
                <a:srgbClr val="0564CD"/>
              </a:solidFill>
              <a:effectLst/>
              <a:uFillTx/>
              <a:latin typeface="微软雅黑" panose="020B0503020204020204" charset="-122"/>
              <a:ea typeface="微软雅黑" panose="020B0503020204020204" charset="-122"/>
              <a:cs typeface="微软雅黑" panose="020B0503020204020204" charset="-122"/>
              <a:sym typeface="Calibri" panose="020F0502020204030204"/>
            </a:endParaRPr>
          </a:p>
        </p:txBody>
      </p:sp>
      <p:sp>
        <p:nvSpPr>
          <p:cNvPr id="4" name="文本框 3"/>
          <p:cNvSpPr txBox="1"/>
          <p:nvPr/>
        </p:nvSpPr>
        <p:spPr>
          <a:xfrm>
            <a:off x="1343025" y="6381750"/>
            <a:ext cx="1143000" cy="368300"/>
          </a:xfrm>
          <a:prstGeom prst="rect">
            <a:avLst/>
          </a:prstGeom>
          <a:noFill/>
        </p:spPr>
        <p:txBody>
          <a:bodyPr wrap="square" rtlCol="0">
            <a:spAutoFit/>
          </a:bodyPr>
          <a:p>
            <a:r>
              <a:rPr lang="zh-CN" altLang="en-US"/>
              <a:t>训练集</a:t>
            </a:r>
            <a:endParaRPr lang="zh-CN" altLang="en-US"/>
          </a:p>
        </p:txBody>
      </p:sp>
      <p:sp>
        <p:nvSpPr>
          <p:cNvPr id="6" name="文本框 5"/>
          <p:cNvSpPr txBox="1"/>
          <p:nvPr/>
        </p:nvSpPr>
        <p:spPr>
          <a:xfrm>
            <a:off x="5447665" y="6325870"/>
            <a:ext cx="1143000" cy="368300"/>
          </a:xfrm>
          <a:prstGeom prst="rect">
            <a:avLst/>
          </a:prstGeom>
          <a:noFill/>
        </p:spPr>
        <p:txBody>
          <a:bodyPr wrap="square" rtlCol="0">
            <a:spAutoFit/>
          </a:bodyPr>
          <a:p>
            <a:r>
              <a:rPr lang="zh-CN" altLang="en-US"/>
              <a:t>验证集</a:t>
            </a:r>
            <a:endParaRPr lang="zh-CN" altLang="en-US"/>
          </a:p>
        </p:txBody>
      </p:sp>
      <mc:AlternateContent xmlns:mc="http://schemas.openxmlformats.org/markup-compatibility/2006">
        <mc:Choice xmlns:a14="http://schemas.microsoft.com/office/drawing/2010/main" Requires="a14">
          <p:sp>
            <p:nvSpPr>
              <p:cNvPr id="21" name="文本框 20"/>
              <p:cNvSpPr txBox="1"/>
              <p:nvPr/>
            </p:nvSpPr>
            <p:spPr>
              <a:xfrm>
                <a:off x="5735955" y="1125220"/>
                <a:ext cx="6309360" cy="1347470"/>
              </a:xfrm>
              <a:prstGeom prst="rect">
                <a:avLst/>
              </a:prstGeom>
              <a:noFill/>
            </p:spPr>
            <p:txBody>
              <a:bodyPr wrap="square" rtlCol="0">
                <a:spAutoFit/>
              </a:bodyPr>
              <a:p>
                <a:pPr marL="285750" indent="-285750">
                  <a:buFont typeface="Arial" panose="020B0604020202020204" pitchFamily="34" charset="0"/>
                  <a:buChar char="•"/>
                </a:pPr>
                <a:r>
                  <a:rPr lang="en-US" altLang="zh-CN" sz="1400">
                    <a:latin typeface="微软雅黑" panose="020B0503020204020204" charset="-122"/>
                    <a:ea typeface="微软雅黑" panose="020B0503020204020204" charset="-122"/>
                    <a:cs typeface="微软雅黑" panose="020B0503020204020204" charset="-122"/>
                  </a:rPr>
                  <a:t>precision </a:t>
                </a:r>
                <a:r>
                  <a:rPr lang="zh-CN" altLang="en-US" sz="1400">
                    <a:latin typeface="微软雅黑" panose="020B0503020204020204" charset="-122"/>
                    <a:ea typeface="微软雅黑" panose="020B0503020204020204" charset="-122"/>
                    <a:cs typeface="微软雅黑" panose="020B0503020204020204" charset="-122"/>
                  </a:rPr>
                  <a:t>准确率：被预测成某类别的样本中有多少是正确的（</a:t>
                </a:r>
                <a14:m>
                  <m:oMath xmlns:m="http://schemas.openxmlformats.org/officeDocument/2006/math">
                    <m:f>
                      <m:fPr>
                        <m:ctrlPr>
                          <a:rPr lang="en-US" altLang="zh-CN" sz="1400" i="1">
                            <a:latin typeface="Cambria Math" panose="02040503050406030204" charset="0"/>
                            <a:ea typeface="微软雅黑" panose="020B0503020204020204" charset="-122"/>
                            <a:cs typeface="Cambria Math" panose="02040503050406030204" charset="0"/>
                          </a:rPr>
                        </m:ctrlPr>
                      </m:fPr>
                      <m:num>
                        <m:r>
                          <a:rPr lang="en-US" altLang="zh-CN" sz="1400" i="1">
                            <a:latin typeface="Cambria Math" panose="02040503050406030204" charset="0"/>
                            <a:ea typeface="微软雅黑" panose="020B0503020204020204" charset="-122"/>
                            <a:cs typeface="Cambria Math" panose="02040503050406030204" charset="0"/>
                          </a:rPr>
                          <m:t>𝑇𝑃</m:t>
                        </m:r>
                      </m:num>
                      <m:den>
                        <m:r>
                          <a:rPr lang="en-US" altLang="zh-CN" sz="1400" i="1">
                            <a:latin typeface="Cambria Math" panose="02040503050406030204" charset="0"/>
                            <a:ea typeface="微软雅黑" panose="020B0503020204020204" charset="-122"/>
                            <a:cs typeface="Cambria Math" panose="02040503050406030204" charset="0"/>
                          </a:rPr>
                          <m:t>𝑇𝑃</m:t>
                        </m:r>
                        <m:r>
                          <a:rPr lang="en-US" altLang="zh-CN" sz="1400" i="1">
                            <a:latin typeface="Cambria Math" panose="02040503050406030204" charset="0"/>
                            <a:ea typeface="MS Mincho" charset="0"/>
                            <a:cs typeface="Cambria Math" panose="02040503050406030204" charset="0"/>
                          </a:rPr>
                          <m:t>+</m:t>
                        </m:r>
                        <m:r>
                          <a:rPr lang="en-US" altLang="zh-CN" sz="1400" i="1">
                            <a:latin typeface="Cambria Math" panose="02040503050406030204" charset="0"/>
                            <a:ea typeface="微软雅黑" panose="020B0503020204020204" charset="-122"/>
                            <a:cs typeface="Cambria Math" panose="02040503050406030204" charset="0"/>
                          </a:rPr>
                          <m:t>𝐹𝑃</m:t>
                        </m:r>
                      </m:den>
                    </m:f>
                  </m:oMath>
                </a14:m>
                <a:r>
                  <a:rPr lang="zh-CN" altLang="en-US" sz="1400">
                    <a:latin typeface="微软雅黑" panose="020B0503020204020204" charset="-122"/>
                    <a:ea typeface="微软雅黑" panose="020B0503020204020204" charset="-122"/>
                    <a:cs typeface="微软雅黑" panose="020B0503020204020204" charset="-122"/>
                  </a:rPr>
                  <a:t>）</a:t>
                </a:r>
                <a:endParaRPr lang="zh-CN" altLang="en-US" sz="1400">
                  <a:latin typeface="微软雅黑" panose="020B0503020204020204" charset="-122"/>
                  <a:ea typeface="微软雅黑" panose="020B0503020204020204" charset="-122"/>
                  <a:cs typeface="微软雅黑" panose="020B0503020204020204" charset="-122"/>
                </a:endParaRPr>
              </a:p>
              <a:p>
                <a:pPr marL="285750" indent="-285750">
                  <a:buFont typeface="Arial" panose="020B0604020202020204" pitchFamily="34" charset="0"/>
                  <a:buChar char="•"/>
                </a:pPr>
                <a:r>
                  <a:rPr lang="en-US" altLang="zh-CN" sz="1400">
                    <a:latin typeface="微软雅黑" panose="020B0503020204020204" charset="-122"/>
                    <a:ea typeface="微软雅黑" panose="020B0503020204020204" charset="-122"/>
                    <a:cs typeface="微软雅黑" panose="020B0503020204020204" charset="-122"/>
                  </a:rPr>
                  <a:t>recall </a:t>
                </a:r>
                <a:r>
                  <a:rPr lang="zh-CN" altLang="en-US" sz="1400">
                    <a:latin typeface="微软雅黑" panose="020B0503020204020204" charset="-122"/>
                    <a:ea typeface="微软雅黑" panose="020B0503020204020204" charset="-122"/>
                    <a:cs typeface="微软雅黑" panose="020B0503020204020204" charset="-122"/>
                  </a:rPr>
                  <a:t>召回率：原始某类样本中有多少被正确分类（</a:t>
                </a:r>
                <a14:m>
                  <m:oMath xmlns:m="http://schemas.openxmlformats.org/officeDocument/2006/math">
                    <m:f>
                      <m:fPr>
                        <m:ctrlPr>
                          <a:rPr lang="en-US" altLang="zh-CN" sz="1400" i="1">
                            <a:latin typeface="Cambria Math" panose="02040503050406030204" charset="0"/>
                            <a:ea typeface="微软雅黑" panose="020B0503020204020204" charset="-122"/>
                            <a:cs typeface="Cambria Math" panose="02040503050406030204" charset="0"/>
                          </a:rPr>
                        </m:ctrlPr>
                      </m:fPr>
                      <m:num>
                        <m:r>
                          <a:rPr lang="en-US" altLang="zh-CN" sz="1400" i="1">
                            <a:latin typeface="Cambria Math" panose="02040503050406030204" charset="0"/>
                            <a:ea typeface="微软雅黑" panose="020B0503020204020204" charset="-122"/>
                            <a:cs typeface="Cambria Math" panose="02040503050406030204" charset="0"/>
                          </a:rPr>
                          <m:t>𝑇𝑃</m:t>
                        </m:r>
                      </m:num>
                      <m:den>
                        <m:r>
                          <a:rPr lang="en-US" altLang="zh-CN" sz="1400" i="1">
                            <a:latin typeface="Cambria Math" panose="02040503050406030204" charset="0"/>
                            <a:ea typeface="微软雅黑" panose="020B0503020204020204" charset="-122"/>
                            <a:cs typeface="Cambria Math" panose="02040503050406030204" charset="0"/>
                          </a:rPr>
                          <m:t>𝑇𝑃</m:t>
                        </m:r>
                        <m:r>
                          <a:rPr lang="en-US" altLang="zh-CN" sz="1400" i="1">
                            <a:latin typeface="Cambria Math" panose="02040503050406030204" charset="0"/>
                            <a:ea typeface="MS Mincho" charset="0"/>
                            <a:cs typeface="Cambria Math" panose="02040503050406030204" charset="0"/>
                          </a:rPr>
                          <m:t>+</m:t>
                        </m:r>
                        <m:r>
                          <a:rPr lang="en-US" altLang="zh-CN" sz="1400" i="1">
                            <a:latin typeface="Cambria Math" panose="02040503050406030204" charset="0"/>
                            <a:ea typeface="微软雅黑" panose="020B0503020204020204" charset="-122"/>
                            <a:cs typeface="Cambria Math" panose="02040503050406030204" charset="0"/>
                          </a:rPr>
                          <m:t>𝐹𝑁</m:t>
                        </m:r>
                      </m:den>
                    </m:f>
                  </m:oMath>
                </a14:m>
                <a:r>
                  <a:rPr lang="zh-CN" altLang="en-US" sz="1400">
                    <a:latin typeface="微软雅黑" panose="020B0503020204020204" charset="-122"/>
                    <a:ea typeface="微软雅黑" panose="020B0503020204020204" charset="-122"/>
                    <a:cs typeface="微软雅黑" panose="020B0503020204020204" charset="-122"/>
                  </a:rPr>
                  <a:t>）</a:t>
                </a:r>
                <a:endParaRPr lang="zh-CN" altLang="en-US" sz="1400">
                  <a:latin typeface="微软雅黑" panose="020B0503020204020204" charset="-122"/>
                  <a:ea typeface="微软雅黑" panose="020B0503020204020204" charset="-122"/>
                  <a:cs typeface="微软雅黑" panose="020B0503020204020204" charset="-122"/>
                </a:endParaRPr>
              </a:p>
              <a:p>
                <a:pPr marL="285750" indent="-285750">
                  <a:buFont typeface="Arial" panose="020B0604020202020204" pitchFamily="34" charset="0"/>
                  <a:buChar char="•"/>
                </a:pPr>
                <a:r>
                  <a:rPr lang="en-US" altLang="zh-CN" sz="1400">
                    <a:latin typeface="微软雅黑" panose="020B0503020204020204" charset="-122"/>
                    <a:ea typeface="微软雅黑" panose="020B0503020204020204" charset="-122"/>
                    <a:cs typeface="微软雅黑" panose="020B0503020204020204" charset="-122"/>
                  </a:rPr>
                  <a:t>accuracy </a:t>
                </a:r>
                <a:r>
                  <a:rPr lang="zh-CN" altLang="en-US" sz="1400">
                    <a:latin typeface="微软雅黑" panose="020B0503020204020204" charset="-122"/>
                    <a:ea typeface="微软雅黑" panose="020B0503020204020204" charset="-122"/>
                    <a:cs typeface="微软雅黑" panose="020B0503020204020204" charset="-122"/>
                  </a:rPr>
                  <a:t>精确率：所有样本中有多少样本被预测正确（</a:t>
                </a:r>
                <a14:m>
                  <m:oMath xmlns:m="http://schemas.openxmlformats.org/officeDocument/2006/math">
                    <m:f>
                      <m:fPr>
                        <m:ctrlPr>
                          <a:rPr lang="en-US" altLang="zh-CN" sz="1400" i="1">
                            <a:latin typeface="Cambria Math" panose="02040503050406030204" charset="0"/>
                            <a:ea typeface="微软雅黑" panose="020B0503020204020204" charset="-122"/>
                            <a:cs typeface="Cambria Math" panose="02040503050406030204" charset="0"/>
                          </a:rPr>
                        </m:ctrlPr>
                      </m:fPr>
                      <m:num>
                        <m:r>
                          <a:rPr lang="en-US" altLang="zh-CN" sz="1400" i="1">
                            <a:latin typeface="Cambria Math" panose="02040503050406030204" charset="0"/>
                            <a:ea typeface="微软雅黑" panose="020B0503020204020204" charset="-122"/>
                            <a:cs typeface="Cambria Math" panose="02040503050406030204" charset="0"/>
                          </a:rPr>
                          <m:t>𝑇𝑃</m:t>
                        </m:r>
                        <m:r>
                          <a:rPr lang="en-US" altLang="zh-CN" sz="1400" i="1">
                            <a:latin typeface="Cambria Math" panose="02040503050406030204" charset="0"/>
                            <a:ea typeface="MS Mincho" charset="0"/>
                            <a:cs typeface="Cambria Math" panose="02040503050406030204" charset="0"/>
                          </a:rPr>
                          <m:t>+</m:t>
                        </m:r>
                        <m:r>
                          <a:rPr lang="en-US" altLang="zh-CN" sz="1400" i="1">
                            <a:latin typeface="Cambria Math" panose="02040503050406030204" charset="0"/>
                            <a:ea typeface="微软雅黑" panose="020B0503020204020204" charset="-122"/>
                            <a:cs typeface="Cambria Math" panose="02040503050406030204" charset="0"/>
                          </a:rPr>
                          <m:t>𝑇𝑁</m:t>
                        </m:r>
                      </m:num>
                      <m:den>
                        <m:r>
                          <a:rPr lang="en-US" altLang="zh-CN" sz="1400" i="1">
                            <a:latin typeface="Cambria Math" panose="02040503050406030204" charset="0"/>
                            <a:ea typeface="微软雅黑" panose="020B0503020204020204" charset="-122"/>
                            <a:cs typeface="Cambria Math" panose="02040503050406030204" charset="0"/>
                          </a:rPr>
                          <m:t>𝑇𝑃</m:t>
                        </m:r>
                        <m:r>
                          <a:rPr lang="en-US" altLang="zh-CN" sz="1400" i="1">
                            <a:latin typeface="Cambria Math" panose="02040503050406030204" charset="0"/>
                            <a:ea typeface="MS Mincho" charset="0"/>
                            <a:cs typeface="Cambria Math" panose="02040503050406030204" charset="0"/>
                          </a:rPr>
                          <m:t>+</m:t>
                        </m:r>
                        <m:r>
                          <a:rPr lang="en-US" altLang="zh-CN" sz="1400" i="1">
                            <a:latin typeface="Cambria Math" panose="02040503050406030204" charset="0"/>
                            <a:ea typeface="微软雅黑" panose="020B0503020204020204" charset="-122"/>
                            <a:cs typeface="Cambria Math" panose="02040503050406030204" charset="0"/>
                          </a:rPr>
                          <m:t>𝐹𝑃</m:t>
                        </m:r>
                        <m:r>
                          <a:rPr lang="en-US" altLang="zh-CN" sz="1400" i="1">
                            <a:latin typeface="Cambria Math" panose="02040503050406030204" charset="0"/>
                            <a:ea typeface="MS Mincho" charset="0"/>
                            <a:cs typeface="Cambria Math" panose="02040503050406030204" charset="0"/>
                          </a:rPr>
                          <m:t>+</m:t>
                        </m:r>
                        <m:r>
                          <a:rPr lang="en-US" altLang="zh-CN" sz="1400" i="1">
                            <a:latin typeface="Cambria Math" panose="02040503050406030204" charset="0"/>
                            <a:ea typeface="微软雅黑" panose="020B0503020204020204" charset="-122"/>
                            <a:cs typeface="Cambria Math" panose="02040503050406030204" charset="0"/>
                          </a:rPr>
                          <m:t>𝑇𝑁</m:t>
                        </m:r>
                        <m:r>
                          <a:rPr lang="en-US" altLang="zh-CN" sz="1400" i="1">
                            <a:latin typeface="Cambria Math" panose="02040503050406030204" charset="0"/>
                            <a:ea typeface="MS Mincho" charset="0"/>
                            <a:cs typeface="Cambria Math" panose="02040503050406030204" charset="0"/>
                          </a:rPr>
                          <m:t>+</m:t>
                        </m:r>
                        <m:r>
                          <a:rPr lang="en-US" altLang="zh-CN" sz="1400" i="1">
                            <a:latin typeface="Cambria Math" panose="02040503050406030204" charset="0"/>
                            <a:ea typeface="微软雅黑" panose="020B0503020204020204" charset="-122"/>
                            <a:cs typeface="Cambria Math" panose="02040503050406030204" charset="0"/>
                          </a:rPr>
                          <m:t>𝐹𝑁</m:t>
                        </m:r>
                      </m:den>
                    </m:f>
                  </m:oMath>
                </a14:m>
                <a:r>
                  <a:rPr lang="zh-CN" altLang="en-US" sz="1400">
                    <a:latin typeface="微软雅黑" panose="020B0503020204020204" charset="-122"/>
                    <a:ea typeface="微软雅黑" panose="020B0503020204020204" charset="-122"/>
                    <a:cs typeface="微软雅黑" panose="020B0503020204020204" charset="-122"/>
                  </a:rPr>
                  <a:t>）</a:t>
                </a:r>
                <a:endParaRPr lang="zh-CN" altLang="en-US" sz="1400">
                  <a:latin typeface="微软雅黑" panose="020B0503020204020204" charset="-122"/>
                  <a:ea typeface="微软雅黑" panose="020B0503020204020204" charset="-122"/>
                  <a:cs typeface="微软雅黑" panose="020B0503020204020204" charset="-122"/>
                </a:endParaRPr>
              </a:p>
              <a:p>
                <a:pPr marL="285750" indent="-285750">
                  <a:buFont typeface="Arial" panose="020B0604020202020204" pitchFamily="34" charset="0"/>
                  <a:buChar char="•"/>
                </a:pPr>
                <a:r>
                  <a:rPr lang="en-US" altLang="zh-CN" sz="1400">
                    <a:latin typeface="微软雅黑" panose="020B0503020204020204" charset="-122"/>
                    <a:ea typeface="微软雅黑" panose="020B0503020204020204" charset="-122"/>
                    <a:cs typeface="微软雅黑" panose="020B0503020204020204" charset="-122"/>
                  </a:rPr>
                  <a:t>F1-score</a:t>
                </a:r>
                <a:r>
                  <a:rPr lang="zh-CN" altLang="en-US" sz="1400">
                    <a:latin typeface="微软雅黑" panose="020B0503020204020204" charset="-122"/>
                    <a:ea typeface="微软雅黑" panose="020B0503020204020204" charset="-122"/>
                    <a:cs typeface="微软雅黑" panose="020B0503020204020204" charset="-122"/>
                  </a:rPr>
                  <a:t>：综合评价</a:t>
                </a:r>
                <a:r>
                  <a:rPr lang="zh-CN" altLang="en-US" sz="1400">
                    <a:latin typeface="微软雅黑" panose="020B0503020204020204" charset="-122"/>
                    <a:ea typeface="微软雅黑" panose="020B0503020204020204" charset="-122"/>
                    <a:cs typeface="微软雅黑" panose="020B0503020204020204" charset="-122"/>
                    <a:sym typeface="+mn-ea"/>
                  </a:rPr>
                  <a:t>准确率及召回率的指标（</a:t>
                </a:r>
                <a14:m>
                  <m:oMath xmlns:m="http://schemas.openxmlformats.org/officeDocument/2006/math">
                    <m:f>
                      <m:fPr>
                        <m:ctrlPr>
                          <a:rPr lang="en-US" altLang="zh-CN" sz="1400" i="1">
                            <a:latin typeface="Cambria Math" panose="02040503050406030204" charset="0"/>
                            <a:ea typeface="微软雅黑" panose="020B0503020204020204" charset="-122"/>
                            <a:cs typeface="Cambria Math" panose="02040503050406030204" charset="0"/>
                          </a:rPr>
                        </m:ctrlPr>
                      </m:fPr>
                      <m:num>
                        <m:r>
                          <a:rPr lang="en-US" altLang="zh-CN" sz="1400" i="1">
                            <a:latin typeface="Cambria Math" panose="02040503050406030204" charset="0"/>
                            <a:ea typeface="MS Mincho" charset="0"/>
                            <a:cs typeface="Cambria Math" panose="02040503050406030204" charset="0"/>
                          </a:rPr>
                          <m:t>2</m:t>
                        </m:r>
                        <m:r>
                          <a:rPr lang="en-US" altLang="zh-CN" sz="1400" i="1">
                            <a:latin typeface="Cambria Math" panose="02040503050406030204" charset="0"/>
                            <a:ea typeface="MS Mincho" charset="0"/>
                            <a:cs typeface="Cambria Math" panose="02040503050406030204" charset="0"/>
                          </a:rPr>
                          <m:t>∗</m:t>
                        </m:r>
                        <m:r>
                          <a:rPr lang="en-US" altLang="zh-CN" sz="1400" i="1">
                            <a:latin typeface="Cambria Math" panose="02040503050406030204" charset="0"/>
                            <a:ea typeface="微软雅黑" panose="020B0503020204020204" charset="-122"/>
                            <a:cs typeface="Cambria Math" panose="02040503050406030204" charset="0"/>
                          </a:rPr>
                          <m:t>𝑝𝑟𝑒𝑐𝑖𝑠𝑖𝑜𝑛</m:t>
                        </m:r>
                        <m:r>
                          <a:rPr lang="en-US" altLang="zh-CN" sz="1400" i="1">
                            <a:latin typeface="Cambria Math" panose="02040503050406030204" charset="0"/>
                            <a:ea typeface="MS Mincho" charset="0"/>
                            <a:cs typeface="Cambria Math" panose="02040503050406030204" charset="0"/>
                          </a:rPr>
                          <m:t>∗</m:t>
                        </m:r>
                        <m:r>
                          <a:rPr lang="en-US" altLang="zh-CN" sz="1400" i="1">
                            <a:latin typeface="Cambria Math" panose="02040503050406030204" charset="0"/>
                            <a:ea typeface="微软雅黑" panose="020B0503020204020204" charset="-122"/>
                            <a:cs typeface="Cambria Math" panose="02040503050406030204" charset="0"/>
                          </a:rPr>
                          <m:t>𝑟𝑒𝑐𝑎𝑙𝑙</m:t>
                        </m:r>
                      </m:num>
                      <m:den>
                        <m:r>
                          <a:rPr lang="en-US" altLang="zh-CN" sz="1400" i="1">
                            <a:latin typeface="Cambria Math" panose="02040503050406030204" charset="0"/>
                            <a:ea typeface="微软雅黑" panose="020B0503020204020204" charset="-122"/>
                            <a:cs typeface="Cambria Math" panose="02040503050406030204" charset="0"/>
                          </a:rPr>
                          <m:t>𝑝𝑟𝑒𝑐𝑖𝑠𝑖𝑜𝑛</m:t>
                        </m:r>
                        <m:r>
                          <a:rPr lang="en-US" altLang="zh-CN" sz="1400" i="1">
                            <a:latin typeface="Cambria Math" panose="02040503050406030204" charset="0"/>
                            <a:ea typeface="MS Mincho" charset="0"/>
                            <a:cs typeface="Cambria Math" panose="02040503050406030204" charset="0"/>
                          </a:rPr>
                          <m:t>+</m:t>
                        </m:r>
                        <m:r>
                          <a:rPr lang="en-US" altLang="zh-CN" sz="1400" i="1">
                            <a:latin typeface="Cambria Math" panose="02040503050406030204" charset="0"/>
                            <a:ea typeface="微软雅黑" panose="020B0503020204020204" charset="-122"/>
                            <a:cs typeface="Cambria Math" panose="02040503050406030204" charset="0"/>
                          </a:rPr>
                          <m:t>𝑟𝑒𝑐𝑎𝑙𝑙</m:t>
                        </m:r>
                      </m:den>
                    </m:f>
                  </m:oMath>
                </a14:m>
                <a:r>
                  <a:rPr lang="zh-CN" altLang="en-US" sz="1400">
                    <a:latin typeface="微软雅黑" panose="020B0503020204020204" charset="-122"/>
                    <a:ea typeface="微软雅黑" panose="020B0503020204020204" charset="-122"/>
                    <a:cs typeface="微软雅黑" panose="020B0503020204020204" charset="-122"/>
                  </a:rPr>
                  <a:t>）</a:t>
                </a:r>
                <a:endParaRPr lang="zh-CN" altLang="en-US" sz="1400">
                  <a:latin typeface="微软雅黑" panose="020B0503020204020204" charset="-122"/>
                  <a:ea typeface="微软雅黑" panose="020B0503020204020204" charset="-122"/>
                  <a:cs typeface="微软雅黑" panose="020B0503020204020204" charset="-122"/>
                </a:endParaRPr>
              </a:p>
            </p:txBody>
          </p:sp>
        </mc:Choice>
        <mc:Fallback>
          <p:sp>
            <p:nvSpPr>
              <p:cNvPr id="21" name="文本框 20"/>
              <p:cNvSpPr txBox="1">
                <a:spLocks noRot="1" noChangeAspect="1" noMove="1" noResize="1" noEditPoints="1" noAdjustHandles="1" noChangeArrowheads="1" noChangeShapeType="1" noTextEdit="1"/>
              </p:cNvSpPr>
              <p:nvPr/>
            </p:nvSpPr>
            <p:spPr>
              <a:xfrm>
                <a:off x="5735955" y="1125220"/>
                <a:ext cx="6309360" cy="1347470"/>
              </a:xfrm>
              <a:prstGeom prst="rect">
                <a:avLst/>
              </a:prstGeom>
              <a:blipFill rotWithShape="1">
                <a:blip r:embed="rId1"/>
                <a:stretch>
                  <a:fillRect/>
                </a:stretch>
              </a:blipFill>
            </p:spPr>
            <p:txBody>
              <a:bodyPr/>
              <a:lstStyle/>
              <a:p>
                <a:r>
                  <a:rPr lang="zh-CN" altLang="en-US">
                    <a:noFill/>
                  </a:rPr>
                  <a:t> </a:t>
                </a:r>
              </a:p>
            </p:txBody>
          </p:sp>
        </mc:Fallback>
      </mc:AlternateContent>
      <p:sp>
        <p:nvSpPr>
          <p:cNvPr id="8" name="文本框 7"/>
          <p:cNvSpPr txBox="1"/>
          <p:nvPr/>
        </p:nvSpPr>
        <p:spPr>
          <a:xfrm>
            <a:off x="685800" y="1772920"/>
            <a:ext cx="5086350" cy="367030"/>
          </a:xfrm>
          <a:prstGeom prst="rect">
            <a:avLst/>
          </a:prstGeom>
          <a:noFill/>
          <a:ln w="12700" cap="flat">
            <a:noFill/>
            <a:miter lim="400000"/>
          </a:ln>
        </p:spPr>
        <p:style>
          <a:lnRef idx="0">
            <a:srgbClr val="FFFFFF"/>
          </a:lnRef>
          <a:fillRef idx="0">
            <a:srgbClr val="FFFFFF"/>
          </a:fillRef>
          <a:effectRef idx="0">
            <a:srgbClr val="FFFFFF"/>
          </a:effectRef>
          <a:fontRef idx="none"/>
        </p:style>
        <p:txBody>
          <a:bodyPr rot="0" vertOverflow="overflow" horzOverflow="overflow" vert="horz" wrap="square" lIns="45719" tIns="45719" rIns="45719" bIns="45719" numCol="1" spcCol="38100" rtlCol="0" anchor="t" forceAA="0" upright="0">
            <a:spAutoFit/>
          </a:bodyPr>
          <a:p>
            <a:pPr marL="0" marR="0" indent="0" algn="l" defTabSz="914400" rtl="0" fontAlgn="auto" latinLnBrk="0" hangingPunct="0">
              <a:lnSpc>
                <a:spcPct val="100000"/>
              </a:lnSpc>
              <a:spcBef>
                <a:spcPts val="0"/>
              </a:spcBef>
              <a:spcAft>
                <a:spcPts val="0"/>
              </a:spcAft>
              <a:buClrTx/>
              <a:buSzTx/>
              <a:buFontTx/>
              <a:buNone/>
            </a:pPr>
            <a:r>
              <a:rPr kumimoji="0" lang="zh-CN" altLang="en-US" sz="1800" b="0" i="0" u="none" strike="noStrike" cap="none" spc="0" normalizeH="0" baseline="0">
                <a:ln>
                  <a:noFill/>
                </a:ln>
                <a:solidFill>
                  <a:srgbClr val="000000"/>
                </a:solidFill>
                <a:effectLst/>
                <a:uFillTx/>
                <a:latin typeface="微软雅黑" panose="020B0503020204020204" charset="-122"/>
                <a:ea typeface="微软雅黑" panose="020B0503020204020204" charset="-122"/>
                <a:cs typeface="+mj-cs"/>
                <a:sym typeface="Calibri" panose="020F0502020204030204"/>
              </a:rPr>
              <a:t>模型预测下单几率以</a:t>
            </a:r>
            <a:r>
              <a:rPr kumimoji="0" lang="en-US" altLang="zh-CN" sz="1800" b="0" i="0" u="none" strike="noStrike" cap="none" spc="0" normalizeH="0" baseline="0">
                <a:ln>
                  <a:noFill/>
                </a:ln>
                <a:solidFill>
                  <a:srgbClr val="000000"/>
                </a:solidFill>
                <a:effectLst/>
                <a:uFillTx/>
                <a:latin typeface="微软雅黑" panose="020B0503020204020204" charset="-122"/>
                <a:ea typeface="微软雅黑" panose="020B0503020204020204" charset="-122"/>
                <a:cs typeface="+mj-cs"/>
                <a:sym typeface="Calibri" panose="020F0502020204030204"/>
              </a:rPr>
              <a:t>0.15</a:t>
            </a:r>
            <a:r>
              <a:rPr kumimoji="0" lang="zh-CN" altLang="en-US" sz="1800" b="0" i="0" u="none" strike="noStrike" cap="none" spc="0" normalizeH="0" baseline="0">
                <a:ln>
                  <a:noFill/>
                </a:ln>
                <a:solidFill>
                  <a:srgbClr val="000000"/>
                </a:solidFill>
                <a:effectLst/>
                <a:uFillTx/>
                <a:latin typeface="微软雅黑" panose="020B0503020204020204" charset="-122"/>
                <a:ea typeface="微软雅黑" panose="020B0503020204020204" charset="-122"/>
                <a:cs typeface="+mj-cs"/>
                <a:sym typeface="Calibri" panose="020F0502020204030204"/>
              </a:rPr>
              <a:t>为下单</a:t>
            </a:r>
            <a:r>
              <a:rPr kumimoji="0" lang="en-US" altLang="zh-CN" sz="1800" b="0" i="0" u="none" strike="noStrike" cap="none" spc="0" normalizeH="0" baseline="0">
                <a:ln>
                  <a:noFill/>
                </a:ln>
                <a:solidFill>
                  <a:srgbClr val="000000"/>
                </a:solidFill>
                <a:effectLst/>
                <a:uFillTx/>
                <a:latin typeface="微软雅黑" panose="020B0503020204020204" charset="-122"/>
                <a:ea typeface="微软雅黑" panose="020B0503020204020204" charset="-122"/>
                <a:cs typeface="+mj-cs"/>
                <a:sym typeface="Calibri" panose="020F0502020204030204"/>
              </a:rPr>
              <a:t>/</a:t>
            </a:r>
            <a:r>
              <a:rPr kumimoji="0" lang="zh-CN" altLang="en-US" sz="1800" b="0" i="0" u="none" strike="noStrike" cap="none" spc="0" normalizeH="0" baseline="0">
                <a:ln>
                  <a:noFill/>
                </a:ln>
                <a:solidFill>
                  <a:srgbClr val="000000"/>
                </a:solidFill>
                <a:effectLst/>
                <a:uFillTx/>
                <a:latin typeface="微软雅黑" panose="020B0503020204020204" charset="-122"/>
                <a:ea typeface="微软雅黑" panose="020B0503020204020204" charset="-122"/>
                <a:cs typeface="+mj-cs"/>
                <a:sym typeface="Calibri" panose="020F0502020204030204"/>
              </a:rPr>
              <a:t>非下单划分标准</a:t>
            </a:r>
            <a:endParaRPr kumimoji="0" lang="zh-CN" altLang="en-US" sz="1800" b="0" i="0" u="none" strike="noStrike" cap="none" spc="0" normalizeH="0" baseline="0">
              <a:ln>
                <a:noFill/>
              </a:ln>
              <a:solidFill>
                <a:srgbClr val="000000"/>
              </a:solidFill>
              <a:effectLst/>
              <a:uFillTx/>
              <a:latin typeface="微软雅黑" panose="020B0503020204020204" charset="-122"/>
              <a:ea typeface="微软雅黑" panose="020B0503020204020204" charset="-122"/>
              <a:cs typeface="+mj-cs"/>
              <a:sym typeface="Calibri" panose="020F0502020204030204"/>
            </a:endParaRPr>
          </a:p>
        </p:txBody>
      </p:sp>
      <p:sp>
        <p:nvSpPr>
          <p:cNvPr id="3" name="文本框 2"/>
          <p:cNvSpPr txBox="1"/>
          <p:nvPr/>
        </p:nvSpPr>
        <p:spPr>
          <a:xfrm>
            <a:off x="9258935" y="6325870"/>
            <a:ext cx="1143000" cy="368300"/>
          </a:xfrm>
          <a:prstGeom prst="rect">
            <a:avLst/>
          </a:prstGeom>
          <a:noFill/>
        </p:spPr>
        <p:txBody>
          <a:bodyPr wrap="square" rtlCol="0">
            <a:spAutoFit/>
          </a:bodyPr>
          <a:p>
            <a:r>
              <a:rPr lang="zh-CN" altLang="en-US"/>
              <a:t>测试集</a:t>
            </a:r>
            <a:r>
              <a:rPr lang="en-US" altLang="zh-CN"/>
              <a:t>1</a:t>
            </a:r>
            <a:endParaRPr lang="en-US" altLang="zh-CN"/>
          </a:p>
        </p:txBody>
      </p:sp>
      <p:pic>
        <p:nvPicPr>
          <p:cNvPr id="5" name="图片 4" descr="kx_train_cr_0120"/>
          <p:cNvPicPr>
            <a:picLocks noChangeAspect="1"/>
          </p:cNvPicPr>
          <p:nvPr/>
        </p:nvPicPr>
        <p:blipFill>
          <a:blip r:embed="rId2"/>
          <a:stretch>
            <a:fillRect/>
          </a:stretch>
        </p:blipFill>
        <p:spPr>
          <a:xfrm>
            <a:off x="479425" y="2564765"/>
            <a:ext cx="3124200" cy="1358900"/>
          </a:xfrm>
          <a:prstGeom prst="rect">
            <a:avLst/>
          </a:prstGeom>
        </p:spPr>
      </p:pic>
      <p:pic>
        <p:nvPicPr>
          <p:cNvPr id="7" name="图片 6" descr="kx_valid_cr_0120"/>
          <p:cNvPicPr>
            <a:picLocks noChangeAspect="1"/>
          </p:cNvPicPr>
          <p:nvPr/>
        </p:nvPicPr>
        <p:blipFill>
          <a:blip r:embed="rId3"/>
          <a:stretch>
            <a:fillRect/>
          </a:stretch>
        </p:blipFill>
        <p:spPr>
          <a:xfrm>
            <a:off x="4391660" y="2564765"/>
            <a:ext cx="3092450" cy="1339850"/>
          </a:xfrm>
          <a:prstGeom prst="rect">
            <a:avLst/>
          </a:prstGeom>
        </p:spPr>
      </p:pic>
      <p:pic>
        <p:nvPicPr>
          <p:cNvPr id="9" name="图片 8" descr="kx_test_cr_0120"/>
          <p:cNvPicPr>
            <a:picLocks noChangeAspect="1"/>
          </p:cNvPicPr>
          <p:nvPr/>
        </p:nvPicPr>
        <p:blipFill>
          <a:blip r:embed="rId4"/>
          <a:stretch>
            <a:fillRect/>
          </a:stretch>
        </p:blipFill>
        <p:spPr>
          <a:xfrm>
            <a:off x="8296910" y="2583815"/>
            <a:ext cx="3067050" cy="1339850"/>
          </a:xfrm>
          <a:prstGeom prst="rect">
            <a:avLst/>
          </a:prstGeom>
        </p:spPr>
      </p:pic>
      <p:pic>
        <p:nvPicPr>
          <p:cNvPr id="11" name="图片 10" descr="kx_train_cm_0120"/>
          <p:cNvPicPr>
            <a:picLocks noChangeAspect="1"/>
          </p:cNvPicPr>
          <p:nvPr/>
        </p:nvPicPr>
        <p:blipFill>
          <a:blip r:embed="rId5"/>
          <a:srcRect l="3843" t="5156" r="8877"/>
          <a:stretch>
            <a:fillRect/>
          </a:stretch>
        </p:blipFill>
        <p:spPr>
          <a:xfrm>
            <a:off x="363855" y="3978910"/>
            <a:ext cx="3240000" cy="2347185"/>
          </a:xfrm>
          <a:prstGeom prst="rect">
            <a:avLst/>
          </a:prstGeom>
        </p:spPr>
      </p:pic>
      <p:pic>
        <p:nvPicPr>
          <p:cNvPr id="17" name="图片 16" descr="kx_valid_cm_0120"/>
          <p:cNvPicPr>
            <a:picLocks noChangeAspect="1"/>
          </p:cNvPicPr>
          <p:nvPr/>
        </p:nvPicPr>
        <p:blipFill>
          <a:blip r:embed="rId6"/>
          <a:srcRect l="4757" t="4635" r="9074"/>
          <a:stretch>
            <a:fillRect/>
          </a:stretch>
        </p:blipFill>
        <p:spPr>
          <a:xfrm>
            <a:off x="4367530" y="3923665"/>
            <a:ext cx="3240000" cy="2390506"/>
          </a:xfrm>
          <a:prstGeom prst="rect">
            <a:avLst/>
          </a:prstGeom>
        </p:spPr>
      </p:pic>
      <p:pic>
        <p:nvPicPr>
          <p:cNvPr id="18" name="图片 17" descr="test_cm_0120"/>
          <p:cNvPicPr>
            <a:picLocks noChangeAspect="1"/>
          </p:cNvPicPr>
          <p:nvPr/>
        </p:nvPicPr>
        <p:blipFill>
          <a:blip r:embed="rId7"/>
          <a:srcRect l="4028" t="5156" r="9074"/>
          <a:stretch>
            <a:fillRect/>
          </a:stretch>
        </p:blipFill>
        <p:spPr>
          <a:xfrm>
            <a:off x="8210550" y="4004945"/>
            <a:ext cx="3240000" cy="2357501"/>
          </a:xfrm>
          <a:prstGeom prst="rect">
            <a:avLst/>
          </a:prstGeom>
        </p:spPr>
      </p:pic>
    </p:spTree>
  </p:cSld>
  <p:clrMapOvr>
    <a:masterClrMapping/>
  </p:clrMapOvr>
  <p:transition spd="med"/>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p:nvPr>
            <p:ph type="title"/>
          </p:nvPr>
        </p:nvSpPr>
        <p:spPr>
          <a:xfrm>
            <a:off x="335915" y="260985"/>
            <a:ext cx="10714355" cy="675005"/>
          </a:xfrm>
        </p:spPr>
        <p:txBody>
          <a:bodyPr>
            <a:normAutofit/>
          </a:bodyPr>
          <a:p>
            <a:r>
              <a:rPr lang="en-US" altLang="zh-CN" sz="3555"/>
              <a:t>3. </a:t>
            </a:r>
            <a:r>
              <a:rPr lang="zh-CN" altLang="en-US" sz="3555"/>
              <a:t>模型建立</a:t>
            </a:r>
            <a:r>
              <a:rPr lang="en-US" altLang="zh-CN" sz="3550">
                <a:sym typeface="+mn-ea"/>
              </a:rPr>
              <a:t>-XGBOOST</a:t>
            </a:r>
            <a:endParaRPr lang="en-US" altLang="zh-CN" sz="3550">
              <a:sym typeface="+mn-ea"/>
            </a:endParaRPr>
          </a:p>
        </p:txBody>
      </p:sp>
      <p:sp>
        <p:nvSpPr>
          <p:cNvPr id="25" name="文本框 24"/>
          <p:cNvSpPr txBox="1"/>
          <p:nvPr/>
        </p:nvSpPr>
        <p:spPr>
          <a:xfrm>
            <a:off x="695960" y="1125220"/>
            <a:ext cx="4465955" cy="459105"/>
          </a:xfrm>
          <a:prstGeom prst="rect">
            <a:avLst/>
          </a:prstGeom>
          <a:noFill/>
          <a:ln w="12700" cap="flat">
            <a:noFill/>
            <a:miter lim="400000"/>
          </a:ln>
        </p:spPr>
        <p:style>
          <a:lnRef idx="0">
            <a:srgbClr val="FFFFFF"/>
          </a:lnRef>
          <a:fillRef idx="0">
            <a:srgbClr val="FFFFFF"/>
          </a:fillRef>
          <a:effectRef idx="0">
            <a:srgbClr val="FFFFFF"/>
          </a:effectRef>
          <a:fontRef idx="none"/>
        </p:style>
        <p:txBody>
          <a:bodyPr rot="0" vertOverflow="overflow" horzOverflow="overflow" vert="horz" wrap="square" lIns="45719" tIns="45719" rIns="45719" bIns="45719" numCol="1" spcCol="38100" rtlCol="0" anchor="t" forceAA="0" upright="0">
            <a:spAutoFit/>
          </a:bodyPr>
          <a:p>
            <a:pPr marL="342900" marR="0" indent="-342900" algn="l" defTabSz="914400" rtl="0" fontAlgn="auto" latinLnBrk="0" hangingPunct="0">
              <a:lnSpc>
                <a:spcPct val="100000"/>
              </a:lnSpc>
              <a:spcBef>
                <a:spcPts val="0"/>
              </a:spcBef>
              <a:spcAft>
                <a:spcPts val="0"/>
              </a:spcAft>
              <a:buClrTx/>
              <a:buSzTx/>
              <a:buFont typeface="Wingdings" panose="05000000000000000000" charset="0"/>
              <a:buChar char="ü"/>
            </a:pPr>
            <a:r>
              <a:rPr kumimoji="0" lang="zh-CN" altLang="en-US" sz="2400" b="1" i="0" u="none" strike="noStrike" cap="none" spc="0" normalizeH="0" baseline="0">
                <a:ln>
                  <a:noFill/>
                </a:ln>
                <a:solidFill>
                  <a:srgbClr val="0564CD"/>
                </a:solidFill>
                <a:effectLst/>
                <a:uFillTx/>
                <a:latin typeface="微软雅黑" panose="020B0503020204020204" charset="-122"/>
                <a:ea typeface="微软雅黑" panose="020B0503020204020204" charset="-122"/>
                <a:cs typeface="微软雅黑" panose="020B0503020204020204" charset="-122"/>
                <a:sym typeface="Calibri" panose="020F0502020204030204"/>
              </a:rPr>
              <a:t>入模变量及变量重要性</a:t>
            </a:r>
            <a:endParaRPr kumimoji="0" lang="zh-CN" altLang="en-US" sz="2400" b="1" i="0" u="none" strike="noStrike" cap="none" spc="0" normalizeH="0" baseline="0">
              <a:ln>
                <a:noFill/>
              </a:ln>
              <a:solidFill>
                <a:srgbClr val="0564CD"/>
              </a:solidFill>
              <a:effectLst/>
              <a:uFillTx/>
              <a:latin typeface="微软雅黑" panose="020B0503020204020204" charset="-122"/>
              <a:ea typeface="微软雅黑" panose="020B0503020204020204" charset="-122"/>
              <a:cs typeface="微软雅黑" panose="020B0503020204020204" charset="-122"/>
              <a:sym typeface="Calibri" panose="020F0502020204030204"/>
            </a:endParaRPr>
          </a:p>
        </p:txBody>
      </p:sp>
      <p:sp>
        <p:nvSpPr>
          <p:cNvPr id="6" name="文本框 5"/>
          <p:cNvSpPr txBox="1"/>
          <p:nvPr/>
        </p:nvSpPr>
        <p:spPr>
          <a:xfrm>
            <a:off x="551815" y="2132965"/>
            <a:ext cx="5629910" cy="2861310"/>
          </a:xfrm>
          <a:prstGeom prst="rect">
            <a:avLst/>
          </a:prstGeom>
          <a:noFill/>
        </p:spPr>
        <p:txBody>
          <a:bodyPr wrap="square" rtlCol="0">
            <a:spAutoFit/>
          </a:bodyPr>
          <a:p>
            <a:pPr marL="285750" indent="-285750">
              <a:buFont typeface="Arial" panose="020B0604020202020204" pitchFamily="34" charset="0"/>
              <a:buChar char="•"/>
            </a:pPr>
            <a:r>
              <a:rPr lang="en-US" altLang="zh-CN">
                <a:latin typeface="微软雅黑" panose="020B0503020204020204" charset="-122"/>
                <a:ea typeface="微软雅黑" panose="020B0503020204020204" charset="-122"/>
                <a:cs typeface="微软雅黑" panose="020B0503020204020204" charset="-122"/>
              </a:rPr>
              <a:t>xgboost</a:t>
            </a:r>
            <a:r>
              <a:rPr lang="zh-CN" altLang="en-US">
                <a:latin typeface="微软雅黑" panose="020B0503020204020204" charset="-122"/>
                <a:ea typeface="微软雅黑" panose="020B0503020204020204" charset="-122"/>
                <a:cs typeface="微软雅黑" panose="020B0503020204020204" charset="-122"/>
              </a:rPr>
              <a:t>总共入模</a:t>
            </a:r>
            <a:r>
              <a:rPr lang="en-US" altLang="zh-CN">
                <a:solidFill>
                  <a:srgbClr val="FF0000"/>
                </a:solidFill>
                <a:latin typeface="微软雅黑" panose="020B0503020204020204" charset="-122"/>
                <a:ea typeface="微软雅黑" panose="020B0503020204020204" charset="-122"/>
                <a:cs typeface="微软雅黑" panose="020B0503020204020204" charset="-122"/>
              </a:rPr>
              <a:t>23</a:t>
            </a:r>
            <a:r>
              <a:rPr lang="zh-CN" altLang="en-US">
                <a:latin typeface="微软雅黑" panose="020B0503020204020204" charset="-122"/>
                <a:ea typeface="微软雅黑" panose="020B0503020204020204" charset="-122"/>
                <a:cs typeface="微软雅黑" panose="020B0503020204020204" charset="-122"/>
              </a:rPr>
              <a:t>个变量；</a:t>
            </a:r>
            <a:endParaRPr lang="zh-CN" altLang="en-US">
              <a:latin typeface="微软雅黑" panose="020B0503020204020204" charset="-122"/>
              <a:ea typeface="微软雅黑" panose="020B0503020204020204" charset="-122"/>
              <a:cs typeface="微软雅黑" panose="020B0503020204020204" charset="-122"/>
            </a:endParaRPr>
          </a:p>
          <a:p>
            <a:pPr marL="285750" indent="-285750">
              <a:buFont typeface="Arial" panose="020B0604020202020204" pitchFamily="34" charset="0"/>
              <a:buChar char="•"/>
            </a:pPr>
            <a:endParaRPr lang="zh-CN" altLang="en-US">
              <a:latin typeface="微软雅黑" panose="020B0503020204020204" charset="-122"/>
              <a:ea typeface="微软雅黑" panose="020B0503020204020204" charset="-122"/>
              <a:cs typeface="微软雅黑" panose="020B0503020204020204" charset="-122"/>
            </a:endParaRPr>
          </a:p>
          <a:p>
            <a:pPr marL="285750" indent="-285750">
              <a:buFont typeface="Arial" panose="020B0604020202020204" pitchFamily="34" charset="0"/>
              <a:buChar char="•"/>
            </a:pPr>
            <a:r>
              <a:rPr lang="zh-CN" altLang="en-US">
                <a:latin typeface="微软雅黑" panose="020B0503020204020204" charset="-122"/>
                <a:ea typeface="微软雅黑" panose="020B0503020204020204" charset="-122"/>
                <a:cs typeface="微软雅黑" panose="020B0503020204020204" charset="-122"/>
              </a:rPr>
              <a:t>此图表示不同特征在模型构建增强决策树时的价值，</a:t>
            </a:r>
            <a:r>
              <a:rPr lang="zh-CN" altLang="en-US">
                <a:solidFill>
                  <a:srgbClr val="FF0000"/>
                </a:solidFill>
                <a:latin typeface="微软雅黑" panose="020B0503020204020204" charset="-122"/>
                <a:ea typeface="微软雅黑" panose="020B0503020204020204" charset="-122"/>
                <a:cs typeface="微软雅黑" panose="020B0503020204020204" charset="-122"/>
              </a:rPr>
              <a:t>分数越高的特征代表其在模型中的权重越高，代表变量越重要；</a:t>
            </a:r>
            <a:endParaRPr lang="zh-CN" altLang="en-US">
              <a:solidFill>
                <a:srgbClr val="FF0000"/>
              </a:solidFill>
              <a:latin typeface="微软雅黑" panose="020B0503020204020204" charset="-122"/>
              <a:ea typeface="微软雅黑" panose="020B0503020204020204" charset="-122"/>
              <a:cs typeface="微软雅黑" panose="020B0503020204020204" charset="-122"/>
            </a:endParaRPr>
          </a:p>
          <a:p>
            <a:pPr marL="285750" indent="-285750">
              <a:buFont typeface="Arial" panose="020B0604020202020204" pitchFamily="34" charset="0"/>
              <a:buChar char="•"/>
            </a:pPr>
            <a:endParaRPr lang="zh-CN" altLang="en-US">
              <a:latin typeface="微软雅黑" panose="020B0503020204020204" charset="-122"/>
              <a:ea typeface="微软雅黑" panose="020B0503020204020204" charset="-122"/>
              <a:cs typeface="微软雅黑" panose="020B0503020204020204" charset="-122"/>
            </a:endParaRPr>
          </a:p>
          <a:p>
            <a:pPr marL="285750" indent="-285750">
              <a:buFont typeface="Arial" panose="020B0604020202020204" pitchFamily="34" charset="0"/>
              <a:buChar char="•"/>
            </a:pPr>
            <a:r>
              <a:rPr lang="zh-CN" altLang="en-US">
                <a:latin typeface="微软雅黑" panose="020B0503020204020204" charset="-122"/>
                <a:ea typeface="微软雅黑" panose="020B0503020204020204" charset="-122"/>
                <a:cs typeface="微软雅黑" panose="020B0503020204020204" charset="-122"/>
              </a:rPr>
              <a:t>筛选变量时，重要性</a:t>
            </a:r>
            <a:r>
              <a:rPr lang="zh-CN" altLang="en-US">
                <a:solidFill>
                  <a:srgbClr val="FF0000"/>
                </a:solidFill>
                <a:latin typeface="微软雅黑" panose="020B0503020204020204" charset="-122"/>
                <a:ea typeface="微软雅黑" panose="020B0503020204020204" charset="-122"/>
                <a:cs typeface="微软雅黑" panose="020B0503020204020204" charset="-122"/>
              </a:rPr>
              <a:t>高于</a:t>
            </a:r>
            <a:r>
              <a:rPr lang="en-US" altLang="zh-CN">
                <a:solidFill>
                  <a:srgbClr val="FF0000"/>
                </a:solidFill>
                <a:latin typeface="微软雅黑" panose="020B0503020204020204" charset="-122"/>
                <a:ea typeface="微软雅黑" panose="020B0503020204020204" charset="-122"/>
                <a:cs typeface="微软雅黑" panose="020B0503020204020204" charset="-122"/>
              </a:rPr>
              <a:t>100</a:t>
            </a:r>
            <a:r>
              <a:rPr lang="zh-CN" altLang="en-US">
                <a:latin typeface="微软雅黑" panose="020B0503020204020204" charset="-122"/>
                <a:ea typeface="微软雅黑" panose="020B0503020204020204" charset="-122"/>
                <a:cs typeface="微软雅黑" panose="020B0503020204020204" charset="-122"/>
              </a:rPr>
              <a:t>的特征被排除，以防模型过于依赖单一特征来进行学习。</a:t>
            </a:r>
            <a:r>
              <a:rPr lang="zh-CN" altLang="en-US">
                <a:latin typeface="微软雅黑" panose="020B0503020204020204" charset="-122"/>
                <a:ea typeface="微软雅黑" panose="020B0503020204020204" charset="-122"/>
                <a:cs typeface="微软雅黑" panose="020B0503020204020204" charset="-122"/>
                <a:sym typeface="+mn-ea"/>
              </a:rPr>
              <a:t>重要性</a:t>
            </a:r>
            <a:r>
              <a:rPr lang="zh-CN" altLang="en-US">
                <a:solidFill>
                  <a:srgbClr val="FF0000"/>
                </a:solidFill>
                <a:latin typeface="微软雅黑" panose="020B0503020204020204" charset="-122"/>
                <a:ea typeface="微软雅黑" panose="020B0503020204020204" charset="-122"/>
                <a:cs typeface="微软雅黑" panose="020B0503020204020204" charset="-122"/>
                <a:sym typeface="+mn-ea"/>
              </a:rPr>
              <a:t>低于</a:t>
            </a:r>
            <a:r>
              <a:rPr lang="en-US" altLang="zh-CN">
                <a:solidFill>
                  <a:srgbClr val="FF0000"/>
                </a:solidFill>
                <a:latin typeface="微软雅黑" panose="020B0503020204020204" charset="-122"/>
                <a:ea typeface="微软雅黑" panose="020B0503020204020204" charset="-122"/>
                <a:cs typeface="微软雅黑" panose="020B0503020204020204" charset="-122"/>
                <a:sym typeface="+mn-ea"/>
              </a:rPr>
              <a:t>10</a:t>
            </a:r>
            <a:r>
              <a:rPr lang="zh-CN" altLang="en-US">
                <a:latin typeface="微软雅黑" panose="020B0503020204020204" charset="-122"/>
                <a:ea typeface="微软雅黑" panose="020B0503020204020204" charset="-122"/>
                <a:cs typeface="微软雅黑" panose="020B0503020204020204" charset="-122"/>
                <a:sym typeface="+mn-ea"/>
              </a:rPr>
              <a:t>的特征也被排除掉，以减少模型的不稳定性。</a:t>
            </a:r>
            <a:endParaRPr lang="zh-CN" altLang="en-US">
              <a:latin typeface="微软雅黑" panose="020B0503020204020204" charset="-122"/>
              <a:ea typeface="微软雅黑" panose="020B0503020204020204" charset="-122"/>
              <a:cs typeface="微软雅黑" panose="020B0503020204020204" charset="-122"/>
            </a:endParaRPr>
          </a:p>
          <a:p>
            <a:pPr marL="285750" indent="-285750">
              <a:buFont typeface="Arial" panose="020B0604020202020204" pitchFamily="34" charset="0"/>
              <a:buChar char="•"/>
            </a:pPr>
            <a:endParaRPr lang="zh-CN" altLang="en-US">
              <a:latin typeface="微软雅黑" panose="020B0503020204020204" charset="-122"/>
              <a:ea typeface="微软雅黑" panose="020B0503020204020204" charset="-122"/>
              <a:cs typeface="微软雅黑" panose="020B0503020204020204" charset="-122"/>
            </a:endParaRPr>
          </a:p>
        </p:txBody>
      </p:sp>
      <p:pic>
        <p:nvPicPr>
          <p:cNvPr id="4" name="图片 3" descr="kx_FI_0120"/>
          <p:cNvPicPr>
            <a:picLocks noChangeAspect="1"/>
          </p:cNvPicPr>
          <p:nvPr/>
        </p:nvPicPr>
        <p:blipFill>
          <a:blip r:embed="rId1"/>
          <a:stretch>
            <a:fillRect/>
          </a:stretch>
        </p:blipFill>
        <p:spPr>
          <a:xfrm>
            <a:off x="6239510" y="980440"/>
            <a:ext cx="5657215" cy="5774690"/>
          </a:xfrm>
          <a:prstGeom prst="rect">
            <a:avLst/>
          </a:prstGeom>
        </p:spPr>
      </p:pic>
    </p:spTree>
  </p:cSld>
  <p:clrMapOvr>
    <a:masterClrMapping/>
  </p:clrMapOvr>
  <p:transition spd="med"/>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p:nvPr>
            <p:ph type="title"/>
          </p:nvPr>
        </p:nvSpPr>
        <p:spPr>
          <a:xfrm>
            <a:off x="335915" y="260985"/>
            <a:ext cx="10714355" cy="675005"/>
          </a:xfrm>
        </p:spPr>
        <p:txBody>
          <a:bodyPr>
            <a:normAutofit/>
          </a:bodyPr>
          <a:p>
            <a:r>
              <a:rPr lang="en-US" altLang="zh-CN" sz="3555"/>
              <a:t>3. </a:t>
            </a:r>
            <a:r>
              <a:rPr lang="zh-CN" altLang="en-US" sz="3555"/>
              <a:t>模型建立</a:t>
            </a:r>
            <a:r>
              <a:rPr lang="en-US" altLang="zh-CN" sz="3550">
                <a:sym typeface="+mn-ea"/>
              </a:rPr>
              <a:t>-XGBOOST</a:t>
            </a:r>
            <a:endParaRPr lang="en-US" altLang="zh-CN" sz="3550">
              <a:sym typeface="+mn-ea"/>
            </a:endParaRPr>
          </a:p>
        </p:txBody>
      </p:sp>
      <p:sp>
        <p:nvSpPr>
          <p:cNvPr id="10" name="文本框 9"/>
          <p:cNvSpPr txBox="1"/>
          <p:nvPr/>
        </p:nvSpPr>
        <p:spPr>
          <a:xfrm>
            <a:off x="695960" y="1125220"/>
            <a:ext cx="4465955" cy="459105"/>
          </a:xfrm>
          <a:prstGeom prst="rect">
            <a:avLst/>
          </a:prstGeom>
          <a:noFill/>
          <a:ln w="12700" cap="flat">
            <a:noFill/>
            <a:miter lim="400000"/>
          </a:ln>
        </p:spPr>
        <p:style>
          <a:lnRef idx="0">
            <a:srgbClr val="FFFFFF"/>
          </a:lnRef>
          <a:fillRef idx="0">
            <a:srgbClr val="FFFFFF"/>
          </a:fillRef>
          <a:effectRef idx="0">
            <a:srgbClr val="FFFFFF"/>
          </a:effectRef>
          <a:fontRef idx="none"/>
        </p:style>
        <p:txBody>
          <a:bodyPr rot="0" vertOverflow="overflow" horzOverflow="overflow" vert="horz" wrap="square" lIns="45719" tIns="45719" rIns="45719" bIns="45719" numCol="1" spcCol="38100" rtlCol="0" anchor="t" forceAA="0" upright="0">
            <a:spAutoFit/>
          </a:bodyPr>
          <a:p>
            <a:pPr marL="342900" marR="0" indent="-342900" algn="l" defTabSz="914400" rtl="0" fontAlgn="auto" latinLnBrk="0" hangingPunct="0">
              <a:lnSpc>
                <a:spcPct val="100000"/>
              </a:lnSpc>
              <a:spcBef>
                <a:spcPts val="0"/>
              </a:spcBef>
              <a:spcAft>
                <a:spcPts val="0"/>
              </a:spcAft>
              <a:buClrTx/>
              <a:buSzTx/>
              <a:buFont typeface="Wingdings" panose="05000000000000000000" charset="0"/>
              <a:buChar char="ü"/>
            </a:pPr>
            <a:r>
              <a:rPr kumimoji="0" lang="zh-CN" altLang="en-US" sz="2400" b="1" i="0" u="none" strike="noStrike" cap="none" spc="0" normalizeH="0" baseline="0">
                <a:ln>
                  <a:noFill/>
                </a:ln>
                <a:solidFill>
                  <a:srgbClr val="0564CD"/>
                </a:solidFill>
                <a:effectLst/>
                <a:uFillTx/>
                <a:latin typeface="微软雅黑" panose="020B0503020204020204" charset="-122"/>
                <a:ea typeface="微软雅黑" panose="020B0503020204020204" charset="-122"/>
                <a:cs typeface="微软雅黑" panose="020B0503020204020204" charset="-122"/>
                <a:sym typeface="Calibri" panose="020F0502020204030204"/>
              </a:rPr>
              <a:t>入模变量及变量重要性</a:t>
            </a:r>
            <a:endParaRPr kumimoji="0" lang="zh-CN" altLang="en-US" sz="2400" b="1" i="0" u="none" strike="noStrike" cap="none" spc="0" normalizeH="0" baseline="0">
              <a:ln>
                <a:noFill/>
              </a:ln>
              <a:solidFill>
                <a:srgbClr val="0564CD"/>
              </a:solidFill>
              <a:effectLst/>
              <a:uFillTx/>
              <a:latin typeface="微软雅黑" panose="020B0503020204020204" charset="-122"/>
              <a:ea typeface="微软雅黑" panose="020B0503020204020204" charset="-122"/>
              <a:cs typeface="微软雅黑" panose="020B0503020204020204" charset="-122"/>
              <a:sym typeface="Calibri" panose="020F0502020204030204"/>
            </a:endParaRPr>
          </a:p>
        </p:txBody>
      </p:sp>
      <p:pic>
        <p:nvPicPr>
          <p:cNvPr id="3" name="图片 2" descr="kx_FI_0120"/>
          <p:cNvPicPr>
            <a:picLocks noChangeAspect="1"/>
          </p:cNvPicPr>
          <p:nvPr/>
        </p:nvPicPr>
        <p:blipFill>
          <a:blip r:embed="rId1"/>
          <a:stretch>
            <a:fillRect/>
          </a:stretch>
        </p:blipFill>
        <p:spPr>
          <a:xfrm>
            <a:off x="1415415" y="1772920"/>
            <a:ext cx="9360000" cy="4407591"/>
          </a:xfrm>
          <a:prstGeom prst="rect">
            <a:avLst/>
          </a:prstGeom>
        </p:spPr>
      </p:pic>
    </p:spTree>
  </p:cSld>
  <p:clrMapOvr>
    <a:masterClrMapping/>
  </p:clrMapOvr>
  <p:transition spd="med"/>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p:nvPr>
            <p:ph type="title"/>
          </p:nvPr>
        </p:nvSpPr>
        <p:spPr>
          <a:xfrm>
            <a:off x="335915" y="260985"/>
            <a:ext cx="10714355" cy="675005"/>
          </a:xfrm>
        </p:spPr>
        <p:txBody>
          <a:bodyPr>
            <a:normAutofit/>
          </a:bodyPr>
          <a:p>
            <a:r>
              <a:rPr lang="en-US" altLang="zh-CN" sz="3555"/>
              <a:t>3. </a:t>
            </a:r>
            <a:r>
              <a:rPr lang="zh-CN" altLang="en-US" sz="3555"/>
              <a:t>模型建立</a:t>
            </a:r>
            <a:r>
              <a:rPr lang="en-US" altLang="zh-CN" sz="3550">
                <a:sym typeface="+mn-ea"/>
              </a:rPr>
              <a:t>-XGBOOST</a:t>
            </a:r>
            <a:endParaRPr lang="en-US" altLang="zh-CN" sz="3550">
              <a:sym typeface="+mn-ea"/>
            </a:endParaRPr>
          </a:p>
        </p:txBody>
      </p:sp>
      <p:sp>
        <p:nvSpPr>
          <p:cNvPr id="25" name="文本框 24"/>
          <p:cNvSpPr txBox="1"/>
          <p:nvPr/>
        </p:nvSpPr>
        <p:spPr>
          <a:xfrm>
            <a:off x="622935" y="935990"/>
            <a:ext cx="2288540" cy="459105"/>
          </a:xfrm>
          <a:prstGeom prst="rect">
            <a:avLst/>
          </a:prstGeom>
          <a:noFill/>
          <a:ln w="12700" cap="flat">
            <a:noFill/>
            <a:miter lim="400000"/>
          </a:ln>
        </p:spPr>
        <p:style>
          <a:lnRef idx="0">
            <a:srgbClr val="FFFFFF"/>
          </a:lnRef>
          <a:fillRef idx="0">
            <a:srgbClr val="FFFFFF"/>
          </a:fillRef>
          <a:effectRef idx="0">
            <a:srgbClr val="FFFFFF"/>
          </a:effectRef>
          <a:fontRef idx="none"/>
        </p:style>
        <p:txBody>
          <a:bodyPr rot="0" vertOverflow="overflow" horzOverflow="overflow" vert="horz" wrap="square" lIns="45719" tIns="45719" rIns="45719" bIns="45719" numCol="1" spcCol="38100" rtlCol="0" anchor="t" forceAA="0" upright="0">
            <a:spAutoFit/>
          </a:bodyPr>
          <a:p>
            <a:pPr marL="342900" marR="0" indent="-342900" algn="l" defTabSz="914400" rtl="0" fontAlgn="auto" latinLnBrk="0" hangingPunct="0">
              <a:lnSpc>
                <a:spcPct val="100000"/>
              </a:lnSpc>
              <a:spcBef>
                <a:spcPts val="0"/>
              </a:spcBef>
              <a:spcAft>
                <a:spcPts val="0"/>
              </a:spcAft>
              <a:buClrTx/>
              <a:buSzTx/>
              <a:buFont typeface="Wingdings" panose="05000000000000000000" charset="0"/>
              <a:buChar char="ü"/>
            </a:pPr>
            <a:r>
              <a:rPr kumimoji="0" lang="zh-CN" altLang="en-US" sz="2400" b="1" i="0" u="none" strike="noStrike" cap="none" spc="0" normalizeH="0" baseline="0">
                <a:ln>
                  <a:noFill/>
                </a:ln>
                <a:solidFill>
                  <a:srgbClr val="0564CD"/>
                </a:solidFill>
                <a:effectLst/>
                <a:uFillTx/>
                <a:latin typeface="微软雅黑" panose="020B0503020204020204" charset="-122"/>
                <a:ea typeface="微软雅黑" panose="020B0503020204020204" charset="-122"/>
                <a:cs typeface="微软雅黑" panose="020B0503020204020204" charset="-122"/>
                <a:sym typeface="Calibri" panose="020F0502020204030204"/>
              </a:rPr>
              <a:t>模型排序性</a:t>
            </a:r>
            <a:endParaRPr kumimoji="0" lang="zh-CN" altLang="en-US" sz="2400" b="1" i="0" u="none" strike="noStrike" cap="none" spc="0" normalizeH="0" baseline="0">
              <a:ln>
                <a:noFill/>
              </a:ln>
              <a:solidFill>
                <a:srgbClr val="0564CD"/>
              </a:solidFill>
              <a:effectLst/>
              <a:uFillTx/>
              <a:latin typeface="微软雅黑" panose="020B0503020204020204" charset="-122"/>
              <a:ea typeface="微软雅黑" panose="020B0503020204020204" charset="-122"/>
              <a:cs typeface="微软雅黑" panose="020B0503020204020204" charset="-122"/>
              <a:sym typeface="Calibri" panose="020F0502020204030204"/>
            </a:endParaRPr>
          </a:p>
        </p:txBody>
      </p:sp>
      <p:sp>
        <p:nvSpPr>
          <p:cNvPr id="5" name="文本框 4"/>
          <p:cNvSpPr txBox="1"/>
          <p:nvPr/>
        </p:nvSpPr>
        <p:spPr>
          <a:xfrm>
            <a:off x="982980" y="1412875"/>
            <a:ext cx="10138410" cy="643890"/>
          </a:xfrm>
          <a:prstGeom prst="rect">
            <a:avLst/>
          </a:prstGeom>
          <a:noFill/>
          <a:ln w="12700" cap="flat">
            <a:noFill/>
            <a:miter lim="400000"/>
          </a:ln>
        </p:spPr>
        <p:style>
          <a:lnRef idx="0">
            <a:srgbClr val="FFFFFF"/>
          </a:lnRef>
          <a:fillRef idx="0">
            <a:srgbClr val="FFFFFF"/>
          </a:fillRef>
          <a:effectRef idx="0">
            <a:srgbClr val="FFFFFF"/>
          </a:effectRef>
          <a:fontRef idx="none"/>
        </p:style>
        <p:txBody>
          <a:bodyPr rot="0" vertOverflow="overflow" horzOverflow="overflow" vert="horz" wrap="square" lIns="45719" tIns="45719" rIns="45719" bIns="45719" numCol="1" spcCol="38100" rtlCol="0" anchor="t" forceAA="0" upright="0">
            <a:spAutoFit/>
          </a:bodyPr>
          <a:p>
            <a:pPr marL="0" marR="0" indent="0" algn="l" defTabSz="914400" rtl="0" fontAlgn="auto" latinLnBrk="0" hangingPunct="0">
              <a:lnSpc>
                <a:spcPct val="100000"/>
              </a:lnSpc>
              <a:spcBef>
                <a:spcPts val="0"/>
              </a:spcBef>
              <a:spcAft>
                <a:spcPts val="0"/>
              </a:spcAft>
              <a:buClrTx/>
              <a:buSzTx/>
              <a:buFontTx/>
              <a:buNone/>
            </a:pPr>
            <a:r>
              <a:rPr kumimoji="0" lang="en-US" altLang="zh-CN" sz="1800" b="0" i="0" u="none" strike="noStrike" cap="none" spc="0" normalizeH="0" baseline="0">
                <a:ln>
                  <a:noFill/>
                </a:ln>
                <a:solidFill>
                  <a:srgbClr val="000000"/>
                </a:solidFill>
                <a:effectLst/>
                <a:uFillTx/>
                <a:latin typeface="微软雅黑" panose="020B0503020204020204" charset="-122"/>
                <a:ea typeface="微软雅黑" panose="020B0503020204020204" charset="-122"/>
                <a:cs typeface="+mj-cs"/>
                <a:sym typeface="Calibri" panose="020F0502020204030204"/>
              </a:rPr>
              <a:t>      </a:t>
            </a:r>
            <a:r>
              <a:rPr kumimoji="0" lang="zh-CN" altLang="en-US" sz="1800" b="0" i="0" u="none" strike="noStrike" cap="none" spc="0" normalizeH="0" baseline="0">
                <a:ln>
                  <a:noFill/>
                </a:ln>
                <a:solidFill>
                  <a:srgbClr val="000000"/>
                </a:solidFill>
                <a:effectLst/>
                <a:uFillTx/>
                <a:latin typeface="微软雅黑" panose="020B0503020204020204" charset="-122"/>
                <a:ea typeface="微软雅黑" panose="020B0503020204020204" charset="-122"/>
                <a:cs typeface="+mj-cs"/>
                <a:sym typeface="Calibri" panose="020F0502020204030204"/>
              </a:rPr>
              <a:t>分别用训练集、验证集、测试集</a:t>
            </a:r>
            <a:r>
              <a:rPr kumimoji="0" lang="en-US" altLang="zh-CN" sz="1800" b="0" i="0" u="none" strike="noStrike" cap="none" spc="0" normalizeH="0" baseline="0">
                <a:ln>
                  <a:noFill/>
                </a:ln>
                <a:solidFill>
                  <a:srgbClr val="000000"/>
                </a:solidFill>
                <a:effectLst/>
                <a:uFillTx/>
                <a:latin typeface="微软雅黑" panose="020B0503020204020204" charset="-122"/>
                <a:ea typeface="微软雅黑" panose="020B0503020204020204" charset="-122"/>
                <a:cs typeface="+mj-cs"/>
                <a:sym typeface="Calibri" panose="020F0502020204030204"/>
              </a:rPr>
              <a:t>1</a:t>
            </a:r>
            <a:r>
              <a:rPr kumimoji="0" lang="zh-CN" altLang="en-US" sz="1800" b="0" i="0" u="none" strike="noStrike" cap="none" spc="0" normalizeH="0" baseline="0">
                <a:ln>
                  <a:noFill/>
                </a:ln>
                <a:solidFill>
                  <a:srgbClr val="000000"/>
                </a:solidFill>
                <a:effectLst/>
                <a:uFillTx/>
                <a:latin typeface="微软雅黑" panose="020B0503020204020204" charset="-122"/>
                <a:ea typeface="微软雅黑" panose="020B0503020204020204" charset="-122"/>
                <a:cs typeface="+mj-cs"/>
                <a:sym typeface="Calibri" panose="020F0502020204030204"/>
              </a:rPr>
              <a:t>预测的概率从高到低排序，等频分成</a:t>
            </a:r>
            <a:r>
              <a:rPr kumimoji="0" lang="en-US" altLang="zh-CN" sz="1800" b="0" i="0" u="none" strike="noStrike" cap="none" spc="0" normalizeH="0" baseline="0">
                <a:ln>
                  <a:noFill/>
                </a:ln>
                <a:solidFill>
                  <a:srgbClr val="000000"/>
                </a:solidFill>
                <a:effectLst/>
                <a:uFillTx/>
                <a:latin typeface="微软雅黑" panose="020B0503020204020204" charset="-122"/>
                <a:ea typeface="微软雅黑" panose="020B0503020204020204" charset="-122"/>
                <a:cs typeface="+mj-cs"/>
                <a:sym typeface="Calibri" panose="020F0502020204030204"/>
              </a:rPr>
              <a:t>10</a:t>
            </a:r>
            <a:r>
              <a:rPr kumimoji="0" lang="zh-CN" altLang="en-US" sz="1800" b="0" i="0" u="none" strike="noStrike" cap="none" spc="0" normalizeH="0" baseline="0">
                <a:ln>
                  <a:noFill/>
                </a:ln>
                <a:solidFill>
                  <a:srgbClr val="000000"/>
                </a:solidFill>
                <a:effectLst/>
                <a:uFillTx/>
                <a:latin typeface="微软雅黑" panose="020B0503020204020204" charset="-122"/>
                <a:ea typeface="微软雅黑" panose="020B0503020204020204" charset="-122"/>
                <a:cs typeface="+mj-cs"/>
                <a:sym typeface="Calibri" panose="020F0502020204030204"/>
              </a:rPr>
              <a:t>组，发现下单率的排序性十分好，第</a:t>
            </a:r>
            <a:r>
              <a:rPr kumimoji="0" lang="en-US" altLang="zh-CN" sz="1800" b="0" i="0" u="none" strike="noStrike" cap="none" spc="0" normalizeH="0" baseline="0">
                <a:ln>
                  <a:noFill/>
                </a:ln>
                <a:solidFill>
                  <a:srgbClr val="000000"/>
                </a:solidFill>
                <a:effectLst/>
                <a:uFillTx/>
                <a:latin typeface="微软雅黑" panose="020B0503020204020204" charset="-122"/>
                <a:ea typeface="微软雅黑" panose="020B0503020204020204" charset="-122"/>
                <a:cs typeface="+mj-cs"/>
                <a:sym typeface="Calibri" panose="020F0502020204030204"/>
              </a:rPr>
              <a:t>0</a:t>
            </a:r>
            <a:r>
              <a:rPr kumimoji="0" lang="zh-CN" altLang="en-US" sz="1800" b="0" i="0" u="none" strike="noStrike" cap="none" spc="0" normalizeH="0" baseline="0">
                <a:ln>
                  <a:noFill/>
                </a:ln>
                <a:solidFill>
                  <a:srgbClr val="000000"/>
                </a:solidFill>
                <a:effectLst/>
                <a:uFillTx/>
                <a:latin typeface="微软雅黑" panose="020B0503020204020204" charset="-122"/>
                <a:ea typeface="微软雅黑" panose="020B0503020204020204" charset="-122"/>
                <a:cs typeface="+mj-cs"/>
                <a:sym typeface="Calibri" panose="020F0502020204030204"/>
              </a:rPr>
              <a:t>箱的提升度（</a:t>
            </a:r>
            <a:r>
              <a:rPr kumimoji="0" lang="en-US" altLang="zh-CN" sz="1800" b="0" i="0" u="none" strike="noStrike" cap="none" spc="0" normalizeH="0" baseline="0">
                <a:ln>
                  <a:noFill/>
                </a:ln>
                <a:solidFill>
                  <a:srgbClr val="000000"/>
                </a:solidFill>
                <a:effectLst/>
                <a:uFillTx/>
                <a:latin typeface="微软雅黑" panose="020B0503020204020204" charset="-122"/>
                <a:ea typeface="微软雅黑" panose="020B0503020204020204" charset="-122"/>
                <a:cs typeface="+mj-cs"/>
                <a:sym typeface="Calibri" panose="020F0502020204030204"/>
              </a:rPr>
              <a:t>lift</a:t>
            </a:r>
            <a:r>
              <a:rPr kumimoji="0" lang="zh-CN" altLang="en-US" sz="1800" b="0" i="0" u="none" strike="noStrike" cap="none" spc="0" normalizeH="0" baseline="0">
                <a:ln>
                  <a:noFill/>
                </a:ln>
                <a:solidFill>
                  <a:srgbClr val="000000"/>
                </a:solidFill>
                <a:effectLst/>
                <a:uFillTx/>
                <a:latin typeface="微软雅黑" panose="020B0503020204020204" charset="-122"/>
                <a:ea typeface="微软雅黑" panose="020B0503020204020204" charset="-122"/>
                <a:cs typeface="+mj-cs"/>
                <a:sym typeface="Calibri" panose="020F0502020204030204"/>
              </a:rPr>
              <a:t>）平均超过</a:t>
            </a:r>
            <a:r>
              <a:rPr kumimoji="0" lang="en-US" altLang="zh-CN" sz="1800" b="0" i="0" u="none" strike="noStrike" cap="none" spc="0" normalizeH="0" baseline="0">
                <a:ln>
                  <a:noFill/>
                </a:ln>
                <a:solidFill>
                  <a:srgbClr val="000000"/>
                </a:solidFill>
                <a:effectLst/>
                <a:uFillTx/>
                <a:latin typeface="微软雅黑" panose="020B0503020204020204" charset="-122"/>
                <a:ea typeface="微软雅黑" panose="020B0503020204020204" charset="-122"/>
                <a:cs typeface="+mj-cs"/>
                <a:sym typeface="Calibri" panose="020F0502020204030204"/>
              </a:rPr>
              <a:t>4.6</a:t>
            </a:r>
            <a:r>
              <a:rPr kumimoji="0" lang="zh-CN" altLang="en-US" sz="1800" b="0" i="0" u="none" strike="noStrike" cap="none" spc="0" normalizeH="0" baseline="0">
                <a:ln>
                  <a:noFill/>
                </a:ln>
                <a:solidFill>
                  <a:srgbClr val="000000"/>
                </a:solidFill>
                <a:effectLst/>
                <a:uFillTx/>
                <a:latin typeface="微软雅黑" panose="020B0503020204020204" charset="-122"/>
                <a:ea typeface="微软雅黑" panose="020B0503020204020204" charset="-122"/>
                <a:cs typeface="+mj-cs"/>
                <a:sym typeface="Calibri" panose="020F0502020204030204"/>
              </a:rPr>
              <a:t>，也即是，第</a:t>
            </a:r>
            <a:r>
              <a:rPr kumimoji="0" lang="en-US" altLang="zh-CN" sz="1800" b="0" i="0" u="none" strike="noStrike" cap="none" spc="0" normalizeH="0" baseline="0">
                <a:ln>
                  <a:noFill/>
                </a:ln>
                <a:solidFill>
                  <a:srgbClr val="000000"/>
                </a:solidFill>
                <a:effectLst/>
                <a:uFillTx/>
                <a:latin typeface="微软雅黑" panose="020B0503020204020204" charset="-122"/>
                <a:ea typeface="微软雅黑" panose="020B0503020204020204" charset="-122"/>
                <a:cs typeface="+mj-cs"/>
                <a:sym typeface="Calibri" panose="020F0502020204030204"/>
              </a:rPr>
              <a:t>0</a:t>
            </a:r>
            <a:r>
              <a:rPr kumimoji="0" lang="zh-CN" altLang="en-US" sz="1800" b="0" i="0" u="none" strike="noStrike" cap="none" spc="0" normalizeH="0" baseline="0">
                <a:ln>
                  <a:noFill/>
                </a:ln>
                <a:solidFill>
                  <a:srgbClr val="000000"/>
                </a:solidFill>
                <a:effectLst/>
                <a:uFillTx/>
                <a:latin typeface="微软雅黑" panose="020B0503020204020204" charset="-122"/>
                <a:ea typeface="微软雅黑" panose="020B0503020204020204" charset="-122"/>
                <a:cs typeface="+mj-cs"/>
                <a:sym typeface="Calibri" panose="020F0502020204030204"/>
              </a:rPr>
              <a:t>箱下单率是平均水平的</a:t>
            </a:r>
            <a:r>
              <a:rPr kumimoji="0" lang="en-US" altLang="zh-CN" sz="1800" b="0" i="0" u="none" strike="noStrike" cap="none" spc="0" normalizeH="0" baseline="0">
                <a:ln>
                  <a:noFill/>
                </a:ln>
                <a:solidFill>
                  <a:srgbClr val="000000"/>
                </a:solidFill>
                <a:effectLst/>
                <a:uFillTx/>
                <a:latin typeface="微软雅黑" panose="020B0503020204020204" charset="-122"/>
                <a:ea typeface="微软雅黑" panose="020B0503020204020204" charset="-122"/>
                <a:cs typeface="+mj-cs"/>
                <a:sym typeface="Calibri" panose="020F0502020204030204"/>
              </a:rPr>
              <a:t>4.6</a:t>
            </a:r>
            <a:r>
              <a:rPr kumimoji="0" lang="zh-CN" altLang="en-US" sz="1800" b="0" i="0" u="none" strike="noStrike" cap="none" spc="0" normalizeH="0" baseline="0">
                <a:ln>
                  <a:noFill/>
                </a:ln>
                <a:solidFill>
                  <a:srgbClr val="000000"/>
                </a:solidFill>
                <a:effectLst/>
                <a:uFillTx/>
                <a:latin typeface="微软雅黑" panose="020B0503020204020204" charset="-122"/>
                <a:ea typeface="微软雅黑" panose="020B0503020204020204" charset="-122"/>
                <a:cs typeface="+mj-cs"/>
                <a:sym typeface="Calibri" panose="020F0502020204030204"/>
              </a:rPr>
              <a:t>倍以上。</a:t>
            </a:r>
            <a:endParaRPr kumimoji="0" lang="zh-CN" altLang="en-US" sz="1800" b="0" i="0" u="none" strike="noStrike" cap="none" spc="0" normalizeH="0" baseline="0">
              <a:ln>
                <a:noFill/>
              </a:ln>
              <a:solidFill>
                <a:srgbClr val="000000"/>
              </a:solidFill>
              <a:effectLst/>
              <a:uFillTx/>
              <a:latin typeface="微软雅黑" panose="020B0503020204020204" charset="-122"/>
              <a:ea typeface="微软雅黑" panose="020B0503020204020204" charset="-122"/>
              <a:cs typeface="+mj-cs"/>
              <a:sym typeface="Calibri" panose="020F0502020204030204"/>
            </a:endParaRPr>
          </a:p>
        </p:txBody>
      </p:sp>
      <p:pic>
        <p:nvPicPr>
          <p:cNvPr id="4" name="图片 3" descr="kx_bin_0120"/>
          <p:cNvPicPr>
            <a:picLocks noChangeAspect="1"/>
          </p:cNvPicPr>
          <p:nvPr/>
        </p:nvPicPr>
        <p:blipFill>
          <a:blip r:embed="rId1"/>
          <a:stretch>
            <a:fillRect/>
          </a:stretch>
        </p:blipFill>
        <p:spPr>
          <a:xfrm>
            <a:off x="1991360" y="2056765"/>
            <a:ext cx="8280000" cy="4622477"/>
          </a:xfrm>
          <a:prstGeom prst="rect">
            <a:avLst/>
          </a:prstGeom>
        </p:spPr>
      </p:pic>
    </p:spTree>
  </p:cSld>
  <p:clrMapOvr>
    <a:masterClrMapping/>
  </p:clrMapOvr>
  <p:transition spd="med"/>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p:nvPr>
            <p:ph type="title"/>
          </p:nvPr>
        </p:nvSpPr>
        <p:spPr>
          <a:xfrm>
            <a:off x="335915" y="260985"/>
            <a:ext cx="10714355" cy="675005"/>
          </a:xfrm>
        </p:spPr>
        <p:txBody>
          <a:bodyPr>
            <a:normAutofit/>
          </a:bodyPr>
          <a:p>
            <a:r>
              <a:rPr lang="en-US" altLang="zh-CN" sz="3555"/>
              <a:t>3. </a:t>
            </a:r>
            <a:r>
              <a:rPr lang="zh-CN" altLang="en-US" sz="3555"/>
              <a:t>模型建立</a:t>
            </a:r>
            <a:r>
              <a:rPr lang="en-US" altLang="zh-CN" sz="3550">
                <a:sym typeface="+mn-ea"/>
              </a:rPr>
              <a:t>-XGBOOST</a:t>
            </a:r>
            <a:endParaRPr lang="en-US" altLang="zh-CN" sz="3550">
              <a:sym typeface="+mn-ea"/>
            </a:endParaRPr>
          </a:p>
        </p:txBody>
      </p:sp>
      <p:sp>
        <p:nvSpPr>
          <p:cNvPr id="25" name="文本框 24"/>
          <p:cNvSpPr txBox="1"/>
          <p:nvPr/>
        </p:nvSpPr>
        <p:spPr>
          <a:xfrm>
            <a:off x="695960" y="1125220"/>
            <a:ext cx="2288540" cy="459105"/>
          </a:xfrm>
          <a:prstGeom prst="rect">
            <a:avLst/>
          </a:prstGeom>
          <a:noFill/>
          <a:ln w="12700" cap="flat">
            <a:noFill/>
            <a:miter lim="400000"/>
          </a:ln>
        </p:spPr>
        <p:style>
          <a:lnRef idx="0">
            <a:srgbClr val="FFFFFF"/>
          </a:lnRef>
          <a:fillRef idx="0">
            <a:srgbClr val="FFFFFF"/>
          </a:fillRef>
          <a:effectRef idx="0">
            <a:srgbClr val="FFFFFF"/>
          </a:effectRef>
          <a:fontRef idx="none"/>
        </p:style>
        <p:txBody>
          <a:bodyPr rot="0" vertOverflow="overflow" horzOverflow="overflow" vert="horz" wrap="square" lIns="45719" tIns="45719" rIns="45719" bIns="45719" numCol="1" spcCol="38100" rtlCol="0" anchor="t" forceAA="0" upright="0">
            <a:spAutoFit/>
          </a:bodyPr>
          <a:p>
            <a:pPr marL="342900" marR="0" indent="-342900" algn="l" defTabSz="914400" rtl="0" fontAlgn="auto" latinLnBrk="0" hangingPunct="0">
              <a:lnSpc>
                <a:spcPct val="100000"/>
              </a:lnSpc>
              <a:spcBef>
                <a:spcPts val="0"/>
              </a:spcBef>
              <a:spcAft>
                <a:spcPts val="0"/>
              </a:spcAft>
              <a:buClrTx/>
              <a:buSzTx/>
              <a:buFont typeface="Wingdings" panose="05000000000000000000" charset="0"/>
              <a:buChar char="ü"/>
            </a:pPr>
            <a:r>
              <a:rPr kumimoji="0" lang="zh-CN" altLang="en-US" sz="2400" b="1" i="0" u="none" strike="noStrike" cap="none" spc="0" normalizeH="0" baseline="0">
                <a:ln>
                  <a:noFill/>
                </a:ln>
                <a:solidFill>
                  <a:srgbClr val="0564CD"/>
                </a:solidFill>
                <a:effectLst/>
                <a:uFillTx/>
                <a:latin typeface="微软雅黑" panose="020B0503020204020204" charset="-122"/>
                <a:ea typeface="微软雅黑" panose="020B0503020204020204" charset="-122"/>
                <a:cs typeface="微软雅黑" panose="020B0503020204020204" charset="-122"/>
                <a:sym typeface="Calibri" panose="020F0502020204030204"/>
              </a:rPr>
              <a:t>变量筛选过程</a:t>
            </a:r>
            <a:endParaRPr kumimoji="0" lang="zh-CN" altLang="en-US" sz="2400" b="1" i="0" u="none" strike="noStrike" cap="none" spc="0" normalizeH="0" baseline="0">
              <a:ln>
                <a:noFill/>
              </a:ln>
              <a:solidFill>
                <a:srgbClr val="0564CD"/>
              </a:solidFill>
              <a:effectLst/>
              <a:uFillTx/>
              <a:latin typeface="微软雅黑" panose="020B0503020204020204" charset="-122"/>
              <a:ea typeface="微软雅黑" panose="020B0503020204020204" charset="-122"/>
              <a:cs typeface="微软雅黑" panose="020B0503020204020204" charset="-122"/>
              <a:sym typeface="Calibri" panose="020F0502020204030204"/>
            </a:endParaRPr>
          </a:p>
        </p:txBody>
      </p:sp>
      <p:sp>
        <p:nvSpPr>
          <p:cNvPr id="8" name="文本框 7"/>
          <p:cNvSpPr txBox="1"/>
          <p:nvPr/>
        </p:nvSpPr>
        <p:spPr>
          <a:xfrm>
            <a:off x="541020" y="1584325"/>
            <a:ext cx="5489575" cy="1753235"/>
          </a:xfrm>
          <a:prstGeom prst="rect">
            <a:avLst/>
          </a:prstGeom>
          <a:noFill/>
        </p:spPr>
        <p:txBody>
          <a:bodyPr wrap="square" rtlCol="0">
            <a:spAutoFit/>
          </a:bodyPr>
          <a:p>
            <a:pPr marL="285750" indent="-285750">
              <a:buFont typeface="Arial" panose="020B0604020202020204" pitchFamily="34" charset="0"/>
              <a:buChar char="•"/>
            </a:pPr>
            <a:r>
              <a:rPr lang="zh-CN" altLang="en-US">
                <a:ea typeface="宋体" panose="02010600030101010101" pitchFamily="2" charset="-122"/>
              </a:rPr>
              <a:t>缺失大于</a:t>
            </a:r>
            <a:r>
              <a:rPr lang="en-US" altLang="zh-CN">
                <a:ea typeface="宋体" panose="02010600030101010101" pitchFamily="2" charset="-122"/>
              </a:rPr>
              <a:t>90%</a:t>
            </a:r>
            <a:r>
              <a:rPr lang="zh-CN" altLang="en-US">
                <a:ea typeface="宋体" panose="02010600030101010101" pitchFamily="2" charset="-122"/>
              </a:rPr>
              <a:t>和无意义变量总共</a:t>
            </a:r>
            <a:r>
              <a:rPr lang="en-US" altLang="zh-CN">
                <a:ea typeface="宋体" panose="02010600030101010101" pitchFamily="2" charset="-122"/>
              </a:rPr>
              <a:t>10</a:t>
            </a:r>
            <a:r>
              <a:rPr lang="en-US" altLang="zh-CN"/>
              <a:t>+19+34=</a:t>
            </a:r>
            <a:r>
              <a:rPr lang="en-US" altLang="zh-CN">
                <a:solidFill>
                  <a:schemeClr val="tx1"/>
                </a:solidFill>
              </a:rPr>
              <a:t>63</a:t>
            </a:r>
            <a:r>
              <a:rPr lang="zh-CN" altLang="en-US">
                <a:ea typeface="宋体" panose="02010600030101010101" pitchFamily="2" charset="-122"/>
              </a:rPr>
              <a:t>个。</a:t>
            </a:r>
            <a:endParaRPr lang="zh-CN" altLang="en-US"/>
          </a:p>
          <a:p>
            <a:pPr marL="285750" indent="-285750">
              <a:buFont typeface="Arial" panose="020B0604020202020204" pitchFamily="34" charset="0"/>
              <a:buChar char="•"/>
            </a:pPr>
            <a:r>
              <a:rPr lang="zh-CN" altLang="en-US"/>
              <a:t>根据变量相关性矩阵分析，变量之间相关性达到</a:t>
            </a:r>
            <a:r>
              <a:rPr lang="en-US" altLang="zh-CN">
                <a:solidFill>
                  <a:srgbClr val="FF0000"/>
                </a:solidFill>
              </a:rPr>
              <a:t>0.7</a:t>
            </a:r>
            <a:r>
              <a:rPr lang="zh-CN" altLang="en-US">
                <a:solidFill>
                  <a:srgbClr val="FF0000"/>
                </a:solidFill>
              </a:rPr>
              <a:t>和</a:t>
            </a:r>
            <a:r>
              <a:rPr lang="en-US" altLang="zh-CN">
                <a:solidFill>
                  <a:srgbClr val="FF0000"/>
                </a:solidFill>
              </a:rPr>
              <a:t>-0.7</a:t>
            </a:r>
            <a:r>
              <a:rPr lang="zh-CN" altLang="en-US"/>
              <a:t>的变量总共</a:t>
            </a:r>
            <a:r>
              <a:rPr lang="en-US" altLang="zh-CN">
                <a:solidFill>
                  <a:schemeClr val="tx1"/>
                </a:solidFill>
              </a:rPr>
              <a:t>68</a:t>
            </a:r>
            <a:r>
              <a:rPr lang="zh-CN" altLang="en-US"/>
              <a:t>个被剔除。目前入模的</a:t>
            </a:r>
            <a:r>
              <a:rPr lang="en-US" altLang="zh-CN">
                <a:solidFill>
                  <a:schemeClr val="tx1"/>
                </a:solidFill>
              </a:rPr>
              <a:t>23</a:t>
            </a:r>
            <a:r>
              <a:rPr lang="zh-CN" altLang="en-US"/>
              <a:t>个变量的互相相关性介于</a:t>
            </a:r>
            <a:r>
              <a:rPr lang="en-US" altLang="zh-CN">
                <a:solidFill>
                  <a:srgbClr val="FF0000"/>
                </a:solidFill>
              </a:rPr>
              <a:t>0.643</a:t>
            </a:r>
            <a:r>
              <a:rPr lang="zh-CN" altLang="en-US">
                <a:solidFill>
                  <a:srgbClr val="FF0000"/>
                </a:solidFill>
              </a:rPr>
              <a:t>和</a:t>
            </a:r>
            <a:r>
              <a:rPr lang="en-US" altLang="zh-CN">
                <a:solidFill>
                  <a:srgbClr val="FF0000"/>
                </a:solidFill>
              </a:rPr>
              <a:t>-0.653</a:t>
            </a:r>
            <a:r>
              <a:rPr lang="zh-CN" altLang="en-US"/>
              <a:t>之间。</a:t>
            </a:r>
            <a:endParaRPr lang="zh-CN" altLang="en-US"/>
          </a:p>
          <a:p>
            <a:pPr marL="285750" indent="-285750">
              <a:buFont typeface="Arial" panose="020B0604020202020204" pitchFamily="34" charset="0"/>
              <a:buChar char="•"/>
            </a:pPr>
            <a:r>
              <a:rPr lang="zh-CN" altLang="en-US">
                <a:sym typeface="+mn-ea"/>
              </a:rPr>
              <a:t>重要性未介于</a:t>
            </a:r>
            <a:r>
              <a:rPr lang="en-US" altLang="zh-CN">
                <a:solidFill>
                  <a:srgbClr val="FF0000"/>
                </a:solidFill>
                <a:sym typeface="+mn-ea"/>
              </a:rPr>
              <a:t>10-100</a:t>
            </a:r>
            <a:r>
              <a:rPr lang="zh-CN" altLang="en-US">
                <a:sym typeface="+mn-ea"/>
              </a:rPr>
              <a:t>的变量总共</a:t>
            </a:r>
            <a:r>
              <a:rPr lang="en-US" altLang="zh-CN">
                <a:solidFill>
                  <a:schemeClr val="tx1"/>
                </a:solidFill>
                <a:sym typeface="+mn-ea"/>
              </a:rPr>
              <a:t>23</a:t>
            </a:r>
            <a:r>
              <a:rPr lang="zh-CN" altLang="en-US">
                <a:sym typeface="+mn-ea"/>
              </a:rPr>
              <a:t>个。</a:t>
            </a:r>
            <a:endParaRPr lang="zh-CN" altLang="en-US"/>
          </a:p>
          <a:p>
            <a:pPr marL="285750" indent="-285750">
              <a:buFont typeface="Arial" panose="020B0604020202020204" pitchFamily="34" charset="0"/>
              <a:buChar char="•"/>
            </a:pPr>
            <a:r>
              <a:rPr lang="zh-CN" altLang="en-US"/>
              <a:t>模型进行学习时</a:t>
            </a:r>
            <a:r>
              <a:rPr lang="en-US" altLang="zh-CN"/>
              <a:t>5</a:t>
            </a:r>
            <a:r>
              <a:rPr lang="zh-CN" altLang="en-US"/>
              <a:t>个变量因价值太低被自动放弃。</a:t>
            </a:r>
            <a:endParaRPr lang="zh-CN" altLang="en-US"/>
          </a:p>
        </p:txBody>
      </p:sp>
      <p:pic>
        <p:nvPicPr>
          <p:cNvPr id="3" name="图片 2" descr="kx_var_pro2"/>
          <p:cNvPicPr>
            <a:picLocks noChangeAspect="1"/>
          </p:cNvPicPr>
          <p:nvPr/>
        </p:nvPicPr>
        <p:blipFill>
          <a:blip r:embed="rId1"/>
          <a:stretch>
            <a:fillRect/>
          </a:stretch>
        </p:blipFill>
        <p:spPr>
          <a:xfrm>
            <a:off x="6350000" y="1169670"/>
            <a:ext cx="4700270" cy="2167890"/>
          </a:xfrm>
          <a:prstGeom prst="rect">
            <a:avLst/>
          </a:prstGeom>
        </p:spPr>
      </p:pic>
      <p:pic>
        <p:nvPicPr>
          <p:cNvPr id="4" name="图片 3" descr="kx_corr_1_14"/>
          <p:cNvPicPr>
            <a:picLocks noChangeAspect="1"/>
          </p:cNvPicPr>
          <p:nvPr/>
        </p:nvPicPr>
        <p:blipFill>
          <a:blip r:embed="rId2"/>
          <a:stretch>
            <a:fillRect/>
          </a:stretch>
        </p:blipFill>
        <p:spPr>
          <a:xfrm>
            <a:off x="834390" y="3573145"/>
            <a:ext cx="10522585" cy="2916555"/>
          </a:xfrm>
          <a:prstGeom prst="rect">
            <a:avLst/>
          </a:prstGeom>
        </p:spPr>
      </p:pic>
    </p:spTree>
  </p:cSld>
  <p:clrMapOvr>
    <a:masterClrMapping/>
  </p:clrMapOvr>
  <p:transition spd="med"/>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p:nvPr>
            <p:ph type="title"/>
          </p:nvPr>
        </p:nvSpPr>
        <p:spPr>
          <a:xfrm>
            <a:off x="335915" y="260985"/>
            <a:ext cx="10714355" cy="675005"/>
          </a:xfrm>
        </p:spPr>
        <p:txBody>
          <a:bodyPr>
            <a:normAutofit/>
          </a:bodyPr>
          <a:p>
            <a:r>
              <a:rPr lang="en-US" altLang="zh-CN" sz="3555"/>
              <a:t>3. </a:t>
            </a:r>
            <a:r>
              <a:rPr lang="zh-CN" altLang="en-US" sz="3555"/>
              <a:t>模型建立</a:t>
            </a:r>
            <a:r>
              <a:rPr lang="en-US" altLang="zh-CN" sz="3555"/>
              <a:t>-</a:t>
            </a:r>
            <a:r>
              <a:rPr lang="zh-CN" altLang="en-US" sz="3555"/>
              <a:t>数据维度</a:t>
            </a:r>
            <a:endParaRPr lang="zh-CN" altLang="en-US" sz="3555"/>
          </a:p>
        </p:txBody>
      </p:sp>
      <p:sp>
        <p:nvSpPr>
          <p:cNvPr id="25" name="文本框 24"/>
          <p:cNvSpPr txBox="1"/>
          <p:nvPr/>
        </p:nvSpPr>
        <p:spPr>
          <a:xfrm>
            <a:off x="695960" y="1125220"/>
            <a:ext cx="4105275" cy="459105"/>
          </a:xfrm>
          <a:prstGeom prst="rect">
            <a:avLst/>
          </a:prstGeom>
          <a:noFill/>
          <a:ln w="12700" cap="flat">
            <a:noFill/>
            <a:miter lim="400000"/>
          </a:ln>
        </p:spPr>
        <p:style>
          <a:lnRef idx="0">
            <a:srgbClr val="FFFFFF"/>
          </a:lnRef>
          <a:fillRef idx="0">
            <a:srgbClr val="FFFFFF"/>
          </a:fillRef>
          <a:effectRef idx="0">
            <a:srgbClr val="FFFFFF"/>
          </a:effectRef>
          <a:fontRef idx="none"/>
        </p:style>
        <p:txBody>
          <a:bodyPr rot="0" vertOverflow="overflow" horzOverflow="overflow" vert="horz" wrap="square" lIns="45719" tIns="45719" rIns="45719" bIns="45719" numCol="1" spcCol="38100" rtlCol="0" anchor="t" forceAA="0" upright="0">
            <a:spAutoFit/>
          </a:bodyPr>
          <a:p>
            <a:pPr marL="342900" marR="0" indent="-342900" algn="l" defTabSz="914400" rtl="0" fontAlgn="auto" latinLnBrk="0" hangingPunct="0">
              <a:lnSpc>
                <a:spcPct val="100000"/>
              </a:lnSpc>
              <a:spcBef>
                <a:spcPts val="0"/>
              </a:spcBef>
              <a:spcAft>
                <a:spcPts val="0"/>
              </a:spcAft>
              <a:buClrTx/>
              <a:buSzTx/>
              <a:buFont typeface="Wingdings" panose="05000000000000000000" charset="0"/>
              <a:buChar char="ü"/>
            </a:pPr>
            <a:r>
              <a:rPr kumimoji="0" lang="zh-CN" altLang="en-US" sz="2400" b="1" i="0" u="none" strike="noStrike" cap="none" spc="0" normalizeH="0" baseline="0">
                <a:ln>
                  <a:noFill/>
                </a:ln>
                <a:solidFill>
                  <a:srgbClr val="0564CD"/>
                </a:solidFill>
                <a:effectLst/>
                <a:uFillTx/>
                <a:latin typeface="微软雅黑" panose="020B0503020204020204" charset="-122"/>
                <a:ea typeface="微软雅黑" panose="020B0503020204020204" charset="-122"/>
                <a:cs typeface="微软雅黑" panose="020B0503020204020204" charset="-122"/>
                <a:sym typeface="Calibri" panose="020F0502020204030204"/>
              </a:rPr>
              <a:t>特征工程</a:t>
            </a:r>
            <a:endParaRPr kumimoji="0" lang="zh-CN" altLang="en-US" sz="2400" b="1" i="0" u="none" strike="noStrike" cap="none" spc="0" normalizeH="0" baseline="0">
              <a:ln>
                <a:noFill/>
              </a:ln>
              <a:solidFill>
                <a:srgbClr val="0564CD"/>
              </a:solidFill>
              <a:effectLst/>
              <a:uFillTx/>
              <a:latin typeface="微软雅黑" panose="020B0503020204020204" charset="-122"/>
              <a:ea typeface="微软雅黑" panose="020B0503020204020204" charset="-122"/>
              <a:cs typeface="微软雅黑" panose="020B0503020204020204" charset="-122"/>
              <a:sym typeface="Calibri" panose="020F0502020204030204"/>
            </a:endParaRPr>
          </a:p>
        </p:txBody>
      </p:sp>
      <p:sp>
        <p:nvSpPr>
          <p:cNvPr id="33" name="文本框 32"/>
          <p:cNvSpPr txBox="1"/>
          <p:nvPr/>
        </p:nvSpPr>
        <p:spPr>
          <a:xfrm>
            <a:off x="767715" y="1628775"/>
            <a:ext cx="6244590" cy="2583180"/>
          </a:xfrm>
          <a:prstGeom prst="rect">
            <a:avLst/>
          </a:prstGeom>
          <a:noFill/>
          <a:ln w="12700" cap="flat">
            <a:noFill/>
            <a:miter lim="400000"/>
          </a:ln>
        </p:spPr>
        <p:style>
          <a:lnRef idx="0">
            <a:srgbClr val="FFFFFF"/>
          </a:lnRef>
          <a:fillRef idx="0">
            <a:srgbClr val="FFFFFF"/>
          </a:fillRef>
          <a:effectRef idx="0">
            <a:srgbClr val="FFFFFF"/>
          </a:effectRef>
          <a:fontRef idx="none"/>
        </p:style>
        <p:txBody>
          <a:bodyPr rot="0" vertOverflow="overflow" horzOverflow="overflow" vert="horz" wrap="square" lIns="45719" tIns="45719" rIns="45719" bIns="45719" numCol="1" spcCol="38100" rtlCol="0" anchor="t" forceAA="0" upright="0">
            <a:spAutoFit/>
          </a:bodyPr>
          <a:p>
            <a:pPr marL="285750" marR="0" indent="-285750" algn="l" defTabSz="914400" rtl="0" fontAlgn="auto" latinLnBrk="0" hangingPunct="0">
              <a:lnSpc>
                <a:spcPct val="150000"/>
              </a:lnSpc>
              <a:spcBef>
                <a:spcPts val="0"/>
              </a:spcBef>
              <a:spcAft>
                <a:spcPts val="0"/>
              </a:spcAft>
              <a:buClrTx/>
              <a:buSzTx/>
              <a:buFont typeface="Arial" panose="020B0604020202020204" pitchFamily="34" charset="0"/>
              <a:buChar char="•"/>
            </a:pPr>
            <a:r>
              <a:rPr kumimoji="0" lang="zh-CN" altLang="en-US" sz="1800" b="0" i="0" u="none" strike="noStrike" cap="none" spc="0" normalizeH="0" baseline="0">
                <a:ln>
                  <a:noFill/>
                </a:ln>
                <a:solidFill>
                  <a:srgbClr val="000000"/>
                </a:solidFill>
                <a:effectLst/>
                <a:uFillTx/>
                <a:latin typeface="微软雅黑" panose="020B0503020204020204" charset="-122"/>
                <a:ea typeface="微软雅黑" panose="020B0503020204020204" charset="-122"/>
                <a:cs typeface="微软雅黑" panose="020B0503020204020204" charset="-122"/>
                <a:sym typeface="Calibri" panose="020F0502020204030204"/>
              </a:rPr>
              <a:t>保费、保额、城市分级由于是</a:t>
            </a:r>
            <a:r>
              <a:rPr kumimoji="0" lang="zh-CN" altLang="en-US" sz="1800" b="1" i="0" u="none" strike="noStrike" cap="none" spc="0" normalizeH="0" baseline="0">
                <a:ln>
                  <a:noFill/>
                </a:ln>
                <a:solidFill>
                  <a:srgbClr val="000000"/>
                </a:solidFill>
                <a:effectLst/>
                <a:uFillTx/>
                <a:latin typeface="微软雅黑" panose="020B0503020204020204" charset="-122"/>
                <a:ea typeface="微软雅黑" panose="020B0503020204020204" charset="-122"/>
                <a:cs typeface="微软雅黑" panose="020B0503020204020204" charset="-122"/>
                <a:sym typeface="Calibri" panose="020F0502020204030204"/>
              </a:rPr>
              <a:t>排序性变量</a:t>
            </a:r>
            <a:r>
              <a:rPr kumimoji="0" lang="zh-CN" altLang="en-US" sz="1800" b="0" i="0" u="none" strike="noStrike" cap="none" spc="0" normalizeH="0" baseline="0">
                <a:ln>
                  <a:noFill/>
                </a:ln>
                <a:solidFill>
                  <a:srgbClr val="000000"/>
                </a:solidFill>
                <a:effectLst/>
                <a:uFillTx/>
                <a:latin typeface="微软雅黑" panose="020B0503020204020204" charset="-122"/>
                <a:ea typeface="微软雅黑" panose="020B0503020204020204" charset="-122"/>
                <a:cs typeface="微软雅黑" panose="020B0503020204020204" charset="-122"/>
                <a:sym typeface="Calibri" panose="020F0502020204030204"/>
              </a:rPr>
              <a:t>，可以排序后分组进行硬编码。</a:t>
            </a:r>
            <a:endParaRPr kumimoji="0" lang="zh-CN" altLang="en-US" sz="1800" b="0" i="0" u="none" strike="noStrike" cap="none" spc="0" normalizeH="0" baseline="0">
              <a:ln>
                <a:noFill/>
              </a:ln>
              <a:solidFill>
                <a:srgbClr val="000000"/>
              </a:solidFill>
              <a:effectLst/>
              <a:uFillTx/>
              <a:latin typeface="微软雅黑" panose="020B0503020204020204" charset="-122"/>
              <a:ea typeface="微软雅黑" panose="020B0503020204020204" charset="-122"/>
              <a:cs typeface="微软雅黑" panose="020B0503020204020204" charset="-122"/>
              <a:sym typeface="Calibri" panose="020F0502020204030204"/>
            </a:endParaRPr>
          </a:p>
          <a:p>
            <a:pPr marL="285750" marR="0" indent="-285750" algn="l" defTabSz="914400" rtl="0" fontAlgn="auto" latinLnBrk="0" hangingPunct="0">
              <a:lnSpc>
                <a:spcPct val="150000"/>
              </a:lnSpc>
              <a:spcBef>
                <a:spcPts val="0"/>
              </a:spcBef>
              <a:spcAft>
                <a:spcPts val="0"/>
              </a:spcAft>
              <a:buClrTx/>
              <a:buSzTx/>
              <a:buFont typeface="Arial" panose="020B0604020202020204" pitchFamily="34" charset="0"/>
              <a:buChar char="•"/>
            </a:pPr>
            <a:r>
              <a:rPr lang="zh-CN">
                <a:latin typeface="微软雅黑" panose="020B0503020204020204" charset="-122"/>
                <a:ea typeface="微软雅黑" panose="020B0503020204020204" charset="-122"/>
                <a:cs typeface="微软雅黑" panose="020B0503020204020204" charset="-122"/>
                <a:sym typeface="Calibri" panose="020F0502020204030204"/>
              </a:rPr>
              <a:t>其他类别变量经过不同编码方式的测试（</a:t>
            </a:r>
            <a:r>
              <a:rPr lang="en-US" altLang="zh-CN">
                <a:latin typeface="微软雅黑" panose="020B0503020204020204" charset="-122"/>
                <a:ea typeface="微软雅黑" panose="020B0503020204020204" charset="-122"/>
                <a:cs typeface="微软雅黑" panose="020B0503020204020204" charset="-122"/>
                <a:sym typeface="Calibri" panose="020F0502020204030204"/>
              </a:rPr>
              <a:t>CatBoost, Target, WOE</a:t>
            </a:r>
            <a:r>
              <a:rPr lang="zh-CN" altLang="en-US">
                <a:latin typeface="微软雅黑" panose="020B0503020204020204" charset="-122"/>
                <a:ea typeface="微软雅黑" panose="020B0503020204020204" charset="-122"/>
                <a:cs typeface="微软雅黑" panose="020B0503020204020204" charset="-122"/>
                <a:sym typeface="Calibri" panose="020F0502020204030204"/>
              </a:rPr>
              <a:t>等等</a:t>
            </a:r>
            <a:r>
              <a:rPr lang="zh-CN">
                <a:latin typeface="微软雅黑" panose="020B0503020204020204" charset="-122"/>
                <a:ea typeface="微软雅黑" panose="020B0503020204020204" charset="-122"/>
                <a:cs typeface="微软雅黑" panose="020B0503020204020204" charset="-122"/>
                <a:sym typeface="Calibri" panose="020F0502020204030204"/>
              </a:rPr>
              <a:t>），决定</a:t>
            </a:r>
            <a:r>
              <a:rPr lang="zh-CN" b="1">
                <a:latin typeface="微软雅黑" panose="020B0503020204020204" charset="-122"/>
                <a:ea typeface="微软雅黑" panose="020B0503020204020204" charset="-122"/>
                <a:cs typeface="微软雅黑" panose="020B0503020204020204" charset="-122"/>
                <a:sym typeface="Calibri" panose="020F0502020204030204"/>
              </a:rPr>
              <a:t>统一使用</a:t>
            </a:r>
            <a:r>
              <a:rPr lang="en-US" altLang="zh-CN" b="1">
                <a:latin typeface="微软雅黑" panose="020B0503020204020204" charset="-122"/>
                <a:ea typeface="微软雅黑" panose="020B0503020204020204" charset="-122"/>
                <a:cs typeface="微软雅黑" panose="020B0503020204020204" charset="-122"/>
                <a:sym typeface="Calibri" panose="020F0502020204030204"/>
              </a:rPr>
              <a:t>WOE</a:t>
            </a:r>
            <a:r>
              <a:rPr lang="zh-CN" altLang="en-US" b="1">
                <a:latin typeface="微软雅黑" panose="020B0503020204020204" charset="-122"/>
                <a:ea typeface="微软雅黑" panose="020B0503020204020204" charset="-122"/>
                <a:cs typeface="微软雅黑" panose="020B0503020204020204" charset="-122"/>
                <a:sym typeface="Calibri" panose="020F0502020204030204"/>
              </a:rPr>
              <a:t>编码</a:t>
            </a:r>
            <a:r>
              <a:rPr lang="zh-CN" altLang="en-US">
                <a:latin typeface="微软雅黑" panose="020B0503020204020204" charset="-122"/>
                <a:ea typeface="微软雅黑" panose="020B0503020204020204" charset="-122"/>
                <a:cs typeface="微软雅黑" panose="020B0503020204020204" charset="-122"/>
                <a:sym typeface="Calibri" panose="020F0502020204030204"/>
              </a:rPr>
              <a:t>。</a:t>
            </a:r>
            <a:endParaRPr lang="zh-CN" altLang="en-US">
              <a:latin typeface="微软雅黑" panose="020B0503020204020204" charset="-122"/>
              <a:ea typeface="微软雅黑" panose="020B0503020204020204" charset="-122"/>
              <a:cs typeface="微软雅黑" panose="020B0503020204020204" charset="-122"/>
              <a:sym typeface="Calibri" panose="020F0502020204030204"/>
            </a:endParaRPr>
          </a:p>
          <a:p>
            <a:pPr marL="285750" marR="0" indent="-285750" algn="l" defTabSz="914400" rtl="0" fontAlgn="auto" latinLnBrk="0" hangingPunct="0">
              <a:lnSpc>
                <a:spcPct val="150000"/>
              </a:lnSpc>
              <a:spcBef>
                <a:spcPts val="0"/>
              </a:spcBef>
              <a:spcAft>
                <a:spcPts val="0"/>
              </a:spcAft>
              <a:buClrTx/>
              <a:buSzTx/>
              <a:buFont typeface="Arial" panose="020B0604020202020204" pitchFamily="34" charset="0"/>
              <a:buChar char="•"/>
            </a:pPr>
            <a:r>
              <a:rPr kumimoji="0" lang="zh-CN" altLang="en-US" sz="1800" b="0" i="0" u="none" strike="noStrike" cap="none" spc="0" normalizeH="0" baseline="0">
                <a:ln>
                  <a:noFill/>
                </a:ln>
                <a:solidFill>
                  <a:srgbClr val="000000"/>
                </a:solidFill>
                <a:effectLst/>
                <a:uFillTx/>
                <a:latin typeface="微软雅黑" panose="020B0503020204020204" charset="-122"/>
                <a:ea typeface="微软雅黑" panose="020B0503020204020204" charset="-122"/>
                <a:cs typeface="微软雅黑" panose="020B0503020204020204" charset="-122"/>
                <a:sym typeface="Calibri" panose="020F0502020204030204"/>
              </a:rPr>
              <a:t>为了提升模型能力与防止过拟合，某些过少的分组被</a:t>
            </a:r>
            <a:r>
              <a:rPr kumimoji="0" lang="zh-CN" altLang="en-US" sz="1800" b="1" i="0" u="none" strike="noStrike" cap="none" spc="0" normalizeH="0" baseline="0">
                <a:ln>
                  <a:noFill/>
                </a:ln>
                <a:solidFill>
                  <a:srgbClr val="000000"/>
                </a:solidFill>
                <a:effectLst/>
                <a:uFillTx/>
                <a:latin typeface="微软雅黑" panose="020B0503020204020204" charset="-122"/>
                <a:ea typeface="微软雅黑" panose="020B0503020204020204" charset="-122"/>
                <a:cs typeface="微软雅黑" panose="020B0503020204020204" charset="-122"/>
                <a:sym typeface="Calibri" panose="020F0502020204030204"/>
              </a:rPr>
              <a:t>合并</a:t>
            </a:r>
            <a:r>
              <a:rPr kumimoji="0" lang="zh-CN" altLang="en-US" sz="1800" b="0" i="0" u="none" strike="noStrike" cap="none" spc="0" normalizeH="0" baseline="0">
                <a:ln>
                  <a:noFill/>
                </a:ln>
                <a:solidFill>
                  <a:srgbClr val="000000"/>
                </a:solidFill>
                <a:effectLst/>
                <a:uFillTx/>
                <a:latin typeface="微软雅黑" panose="020B0503020204020204" charset="-122"/>
                <a:ea typeface="微软雅黑" panose="020B0503020204020204" charset="-122"/>
                <a:cs typeface="微软雅黑" panose="020B0503020204020204" charset="-122"/>
                <a:sym typeface="Calibri" panose="020F0502020204030204"/>
              </a:rPr>
              <a:t>到其他分组（</a:t>
            </a:r>
            <a:r>
              <a:rPr kumimoji="0" lang="zh-CN" altLang="en-US" sz="1800" b="1" i="0" u="none" strike="noStrike" cap="none" spc="0" normalizeH="0" baseline="0">
                <a:ln>
                  <a:noFill/>
                </a:ln>
                <a:solidFill>
                  <a:srgbClr val="000000"/>
                </a:solidFill>
                <a:effectLst/>
                <a:uFillTx/>
                <a:latin typeface="微软雅黑" panose="020B0503020204020204" charset="-122"/>
                <a:ea typeface="微软雅黑" panose="020B0503020204020204" charset="-122"/>
                <a:cs typeface="微软雅黑" panose="020B0503020204020204" charset="-122"/>
                <a:sym typeface="Calibri" panose="020F0502020204030204"/>
              </a:rPr>
              <a:t>嵌入向量</a:t>
            </a:r>
            <a:r>
              <a:rPr kumimoji="0" lang="en-US" altLang="zh-CN" sz="1800" b="1" i="0" u="none" strike="noStrike" cap="none" spc="0" normalizeH="0" baseline="0">
                <a:ln>
                  <a:noFill/>
                </a:ln>
                <a:solidFill>
                  <a:srgbClr val="000000"/>
                </a:solidFill>
                <a:effectLst/>
                <a:uFillTx/>
                <a:latin typeface="微软雅黑" panose="020B0503020204020204" charset="-122"/>
                <a:ea typeface="微软雅黑" panose="020B0503020204020204" charset="-122"/>
                <a:cs typeface="微软雅黑" panose="020B0503020204020204" charset="-122"/>
                <a:sym typeface="Calibri" panose="020F0502020204030204"/>
              </a:rPr>
              <a:t>embeddings</a:t>
            </a:r>
            <a:r>
              <a:rPr kumimoji="0" lang="zh-CN" altLang="en-US" sz="1800" b="0" i="0" u="none" strike="noStrike" cap="none" spc="0" normalizeH="0" baseline="0">
                <a:ln>
                  <a:noFill/>
                </a:ln>
                <a:solidFill>
                  <a:srgbClr val="000000"/>
                </a:solidFill>
                <a:effectLst/>
                <a:uFillTx/>
                <a:latin typeface="微软雅黑" panose="020B0503020204020204" charset="-122"/>
                <a:ea typeface="微软雅黑" panose="020B0503020204020204" charset="-122"/>
                <a:cs typeface="微软雅黑" panose="020B0503020204020204" charset="-122"/>
                <a:sym typeface="Calibri" panose="020F0502020204030204"/>
              </a:rPr>
              <a:t>）。</a:t>
            </a:r>
            <a:endParaRPr kumimoji="0" lang="zh-CN" altLang="en-US" sz="1800" b="0" i="0" u="none" strike="noStrike" cap="none" spc="0" normalizeH="0" baseline="0">
              <a:ln>
                <a:noFill/>
              </a:ln>
              <a:solidFill>
                <a:srgbClr val="000000"/>
              </a:solidFill>
              <a:effectLst/>
              <a:uFillTx/>
              <a:latin typeface="微软雅黑" panose="020B0503020204020204" charset="-122"/>
              <a:ea typeface="微软雅黑" panose="020B0503020204020204" charset="-122"/>
              <a:cs typeface="微软雅黑" panose="020B0503020204020204" charset="-122"/>
              <a:sym typeface="Calibri" panose="020F0502020204030204"/>
            </a:endParaRPr>
          </a:p>
        </p:txBody>
      </p:sp>
      <p:pic>
        <p:nvPicPr>
          <p:cNvPr id="8" name="图片 7" descr="kx_embeddings"/>
          <p:cNvPicPr>
            <a:picLocks noChangeAspect="1"/>
          </p:cNvPicPr>
          <p:nvPr/>
        </p:nvPicPr>
        <p:blipFill>
          <a:blip r:embed="rId1"/>
          <a:stretch>
            <a:fillRect/>
          </a:stretch>
        </p:blipFill>
        <p:spPr>
          <a:xfrm>
            <a:off x="1199515" y="4293235"/>
            <a:ext cx="3829050" cy="2459990"/>
          </a:xfrm>
          <a:prstGeom prst="rect">
            <a:avLst/>
          </a:prstGeom>
        </p:spPr>
      </p:pic>
      <p:pic>
        <p:nvPicPr>
          <p:cNvPr id="9" name="图片 8" descr="kx_编码"/>
          <p:cNvPicPr>
            <a:picLocks noChangeAspect="1"/>
          </p:cNvPicPr>
          <p:nvPr/>
        </p:nvPicPr>
        <p:blipFill>
          <a:blip r:embed="rId2"/>
          <a:stretch>
            <a:fillRect/>
          </a:stretch>
        </p:blipFill>
        <p:spPr>
          <a:xfrm>
            <a:off x="6960235" y="1584325"/>
            <a:ext cx="4815599" cy="4680000"/>
          </a:xfrm>
          <a:prstGeom prst="rect">
            <a:avLst/>
          </a:prstGeom>
        </p:spPr>
      </p:pic>
    </p:spTree>
  </p:cSld>
  <p:clrMapOvr>
    <a:masterClrMapping/>
  </p:clrMapOvr>
  <p:transition spd="med"/>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p:nvPr>
            <p:ph type="title"/>
          </p:nvPr>
        </p:nvSpPr>
        <p:spPr>
          <a:xfrm>
            <a:off x="335915" y="260985"/>
            <a:ext cx="10714355" cy="675005"/>
          </a:xfrm>
        </p:spPr>
        <p:txBody>
          <a:bodyPr>
            <a:normAutofit/>
          </a:bodyPr>
          <a:p>
            <a:r>
              <a:rPr lang="en-US" altLang="zh-CN" sz="3555"/>
              <a:t>3. </a:t>
            </a:r>
            <a:r>
              <a:rPr lang="zh-CN" altLang="en-US" sz="3555"/>
              <a:t>模型建立</a:t>
            </a:r>
            <a:r>
              <a:rPr lang="en-US" altLang="zh-CN" sz="3555"/>
              <a:t>-</a:t>
            </a:r>
            <a:r>
              <a:rPr lang="zh-CN" altLang="en-US" sz="3555"/>
              <a:t>深度神经网络</a:t>
            </a:r>
            <a:endParaRPr lang="zh-CN" altLang="en-US" sz="3555"/>
          </a:p>
        </p:txBody>
      </p:sp>
      <p:sp>
        <p:nvSpPr>
          <p:cNvPr id="25" name="文本框 24"/>
          <p:cNvSpPr txBox="1"/>
          <p:nvPr/>
        </p:nvSpPr>
        <p:spPr>
          <a:xfrm>
            <a:off x="695960" y="1125220"/>
            <a:ext cx="2288540" cy="459105"/>
          </a:xfrm>
          <a:prstGeom prst="rect">
            <a:avLst/>
          </a:prstGeom>
          <a:noFill/>
          <a:ln w="12700" cap="flat">
            <a:noFill/>
            <a:miter lim="400000"/>
          </a:ln>
        </p:spPr>
        <p:style>
          <a:lnRef idx="0">
            <a:srgbClr val="FFFFFF"/>
          </a:lnRef>
          <a:fillRef idx="0">
            <a:srgbClr val="FFFFFF"/>
          </a:fillRef>
          <a:effectRef idx="0">
            <a:srgbClr val="FFFFFF"/>
          </a:effectRef>
          <a:fontRef idx="none"/>
        </p:style>
        <p:txBody>
          <a:bodyPr rot="0" vertOverflow="overflow" horzOverflow="overflow" vert="horz" wrap="square" lIns="45719" tIns="45719" rIns="45719" bIns="45719" numCol="1" spcCol="38100" rtlCol="0" anchor="t" forceAA="0" upright="0">
            <a:spAutoFit/>
          </a:bodyPr>
          <a:p>
            <a:pPr marL="342900" marR="0" indent="-342900" algn="l" defTabSz="914400" rtl="0" fontAlgn="auto" latinLnBrk="0" hangingPunct="0">
              <a:lnSpc>
                <a:spcPct val="100000"/>
              </a:lnSpc>
              <a:spcBef>
                <a:spcPts val="0"/>
              </a:spcBef>
              <a:spcAft>
                <a:spcPts val="0"/>
              </a:spcAft>
              <a:buClrTx/>
              <a:buSzTx/>
              <a:buFont typeface="Wingdings" panose="05000000000000000000" charset="0"/>
              <a:buChar char="ü"/>
            </a:pPr>
            <a:r>
              <a:rPr kumimoji="0" lang="zh-CN" altLang="en-US" sz="2400" b="1" i="0" u="none" strike="noStrike" cap="none" spc="0" normalizeH="0" baseline="0">
                <a:ln>
                  <a:noFill/>
                </a:ln>
                <a:solidFill>
                  <a:srgbClr val="0564CD"/>
                </a:solidFill>
                <a:effectLst/>
                <a:uFillTx/>
                <a:latin typeface="微软雅黑" panose="020B0503020204020204" charset="-122"/>
                <a:ea typeface="微软雅黑" panose="020B0503020204020204" charset="-122"/>
                <a:cs typeface="微软雅黑" panose="020B0503020204020204" charset="-122"/>
                <a:sym typeface="Calibri" panose="020F0502020204030204"/>
              </a:rPr>
              <a:t>模型总体效果</a:t>
            </a:r>
            <a:endParaRPr kumimoji="0" lang="zh-CN" altLang="en-US" sz="2400" b="1" i="0" u="none" strike="noStrike" cap="none" spc="0" normalizeH="0" baseline="0">
              <a:ln>
                <a:noFill/>
              </a:ln>
              <a:solidFill>
                <a:srgbClr val="0564CD"/>
              </a:solidFill>
              <a:effectLst/>
              <a:uFillTx/>
              <a:latin typeface="微软雅黑" panose="020B0503020204020204" charset="-122"/>
              <a:ea typeface="微软雅黑" panose="020B0503020204020204" charset="-122"/>
              <a:cs typeface="微软雅黑" panose="020B0503020204020204" charset="-122"/>
              <a:sym typeface="Calibri" panose="020F0502020204030204"/>
            </a:endParaRPr>
          </a:p>
        </p:txBody>
      </p:sp>
      <p:sp>
        <p:nvSpPr>
          <p:cNvPr id="9" name="文本框 8"/>
          <p:cNvSpPr txBox="1"/>
          <p:nvPr/>
        </p:nvSpPr>
        <p:spPr>
          <a:xfrm>
            <a:off x="501015" y="3686810"/>
            <a:ext cx="5645785" cy="1336675"/>
          </a:xfrm>
          <a:prstGeom prst="rect">
            <a:avLst/>
          </a:prstGeom>
          <a:noFill/>
          <a:ln w="12700" cap="flat">
            <a:noFill/>
            <a:miter lim="400000"/>
          </a:ln>
        </p:spPr>
        <p:style>
          <a:lnRef idx="0">
            <a:srgbClr val="FFFFFF"/>
          </a:lnRef>
          <a:fillRef idx="0">
            <a:srgbClr val="FFFFFF"/>
          </a:fillRef>
          <a:effectRef idx="0">
            <a:srgbClr val="FFFFFF"/>
          </a:effectRef>
          <a:fontRef idx="none"/>
        </p:style>
        <p:txBody>
          <a:bodyPr rot="0" vertOverflow="overflow" horzOverflow="overflow" vert="horz" wrap="square" lIns="45719" tIns="45719" rIns="45719" bIns="45719" numCol="1" spcCol="38100" rtlCol="0" anchor="t" forceAA="0" upright="0">
            <a:spAutoFit/>
          </a:bodyPr>
          <a:p>
            <a:pPr marL="0" marR="0" indent="0" algn="l" defTabSz="914400" rtl="0" fontAlgn="auto" latinLnBrk="0" hangingPunct="0">
              <a:lnSpc>
                <a:spcPct val="150000"/>
              </a:lnSpc>
              <a:spcBef>
                <a:spcPts val="0"/>
              </a:spcBef>
              <a:spcAft>
                <a:spcPts val="0"/>
              </a:spcAft>
              <a:buClrTx/>
              <a:buSzTx/>
              <a:buFontTx/>
              <a:buNone/>
            </a:pPr>
            <a:r>
              <a:rPr kumimoji="0" lang="zh-CN" altLang="en-US" sz="1800" b="0" i="0" u="none" strike="noStrike" cap="none" spc="0" normalizeH="0" baseline="0">
                <a:ln>
                  <a:noFill/>
                </a:ln>
                <a:solidFill>
                  <a:srgbClr val="000000"/>
                </a:solidFill>
                <a:effectLst/>
                <a:uFillTx/>
                <a:latin typeface="微软雅黑" panose="020B0503020204020204" charset="-122"/>
                <a:ea typeface="微软雅黑" panose="020B0503020204020204" charset="-122"/>
                <a:cs typeface="微软雅黑" panose="020B0503020204020204" charset="-122"/>
                <a:sym typeface="Calibri" panose="020F0502020204030204"/>
              </a:rPr>
              <a:t>模型总体效果很好，</a:t>
            </a:r>
            <a:r>
              <a:rPr lang="en-US" altLang="zh-CN">
                <a:latin typeface="微软雅黑" panose="020B0503020204020204" charset="-122"/>
                <a:ea typeface="微软雅黑" panose="020B0503020204020204" charset="-122"/>
                <a:cs typeface="微软雅黑" panose="020B0503020204020204" charset="-122"/>
                <a:sym typeface="Calibri" panose="020F0502020204030204"/>
              </a:rPr>
              <a:t>AUC</a:t>
            </a:r>
            <a:r>
              <a:rPr lang="zh-CN" altLang="en-US">
                <a:latin typeface="微软雅黑" panose="020B0503020204020204" charset="-122"/>
                <a:ea typeface="微软雅黑" panose="020B0503020204020204" charset="-122"/>
                <a:cs typeface="微软雅黑" panose="020B0503020204020204" charset="-122"/>
                <a:sym typeface="Calibri" panose="020F0502020204030204"/>
              </a:rPr>
              <a:t>值在</a:t>
            </a:r>
            <a:r>
              <a:rPr lang="en-US" altLang="zh-CN">
                <a:latin typeface="微软雅黑" panose="020B0503020204020204" charset="-122"/>
                <a:ea typeface="微软雅黑" panose="020B0503020204020204" charset="-122"/>
                <a:cs typeface="微软雅黑" panose="020B0503020204020204" charset="-122"/>
                <a:sym typeface="Calibri" panose="020F0502020204030204"/>
              </a:rPr>
              <a:t>0.86</a:t>
            </a:r>
            <a:r>
              <a:rPr lang="zh-CN" altLang="en-US">
                <a:latin typeface="微软雅黑" panose="020B0503020204020204" charset="-122"/>
                <a:ea typeface="微软雅黑" panose="020B0503020204020204" charset="-122"/>
                <a:cs typeface="微软雅黑" panose="020B0503020204020204" charset="-122"/>
                <a:sym typeface="Calibri" panose="020F0502020204030204"/>
              </a:rPr>
              <a:t>左右，</a:t>
            </a:r>
            <a:r>
              <a:rPr kumimoji="0" lang="zh-CN" altLang="en-US" sz="1800" b="0" i="0" u="none" strike="noStrike" cap="none" spc="0" normalizeH="0" baseline="0">
                <a:ln>
                  <a:noFill/>
                </a:ln>
                <a:solidFill>
                  <a:srgbClr val="000000"/>
                </a:solidFill>
                <a:effectLst/>
                <a:uFillTx/>
                <a:latin typeface="微软雅黑" panose="020B0503020204020204" charset="-122"/>
                <a:ea typeface="微软雅黑" panose="020B0503020204020204" charset="-122"/>
                <a:cs typeface="微软雅黑" panose="020B0503020204020204" charset="-122"/>
                <a:sym typeface="Calibri" panose="020F0502020204030204"/>
              </a:rPr>
              <a:t>具有较好预测能力，同时未出现过拟合现象，较为稳定，经过</a:t>
            </a:r>
            <a:r>
              <a:rPr kumimoji="0" lang="en-US" altLang="zh-CN" sz="1800" b="0" i="0" u="none" strike="noStrike" cap="none" spc="0" normalizeH="0" baseline="0">
                <a:ln>
                  <a:noFill/>
                </a:ln>
                <a:solidFill>
                  <a:srgbClr val="000000"/>
                </a:solidFill>
                <a:effectLst/>
                <a:uFillTx/>
                <a:latin typeface="微软雅黑" panose="020B0503020204020204" charset="-122"/>
                <a:ea typeface="微软雅黑" panose="020B0503020204020204" charset="-122"/>
                <a:cs typeface="微软雅黑" panose="020B0503020204020204" charset="-122"/>
                <a:sym typeface="Calibri" panose="020F0502020204030204"/>
              </a:rPr>
              <a:t>1000</a:t>
            </a:r>
            <a:r>
              <a:rPr kumimoji="0" lang="zh-CN" altLang="en-US" sz="1800" b="0" i="0" u="none" strike="noStrike" cap="none" spc="0" normalizeH="0" baseline="0">
                <a:ln>
                  <a:noFill/>
                </a:ln>
                <a:solidFill>
                  <a:srgbClr val="000000"/>
                </a:solidFill>
                <a:effectLst/>
                <a:uFillTx/>
                <a:latin typeface="微软雅黑" panose="020B0503020204020204" charset="-122"/>
                <a:ea typeface="微软雅黑" panose="020B0503020204020204" charset="-122"/>
                <a:cs typeface="微软雅黑" panose="020B0503020204020204" charset="-122"/>
                <a:sym typeface="Calibri" panose="020F0502020204030204"/>
              </a:rPr>
              <a:t>次迭代后，损失函数相差较小，也比较稳定。</a:t>
            </a:r>
            <a:endParaRPr kumimoji="0" lang="zh-CN" altLang="en-US" sz="1800" b="0" i="0" u="none" strike="noStrike" cap="none" spc="0" normalizeH="0" baseline="0">
              <a:ln>
                <a:noFill/>
              </a:ln>
              <a:solidFill>
                <a:srgbClr val="000000"/>
              </a:solidFill>
              <a:effectLst/>
              <a:uFillTx/>
              <a:latin typeface="微软雅黑" panose="020B0503020204020204" charset="-122"/>
              <a:ea typeface="微软雅黑" panose="020B0503020204020204" charset="-122"/>
              <a:cs typeface="微软雅黑" panose="020B0503020204020204" charset="-122"/>
              <a:sym typeface="Calibri" panose="020F0502020204030204"/>
            </a:endParaRPr>
          </a:p>
        </p:txBody>
      </p:sp>
      <p:sp>
        <p:nvSpPr>
          <p:cNvPr id="10" name="文本框 9"/>
          <p:cNvSpPr txBox="1"/>
          <p:nvPr/>
        </p:nvSpPr>
        <p:spPr>
          <a:xfrm>
            <a:off x="407670" y="5229225"/>
            <a:ext cx="5295900" cy="735965"/>
          </a:xfrm>
          <a:prstGeom prst="rect">
            <a:avLst/>
          </a:prstGeom>
          <a:noFill/>
          <a:ln w="12700" cap="flat">
            <a:noFill/>
            <a:miter lim="400000"/>
          </a:ln>
        </p:spPr>
        <p:style>
          <a:lnRef idx="0">
            <a:srgbClr val="FFFFFF"/>
          </a:lnRef>
          <a:fillRef idx="0">
            <a:srgbClr val="FFFFFF"/>
          </a:fillRef>
          <a:effectRef idx="0">
            <a:srgbClr val="FFFFFF"/>
          </a:effectRef>
          <a:fontRef idx="none"/>
        </p:style>
        <p:txBody>
          <a:bodyPr rot="0" vertOverflow="overflow" horzOverflow="overflow" vert="horz" wrap="square" lIns="45719" tIns="45719" rIns="45719" bIns="45719" numCol="1" spcCol="38100" rtlCol="0" anchor="t" forceAA="0" upright="0">
            <a:spAutoFit/>
          </a:bodyPr>
          <a:p>
            <a:pPr marL="0" marR="0" indent="0" algn="l" defTabSz="914400" rtl="0" fontAlgn="auto" latinLnBrk="0" hangingPunct="0">
              <a:lnSpc>
                <a:spcPct val="150000"/>
              </a:lnSpc>
              <a:spcBef>
                <a:spcPts val="0"/>
              </a:spcBef>
              <a:spcAft>
                <a:spcPts val="0"/>
              </a:spcAft>
              <a:buClrTx/>
              <a:buSzTx/>
              <a:buFontTx/>
              <a:buNone/>
            </a:pPr>
            <a:r>
              <a:rPr kumimoji="0" lang="en-US" altLang="zh-CN" sz="1400" b="1" i="0" u="none" strike="noStrike" cap="none" spc="0" normalizeH="0" baseline="0">
                <a:ln>
                  <a:noFill/>
                </a:ln>
                <a:solidFill>
                  <a:srgbClr val="000000"/>
                </a:solidFill>
                <a:effectLst/>
                <a:uFillTx/>
                <a:latin typeface="微软雅黑" panose="020B0503020204020204" charset="-122"/>
                <a:ea typeface="微软雅黑" panose="020B0503020204020204" charset="-122"/>
                <a:cs typeface="微软雅黑" panose="020B0503020204020204" charset="-122"/>
                <a:sym typeface="Calibri" panose="020F0502020204030204"/>
              </a:rPr>
              <a:t>AUC</a:t>
            </a:r>
            <a:r>
              <a:rPr kumimoji="0" lang="zh-CN" altLang="en-US" sz="1400" b="1" i="0" u="none" strike="noStrike" cap="none" spc="0" normalizeH="0" baseline="0">
                <a:ln>
                  <a:noFill/>
                </a:ln>
                <a:solidFill>
                  <a:srgbClr val="000000"/>
                </a:solidFill>
                <a:effectLst/>
                <a:uFillTx/>
                <a:latin typeface="微软雅黑" panose="020B0503020204020204" charset="-122"/>
                <a:ea typeface="微软雅黑" panose="020B0503020204020204" charset="-122"/>
                <a:cs typeface="微软雅黑" panose="020B0503020204020204" charset="-122"/>
                <a:sym typeface="Calibri" panose="020F0502020204030204"/>
              </a:rPr>
              <a:t>：</a:t>
            </a:r>
            <a:r>
              <a:rPr kumimoji="0" lang="en-US" altLang="zh-CN" sz="1400" b="0" i="0" u="none" strike="noStrike" cap="none" spc="0" normalizeH="0" baseline="0">
                <a:ln>
                  <a:noFill/>
                </a:ln>
                <a:solidFill>
                  <a:srgbClr val="000000"/>
                </a:solidFill>
                <a:effectLst/>
                <a:uFillTx/>
                <a:latin typeface="微软雅黑" panose="020B0503020204020204" charset="-122"/>
                <a:ea typeface="微软雅黑" panose="020B0503020204020204" charset="-122"/>
                <a:cs typeface="微软雅黑" panose="020B0503020204020204" charset="-122"/>
                <a:sym typeface="Calibri" panose="020F0502020204030204"/>
              </a:rPr>
              <a:t>ROC</a:t>
            </a:r>
            <a:r>
              <a:rPr kumimoji="0" lang="zh-CN" altLang="en-US" sz="1400" b="0" i="0" u="none" strike="noStrike" cap="none" spc="0" normalizeH="0" baseline="0">
                <a:ln>
                  <a:noFill/>
                </a:ln>
                <a:solidFill>
                  <a:srgbClr val="000000"/>
                </a:solidFill>
                <a:effectLst/>
                <a:uFillTx/>
                <a:latin typeface="微软雅黑" panose="020B0503020204020204" charset="-122"/>
                <a:ea typeface="微软雅黑" panose="020B0503020204020204" charset="-122"/>
                <a:cs typeface="微软雅黑" panose="020B0503020204020204" charset="-122"/>
                <a:sym typeface="Calibri" panose="020F0502020204030204"/>
              </a:rPr>
              <a:t>曲线下方的面积，用于评估模型整体预测能力；</a:t>
            </a:r>
            <a:endParaRPr kumimoji="0" lang="zh-CN" altLang="en-US" sz="1400" b="0" i="0" u="none" strike="noStrike" cap="none" spc="0" normalizeH="0" baseline="0">
              <a:ln>
                <a:noFill/>
              </a:ln>
              <a:solidFill>
                <a:srgbClr val="000000"/>
              </a:solidFill>
              <a:effectLst/>
              <a:uFillTx/>
              <a:latin typeface="微软雅黑" panose="020B0503020204020204" charset="-122"/>
              <a:ea typeface="微软雅黑" panose="020B0503020204020204" charset="-122"/>
              <a:cs typeface="微软雅黑" panose="020B0503020204020204" charset="-122"/>
              <a:sym typeface="Calibri" panose="020F0502020204030204"/>
            </a:endParaRPr>
          </a:p>
          <a:p>
            <a:pPr marL="0" marR="0" indent="0" algn="l" defTabSz="914400" rtl="0" fontAlgn="auto" latinLnBrk="0" hangingPunct="0">
              <a:lnSpc>
                <a:spcPct val="150000"/>
              </a:lnSpc>
              <a:spcBef>
                <a:spcPts val="0"/>
              </a:spcBef>
              <a:spcAft>
                <a:spcPts val="0"/>
              </a:spcAft>
              <a:buClrTx/>
              <a:buSzTx/>
              <a:buFontTx/>
              <a:buNone/>
            </a:pPr>
            <a:r>
              <a:rPr kumimoji="0" lang="en-US" altLang="zh-CN" sz="1400" b="1" i="0" u="none" strike="noStrike" cap="none" spc="0" normalizeH="0" baseline="0">
                <a:ln>
                  <a:noFill/>
                </a:ln>
                <a:solidFill>
                  <a:srgbClr val="000000"/>
                </a:solidFill>
                <a:effectLst/>
                <a:uFillTx/>
                <a:latin typeface="微软雅黑" panose="020B0503020204020204" charset="-122"/>
                <a:ea typeface="微软雅黑" panose="020B0503020204020204" charset="-122"/>
                <a:cs typeface="微软雅黑" panose="020B0503020204020204" charset="-122"/>
                <a:sym typeface="Calibri" panose="020F0502020204030204"/>
              </a:rPr>
              <a:t>KS</a:t>
            </a:r>
            <a:r>
              <a:rPr kumimoji="0" lang="zh-CN" altLang="en-US" sz="1400" b="1" i="0" u="none" strike="noStrike" cap="none" spc="0" normalizeH="0" baseline="0">
                <a:ln>
                  <a:noFill/>
                </a:ln>
                <a:solidFill>
                  <a:srgbClr val="000000"/>
                </a:solidFill>
                <a:effectLst/>
                <a:uFillTx/>
                <a:latin typeface="微软雅黑" panose="020B0503020204020204" charset="-122"/>
                <a:ea typeface="微软雅黑" panose="020B0503020204020204" charset="-122"/>
                <a:cs typeface="微软雅黑" panose="020B0503020204020204" charset="-122"/>
                <a:sym typeface="Calibri" panose="020F0502020204030204"/>
              </a:rPr>
              <a:t>：</a:t>
            </a:r>
            <a:r>
              <a:rPr kumimoji="0" lang="zh-CN" altLang="en-US" sz="1400" b="0" i="0" u="none" strike="noStrike" cap="none" spc="0" normalizeH="0" baseline="0">
                <a:ln>
                  <a:noFill/>
                </a:ln>
                <a:solidFill>
                  <a:srgbClr val="000000"/>
                </a:solidFill>
                <a:effectLst/>
                <a:uFillTx/>
                <a:latin typeface="微软雅黑" panose="020B0503020204020204" charset="-122"/>
                <a:ea typeface="微软雅黑" panose="020B0503020204020204" charset="-122"/>
                <a:cs typeface="微软雅黑" panose="020B0503020204020204" charset="-122"/>
                <a:sym typeface="Calibri" panose="020F0502020204030204"/>
              </a:rPr>
              <a:t>用于评估模型在某一分段将正负样本区分能力；</a:t>
            </a:r>
            <a:endParaRPr kumimoji="0" lang="zh-CN" altLang="en-US" sz="1400" b="0" i="0" u="none" strike="noStrike" cap="none" spc="0" normalizeH="0" baseline="0">
              <a:ln>
                <a:noFill/>
              </a:ln>
              <a:solidFill>
                <a:srgbClr val="000000"/>
              </a:solidFill>
              <a:effectLst/>
              <a:uFillTx/>
              <a:latin typeface="微软雅黑" panose="020B0503020204020204" charset="-122"/>
              <a:ea typeface="微软雅黑" panose="020B0503020204020204" charset="-122"/>
              <a:cs typeface="微软雅黑" panose="020B0503020204020204" charset="-122"/>
              <a:sym typeface="Calibri" panose="020F0502020204030204"/>
            </a:endParaRPr>
          </a:p>
        </p:txBody>
      </p:sp>
      <p:pic>
        <p:nvPicPr>
          <p:cNvPr id="3" name="图片 2"/>
          <p:cNvPicPr>
            <a:picLocks noChangeAspect="1"/>
          </p:cNvPicPr>
          <p:nvPr/>
        </p:nvPicPr>
        <p:blipFill>
          <a:blip r:embed="rId1"/>
          <a:stretch>
            <a:fillRect/>
          </a:stretch>
        </p:blipFill>
        <p:spPr>
          <a:xfrm>
            <a:off x="1199515" y="2132965"/>
            <a:ext cx="3523615" cy="1030605"/>
          </a:xfrm>
          <a:prstGeom prst="rect">
            <a:avLst/>
          </a:prstGeom>
        </p:spPr>
      </p:pic>
      <p:pic>
        <p:nvPicPr>
          <p:cNvPr id="4" name="图片 3"/>
          <p:cNvPicPr>
            <a:picLocks noChangeAspect="1"/>
          </p:cNvPicPr>
          <p:nvPr/>
        </p:nvPicPr>
        <p:blipFill>
          <a:blip r:embed="rId2"/>
          <a:stretch>
            <a:fillRect/>
          </a:stretch>
        </p:blipFill>
        <p:spPr>
          <a:xfrm>
            <a:off x="6672580" y="2357755"/>
            <a:ext cx="4176395" cy="2871470"/>
          </a:xfrm>
          <a:prstGeom prst="rect">
            <a:avLst/>
          </a:prstGeom>
          <a:noFill/>
          <a:ln w="9525">
            <a:noFill/>
          </a:ln>
        </p:spPr>
      </p:pic>
      <p:sp>
        <p:nvSpPr>
          <p:cNvPr id="5" name="文本框 4"/>
          <p:cNvSpPr txBox="1"/>
          <p:nvPr/>
        </p:nvSpPr>
        <p:spPr>
          <a:xfrm>
            <a:off x="8112760" y="5517515"/>
            <a:ext cx="1774825" cy="367030"/>
          </a:xfrm>
          <a:prstGeom prst="rect">
            <a:avLst/>
          </a:prstGeom>
          <a:noFill/>
          <a:ln w="12700" cap="flat">
            <a:noFill/>
            <a:miter lim="400000"/>
          </a:ln>
        </p:spPr>
        <p:style>
          <a:lnRef idx="0">
            <a:srgbClr val="FFFFFF"/>
          </a:lnRef>
          <a:fillRef idx="0">
            <a:srgbClr val="FFFFFF"/>
          </a:fillRef>
          <a:effectRef idx="0">
            <a:srgbClr val="FFFFFF"/>
          </a:effectRef>
          <a:fontRef idx="none"/>
        </p:style>
        <p:txBody>
          <a:bodyPr rot="0" vertOverflow="overflow" horzOverflow="overflow" vert="horz" wrap="square" lIns="45719" tIns="45719" rIns="45719" bIns="45719" numCol="1" spcCol="38100" rtlCol="0" anchor="t" forceAA="0" upright="0">
            <a:spAutoFit/>
          </a:bodyPr>
          <a:p>
            <a:pPr marL="0" marR="0" indent="0" algn="l" defTabSz="914400" rtl="0" fontAlgn="auto" latinLnBrk="0" hangingPunct="0">
              <a:lnSpc>
                <a:spcPct val="100000"/>
              </a:lnSpc>
              <a:spcBef>
                <a:spcPts val="0"/>
              </a:spcBef>
              <a:spcAft>
                <a:spcPts val="0"/>
              </a:spcAft>
              <a:buClrTx/>
              <a:buSzTx/>
              <a:buFontTx/>
              <a:buNone/>
            </a:pPr>
            <a:r>
              <a:rPr kumimoji="0" lang="zh-CN" altLang="en-US" sz="1800" b="0" i="0" u="none" strike="noStrike" cap="none" spc="0" normalizeH="0" baseline="0">
                <a:ln>
                  <a:noFill/>
                </a:ln>
                <a:solidFill>
                  <a:srgbClr val="000000"/>
                </a:solidFill>
                <a:effectLst/>
                <a:uFillTx/>
                <a:latin typeface="+mj-lt"/>
                <a:ea typeface="+mj-ea"/>
                <a:cs typeface="+mj-cs"/>
                <a:sym typeface="Calibri" panose="020F0502020204030204"/>
              </a:rPr>
              <a:t>损失函数曲线</a:t>
            </a:r>
            <a:endParaRPr kumimoji="0" lang="zh-CN" altLang="en-US" sz="1800" b="0" i="0" u="none" strike="noStrike" cap="none" spc="0" normalizeH="0" baseline="0">
              <a:ln>
                <a:noFill/>
              </a:ln>
              <a:solidFill>
                <a:srgbClr val="000000"/>
              </a:solidFill>
              <a:effectLst/>
              <a:uFillTx/>
              <a:latin typeface="+mj-lt"/>
              <a:ea typeface="+mj-ea"/>
              <a:cs typeface="+mj-cs"/>
              <a:sym typeface="Calibri" panose="020F0502020204030204"/>
            </a:endParaRPr>
          </a:p>
        </p:txBody>
      </p:sp>
    </p:spTree>
  </p:cSld>
  <p:clrMapOvr>
    <a:masterClrMapping/>
  </p:clrMapOvr>
  <p:transition spd="med"/>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p:nvPr>
            <p:ph type="title"/>
          </p:nvPr>
        </p:nvSpPr>
        <p:spPr>
          <a:xfrm>
            <a:off x="335915" y="260985"/>
            <a:ext cx="10714355" cy="675005"/>
          </a:xfrm>
        </p:spPr>
        <p:txBody>
          <a:bodyPr>
            <a:normAutofit/>
          </a:bodyPr>
          <a:p>
            <a:r>
              <a:rPr lang="en-US" altLang="zh-CN" sz="3555"/>
              <a:t>3. </a:t>
            </a:r>
            <a:r>
              <a:rPr lang="zh-CN" altLang="en-US" sz="3555"/>
              <a:t>模型建立</a:t>
            </a:r>
            <a:r>
              <a:rPr lang="en-US" altLang="zh-CN" sz="3550">
                <a:sym typeface="+mn-ea"/>
              </a:rPr>
              <a:t>-</a:t>
            </a:r>
            <a:r>
              <a:rPr lang="zh-CN" altLang="en-US" sz="3550">
                <a:sym typeface="+mn-ea"/>
              </a:rPr>
              <a:t>深度神经网络</a:t>
            </a:r>
            <a:endParaRPr lang="zh-CN" altLang="en-US" sz="3555"/>
          </a:p>
        </p:txBody>
      </p:sp>
      <p:sp>
        <p:nvSpPr>
          <p:cNvPr id="25" name="文本框 24"/>
          <p:cNvSpPr txBox="1"/>
          <p:nvPr/>
        </p:nvSpPr>
        <p:spPr>
          <a:xfrm>
            <a:off x="695960" y="1125220"/>
            <a:ext cx="2288540" cy="459105"/>
          </a:xfrm>
          <a:prstGeom prst="rect">
            <a:avLst/>
          </a:prstGeom>
          <a:noFill/>
          <a:ln w="12700" cap="flat">
            <a:noFill/>
            <a:miter lim="400000"/>
          </a:ln>
        </p:spPr>
        <p:style>
          <a:lnRef idx="0">
            <a:srgbClr val="FFFFFF"/>
          </a:lnRef>
          <a:fillRef idx="0">
            <a:srgbClr val="FFFFFF"/>
          </a:fillRef>
          <a:effectRef idx="0">
            <a:srgbClr val="FFFFFF"/>
          </a:effectRef>
          <a:fontRef idx="none"/>
        </p:style>
        <p:txBody>
          <a:bodyPr rot="0" vertOverflow="overflow" horzOverflow="overflow" vert="horz" wrap="square" lIns="45719" tIns="45719" rIns="45719" bIns="45719" numCol="1" spcCol="38100" rtlCol="0" anchor="t" forceAA="0" upright="0">
            <a:spAutoFit/>
          </a:bodyPr>
          <a:p>
            <a:pPr marL="342900" marR="0" indent="-342900" algn="l" defTabSz="914400" rtl="0" fontAlgn="auto" latinLnBrk="0" hangingPunct="0">
              <a:lnSpc>
                <a:spcPct val="100000"/>
              </a:lnSpc>
              <a:spcBef>
                <a:spcPts val="0"/>
              </a:spcBef>
              <a:spcAft>
                <a:spcPts val="0"/>
              </a:spcAft>
              <a:buClrTx/>
              <a:buSzTx/>
              <a:buFont typeface="Wingdings" panose="05000000000000000000" charset="0"/>
              <a:buChar char="ü"/>
            </a:pPr>
            <a:r>
              <a:rPr kumimoji="0" lang="zh-CN" altLang="en-US" sz="2400" b="1" i="0" u="none" strike="noStrike" cap="none" spc="0" normalizeH="0" baseline="0">
                <a:ln>
                  <a:noFill/>
                </a:ln>
                <a:solidFill>
                  <a:srgbClr val="0564CD"/>
                </a:solidFill>
                <a:effectLst/>
                <a:uFillTx/>
                <a:latin typeface="微软雅黑" panose="020B0503020204020204" charset="-122"/>
                <a:ea typeface="微软雅黑" panose="020B0503020204020204" charset="-122"/>
                <a:cs typeface="微软雅黑" panose="020B0503020204020204" charset="-122"/>
                <a:sym typeface="Calibri" panose="020F0502020204030204"/>
              </a:rPr>
              <a:t>入模变量</a:t>
            </a:r>
            <a:endParaRPr kumimoji="0" lang="zh-CN" altLang="en-US" sz="2400" b="1" i="0" u="none" strike="noStrike" cap="none" spc="0" normalizeH="0" baseline="0">
              <a:ln>
                <a:noFill/>
              </a:ln>
              <a:solidFill>
                <a:srgbClr val="0564CD"/>
              </a:solidFill>
              <a:effectLst/>
              <a:uFillTx/>
              <a:latin typeface="微软雅黑" panose="020B0503020204020204" charset="-122"/>
              <a:ea typeface="微软雅黑" panose="020B0503020204020204" charset="-122"/>
              <a:cs typeface="微软雅黑" panose="020B0503020204020204" charset="-122"/>
              <a:sym typeface="Calibri" panose="020F0502020204030204"/>
            </a:endParaRPr>
          </a:p>
        </p:txBody>
      </p:sp>
      <p:sp>
        <p:nvSpPr>
          <p:cNvPr id="6" name="文本框 5"/>
          <p:cNvSpPr txBox="1"/>
          <p:nvPr/>
        </p:nvSpPr>
        <p:spPr>
          <a:xfrm>
            <a:off x="1056005" y="2493010"/>
            <a:ext cx="9794875" cy="1013460"/>
          </a:xfrm>
          <a:prstGeom prst="rect">
            <a:avLst/>
          </a:prstGeom>
          <a:noFill/>
          <a:ln w="12700" cap="flat">
            <a:noFill/>
            <a:miter lim="400000"/>
          </a:ln>
        </p:spPr>
        <p:style>
          <a:lnRef idx="0">
            <a:srgbClr val="FFFFFF"/>
          </a:lnRef>
          <a:fillRef idx="0">
            <a:srgbClr val="FFFFFF"/>
          </a:fillRef>
          <a:effectRef idx="0">
            <a:srgbClr val="FFFFFF"/>
          </a:effectRef>
          <a:fontRef idx="none"/>
        </p:style>
        <p:txBody>
          <a:bodyPr rot="0" vertOverflow="overflow" horzOverflow="overflow" vert="horz" wrap="square" lIns="45719" tIns="45719" rIns="45719" bIns="45719" numCol="1" spcCol="38100" rtlCol="0" anchor="t" forceAA="0" upright="0">
            <a:spAutoFit/>
          </a:bodyPr>
          <a:p>
            <a:pPr marL="0" marR="0" indent="0" algn="l" defTabSz="914400" rtl="0" fontAlgn="auto" latinLnBrk="0" hangingPunct="0">
              <a:lnSpc>
                <a:spcPct val="150000"/>
              </a:lnSpc>
              <a:spcBef>
                <a:spcPts val="0"/>
              </a:spcBef>
              <a:spcAft>
                <a:spcPts val="0"/>
              </a:spcAft>
              <a:buClrTx/>
              <a:buSzTx/>
              <a:buFontTx/>
              <a:buNone/>
            </a:pPr>
            <a:r>
              <a:rPr kumimoji="0" lang="en-US" altLang="zh-CN" sz="2000" i="0" u="none" strike="noStrike" cap="none" spc="0" normalizeH="0" baseline="0">
                <a:ln>
                  <a:noFill/>
                </a:ln>
                <a:solidFill>
                  <a:srgbClr val="000000"/>
                </a:solidFill>
                <a:effectLst/>
                <a:uFillTx/>
                <a:latin typeface="微软雅黑" panose="020B0503020204020204" charset="-122"/>
                <a:ea typeface="微软雅黑" panose="020B0503020204020204" charset="-122"/>
                <a:cs typeface="微软雅黑" panose="020B0503020204020204" charset="-122"/>
                <a:sym typeface="Calibri" panose="020F0502020204030204"/>
              </a:rPr>
              <a:t>1</a:t>
            </a:r>
            <a:r>
              <a:rPr kumimoji="0" lang="zh-CN" altLang="en-US" sz="2000" i="0" u="none" strike="noStrike" cap="none" spc="0" normalizeH="0" baseline="0">
                <a:ln>
                  <a:noFill/>
                </a:ln>
                <a:solidFill>
                  <a:srgbClr val="000000"/>
                </a:solidFill>
                <a:effectLst/>
                <a:uFillTx/>
                <a:latin typeface="微软雅黑" panose="020B0503020204020204" charset="-122"/>
                <a:ea typeface="微软雅黑" panose="020B0503020204020204" charset="-122"/>
                <a:cs typeface="微软雅黑" panose="020B0503020204020204" charset="-122"/>
                <a:sym typeface="Calibri" panose="020F0502020204030204"/>
              </a:rPr>
              <a:t>、</a:t>
            </a:r>
            <a:r>
              <a:rPr kumimoji="0" lang="zh-CN" sz="2000" i="0" u="none" strike="noStrike" cap="none" spc="0" normalizeH="0" baseline="0">
                <a:ln>
                  <a:noFill/>
                </a:ln>
                <a:solidFill>
                  <a:srgbClr val="000000"/>
                </a:solidFill>
                <a:effectLst/>
                <a:uFillTx/>
                <a:latin typeface="微软雅黑" panose="020B0503020204020204" charset="-122"/>
                <a:ea typeface="微软雅黑" panose="020B0503020204020204" charset="-122"/>
                <a:cs typeface="微软雅黑" panose="020B0503020204020204" charset="-122"/>
                <a:sym typeface="Calibri" panose="020F0502020204030204"/>
              </a:rPr>
              <a:t>由于深度神经网络为</a:t>
            </a:r>
            <a:r>
              <a:rPr kumimoji="0" lang="en-US" altLang="zh-CN" sz="2000" i="0" u="none" strike="noStrike" cap="none" spc="0" normalizeH="0" baseline="0">
                <a:ln>
                  <a:noFill/>
                </a:ln>
                <a:solidFill>
                  <a:srgbClr val="000000"/>
                </a:solidFill>
                <a:effectLst/>
                <a:uFillTx/>
                <a:latin typeface="微软雅黑" panose="020B0503020204020204" charset="-122"/>
                <a:ea typeface="微软雅黑" panose="020B0503020204020204" charset="-122"/>
                <a:cs typeface="微软雅黑" panose="020B0503020204020204" charset="-122"/>
                <a:sym typeface="Calibri" panose="020F0502020204030204"/>
              </a:rPr>
              <a:t>‘</a:t>
            </a:r>
            <a:r>
              <a:rPr kumimoji="0" lang="zh-CN" altLang="en-US" sz="2000" i="0" u="none" strike="noStrike" cap="none" spc="0" normalizeH="0" baseline="0">
                <a:ln>
                  <a:noFill/>
                </a:ln>
                <a:solidFill>
                  <a:srgbClr val="000000"/>
                </a:solidFill>
                <a:effectLst/>
                <a:uFillTx/>
                <a:latin typeface="微软雅黑" panose="020B0503020204020204" charset="-122"/>
                <a:ea typeface="微软雅黑" panose="020B0503020204020204" charset="-122"/>
                <a:cs typeface="微软雅黑" panose="020B0503020204020204" charset="-122"/>
                <a:sym typeface="Calibri" panose="020F0502020204030204"/>
              </a:rPr>
              <a:t>黑箱算法</a:t>
            </a:r>
            <a:r>
              <a:rPr kumimoji="0" lang="en-US" altLang="zh-CN" sz="2000" i="0" u="none" strike="noStrike" cap="none" spc="0" normalizeH="0" baseline="0">
                <a:ln>
                  <a:noFill/>
                </a:ln>
                <a:solidFill>
                  <a:srgbClr val="000000"/>
                </a:solidFill>
                <a:effectLst/>
                <a:uFillTx/>
                <a:latin typeface="微软雅黑" panose="020B0503020204020204" charset="-122"/>
                <a:ea typeface="微软雅黑" panose="020B0503020204020204" charset="-122"/>
                <a:cs typeface="微软雅黑" panose="020B0503020204020204" charset="-122"/>
                <a:sym typeface="Calibri" panose="020F0502020204030204"/>
              </a:rPr>
              <a:t>’</a:t>
            </a:r>
            <a:r>
              <a:rPr kumimoji="0" lang="zh-CN" altLang="en-US" sz="2000" i="0" u="none" strike="noStrike" cap="none" spc="0" normalizeH="0" baseline="0">
                <a:ln>
                  <a:noFill/>
                </a:ln>
                <a:solidFill>
                  <a:srgbClr val="000000"/>
                </a:solidFill>
                <a:effectLst/>
                <a:uFillTx/>
                <a:latin typeface="微软雅黑" panose="020B0503020204020204" charset="-122"/>
                <a:ea typeface="微软雅黑" panose="020B0503020204020204" charset="-122"/>
                <a:cs typeface="微软雅黑" panose="020B0503020204020204" charset="-122"/>
                <a:sym typeface="Calibri" panose="020F0502020204030204"/>
              </a:rPr>
              <a:t>，目前无法体现入模变量有哪些、重要性如何等；</a:t>
            </a:r>
            <a:endParaRPr kumimoji="0" lang="zh-CN" altLang="en-US" sz="2000" i="0" u="none" strike="noStrike" cap="none" spc="0" normalizeH="0" baseline="0">
              <a:ln>
                <a:noFill/>
              </a:ln>
              <a:solidFill>
                <a:srgbClr val="000000"/>
              </a:solidFill>
              <a:effectLst/>
              <a:uFillTx/>
              <a:latin typeface="微软雅黑" panose="020B0503020204020204" charset="-122"/>
              <a:ea typeface="微软雅黑" panose="020B0503020204020204" charset="-122"/>
              <a:cs typeface="微软雅黑" panose="020B0503020204020204" charset="-122"/>
              <a:sym typeface="Calibri" panose="020F0502020204030204"/>
            </a:endParaRPr>
          </a:p>
        </p:txBody>
      </p:sp>
    </p:spTree>
  </p:cSld>
  <p:clrMapOvr>
    <a:masterClrMapping/>
  </p:clrMapOvr>
  <p:transition spd="med"/>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p:nvPr>
            <p:ph type="title"/>
          </p:nvPr>
        </p:nvSpPr>
        <p:spPr>
          <a:xfrm>
            <a:off x="335915" y="260985"/>
            <a:ext cx="10714355" cy="675005"/>
          </a:xfrm>
        </p:spPr>
        <p:txBody>
          <a:bodyPr>
            <a:normAutofit/>
          </a:bodyPr>
          <a:p>
            <a:r>
              <a:rPr lang="en-US" altLang="zh-CN" sz="3555"/>
              <a:t>3. </a:t>
            </a:r>
            <a:r>
              <a:rPr lang="zh-CN" altLang="en-US" sz="3555"/>
              <a:t>模型建立</a:t>
            </a:r>
            <a:r>
              <a:rPr lang="en-US" altLang="zh-CN" sz="3550">
                <a:sym typeface="+mn-ea"/>
              </a:rPr>
              <a:t>-</a:t>
            </a:r>
            <a:r>
              <a:rPr lang="zh-CN" altLang="en-US" sz="3550">
                <a:sym typeface="+mn-ea"/>
              </a:rPr>
              <a:t>深度神经网络</a:t>
            </a:r>
            <a:endParaRPr lang="zh-CN" altLang="en-US" sz="3555"/>
          </a:p>
        </p:txBody>
      </p:sp>
      <p:sp>
        <p:nvSpPr>
          <p:cNvPr id="25" name="文本框 24"/>
          <p:cNvSpPr txBox="1"/>
          <p:nvPr/>
        </p:nvSpPr>
        <p:spPr>
          <a:xfrm>
            <a:off x="695960" y="981075"/>
            <a:ext cx="3293745" cy="459105"/>
          </a:xfrm>
          <a:prstGeom prst="rect">
            <a:avLst/>
          </a:prstGeom>
          <a:noFill/>
          <a:ln w="12700" cap="flat">
            <a:noFill/>
            <a:miter lim="400000"/>
          </a:ln>
        </p:spPr>
        <p:style>
          <a:lnRef idx="0">
            <a:srgbClr val="FFFFFF"/>
          </a:lnRef>
          <a:fillRef idx="0">
            <a:srgbClr val="FFFFFF"/>
          </a:fillRef>
          <a:effectRef idx="0">
            <a:srgbClr val="FFFFFF"/>
          </a:effectRef>
          <a:fontRef idx="none"/>
        </p:style>
        <p:txBody>
          <a:bodyPr rot="0" vertOverflow="overflow" horzOverflow="overflow" vert="horz" wrap="square" lIns="45719" tIns="45719" rIns="45719" bIns="45719" numCol="1" spcCol="38100" rtlCol="0" anchor="t" forceAA="0" upright="0">
            <a:spAutoFit/>
          </a:bodyPr>
          <a:p>
            <a:pPr marL="342900" marR="0" indent="-342900" algn="l" defTabSz="914400" rtl="0" fontAlgn="auto" latinLnBrk="0" hangingPunct="0">
              <a:lnSpc>
                <a:spcPct val="100000"/>
              </a:lnSpc>
              <a:spcBef>
                <a:spcPts val="0"/>
              </a:spcBef>
              <a:spcAft>
                <a:spcPts val="0"/>
              </a:spcAft>
              <a:buClrTx/>
              <a:buSzTx/>
              <a:buFont typeface="Wingdings" panose="05000000000000000000" charset="0"/>
              <a:buChar char="ü"/>
            </a:pPr>
            <a:r>
              <a:rPr kumimoji="0" lang="zh-CN" altLang="en-US" sz="2400" b="1" i="0" u="none" strike="noStrike" cap="none" spc="0" normalizeH="0" baseline="0">
                <a:ln>
                  <a:noFill/>
                </a:ln>
                <a:solidFill>
                  <a:srgbClr val="0564CD"/>
                </a:solidFill>
                <a:effectLst/>
                <a:uFillTx/>
                <a:latin typeface="微软雅黑" panose="020B0503020204020204" charset="-122"/>
                <a:ea typeface="微软雅黑" panose="020B0503020204020204" charset="-122"/>
                <a:cs typeface="微软雅黑" panose="020B0503020204020204" charset="-122"/>
                <a:sym typeface="Calibri" panose="020F0502020204030204"/>
              </a:rPr>
              <a:t>模型排序性</a:t>
            </a:r>
            <a:endParaRPr kumimoji="0" lang="zh-CN" altLang="en-US" sz="2400" b="1" i="0" u="none" strike="noStrike" cap="none" spc="0" normalizeH="0" baseline="0">
              <a:ln>
                <a:noFill/>
              </a:ln>
              <a:solidFill>
                <a:srgbClr val="0564CD"/>
              </a:solidFill>
              <a:effectLst/>
              <a:uFillTx/>
              <a:latin typeface="微软雅黑" panose="020B0503020204020204" charset="-122"/>
              <a:ea typeface="微软雅黑" panose="020B0503020204020204" charset="-122"/>
              <a:cs typeface="微软雅黑" panose="020B0503020204020204" charset="-122"/>
              <a:sym typeface="Calibri" panose="020F0502020204030204"/>
            </a:endParaRPr>
          </a:p>
        </p:txBody>
      </p:sp>
      <p:sp>
        <p:nvSpPr>
          <p:cNvPr id="11" name="文本框 10"/>
          <p:cNvSpPr txBox="1"/>
          <p:nvPr/>
        </p:nvSpPr>
        <p:spPr>
          <a:xfrm>
            <a:off x="10057130" y="1917065"/>
            <a:ext cx="1941195" cy="3413760"/>
          </a:xfrm>
          <a:prstGeom prst="rect">
            <a:avLst/>
          </a:prstGeom>
          <a:noFill/>
          <a:ln w="12700" cap="flat">
            <a:noFill/>
            <a:miter lim="400000"/>
          </a:ln>
        </p:spPr>
        <p:style>
          <a:lnRef idx="0">
            <a:srgbClr val="FFFFFF"/>
          </a:lnRef>
          <a:fillRef idx="0">
            <a:srgbClr val="FFFFFF"/>
          </a:fillRef>
          <a:effectRef idx="0">
            <a:srgbClr val="FFFFFF"/>
          </a:effectRef>
          <a:fontRef idx="none"/>
        </p:style>
        <p:txBody>
          <a:bodyPr rot="0" vertOverflow="overflow" horzOverflow="overflow" vert="horz" wrap="square" lIns="45719" tIns="45719" rIns="45719" bIns="45719" numCol="1" spcCol="38100" rtlCol="0" anchor="t" forceAA="0" upright="0">
            <a:spAutoFit/>
          </a:bodyPr>
          <a:p>
            <a:pPr marL="0" marR="0" indent="0" algn="l" defTabSz="914400" rtl="0" fontAlgn="auto" latinLnBrk="0" hangingPunct="0">
              <a:lnSpc>
                <a:spcPct val="150000"/>
              </a:lnSpc>
              <a:spcBef>
                <a:spcPts val="0"/>
              </a:spcBef>
              <a:spcAft>
                <a:spcPts val="0"/>
              </a:spcAft>
              <a:buClrTx/>
              <a:buSzTx/>
              <a:buFontTx/>
              <a:buNone/>
            </a:pPr>
            <a:r>
              <a:rPr lang="zh-CN" altLang="en-US" sz="1600">
                <a:latin typeface="微软雅黑" panose="020B0503020204020204" charset="-122"/>
                <a:ea typeface="微软雅黑" panose="020B0503020204020204" charset="-122"/>
                <a:sym typeface="Calibri" panose="020F0502020204030204"/>
              </a:rPr>
              <a:t>分别用训练集、验证集预测的概率从高到低排序，等频分成</a:t>
            </a:r>
            <a:r>
              <a:rPr lang="en-US" altLang="zh-CN" sz="1600">
                <a:latin typeface="微软雅黑" panose="020B0503020204020204" charset="-122"/>
                <a:ea typeface="微软雅黑" panose="020B0503020204020204" charset="-122"/>
                <a:sym typeface="Calibri" panose="020F0502020204030204"/>
              </a:rPr>
              <a:t>10</a:t>
            </a:r>
            <a:r>
              <a:rPr lang="zh-CN" altLang="en-US" sz="1600">
                <a:latin typeface="微软雅黑" panose="020B0503020204020204" charset="-122"/>
                <a:ea typeface="微软雅黑" panose="020B0503020204020204" charset="-122"/>
                <a:sym typeface="Calibri" panose="020F0502020204030204"/>
              </a:rPr>
              <a:t>组，发现下单率的排序性十分好，第</a:t>
            </a:r>
            <a:r>
              <a:rPr lang="en-US" altLang="zh-CN" sz="1600">
                <a:latin typeface="微软雅黑" panose="020B0503020204020204" charset="-122"/>
                <a:ea typeface="微软雅黑" panose="020B0503020204020204" charset="-122"/>
                <a:sym typeface="Calibri" panose="020F0502020204030204"/>
              </a:rPr>
              <a:t>0</a:t>
            </a:r>
            <a:r>
              <a:rPr lang="zh-CN" altLang="en-US" sz="1600">
                <a:latin typeface="微软雅黑" panose="020B0503020204020204" charset="-122"/>
                <a:ea typeface="微软雅黑" panose="020B0503020204020204" charset="-122"/>
                <a:sym typeface="Calibri" panose="020F0502020204030204"/>
              </a:rPr>
              <a:t>箱的提升度（</a:t>
            </a:r>
            <a:r>
              <a:rPr lang="en-US" altLang="zh-CN" sz="1600">
                <a:latin typeface="微软雅黑" panose="020B0503020204020204" charset="-122"/>
                <a:ea typeface="微软雅黑" panose="020B0503020204020204" charset="-122"/>
                <a:sym typeface="Calibri" panose="020F0502020204030204"/>
              </a:rPr>
              <a:t>lift</a:t>
            </a:r>
            <a:r>
              <a:rPr lang="zh-CN" altLang="en-US" sz="1600">
                <a:latin typeface="微软雅黑" panose="020B0503020204020204" charset="-122"/>
                <a:ea typeface="微软雅黑" panose="020B0503020204020204" charset="-122"/>
                <a:sym typeface="Calibri" panose="020F0502020204030204"/>
              </a:rPr>
              <a:t>）超过</a:t>
            </a:r>
            <a:r>
              <a:rPr lang="en-US" altLang="zh-CN" sz="1600">
                <a:latin typeface="微软雅黑" panose="020B0503020204020204" charset="-122"/>
                <a:ea typeface="微软雅黑" panose="020B0503020204020204" charset="-122"/>
                <a:sym typeface="Calibri" panose="020F0502020204030204"/>
              </a:rPr>
              <a:t>5.6</a:t>
            </a:r>
            <a:r>
              <a:rPr lang="zh-CN" altLang="en-US" sz="1600">
                <a:latin typeface="微软雅黑" panose="020B0503020204020204" charset="-122"/>
                <a:ea typeface="微软雅黑" panose="020B0503020204020204" charset="-122"/>
                <a:sym typeface="Calibri" panose="020F0502020204030204"/>
              </a:rPr>
              <a:t>，也即是，第</a:t>
            </a:r>
            <a:r>
              <a:rPr lang="en-US" altLang="zh-CN" sz="1600">
                <a:latin typeface="微软雅黑" panose="020B0503020204020204" charset="-122"/>
                <a:ea typeface="微软雅黑" panose="020B0503020204020204" charset="-122"/>
                <a:sym typeface="Calibri" panose="020F0502020204030204"/>
              </a:rPr>
              <a:t>0</a:t>
            </a:r>
            <a:r>
              <a:rPr lang="zh-CN" altLang="en-US" sz="1600">
                <a:latin typeface="微软雅黑" panose="020B0503020204020204" charset="-122"/>
                <a:ea typeface="微软雅黑" panose="020B0503020204020204" charset="-122"/>
                <a:sym typeface="Calibri" panose="020F0502020204030204"/>
              </a:rPr>
              <a:t>箱下单率是平均水平的</a:t>
            </a:r>
            <a:r>
              <a:rPr lang="en-US" altLang="zh-CN" sz="1600">
                <a:latin typeface="微软雅黑" panose="020B0503020204020204" charset="-122"/>
                <a:ea typeface="微软雅黑" panose="020B0503020204020204" charset="-122"/>
                <a:sym typeface="Calibri" panose="020F0502020204030204"/>
              </a:rPr>
              <a:t>5.6</a:t>
            </a:r>
            <a:r>
              <a:rPr lang="zh-CN" altLang="en-US" sz="1600">
                <a:latin typeface="微软雅黑" panose="020B0503020204020204" charset="-122"/>
                <a:ea typeface="微软雅黑" panose="020B0503020204020204" charset="-122"/>
                <a:sym typeface="Calibri" panose="020F0502020204030204"/>
              </a:rPr>
              <a:t>倍</a:t>
            </a:r>
            <a:endParaRPr kumimoji="0" lang="zh-CN" altLang="en-US" sz="1600" b="0" i="0" u="none" strike="noStrike" cap="none" spc="0" normalizeH="0" baseline="0">
              <a:ln>
                <a:noFill/>
              </a:ln>
              <a:solidFill>
                <a:srgbClr val="000000"/>
              </a:solidFill>
              <a:effectLst/>
              <a:uFillTx/>
              <a:latin typeface="微软雅黑" panose="020B0503020204020204" charset="-122"/>
              <a:ea typeface="微软雅黑" panose="020B0503020204020204" charset="-122"/>
              <a:cs typeface="+mj-cs"/>
              <a:sym typeface="Calibri" panose="020F0502020204030204"/>
            </a:endParaRPr>
          </a:p>
        </p:txBody>
      </p:sp>
      <p:sp>
        <p:nvSpPr>
          <p:cNvPr id="12" name="矩形 11"/>
          <p:cNvSpPr/>
          <p:nvPr/>
        </p:nvSpPr>
        <p:spPr>
          <a:xfrm>
            <a:off x="5715" y="1916430"/>
            <a:ext cx="833755" cy="367030"/>
          </a:xfrm>
          <a:prstGeom prst="rect">
            <a:avLst/>
          </a:prstGeom>
          <a:solidFill>
            <a:srgbClr val="FFFFFF"/>
          </a:solidFill>
          <a:ln w="12700" cap="flat">
            <a:solidFill>
              <a:schemeClr val="accent1"/>
            </a:solidFill>
            <a:prstDash val="solid"/>
            <a:miter lim="800000"/>
          </a:ln>
        </p:spPr>
        <p:style>
          <a:lnRef idx="0">
            <a:srgbClr val="FFFFFF"/>
          </a:lnRef>
          <a:fillRef idx="0">
            <a:srgbClr val="FFFFFF"/>
          </a:fillRef>
          <a:effectRef idx="0">
            <a:srgbClr val="FFFFFF"/>
          </a:effectRef>
          <a:fontRef idx="none"/>
        </p:style>
        <p:txBody>
          <a:bodyPr rot="0" vertOverflow="overflow" horzOverflow="overflow" vert="horz" wrap="square" lIns="45719" tIns="45719" rIns="45719" bIns="45719" numCol="1" spcCol="38100" rtlCol="0" anchor="ctr" forceAA="0" upright="0">
            <a:spAutoFit/>
          </a:bodyPr>
          <a:p>
            <a:pPr marL="0" marR="0" indent="0" algn="l" defTabSz="914400" rtl="0" fontAlgn="auto" latinLnBrk="0" hangingPunct="0">
              <a:lnSpc>
                <a:spcPct val="100000"/>
              </a:lnSpc>
              <a:spcBef>
                <a:spcPts val="0"/>
              </a:spcBef>
              <a:spcAft>
                <a:spcPts val="0"/>
              </a:spcAft>
              <a:buClrTx/>
              <a:buSzTx/>
              <a:buFontTx/>
              <a:buNone/>
            </a:pPr>
            <a:r>
              <a:rPr kumimoji="0" lang="zh-CN" altLang="en-US" sz="1800" b="1" i="0" u="none" strike="noStrike" cap="none" spc="0" normalizeH="0" baseline="0">
                <a:ln>
                  <a:noFill/>
                </a:ln>
                <a:solidFill>
                  <a:srgbClr val="FF0000"/>
                </a:solidFill>
                <a:effectLst/>
                <a:uFillTx/>
                <a:latin typeface="+mj-lt"/>
                <a:ea typeface="+mj-ea"/>
                <a:cs typeface="+mj-cs"/>
                <a:sym typeface="Calibri" panose="020F0502020204030204"/>
              </a:rPr>
              <a:t>训练集</a:t>
            </a:r>
            <a:endParaRPr kumimoji="0" lang="zh-CN" altLang="en-US" sz="1800" b="1" i="0" u="none" strike="noStrike" cap="none" spc="0" normalizeH="0" baseline="0">
              <a:ln>
                <a:noFill/>
              </a:ln>
              <a:solidFill>
                <a:srgbClr val="FF0000"/>
              </a:solidFill>
              <a:effectLst/>
              <a:uFillTx/>
              <a:latin typeface="+mj-lt"/>
              <a:ea typeface="+mj-ea"/>
              <a:cs typeface="+mj-cs"/>
              <a:sym typeface="Calibri" panose="020F0502020204030204"/>
            </a:endParaRPr>
          </a:p>
        </p:txBody>
      </p:sp>
      <p:sp>
        <p:nvSpPr>
          <p:cNvPr id="13" name="矩形 12"/>
          <p:cNvSpPr/>
          <p:nvPr/>
        </p:nvSpPr>
        <p:spPr>
          <a:xfrm>
            <a:off x="5715" y="3629660"/>
            <a:ext cx="833755" cy="367030"/>
          </a:xfrm>
          <a:prstGeom prst="rect">
            <a:avLst/>
          </a:prstGeom>
          <a:solidFill>
            <a:srgbClr val="FFFFFF"/>
          </a:solidFill>
          <a:ln w="12700" cap="flat">
            <a:solidFill>
              <a:schemeClr val="accent1"/>
            </a:solidFill>
            <a:prstDash val="solid"/>
            <a:miter lim="800000"/>
          </a:ln>
        </p:spPr>
        <p:style>
          <a:lnRef idx="0">
            <a:srgbClr val="FFFFFF"/>
          </a:lnRef>
          <a:fillRef idx="0">
            <a:srgbClr val="FFFFFF"/>
          </a:fillRef>
          <a:effectRef idx="0">
            <a:srgbClr val="FFFFFF"/>
          </a:effectRef>
          <a:fontRef idx="none"/>
        </p:style>
        <p:txBody>
          <a:bodyPr rot="0" vertOverflow="overflow" horzOverflow="overflow" vert="horz" wrap="square" lIns="45719" tIns="45719" rIns="45719" bIns="45719" numCol="1" spcCol="38100" rtlCol="0" anchor="ctr" forceAA="0" upright="0">
            <a:spAutoFit/>
          </a:bodyPr>
          <a:p>
            <a:pPr marL="0" marR="0" indent="0" algn="l" defTabSz="914400" rtl="0" fontAlgn="auto" latinLnBrk="0" hangingPunct="0">
              <a:lnSpc>
                <a:spcPct val="100000"/>
              </a:lnSpc>
              <a:spcBef>
                <a:spcPts val="0"/>
              </a:spcBef>
              <a:spcAft>
                <a:spcPts val="0"/>
              </a:spcAft>
              <a:buClrTx/>
              <a:buSzTx/>
              <a:buFontTx/>
              <a:buNone/>
            </a:pPr>
            <a:r>
              <a:rPr kumimoji="0" lang="zh-CN" altLang="en-US" sz="1800" b="1" i="0" u="none" strike="noStrike" cap="none" spc="0" normalizeH="0" baseline="0">
                <a:ln>
                  <a:noFill/>
                </a:ln>
                <a:solidFill>
                  <a:srgbClr val="FF0000"/>
                </a:solidFill>
                <a:effectLst/>
                <a:uFillTx/>
                <a:latin typeface="+mj-lt"/>
                <a:ea typeface="+mj-ea"/>
                <a:cs typeface="+mj-cs"/>
                <a:sym typeface="Calibri" panose="020F0502020204030204"/>
              </a:rPr>
              <a:t>验证集</a:t>
            </a:r>
            <a:endParaRPr kumimoji="0" lang="zh-CN" altLang="en-US" sz="1800" b="1" i="0" u="none" strike="noStrike" cap="none" spc="0" normalizeH="0" baseline="0">
              <a:ln>
                <a:noFill/>
              </a:ln>
              <a:solidFill>
                <a:srgbClr val="FF0000"/>
              </a:solidFill>
              <a:effectLst/>
              <a:uFillTx/>
              <a:latin typeface="+mj-lt"/>
              <a:ea typeface="+mj-ea"/>
              <a:cs typeface="+mj-cs"/>
              <a:sym typeface="Calibri" panose="020F0502020204030204"/>
            </a:endParaRPr>
          </a:p>
        </p:txBody>
      </p:sp>
      <p:pic>
        <p:nvPicPr>
          <p:cNvPr id="6" name="图片 5"/>
          <p:cNvPicPr>
            <a:picLocks noChangeAspect="1"/>
          </p:cNvPicPr>
          <p:nvPr/>
        </p:nvPicPr>
        <p:blipFill>
          <a:blip r:embed="rId1"/>
          <a:stretch>
            <a:fillRect/>
          </a:stretch>
        </p:blipFill>
        <p:spPr>
          <a:xfrm>
            <a:off x="983615" y="1628775"/>
            <a:ext cx="8898890" cy="1964055"/>
          </a:xfrm>
          <a:prstGeom prst="rect">
            <a:avLst/>
          </a:prstGeom>
        </p:spPr>
      </p:pic>
      <p:pic>
        <p:nvPicPr>
          <p:cNvPr id="7" name="图片 6"/>
          <p:cNvPicPr>
            <a:picLocks noChangeAspect="1"/>
          </p:cNvPicPr>
          <p:nvPr/>
        </p:nvPicPr>
        <p:blipFill>
          <a:blip r:embed="rId2"/>
          <a:stretch>
            <a:fillRect/>
          </a:stretch>
        </p:blipFill>
        <p:spPr>
          <a:xfrm>
            <a:off x="983615" y="3717290"/>
            <a:ext cx="8978900" cy="1981835"/>
          </a:xfrm>
          <a:prstGeom prst="rect">
            <a:avLst/>
          </a:prstGeom>
        </p:spPr>
      </p:pic>
    </p:spTree>
  </p:cSld>
  <p:clrMapOvr>
    <a:masterClrMapping/>
  </p:clrMapOvr>
  <p:transition spd="med"/>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p:nvPr>
            <p:ph type="title"/>
          </p:nvPr>
        </p:nvSpPr>
        <p:spPr>
          <a:xfrm>
            <a:off x="335915" y="260985"/>
            <a:ext cx="10714355" cy="675005"/>
          </a:xfrm>
        </p:spPr>
        <p:txBody>
          <a:bodyPr>
            <a:normAutofit/>
          </a:bodyPr>
          <a:p>
            <a:r>
              <a:rPr lang="en-US" altLang="zh-CN" sz="3555"/>
              <a:t>3. </a:t>
            </a:r>
            <a:r>
              <a:rPr lang="zh-CN" altLang="en-US" sz="3555"/>
              <a:t>模型建立</a:t>
            </a:r>
            <a:r>
              <a:rPr lang="en-US" altLang="zh-CN" sz="3550">
                <a:sym typeface="+mn-ea"/>
              </a:rPr>
              <a:t>-</a:t>
            </a:r>
            <a:r>
              <a:rPr lang="zh-CN" altLang="en-US" sz="3550">
                <a:sym typeface="+mn-ea"/>
              </a:rPr>
              <a:t>深度神经网络</a:t>
            </a:r>
            <a:endParaRPr lang="zh-CN" altLang="en-US" sz="3555"/>
          </a:p>
        </p:txBody>
      </p:sp>
      <p:sp>
        <p:nvSpPr>
          <p:cNvPr id="25" name="文本框 24"/>
          <p:cNvSpPr txBox="1"/>
          <p:nvPr/>
        </p:nvSpPr>
        <p:spPr>
          <a:xfrm>
            <a:off x="695960" y="1125220"/>
            <a:ext cx="5239385" cy="459105"/>
          </a:xfrm>
          <a:prstGeom prst="rect">
            <a:avLst/>
          </a:prstGeom>
          <a:noFill/>
          <a:ln w="12700" cap="flat">
            <a:noFill/>
            <a:miter lim="400000"/>
          </a:ln>
        </p:spPr>
        <p:style>
          <a:lnRef idx="0">
            <a:srgbClr val="FFFFFF"/>
          </a:lnRef>
          <a:fillRef idx="0">
            <a:srgbClr val="FFFFFF"/>
          </a:fillRef>
          <a:effectRef idx="0">
            <a:srgbClr val="FFFFFF"/>
          </a:effectRef>
          <a:fontRef idx="none"/>
        </p:style>
        <p:txBody>
          <a:bodyPr rot="0" vertOverflow="overflow" horzOverflow="overflow" vert="horz" wrap="square" lIns="45719" tIns="45719" rIns="45719" bIns="45719" numCol="1" spcCol="38100" rtlCol="0" anchor="t" forceAA="0" upright="0">
            <a:spAutoFit/>
          </a:bodyPr>
          <a:p>
            <a:pPr marL="342900" marR="0" indent="-342900" algn="l" defTabSz="914400" rtl="0" fontAlgn="auto" latinLnBrk="0" hangingPunct="0">
              <a:lnSpc>
                <a:spcPct val="100000"/>
              </a:lnSpc>
              <a:spcBef>
                <a:spcPts val="0"/>
              </a:spcBef>
              <a:spcAft>
                <a:spcPts val="0"/>
              </a:spcAft>
              <a:buClrTx/>
              <a:buSzTx/>
              <a:buFont typeface="Wingdings" panose="05000000000000000000" charset="0"/>
              <a:buChar char="ü"/>
            </a:pPr>
            <a:r>
              <a:rPr kumimoji="0" lang="zh-CN" altLang="en-US" sz="2400" b="1" i="0" u="none" strike="noStrike" cap="none" spc="0" normalizeH="0" baseline="0">
                <a:ln>
                  <a:noFill/>
                </a:ln>
                <a:solidFill>
                  <a:srgbClr val="0564CD"/>
                </a:solidFill>
                <a:effectLst/>
                <a:uFillTx/>
                <a:latin typeface="微软雅黑" panose="020B0503020204020204" charset="-122"/>
                <a:ea typeface="微软雅黑" panose="020B0503020204020204" charset="-122"/>
                <a:cs typeface="微软雅黑" panose="020B0503020204020204" charset="-122"/>
                <a:sym typeface="Calibri" panose="020F0502020204030204"/>
              </a:rPr>
              <a:t>特征工程</a:t>
            </a:r>
            <a:endParaRPr kumimoji="0" lang="zh-CN" altLang="en-US" sz="2400" b="1" i="0" u="none" strike="noStrike" cap="none" spc="0" normalizeH="0" baseline="0">
              <a:ln>
                <a:noFill/>
              </a:ln>
              <a:solidFill>
                <a:srgbClr val="0564CD"/>
              </a:solidFill>
              <a:effectLst/>
              <a:uFillTx/>
              <a:latin typeface="微软雅黑" panose="020B0503020204020204" charset="-122"/>
              <a:ea typeface="微软雅黑" panose="020B0503020204020204" charset="-122"/>
              <a:cs typeface="微软雅黑" panose="020B0503020204020204" charset="-122"/>
              <a:sym typeface="Calibri" panose="020F0502020204030204"/>
            </a:endParaRPr>
          </a:p>
        </p:txBody>
      </p:sp>
      <p:sp>
        <p:nvSpPr>
          <p:cNvPr id="5" name="文本框 4"/>
          <p:cNvSpPr txBox="1"/>
          <p:nvPr/>
        </p:nvSpPr>
        <p:spPr>
          <a:xfrm>
            <a:off x="737235" y="3213100"/>
            <a:ext cx="10313035" cy="705485"/>
          </a:xfrm>
          <a:prstGeom prst="rect">
            <a:avLst/>
          </a:prstGeom>
          <a:noFill/>
          <a:ln w="12700" cap="flat">
            <a:noFill/>
            <a:miter lim="400000"/>
          </a:ln>
        </p:spPr>
        <p:style>
          <a:lnRef idx="0">
            <a:srgbClr val="FFFFFF"/>
          </a:lnRef>
          <a:fillRef idx="0">
            <a:srgbClr val="FFFFFF"/>
          </a:fillRef>
          <a:effectRef idx="0">
            <a:srgbClr val="FFFFFF"/>
          </a:effectRef>
          <a:fontRef idx="none"/>
        </p:style>
        <p:txBody>
          <a:bodyPr rot="0" vertOverflow="overflow" horzOverflow="overflow" vert="horz" wrap="square" lIns="45719" tIns="45719" rIns="45719" bIns="45719" numCol="1" spcCol="38100" rtlCol="0" anchor="t" forceAA="0" upright="0">
            <a:spAutoFit/>
          </a:bodyPr>
          <a:p>
            <a:pPr marL="0" marR="0" indent="0" algn="l" defTabSz="914400" rtl="0" fontAlgn="auto" latinLnBrk="0" hangingPunct="0">
              <a:lnSpc>
                <a:spcPct val="100000"/>
              </a:lnSpc>
              <a:spcBef>
                <a:spcPts val="0"/>
              </a:spcBef>
              <a:spcAft>
                <a:spcPts val="0"/>
              </a:spcAft>
              <a:buClrTx/>
              <a:buSzTx/>
              <a:buFontTx/>
              <a:buNone/>
            </a:pPr>
            <a:r>
              <a:rPr kumimoji="0" lang="zh-CN" altLang="en-US" sz="2000" b="0" i="0" u="none" strike="noStrike" cap="none" spc="0" normalizeH="0" baseline="0">
                <a:ln>
                  <a:noFill/>
                </a:ln>
                <a:solidFill>
                  <a:srgbClr val="000000"/>
                </a:solidFill>
                <a:effectLst/>
                <a:uFillTx/>
                <a:latin typeface="微软雅黑" panose="020B0503020204020204" charset="-122"/>
                <a:ea typeface="微软雅黑" panose="020B0503020204020204" charset="-122"/>
                <a:cs typeface="微软雅黑" panose="020B0503020204020204" charset="-122"/>
                <a:sym typeface="Calibri" panose="020F0502020204030204"/>
              </a:rPr>
              <a:t>深度神经网络整个建立过程，包含一些筛选过程，如</a:t>
            </a:r>
            <a:r>
              <a:rPr kumimoji="0" lang="en-US" sz="2000" b="0" i="0" u="none" strike="noStrike" cap="none" spc="0" normalizeH="0" baseline="0">
                <a:ln>
                  <a:noFill/>
                </a:ln>
                <a:solidFill>
                  <a:srgbClr val="000000"/>
                </a:solidFill>
                <a:effectLst/>
                <a:uFillTx/>
                <a:latin typeface="微软雅黑" panose="020B0503020204020204" charset="-122"/>
                <a:ea typeface="微软雅黑" panose="020B0503020204020204" charset="-122"/>
                <a:cs typeface="微软雅黑" panose="020B0503020204020204" charset="-122"/>
                <a:sym typeface="Calibri" panose="020F0502020204030204"/>
              </a:rPr>
              <a:t>ID</a:t>
            </a:r>
            <a:r>
              <a:rPr kumimoji="0" lang="zh-CN" altLang="en-US" sz="2000" b="0" i="0" u="none" strike="noStrike" cap="none" spc="0" normalizeH="0" baseline="0">
                <a:ln>
                  <a:noFill/>
                </a:ln>
                <a:solidFill>
                  <a:srgbClr val="000000"/>
                </a:solidFill>
                <a:effectLst/>
                <a:uFillTx/>
                <a:latin typeface="微软雅黑" panose="020B0503020204020204" charset="-122"/>
                <a:ea typeface="微软雅黑" panose="020B0503020204020204" charset="-122"/>
                <a:cs typeface="微软雅黑" panose="020B0503020204020204" charset="-122"/>
                <a:sym typeface="Calibri" panose="020F0502020204030204"/>
              </a:rPr>
              <a:t>、时间类无效变量筛选，缺失值筛选，解释性筛选等，最终入模变量为</a:t>
            </a:r>
            <a:r>
              <a:rPr kumimoji="0" lang="en-US" altLang="zh-CN" sz="2000" b="0" i="0" u="none" strike="noStrike" cap="none" spc="0" normalizeH="0" baseline="0">
                <a:ln>
                  <a:noFill/>
                </a:ln>
                <a:solidFill>
                  <a:srgbClr val="000000"/>
                </a:solidFill>
                <a:effectLst/>
                <a:uFillTx/>
                <a:latin typeface="微软雅黑" panose="020B0503020204020204" charset="-122"/>
                <a:ea typeface="微软雅黑" panose="020B0503020204020204" charset="-122"/>
                <a:cs typeface="微软雅黑" panose="020B0503020204020204" charset="-122"/>
                <a:sym typeface="Calibri" panose="020F0502020204030204"/>
              </a:rPr>
              <a:t>151</a:t>
            </a:r>
            <a:r>
              <a:rPr kumimoji="0" lang="zh-CN" altLang="en-US" sz="2000" b="0" i="0" u="none" strike="noStrike" cap="none" spc="0" normalizeH="0" baseline="0">
                <a:ln>
                  <a:noFill/>
                </a:ln>
                <a:solidFill>
                  <a:srgbClr val="000000"/>
                </a:solidFill>
                <a:effectLst/>
                <a:uFillTx/>
                <a:latin typeface="微软雅黑" panose="020B0503020204020204" charset="-122"/>
                <a:ea typeface="微软雅黑" panose="020B0503020204020204" charset="-122"/>
                <a:cs typeface="微软雅黑" panose="020B0503020204020204" charset="-122"/>
                <a:sym typeface="Calibri" panose="020F0502020204030204"/>
              </a:rPr>
              <a:t>个。</a:t>
            </a:r>
            <a:endParaRPr kumimoji="0" lang="zh-CN" altLang="en-US" sz="2000" b="0" i="0" u="none" strike="noStrike" cap="none" spc="0" normalizeH="0" baseline="0">
              <a:ln>
                <a:noFill/>
              </a:ln>
              <a:solidFill>
                <a:srgbClr val="000000"/>
              </a:solidFill>
              <a:effectLst/>
              <a:uFillTx/>
              <a:latin typeface="微软雅黑" panose="020B0503020204020204" charset="-122"/>
              <a:ea typeface="微软雅黑" panose="020B0503020204020204" charset="-122"/>
              <a:cs typeface="微软雅黑" panose="020B0503020204020204" charset="-122"/>
              <a:sym typeface="Calibri" panose="020F0502020204030204"/>
            </a:endParaRPr>
          </a:p>
        </p:txBody>
      </p:sp>
      <p:pic>
        <p:nvPicPr>
          <p:cNvPr id="6" name="图片 5"/>
          <p:cNvPicPr>
            <a:picLocks noChangeAspect="1"/>
          </p:cNvPicPr>
          <p:nvPr/>
        </p:nvPicPr>
        <p:blipFill>
          <a:blip r:embed="rId1"/>
          <a:stretch>
            <a:fillRect/>
          </a:stretch>
        </p:blipFill>
        <p:spPr>
          <a:xfrm>
            <a:off x="737235" y="2277110"/>
            <a:ext cx="10641965" cy="692785"/>
          </a:xfrm>
          <a:prstGeom prst="rect">
            <a:avLst/>
          </a:prstGeom>
        </p:spPr>
      </p:pic>
      <p:sp>
        <p:nvSpPr>
          <p:cNvPr id="7" name="文本框 6"/>
          <p:cNvSpPr txBox="1"/>
          <p:nvPr/>
        </p:nvSpPr>
        <p:spPr>
          <a:xfrm>
            <a:off x="861695" y="1649730"/>
            <a:ext cx="2135505" cy="367030"/>
          </a:xfrm>
          <a:prstGeom prst="rect">
            <a:avLst/>
          </a:prstGeom>
          <a:noFill/>
          <a:ln w="12700" cap="flat">
            <a:noFill/>
            <a:miter lim="400000"/>
          </a:ln>
        </p:spPr>
        <p:style>
          <a:lnRef idx="0">
            <a:srgbClr val="FFFFFF"/>
          </a:lnRef>
          <a:fillRef idx="0">
            <a:srgbClr val="FFFFFF"/>
          </a:fillRef>
          <a:effectRef idx="0">
            <a:srgbClr val="FFFFFF"/>
          </a:effectRef>
          <a:fontRef idx="none"/>
        </p:style>
        <p:txBody>
          <a:bodyPr rot="0" vertOverflow="overflow" horzOverflow="overflow" vert="horz" wrap="square" lIns="45719" tIns="45719" rIns="45719" bIns="45719" numCol="1" spcCol="38100" rtlCol="0" anchor="t" forceAA="0" upright="0">
            <a:spAutoFit/>
          </a:bodyPr>
          <a:p>
            <a:pPr marL="342900" marR="0" indent="-342900" algn="l" defTabSz="914400" rtl="0" fontAlgn="auto" latinLnBrk="0" hangingPunct="0">
              <a:lnSpc>
                <a:spcPct val="100000"/>
              </a:lnSpc>
              <a:spcBef>
                <a:spcPts val="0"/>
              </a:spcBef>
              <a:spcAft>
                <a:spcPts val="0"/>
              </a:spcAft>
              <a:buClrTx/>
              <a:buSzTx/>
              <a:buFont typeface="+mj-lt"/>
              <a:buAutoNum type="arabicPeriod"/>
            </a:pPr>
            <a:r>
              <a:rPr kumimoji="0" lang="zh-CN" altLang="en-US" b="1" i="0" u="none" strike="noStrike" cap="none" spc="0" normalizeH="0" baseline="0">
                <a:ln>
                  <a:noFill/>
                </a:ln>
                <a:solidFill>
                  <a:srgbClr val="0564CD"/>
                </a:solidFill>
                <a:effectLst/>
                <a:uFillTx/>
                <a:latin typeface="微软雅黑" panose="020B0503020204020204" charset="-122"/>
                <a:ea typeface="微软雅黑" panose="020B0503020204020204" charset="-122"/>
                <a:cs typeface="微软雅黑" panose="020B0503020204020204" charset="-122"/>
                <a:sym typeface="Calibri" panose="020F0502020204030204"/>
              </a:rPr>
              <a:t>变量筛选</a:t>
            </a:r>
            <a:endParaRPr kumimoji="0" lang="zh-CN" altLang="en-US" b="1" i="0" u="none" strike="noStrike" cap="none" spc="0" normalizeH="0" baseline="0">
              <a:ln>
                <a:noFill/>
              </a:ln>
              <a:solidFill>
                <a:srgbClr val="0564CD"/>
              </a:solidFill>
              <a:effectLst/>
              <a:uFillTx/>
              <a:latin typeface="微软雅黑" panose="020B0503020204020204" charset="-122"/>
              <a:ea typeface="微软雅黑" panose="020B0503020204020204" charset="-122"/>
              <a:cs typeface="微软雅黑" panose="020B0503020204020204" charset="-122"/>
              <a:sym typeface="Calibri" panose="020F0502020204030204"/>
            </a:endParaRPr>
          </a:p>
        </p:txBody>
      </p:sp>
    </p:spTree>
  </p:cSld>
  <p:clrMapOvr>
    <a:masterClrMapping/>
  </p:clrMapOvr>
  <p:transition spd="med"/>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p:nvPr>
            <p:ph type="title"/>
          </p:nvPr>
        </p:nvSpPr>
        <p:spPr>
          <a:xfrm>
            <a:off x="335915" y="260985"/>
            <a:ext cx="10714355" cy="675005"/>
          </a:xfrm>
        </p:spPr>
        <p:txBody>
          <a:bodyPr>
            <a:normAutofit/>
          </a:bodyPr>
          <a:p>
            <a:r>
              <a:rPr lang="en-US" altLang="zh-CN" sz="3555"/>
              <a:t>3. </a:t>
            </a:r>
            <a:r>
              <a:rPr lang="zh-CN" altLang="en-US" sz="3555"/>
              <a:t>模型建立</a:t>
            </a:r>
            <a:r>
              <a:rPr lang="en-US" altLang="zh-CN" sz="3550">
                <a:sym typeface="+mn-ea"/>
              </a:rPr>
              <a:t>-</a:t>
            </a:r>
            <a:r>
              <a:rPr lang="zh-CN" altLang="en-US" sz="3550">
                <a:sym typeface="+mn-ea"/>
              </a:rPr>
              <a:t>深度神经网络</a:t>
            </a:r>
            <a:endParaRPr lang="zh-CN" altLang="en-US" sz="3555"/>
          </a:p>
        </p:txBody>
      </p:sp>
      <p:sp>
        <p:nvSpPr>
          <p:cNvPr id="25" name="文本框 24"/>
          <p:cNvSpPr txBox="1"/>
          <p:nvPr/>
        </p:nvSpPr>
        <p:spPr>
          <a:xfrm>
            <a:off x="695960" y="1125220"/>
            <a:ext cx="5239385" cy="459105"/>
          </a:xfrm>
          <a:prstGeom prst="rect">
            <a:avLst/>
          </a:prstGeom>
          <a:noFill/>
          <a:ln w="12700" cap="flat">
            <a:noFill/>
            <a:miter lim="400000"/>
          </a:ln>
        </p:spPr>
        <p:style>
          <a:lnRef idx="0">
            <a:srgbClr val="FFFFFF"/>
          </a:lnRef>
          <a:fillRef idx="0">
            <a:srgbClr val="FFFFFF"/>
          </a:fillRef>
          <a:effectRef idx="0">
            <a:srgbClr val="FFFFFF"/>
          </a:effectRef>
          <a:fontRef idx="none"/>
        </p:style>
        <p:txBody>
          <a:bodyPr rot="0" vertOverflow="overflow" horzOverflow="overflow" vert="horz" wrap="square" lIns="45719" tIns="45719" rIns="45719" bIns="45719" numCol="1" spcCol="38100" rtlCol="0" anchor="t" forceAA="0" upright="0">
            <a:spAutoFit/>
          </a:bodyPr>
          <a:p>
            <a:pPr marL="342900" marR="0" indent="-342900" algn="l" defTabSz="914400" rtl="0" fontAlgn="auto" latinLnBrk="0" hangingPunct="0">
              <a:lnSpc>
                <a:spcPct val="100000"/>
              </a:lnSpc>
              <a:spcBef>
                <a:spcPts val="0"/>
              </a:spcBef>
              <a:spcAft>
                <a:spcPts val="0"/>
              </a:spcAft>
              <a:buClrTx/>
              <a:buSzTx/>
              <a:buFont typeface="Wingdings" panose="05000000000000000000" charset="0"/>
              <a:buChar char="ü"/>
            </a:pPr>
            <a:r>
              <a:rPr kumimoji="0" lang="zh-CN" altLang="en-US" sz="2400" b="1" i="0" u="none" strike="noStrike" cap="none" spc="0" normalizeH="0" baseline="0">
                <a:ln>
                  <a:noFill/>
                </a:ln>
                <a:solidFill>
                  <a:srgbClr val="0564CD"/>
                </a:solidFill>
                <a:effectLst/>
                <a:uFillTx/>
                <a:latin typeface="微软雅黑" panose="020B0503020204020204" charset="-122"/>
                <a:ea typeface="微软雅黑" panose="020B0503020204020204" charset="-122"/>
                <a:cs typeface="微软雅黑" panose="020B0503020204020204" charset="-122"/>
                <a:sym typeface="Calibri" panose="020F0502020204030204"/>
              </a:rPr>
              <a:t>特征工程</a:t>
            </a:r>
            <a:endParaRPr kumimoji="0" lang="zh-CN" altLang="en-US" sz="2400" b="1" i="0" u="none" strike="noStrike" cap="none" spc="0" normalizeH="0" baseline="0">
              <a:ln>
                <a:noFill/>
              </a:ln>
              <a:solidFill>
                <a:srgbClr val="0564CD"/>
              </a:solidFill>
              <a:effectLst/>
              <a:uFillTx/>
              <a:latin typeface="微软雅黑" panose="020B0503020204020204" charset="-122"/>
              <a:ea typeface="微软雅黑" panose="020B0503020204020204" charset="-122"/>
              <a:cs typeface="微软雅黑" panose="020B0503020204020204" charset="-122"/>
              <a:sym typeface="Calibri" panose="020F0502020204030204"/>
            </a:endParaRPr>
          </a:p>
        </p:txBody>
      </p:sp>
      <p:sp>
        <p:nvSpPr>
          <p:cNvPr id="5" name="文本框 4"/>
          <p:cNvSpPr txBox="1"/>
          <p:nvPr/>
        </p:nvSpPr>
        <p:spPr>
          <a:xfrm>
            <a:off x="911860" y="2421255"/>
            <a:ext cx="10313035" cy="1336675"/>
          </a:xfrm>
          <a:prstGeom prst="rect">
            <a:avLst/>
          </a:prstGeom>
          <a:noFill/>
          <a:ln w="12700" cap="flat">
            <a:noFill/>
            <a:miter lim="400000"/>
          </a:ln>
        </p:spPr>
        <p:style>
          <a:lnRef idx="0">
            <a:srgbClr val="FFFFFF"/>
          </a:lnRef>
          <a:fillRef idx="0">
            <a:srgbClr val="FFFFFF"/>
          </a:fillRef>
          <a:effectRef idx="0">
            <a:srgbClr val="FFFFFF"/>
          </a:effectRef>
          <a:fontRef idx="none"/>
        </p:style>
        <p:txBody>
          <a:bodyPr rot="0" vertOverflow="overflow" horzOverflow="overflow" vert="horz" wrap="square" lIns="45719" tIns="45719" rIns="45719" bIns="45719" numCol="1" spcCol="38100" rtlCol="0" anchor="t" forceAA="0" upright="0">
            <a:spAutoFit/>
          </a:bodyPr>
          <a:p>
            <a:pPr marL="0" marR="0" indent="0" algn="l" defTabSz="914400" rtl="0" fontAlgn="auto" latinLnBrk="0" hangingPunct="0">
              <a:lnSpc>
                <a:spcPct val="150000"/>
              </a:lnSpc>
              <a:spcBef>
                <a:spcPts val="0"/>
              </a:spcBef>
              <a:spcAft>
                <a:spcPts val="0"/>
              </a:spcAft>
              <a:buClrTx/>
              <a:buSzTx/>
              <a:buFontTx/>
              <a:buNone/>
            </a:pPr>
            <a:r>
              <a:rPr kumimoji="0" lang="zh-CN" b="0" i="0" u="none" strike="noStrike" cap="none" spc="0" normalizeH="0" baseline="0">
                <a:ln>
                  <a:noFill/>
                </a:ln>
                <a:solidFill>
                  <a:srgbClr val="000000"/>
                </a:solidFill>
                <a:effectLst/>
                <a:uFillTx/>
                <a:latin typeface="微软雅黑" panose="020B0503020204020204" charset="-122"/>
                <a:ea typeface="微软雅黑" panose="020B0503020204020204" charset="-122"/>
                <a:cs typeface="微软雅黑" panose="020B0503020204020204" charset="-122"/>
                <a:sym typeface="Calibri" panose="020F0502020204030204"/>
              </a:rPr>
              <a:t>在进行前面变量筛选后约</a:t>
            </a:r>
            <a:r>
              <a:rPr kumimoji="0" lang="en-US" altLang="zh-CN" b="0" i="0" u="none" strike="noStrike" cap="none" spc="0" normalizeH="0" baseline="0">
                <a:ln>
                  <a:noFill/>
                </a:ln>
                <a:solidFill>
                  <a:srgbClr val="000000"/>
                </a:solidFill>
                <a:effectLst/>
                <a:uFillTx/>
                <a:latin typeface="微软雅黑" panose="020B0503020204020204" charset="-122"/>
                <a:ea typeface="微软雅黑" panose="020B0503020204020204" charset="-122"/>
                <a:cs typeface="微软雅黑" panose="020B0503020204020204" charset="-122"/>
                <a:sym typeface="Calibri" panose="020F0502020204030204"/>
              </a:rPr>
              <a:t>151</a:t>
            </a:r>
            <a:r>
              <a:rPr kumimoji="0" lang="zh-CN" altLang="en-US" b="0" i="0" u="none" strike="noStrike" cap="none" spc="0" normalizeH="0" baseline="0">
                <a:ln>
                  <a:noFill/>
                </a:ln>
                <a:solidFill>
                  <a:srgbClr val="000000"/>
                </a:solidFill>
                <a:effectLst/>
                <a:uFillTx/>
                <a:latin typeface="微软雅黑" panose="020B0503020204020204" charset="-122"/>
                <a:ea typeface="微软雅黑" panose="020B0503020204020204" charset="-122"/>
                <a:cs typeface="微软雅黑" panose="020B0503020204020204" charset="-122"/>
                <a:sym typeface="Calibri" panose="020F0502020204030204"/>
              </a:rPr>
              <a:t>，分别进行数值型变量及文本变量筛选</a:t>
            </a:r>
            <a:endParaRPr kumimoji="0" lang="zh-CN" b="0" i="0" u="none" strike="noStrike" cap="none" spc="0" normalizeH="0" baseline="0">
              <a:ln>
                <a:noFill/>
              </a:ln>
              <a:solidFill>
                <a:srgbClr val="000000"/>
              </a:solidFill>
              <a:effectLst/>
              <a:uFillTx/>
              <a:latin typeface="微软雅黑" panose="020B0503020204020204" charset="-122"/>
              <a:ea typeface="微软雅黑" panose="020B0503020204020204" charset="-122"/>
              <a:cs typeface="微软雅黑" panose="020B0503020204020204" charset="-122"/>
              <a:sym typeface="Calibri" panose="020F0502020204030204"/>
            </a:endParaRPr>
          </a:p>
          <a:p>
            <a:pPr marL="0" marR="0" indent="0" algn="l" defTabSz="914400" rtl="0" fontAlgn="auto" latinLnBrk="0" hangingPunct="0">
              <a:lnSpc>
                <a:spcPct val="150000"/>
              </a:lnSpc>
              <a:spcBef>
                <a:spcPts val="0"/>
              </a:spcBef>
              <a:spcAft>
                <a:spcPts val="0"/>
              </a:spcAft>
              <a:buClrTx/>
              <a:buSzTx/>
              <a:buFontTx/>
              <a:buNone/>
            </a:pPr>
            <a:r>
              <a:rPr kumimoji="0" lang="zh-CN" b="1" i="0" u="none" strike="noStrike" cap="none" spc="0" normalizeH="0" baseline="0">
                <a:ln>
                  <a:noFill/>
                </a:ln>
                <a:solidFill>
                  <a:srgbClr val="000000"/>
                </a:solidFill>
                <a:effectLst/>
                <a:uFillTx/>
                <a:latin typeface="微软雅黑" panose="020B0503020204020204" charset="-122"/>
                <a:ea typeface="微软雅黑" panose="020B0503020204020204" charset="-122"/>
                <a:cs typeface="微软雅黑" panose="020B0503020204020204" charset="-122"/>
                <a:sym typeface="Calibri" panose="020F0502020204030204"/>
              </a:rPr>
              <a:t>数值型变量：</a:t>
            </a:r>
            <a:r>
              <a:rPr kumimoji="0" lang="zh-CN" b="0" i="0" u="none" strike="noStrike" cap="none" spc="0" normalizeH="0" baseline="0">
                <a:ln>
                  <a:noFill/>
                </a:ln>
                <a:solidFill>
                  <a:srgbClr val="000000"/>
                </a:solidFill>
                <a:effectLst/>
                <a:uFillTx/>
                <a:latin typeface="微软雅黑" panose="020B0503020204020204" charset="-122"/>
                <a:ea typeface="微软雅黑" panose="020B0503020204020204" charset="-122"/>
                <a:cs typeface="微软雅黑" panose="020B0503020204020204" charset="-122"/>
                <a:sym typeface="Calibri" panose="020F0502020204030204"/>
              </a:rPr>
              <a:t>进行标准化数据缩放处理，为</a:t>
            </a:r>
            <a:r>
              <a:rPr kumimoji="0" lang="en-US" altLang="zh-CN" b="0" i="0" u="none" strike="noStrike" cap="none" spc="0" normalizeH="0" baseline="0">
                <a:ln>
                  <a:noFill/>
                </a:ln>
                <a:solidFill>
                  <a:srgbClr val="000000"/>
                </a:solidFill>
                <a:effectLst/>
                <a:uFillTx/>
                <a:latin typeface="微软雅黑" panose="020B0503020204020204" charset="-122"/>
                <a:ea typeface="微软雅黑" panose="020B0503020204020204" charset="-122"/>
                <a:cs typeface="微软雅黑" panose="020B0503020204020204" charset="-122"/>
                <a:sym typeface="Calibri" panose="020F0502020204030204"/>
              </a:rPr>
              <a:t>92</a:t>
            </a:r>
            <a:r>
              <a:rPr kumimoji="0" lang="zh-CN" altLang="en-US" b="0" i="0" u="none" strike="noStrike" cap="none" spc="0" normalizeH="0" baseline="0">
                <a:ln>
                  <a:noFill/>
                </a:ln>
                <a:solidFill>
                  <a:srgbClr val="000000"/>
                </a:solidFill>
                <a:effectLst/>
                <a:uFillTx/>
                <a:latin typeface="微软雅黑" panose="020B0503020204020204" charset="-122"/>
                <a:ea typeface="微软雅黑" panose="020B0503020204020204" charset="-122"/>
                <a:cs typeface="微软雅黑" panose="020B0503020204020204" charset="-122"/>
                <a:sym typeface="Calibri" panose="020F0502020204030204"/>
              </a:rPr>
              <a:t>个。</a:t>
            </a:r>
            <a:endParaRPr kumimoji="0" lang="zh-CN" altLang="en-US" b="0" i="0" u="none" strike="noStrike" cap="none" spc="0" normalizeH="0" baseline="0">
              <a:ln>
                <a:noFill/>
              </a:ln>
              <a:solidFill>
                <a:srgbClr val="000000"/>
              </a:solidFill>
              <a:effectLst/>
              <a:uFillTx/>
              <a:latin typeface="微软雅黑" panose="020B0503020204020204" charset="-122"/>
              <a:ea typeface="微软雅黑" panose="020B0503020204020204" charset="-122"/>
              <a:cs typeface="微软雅黑" panose="020B0503020204020204" charset="-122"/>
              <a:sym typeface="Calibri" panose="020F0502020204030204"/>
            </a:endParaRPr>
          </a:p>
          <a:p>
            <a:pPr marL="0" marR="0" indent="0" algn="l" defTabSz="914400" rtl="0" fontAlgn="auto" latinLnBrk="0" hangingPunct="0">
              <a:lnSpc>
                <a:spcPct val="150000"/>
              </a:lnSpc>
              <a:spcBef>
                <a:spcPts val="0"/>
              </a:spcBef>
              <a:spcAft>
                <a:spcPts val="0"/>
              </a:spcAft>
              <a:buClrTx/>
              <a:buSzTx/>
              <a:buFontTx/>
              <a:buNone/>
            </a:pPr>
            <a:r>
              <a:rPr kumimoji="0" lang="zh-CN" altLang="en-US" b="1" i="0" u="none" strike="noStrike" cap="none" spc="0" normalizeH="0" baseline="0">
                <a:ln>
                  <a:noFill/>
                </a:ln>
                <a:solidFill>
                  <a:srgbClr val="000000"/>
                </a:solidFill>
                <a:effectLst/>
                <a:uFillTx/>
                <a:latin typeface="微软雅黑" panose="020B0503020204020204" charset="-122"/>
                <a:ea typeface="微软雅黑" panose="020B0503020204020204" charset="-122"/>
                <a:cs typeface="微软雅黑" panose="020B0503020204020204" charset="-122"/>
                <a:sym typeface="Calibri" panose="020F0502020204030204"/>
              </a:rPr>
              <a:t>文本型变量：</a:t>
            </a:r>
            <a:r>
              <a:rPr kumimoji="0" lang="zh-CN" altLang="en-US" b="0" i="0" u="none" strike="noStrike" cap="none" spc="0" normalizeH="0" baseline="0">
                <a:ln>
                  <a:noFill/>
                </a:ln>
                <a:solidFill>
                  <a:srgbClr val="000000"/>
                </a:solidFill>
                <a:effectLst/>
                <a:uFillTx/>
                <a:latin typeface="微软雅黑" panose="020B0503020204020204" charset="-122"/>
                <a:ea typeface="微软雅黑" panose="020B0503020204020204" charset="-122"/>
                <a:cs typeface="微软雅黑" panose="020B0503020204020204" charset="-122"/>
                <a:sym typeface="Calibri" panose="020F0502020204030204"/>
              </a:rPr>
              <a:t>进行CatBoostEncoder，为</a:t>
            </a:r>
            <a:r>
              <a:rPr kumimoji="0" lang="en-US" altLang="zh-CN" b="0" i="0" u="none" strike="noStrike" cap="none" spc="0" normalizeH="0" baseline="0">
                <a:ln>
                  <a:noFill/>
                </a:ln>
                <a:solidFill>
                  <a:srgbClr val="000000"/>
                </a:solidFill>
                <a:effectLst/>
                <a:uFillTx/>
                <a:latin typeface="微软雅黑" panose="020B0503020204020204" charset="-122"/>
                <a:ea typeface="微软雅黑" panose="020B0503020204020204" charset="-122"/>
                <a:cs typeface="微软雅黑" panose="020B0503020204020204" charset="-122"/>
                <a:sym typeface="Calibri" panose="020F0502020204030204"/>
              </a:rPr>
              <a:t>52</a:t>
            </a:r>
            <a:r>
              <a:rPr kumimoji="0" lang="zh-CN" altLang="en-US" b="0" i="0" u="none" strike="noStrike" cap="none" spc="0" normalizeH="0" baseline="0">
                <a:ln>
                  <a:noFill/>
                </a:ln>
                <a:solidFill>
                  <a:srgbClr val="000000"/>
                </a:solidFill>
                <a:effectLst/>
                <a:uFillTx/>
                <a:latin typeface="微软雅黑" panose="020B0503020204020204" charset="-122"/>
                <a:ea typeface="微软雅黑" panose="020B0503020204020204" charset="-122"/>
                <a:cs typeface="微软雅黑" panose="020B0503020204020204" charset="-122"/>
                <a:sym typeface="Calibri" panose="020F0502020204030204"/>
              </a:rPr>
              <a:t>个</a:t>
            </a:r>
            <a:endParaRPr kumimoji="0" lang="zh-CN" altLang="en-US" b="0" i="0" u="none" strike="noStrike" cap="none" spc="0" normalizeH="0" baseline="0">
              <a:ln>
                <a:noFill/>
              </a:ln>
              <a:solidFill>
                <a:srgbClr val="000000"/>
              </a:solidFill>
              <a:effectLst/>
              <a:uFillTx/>
              <a:latin typeface="微软雅黑" panose="020B0503020204020204" charset="-122"/>
              <a:ea typeface="微软雅黑" panose="020B0503020204020204" charset="-122"/>
              <a:cs typeface="微软雅黑" panose="020B0503020204020204" charset="-122"/>
              <a:sym typeface="Calibri" panose="020F0502020204030204"/>
            </a:endParaRPr>
          </a:p>
        </p:txBody>
      </p:sp>
      <p:sp>
        <p:nvSpPr>
          <p:cNvPr id="7" name="文本框 6"/>
          <p:cNvSpPr txBox="1"/>
          <p:nvPr/>
        </p:nvSpPr>
        <p:spPr>
          <a:xfrm>
            <a:off x="861695" y="1649730"/>
            <a:ext cx="2135505" cy="367030"/>
          </a:xfrm>
          <a:prstGeom prst="rect">
            <a:avLst/>
          </a:prstGeom>
          <a:noFill/>
          <a:ln w="12700" cap="flat">
            <a:noFill/>
            <a:miter lim="400000"/>
          </a:ln>
        </p:spPr>
        <p:style>
          <a:lnRef idx="0">
            <a:srgbClr val="FFFFFF"/>
          </a:lnRef>
          <a:fillRef idx="0">
            <a:srgbClr val="FFFFFF"/>
          </a:fillRef>
          <a:effectRef idx="0">
            <a:srgbClr val="FFFFFF"/>
          </a:effectRef>
          <a:fontRef idx="none"/>
        </p:style>
        <p:txBody>
          <a:bodyPr rot="0" vertOverflow="overflow" horzOverflow="overflow" vert="horz" wrap="square" lIns="45719" tIns="45719" rIns="45719" bIns="45719" numCol="1" spcCol="38100" rtlCol="0" anchor="t" forceAA="0" upright="0">
            <a:spAutoFit/>
          </a:bodyPr>
          <a:p>
            <a:pPr marR="0" algn="l" defTabSz="914400" rtl="0" fontAlgn="auto" latinLnBrk="0" hangingPunct="0">
              <a:lnSpc>
                <a:spcPct val="100000"/>
              </a:lnSpc>
              <a:spcBef>
                <a:spcPts val="0"/>
              </a:spcBef>
              <a:spcAft>
                <a:spcPts val="0"/>
              </a:spcAft>
              <a:buClrTx/>
              <a:buSzTx/>
              <a:buFont typeface="+mj-lt"/>
            </a:pPr>
            <a:r>
              <a:rPr kumimoji="0" lang="en-US" altLang="zh-CN" b="1" i="0" u="none" strike="noStrike" cap="none" spc="0" normalizeH="0" baseline="0">
                <a:ln>
                  <a:noFill/>
                </a:ln>
                <a:solidFill>
                  <a:srgbClr val="0564CD"/>
                </a:solidFill>
                <a:effectLst/>
                <a:uFillTx/>
                <a:latin typeface="微软雅黑" panose="020B0503020204020204" charset="-122"/>
                <a:ea typeface="微软雅黑" panose="020B0503020204020204" charset="-122"/>
                <a:cs typeface="微软雅黑" panose="020B0503020204020204" charset="-122"/>
                <a:sym typeface="Calibri" panose="020F0502020204030204"/>
              </a:rPr>
              <a:t>2.  </a:t>
            </a:r>
            <a:r>
              <a:rPr kumimoji="0" lang="zh-CN" altLang="en-US" b="1" i="0" u="none" strike="noStrike" cap="none" spc="0" normalizeH="0" baseline="0">
                <a:ln>
                  <a:noFill/>
                </a:ln>
                <a:solidFill>
                  <a:srgbClr val="0564CD"/>
                </a:solidFill>
                <a:effectLst/>
                <a:uFillTx/>
                <a:latin typeface="微软雅黑" panose="020B0503020204020204" charset="-122"/>
                <a:ea typeface="微软雅黑" panose="020B0503020204020204" charset="-122"/>
                <a:cs typeface="微软雅黑" panose="020B0503020204020204" charset="-122"/>
                <a:sym typeface="Calibri" panose="020F0502020204030204"/>
              </a:rPr>
              <a:t>数据处理</a:t>
            </a:r>
            <a:endParaRPr kumimoji="0" lang="zh-CN" altLang="en-US" b="1" i="0" u="none" strike="noStrike" cap="none" spc="0" normalizeH="0" baseline="0">
              <a:ln>
                <a:noFill/>
              </a:ln>
              <a:solidFill>
                <a:srgbClr val="0564CD"/>
              </a:solidFill>
              <a:effectLst/>
              <a:uFillTx/>
              <a:latin typeface="微软雅黑" panose="020B0503020204020204" charset="-122"/>
              <a:ea typeface="微软雅黑" panose="020B0503020204020204" charset="-122"/>
              <a:cs typeface="微软雅黑" panose="020B0503020204020204" charset="-122"/>
              <a:sym typeface="Calibri" panose="020F0502020204030204"/>
            </a:endParaRPr>
          </a:p>
        </p:txBody>
      </p:sp>
    </p:spTree>
  </p:cSld>
  <p:clrMapOvr>
    <a:masterClrMapping/>
  </p:clrMapOvr>
  <p:transition spd="med"/>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p:nvPr>
            <p:ph type="title"/>
          </p:nvPr>
        </p:nvSpPr>
        <p:spPr>
          <a:xfrm>
            <a:off x="335915" y="260985"/>
            <a:ext cx="10714355" cy="675005"/>
          </a:xfrm>
        </p:spPr>
        <p:txBody>
          <a:bodyPr>
            <a:normAutofit/>
          </a:bodyPr>
          <a:p>
            <a:r>
              <a:rPr lang="en-US" altLang="zh-CN" sz="3555"/>
              <a:t>3. </a:t>
            </a:r>
            <a:r>
              <a:rPr lang="zh-CN" altLang="en-US" sz="3555"/>
              <a:t>模型建立</a:t>
            </a:r>
            <a:r>
              <a:rPr lang="en-US" altLang="zh-CN" sz="3550">
                <a:sym typeface="+mn-ea"/>
              </a:rPr>
              <a:t>-</a:t>
            </a:r>
            <a:r>
              <a:rPr lang="zh-CN" altLang="en-US" sz="3550">
                <a:sym typeface="+mn-ea"/>
              </a:rPr>
              <a:t>模型对比</a:t>
            </a:r>
            <a:endParaRPr lang="zh-CN" altLang="en-US" sz="3550">
              <a:sym typeface="+mn-ea"/>
            </a:endParaRPr>
          </a:p>
        </p:txBody>
      </p:sp>
      <p:sp>
        <p:nvSpPr>
          <p:cNvPr id="25" name="文本框 24"/>
          <p:cNvSpPr txBox="1"/>
          <p:nvPr/>
        </p:nvSpPr>
        <p:spPr>
          <a:xfrm>
            <a:off x="695960" y="1125220"/>
            <a:ext cx="2288540" cy="459105"/>
          </a:xfrm>
          <a:prstGeom prst="rect">
            <a:avLst/>
          </a:prstGeom>
          <a:noFill/>
          <a:ln w="12700" cap="flat">
            <a:noFill/>
            <a:miter lim="400000"/>
          </a:ln>
        </p:spPr>
        <p:style>
          <a:lnRef idx="0">
            <a:srgbClr val="FFFFFF"/>
          </a:lnRef>
          <a:fillRef idx="0">
            <a:srgbClr val="FFFFFF"/>
          </a:fillRef>
          <a:effectRef idx="0">
            <a:srgbClr val="FFFFFF"/>
          </a:effectRef>
          <a:fontRef idx="none"/>
        </p:style>
        <p:txBody>
          <a:bodyPr rot="0" vertOverflow="overflow" horzOverflow="overflow" vert="horz" wrap="square" lIns="45719" tIns="45719" rIns="45719" bIns="45719" numCol="1" spcCol="38100" rtlCol="0" anchor="t" forceAA="0" upright="0">
            <a:spAutoFit/>
          </a:bodyPr>
          <a:p>
            <a:pPr marL="342900" marR="0" indent="-342900" algn="l" defTabSz="914400" rtl="0" fontAlgn="auto" latinLnBrk="0" hangingPunct="0">
              <a:lnSpc>
                <a:spcPct val="100000"/>
              </a:lnSpc>
              <a:spcBef>
                <a:spcPts val="0"/>
              </a:spcBef>
              <a:spcAft>
                <a:spcPts val="0"/>
              </a:spcAft>
              <a:buClrTx/>
              <a:buSzTx/>
              <a:buFont typeface="Wingdings" panose="05000000000000000000" charset="0"/>
              <a:buChar char="ü"/>
            </a:pPr>
            <a:r>
              <a:rPr kumimoji="0" lang="zh-CN" altLang="en-US" sz="2400" b="1" i="0" u="none" strike="noStrike" cap="none" spc="0" normalizeH="0" baseline="0">
                <a:ln>
                  <a:noFill/>
                </a:ln>
                <a:solidFill>
                  <a:srgbClr val="0564CD"/>
                </a:solidFill>
                <a:effectLst/>
                <a:uFillTx/>
                <a:latin typeface="微软雅黑" panose="020B0503020204020204" charset="-122"/>
                <a:ea typeface="微软雅黑" panose="020B0503020204020204" charset="-122"/>
                <a:cs typeface="微软雅黑" panose="020B0503020204020204" charset="-122"/>
                <a:sym typeface="Calibri" panose="020F0502020204030204"/>
              </a:rPr>
              <a:t>总体效果对比</a:t>
            </a:r>
            <a:endParaRPr kumimoji="0" lang="zh-CN" altLang="en-US" sz="2400" b="1" i="0" u="none" strike="noStrike" cap="none" spc="0" normalizeH="0" baseline="0">
              <a:ln>
                <a:noFill/>
              </a:ln>
              <a:solidFill>
                <a:srgbClr val="0564CD"/>
              </a:solidFill>
              <a:effectLst/>
              <a:uFillTx/>
              <a:latin typeface="微软雅黑" panose="020B0503020204020204" charset="-122"/>
              <a:ea typeface="微软雅黑" panose="020B0503020204020204" charset="-122"/>
              <a:cs typeface="微软雅黑" panose="020B0503020204020204" charset="-122"/>
              <a:sym typeface="Calibri" panose="020F0502020204030204"/>
            </a:endParaRPr>
          </a:p>
        </p:txBody>
      </p:sp>
      <p:sp>
        <p:nvSpPr>
          <p:cNvPr id="3" name="文本框 2"/>
          <p:cNvSpPr txBox="1"/>
          <p:nvPr/>
        </p:nvSpPr>
        <p:spPr>
          <a:xfrm>
            <a:off x="1271905" y="2277110"/>
            <a:ext cx="9916160" cy="1613535"/>
          </a:xfrm>
          <a:prstGeom prst="rect">
            <a:avLst/>
          </a:prstGeom>
          <a:noFill/>
          <a:ln w="12700" cap="flat">
            <a:noFill/>
            <a:miter lim="400000"/>
          </a:ln>
        </p:spPr>
        <p:style>
          <a:lnRef idx="0">
            <a:srgbClr val="FFFFFF"/>
          </a:lnRef>
          <a:fillRef idx="0">
            <a:srgbClr val="FFFFFF"/>
          </a:fillRef>
          <a:effectRef idx="0">
            <a:srgbClr val="FFFFFF"/>
          </a:effectRef>
          <a:fontRef idx="none"/>
        </p:style>
        <p:txBody>
          <a:bodyPr rot="0" vertOverflow="overflow" horzOverflow="overflow" vert="horz" wrap="square" lIns="45719" tIns="45719" rIns="45719" bIns="45719" numCol="1" spcCol="38100" rtlCol="0" anchor="t" forceAA="0" upright="0">
            <a:spAutoFit/>
          </a:bodyPr>
          <a:p>
            <a:pPr marL="0" marR="0" indent="0" algn="l" defTabSz="914400" rtl="0" fontAlgn="auto" latinLnBrk="0" hangingPunct="0">
              <a:lnSpc>
                <a:spcPct val="150000"/>
              </a:lnSpc>
              <a:spcBef>
                <a:spcPts val="0"/>
              </a:spcBef>
              <a:spcAft>
                <a:spcPts val="0"/>
              </a:spcAft>
              <a:buClrTx/>
              <a:buSzTx/>
              <a:buFontTx/>
              <a:buNone/>
            </a:pPr>
            <a:r>
              <a:rPr kumimoji="0" lang="en-US" altLang="zh-CN" sz="1800" b="0" i="0" u="none" strike="noStrike" cap="none" spc="0" normalizeH="0" baseline="0">
                <a:ln>
                  <a:noFill/>
                </a:ln>
                <a:solidFill>
                  <a:srgbClr val="000000"/>
                </a:solidFill>
                <a:effectLst/>
                <a:uFillTx/>
                <a:latin typeface="微软雅黑" panose="020B0503020204020204" charset="-122"/>
                <a:ea typeface="微软雅黑" panose="020B0503020204020204" charset="-122"/>
                <a:cs typeface="微软雅黑" panose="020B0503020204020204" charset="-122"/>
                <a:sym typeface="Calibri" panose="020F0502020204030204"/>
              </a:rPr>
              <a:t>1</a:t>
            </a:r>
            <a:r>
              <a:rPr kumimoji="0" lang="zh-CN" altLang="en-US" sz="1800" b="0" i="0" u="none" strike="noStrike" cap="none" spc="0" normalizeH="0" baseline="0">
                <a:ln>
                  <a:noFill/>
                </a:ln>
                <a:solidFill>
                  <a:srgbClr val="000000"/>
                </a:solidFill>
                <a:effectLst/>
                <a:uFillTx/>
                <a:latin typeface="微软雅黑" panose="020B0503020204020204" charset="-122"/>
                <a:ea typeface="微软雅黑" panose="020B0503020204020204" charset="-122"/>
                <a:cs typeface="微软雅黑" panose="020B0503020204020204" charset="-122"/>
                <a:sym typeface="Calibri" panose="020F0502020204030204"/>
              </a:rPr>
              <a:t>、从模型效果来看，</a:t>
            </a:r>
            <a:r>
              <a:rPr kumimoji="0" lang="en-US" altLang="zh-CN" sz="1800" b="0" i="0" u="none" strike="noStrike" cap="none" spc="0" normalizeH="0" baseline="0">
                <a:ln>
                  <a:noFill/>
                </a:ln>
                <a:solidFill>
                  <a:srgbClr val="000000"/>
                </a:solidFill>
                <a:effectLst/>
                <a:uFillTx/>
                <a:latin typeface="微软雅黑" panose="020B0503020204020204" charset="-122"/>
                <a:ea typeface="微软雅黑" panose="020B0503020204020204" charset="-122"/>
                <a:cs typeface="微软雅黑" panose="020B0503020204020204" charset="-122"/>
                <a:sym typeface="Calibri" panose="020F0502020204030204"/>
              </a:rPr>
              <a:t>XGBOOST</a:t>
            </a:r>
            <a:r>
              <a:rPr kumimoji="0" lang="zh-CN" altLang="en-US" sz="1800" b="0" i="0" u="none" strike="noStrike" cap="none" spc="0" normalizeH="0" baseline="0">
                <a:ln>
                  <a:noFill/>
                </a:ln>
                <a:solidFill>
                  <a:srgbClr val="000000"/>
                </a:solidFill>
                <a:effectLst/>
                <a:uFillTx/>
                <a:latin typeface="微软雅黑" panose="020B0503020204020204" charset="-122"/>
                <a:ea typeface="微软雅黑" panose="020B0503020204020204" charset="-122"/>
                <a:cs typeface="微软雅黑" panose="020B0503020204020204" charset="-122"/>
                <a:sym typeface="Calibri" panose="020F0502020204030204"/>
              </a:rPr>
              <a:t>模型</a:t>
            </a:r>
            <a:r>
              <a:rPr kumimoji="0" lang="en-US" altLang="zh-CN" sz="1800" b="0" i="0" u="none" strike="noStrike" cap="none" spc="0" normalizeH="0" baseline="0">
                <a:ln>
                  <a:noFill/>
                </a:ln>
                <a:solidFill>
                  <a:srgbClr val="000000"/>
                </a:solidFill>
                <a:effectLst/>
                <a:uFillTx/>
                <a:latin typeface="微软雅黑" panose="020B0503020204020204" charset="-122"/>
                <a:ea typeface="微软雅黑" panose="020B0503020204020204" charset="-122"/>
                <a:cs typeface="微软雅黑" panose="020B0503020204020204" charset="-122"/>
                <a:sym typeface="Calibri" panose="020F0502020204030204"/>
              </a:rPr>
              <a:t>AUC</a:t>
            </a:r>
            <a:r>
              <a:rPr kumimoji="0" lang="zh-CN" altLang="en-US" sz="1800" b="0" i="0" u="none" strike="noStrike" cap="none" spc="0" normalizeH="0" baseline="0">
                <a:ln>
                  <a:noFill/>
                </a:ln>
                <a:solidFill>
                  <a:srgbClr val="000000"/>
                </a:solidFill>
                <a:effectLst/>
                <a:uFillTx/>
                <a:latin typeface="微软雅黑" panose="020B0503020204020204" charset="-122"/>
                <a:ea typeface="微软雅黑" panose="020B0503020204020204" charset="-122"/>
                <a:cs typeface="微软雅黑" panose="020B0503020204020204" charset="-122"/>
                <a:sym typeface="Calibri" panose="020F0502020204030204"/>
              </a:rPr>
              <a:t>值与深度神经网络相近，但深度神经网络解释性较差，对公司硬件资源要求较高；</a:t>
            </a:r>
            <a:endParaRPr kumimoji="0" lang="zh-CN" altLang="en-US" sz="1800" b="0" i="0" u="none" strike="noStrike" cap="none" spc="0" normalizeH="0" baseline="0">
              <a:ln>
                <a:noFill/>
              </a:ln>
              <a:solidFill>
                <a:srgbClr val="000000"/>
              </a:solidFill>
              <a:effectLst/>
              <a:uFillTx/>
              <a:latin typeface="微软雅黑" panose="020B0503020204020204" charset="-122"/>
              <a:ea typeface="微软雅黑" panose="020B0503020204020204" charset="-122"/>
              <a:cs typeface="微软雅黑" panose="020B0503020204020204" charset="-122"/>
              <a:sym typeface="Calibri" panose="020F0502020204030204"/>
            </a:endParaRPr>
          </a:p>
          <a:p>
            <a:pPr marL="0" marR="0" indent="0" algn="l" defTabSz="914400" rtl="0" fontAlgn="auto" latinLnBrk="0" hangingPunct="0">
              <a:lnSpc>
                <a:spcPct val="150000"/>
              </a:lnSpc>
              <a:spcBef>
                <a:spcPts val="0"/>
              </a:spcBef>
              <a:spcAft>
                <a:spcPts val="0"/>
              </a:spcAft>
              <a:buClrTx/>
              <a:buSzTx/>
              <a:buFontTx/>
              <a:buNone/>
            </a:pPr>
            <a:r>
              <a:rPr lang="en-US" altLang="zh-CN">
                <a:latin typeface="微软雅黑" panose="020B0503020204020204" charset="-122"/>
                <a:ea typeface="微软雅黑" panose="020B0503020204020204" charset="-122"/>
                <a:cs typeface="微软雅黑" panose="020B0503020204020204" charset="-122"/>
                <a:sym typeface="Calibri" panose="020F0502020204030204"/>
              </a:rPr>
              <a:t>2</a:t>
            </a:r>
            <a:r>
              <a:rPr lang="zh-CN" altLang="en-US">
                <a:latin typeface="微软雅黑" panose="020B0503020204020204" charset="-122"/>
                <a:ea typeface="微软雅黑" panose="020B0503020204020204" charset="-122"/>
                <a:cs typeface="微软雅黑" panose="020B0503020204020204" charset="-122"/>
                <a:sym typeface="Calibri" panose="020F0502020204030204"/>
              </a:rPr>
              <a:t>、由于两个模型还是初版模型，需要再进行调参，才能达到可用的模型效果；</a:t>
            </a:r>
            <a:endParaRPr kumimoji="0" lang="zh-CN" altLang="en-US" sz="1800" b="0" i="0" u="none" strike="noStrike" cap="none" spc="0" normalizeH="0" baseline="0">
              <a:ln>
                <a:noFill/>
              </a:ln>
              <a:solidFill>
                <a:srgbClr val="000000"/>
              </a:solidFill>
              <a:effectLst/>
              <a:uFillTx/>
              <a:latin typeface="微软雅黑" panose="020B0503020204020204" charset="-122"/>
              <a:ea typeface="微软雅黑" panose="020B0503020204020204" charset="-122"/>
              <a:cs typeface="微软雅黑" panose="020B0503020204020204" charset="-122"/>
              <a:sym typeface="Calibri" panose="020F0502020204030204"/>
            </a:endParaRPr>
          </a:p>
          <a:p>
            <a:pPr marL="0" marR="0" indent="0" algn="l" defTabSz="914400" rtl="0" fontAlgn="auto" latinLnBrk="0" hangingPunct="0">
              <a:lnSpc>
                <a:spcPct val="100000"/>
              </a:lnSpc>
              <a:spcBef>
                <a:spcPts val="0"/>
              </a:spcBef>
              <a:spcAft>
                <a:spcPts val="0"/>
              </a:spcAft>
              <a:buClrTx/>
              <a:buSzTx/>
              <a:buFontTx/>
              <a:buNone/>
            </a:pPr>
            <a:r>
              <a:rPr kumimoji="0" lang="en-US" altLang="zh-CN" sz="1800" b="0" i="0" u="none" strike="noStrike" cap="none" spc="0" normalizeH="0" baseline="0">
                <a:ln>
                  <a:noFill/>
                </a:ln>
                <a:solidFill>
                  <a:srgbClr val="000000"/>
                </a:solidFill>
                <a:effectLst/>
                <a:uFillTx/>
                <a:latin typeface="微软雅黑" panose="020B0503020204020204" charset="-122"/>
                <a:ea typeface="微软雅黑" panose="020B0503020204020204" charset="-122"/>
                <a:cs typeface="微软雅黑" panose="020B0503020204020204" charset="-122"/>
                <a:sym typeface="Calibri" panose="020F0502020204030204"/>
              </a:rPr>
              <a:t>3</a:t>
            </a:r>
            <a:r>
              <a:rPr kumimoji="0" lang="zh-CN" altLang="en-US" sz="1800" b="0" i="0" u="none" strike="noStrike" cap="none" spc="0" normalizeH="0" baseline="0">
                <a:ln>
                  <a:noFill/>
                </a:ln>
                <a:solidFill>
                  <a:srgbClr val="000000"/>
                </a:solidFill>
                <a:effectLst/>
                <a:uFillTx/>
                <a:latin typeface="微软雅黑" panose="020B0503020204020204" charset="-122"/>
                <a:ea typeface="微软雅黑" panose="020B0503020204020204" charset="-122"/>
                <a:cs typeface="微软雅黑" panose="020B0503020204020204" charset="-122"/>
                <a:sym typeface="Calibri" panose="020F0502020204030204"/>
              </a:rPr>
              <a:t>、考虑到解释性及上线难度，建议后续上线</a:t>
            </a:r>
            <a:r>
              <a:rPr kumimoji="0" lang="en-US" altLang="zh-CN" sz="1800" b="0" i="0" u="none" strike="noStrike" cap="none" spc="0" normalizeH="0" baseline="0">
                <a:ln>
                  <a:noFill/>
                </a:ln>
                <a:solidFill>
                  <a:srgbClr val="000000"/>
                </a:solidFill>
                <a:effectLst/>
                <a:uFillTx/>
                <a:latin typeface="微软雅黑" panose="020B0503020204020204" charset="-122"/>
                <a:ea typeface="微软雅黑" panose="020B0503020204020204" charset="-122"/>
                <a:cs typeface="微软雅黑" panose="020B0503020204020204" charset="-122"/>
                <a:sym typeface="Calibri" panose="020F0502020204030204"/>
              </a:rPr>
              <a:t>XGBOOST</a:t>
            </a:r>
            <a:r>
              <a:rPr kumimoji="0" lang="zh-CN" altLang="en-US" sz="1800" b="0" i="0" u="none" strike="noStrike" cap="none" spc="0" normalizeH="0" baseline="0">
                <a:ln>
                  <a:noFill/>
                </a:ln>
                <a:solidFill>
                  <a:srgbClr val="000000"/>
                </a:solidFill>
                <a:effectLst/>
                <a:uFillTx/>
                <a:latin typeface="微软雅黑" panose="020B0503020204020204" charset="-122"/>
                <a:ea typeface="微软雅黑" panose="020B0503020204020204" charset="-122"/>
                <a:cs typeface="微软雅黑" panose="020B0503020204020204" charset="-122"/>
                <a:sym typeface="Calibri" panose="020F0502020204030204"/>
              </a:rPr>
              <a:t>模型进行应用；</a:t>
            </a:r>
            <a:endParaRPr kumimoji="0" lang="zh-CN" altLang="en-US" sz="1800" b="0" i="0" u="none" strike="noStrike" cap="none" spc="0" normalizeH="0" baseline="0">
              <a:ln>
                <a:noFill/>
              </a:ln>
              <a:solidFill>
                <a:srgbClr val="000000"/>
              </a:solidFill>
              <a:effectLst/>
              <a:uFillTx/>
              <a:latin typeface="微软雅黑" panose="020B0503020204020204" charset="-122"/>
              <a:ea typeface="微软雅黑" panose="020B0503020204020204" charset="-122"/>
              <a:cs typeface="微软雅黑" panose="020B0503020204020204" charset="-122"/>
              <a:sym typeface="Calibri" panose="020F0502020204030204"/>
            </a:endParaRPr>
          </a:p>
        </p:txBody>
      </p:sp>
      <p:pic>
        <p:nvPicPr>
          <p:cNvPr id="4" name="图片 3"/>
          <p:cNvPicPr>
            <a:picLocks noChangeAspect="1"/>
          </p:cNvPicPr>
          <p:nvPr/>
        </p:nvPicPr>
        <p:blipFill>
          <a:blip r:embed="rId1"/>
          <a:stretch>
            <a:fillRect/>
          </a:stretch>
        </p:blipFill>
        <p:spPr>
          <a:xfrm>
            <a:off x="7032625" y="4077335"/>
            <a:ext cx="4267835" cy="1711960"/>
          </a:xfrm>
          <a:prstGeom prst="rect">
            <a:avLst/>
          </a:prstGeom>
        </p:spPr>
      </p:pic>
    </p:spTree>
  </p:cSld>
  <p:clrMapOvr>
    <a:masterClrMapping/>
  </p:clrMapOvr>
  <p:transition spd="med"/>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p:nvPr>
            <p:ph type="title"/>
          </p:nvPr>
        </p:nvSpPr>
        <p:spPr>
          <a:xfrm>
            <a:off x="335915" y="260985"/>
            <a:ext cx="10714355" cy="675005"/>
          </a:xfrm>
        </p:spPr>
        <p:txBody>
          <a:bodyPr>
            <a:normAutofit/>
          </a:bodyPr>
          <a:p>
            <a:r>
              <a:rPr lang="en-US" altLang="zh-CN" sz="3555"/>
              <a:t>4. </a:t>
            </a:r>
            <a:r>
              <a:rPr lang="zh-CN" sz="3555"/>
              <a:t>测试方案</a:t>
            </a:r>
            <a:endParaRPr lang="zh-CN" sz="3550">
              <a:sym typeface="+mn-ea"/>
            </a:endParaRPr>
          </a:p>
        </p:txBody>
      </p:sp>
      <p:sp>
        <p:nvSpPr>
          <p:cNvPr id="25" name="文本框 24"/>
          <p:cNvSpPr txBox="1"/>
          <p:nvPr/>
        </p:nvSpPr>
        <p:spPr>
          <a:xfrm>
            <a:off x="695960" y="1268730"/>
            <a:ext cx="2288540" cy="459105"/>
          </a:xfrm>
          <a:prstGeom prst="rect">
            <a:avLst/>
          </a:prstGeom>
          <a:noFill/>
          <a:ln w="12700" cap="flat">
            <a:noFill/>
            <a:miter lim="400000"/>
          </a:ln>
        </p:spPr>
        <p:style>
          <a:lnRef idx="0">
            <a:srgbClr val="FFFFFF"/>
          </a:lnRef>
          <a:fillRef idx="0">
            <a:srgbClr val="FFFFFF"/>
          </a:fillRef>
          <a:effectRef idx="0">
            <a:srgbClr val="FFFFFF"/>
          </a:effectRef>
          <a:fontRef idx="none"/>
        </p:style>
        <p:txBody>
          <a:bodyPr rot="0" vertOverflow="overflow" horzOverflow="overflow" vert="horz" wrap="square" lIns="45719" tIns="45719" rIns="45719" bIns="45719" numCol="1" spcCol="38100" rtlCol="0" anchor="t" forceAA="0" upright="0">
            <a:spAutoFit/>
          </a:bodyPr>
          <a:p>
            <a:pPr marL="342900" marR="0" indent="-342900" algn="l" defTabSz="914400" rtl="0" fontAlgn="auto" latinLnBrk="0" hangingPunct="0">
              <a:lnSpc>
                <a:spcPct val="100000"/>
              </a:lnSpc>
              <a:spcBef>
                <a:spcPts val="0"/>
              </a:spcBef>
              <a:spcAft>
                <a:spcPts val="0"/>
              </a:spcAft>
              <a:buClrTx/>
              <a:buSzTx/>
              <a:buFont typeface="Wingdings" panose="05000000000000000000" charset="0"/>
              <a:buChar char="Ø"/>
            </a:pPr>
            <a:r>
              <a:rPr kumimoji="0" lang="zh-CN" altLang="en-US" sz="2400" b="1" i="0" u="none" strike="noStrike" cap="none" spc="0" normalizeH="0" baseline="0">
                <a:ln>
                  <a:noFill/>
                </a:ln>
                <a:solidFill>
                  <a:srgbClr val="0564CD"/>
                </a:solidFill>
                <a:effectLst/>
                <a:uFillTx/>
                <a:latin typeface="微软雅黑" panose="020B0503020204020204" charset="-122"/>
                <a:ea typeface="微软雅黑" panose="020B0503020204020204" charset="-122"/>
                <a:cs typeface="微软雅黑" panose="020B0503020204020204" charset="-122"/>
                <a:sym typeface="Calibri" panose="020F0502020204030204"/>
              </a:rPr>
              <a:t>测试背景</a:t>
            </a:r>
            <a:endParaRPr kumimoji="0" lang="zh-CN" altLang="en-US" sz="2400" b="1" i="0" u="none" strike="noStrike" cap="none" spc="0" normalizeH="0" baseline="0">
              <a:ln>
                <a:noFill/>
              </a:ln>
              <a:solidFill>
                <a:srgbClr val="0564CD"/>
              </a:solidFill>
              <a:effectLst/>
              <a:uFillTx/>
              <a:latin typeface="微软雅黑" panose="020B0503020204020204" charset="-122"/>
              <a:ea typeface="微软雅黑" panose="020B0503020204020204" charset="-122"/>
              <a:cs typeface="微软雅黑" panose="020B0503020204020204" charset="-122"/>
              <a:sym typeface="Calibri" panose="020F0502020204030204"/>
            </a:endParaRPr>
          </a:p>
        </p:txBody>
      </p:sp>
      <p:sp>
        <p:nvSpPr>
          <p:cNvPr id="3" name="文本框 2"/>
          <p:cNvSpPr txBox="1"/>
          <p:nvPr/>
        </p:nvSpPr>
        <p:spPr>
          <a:xfrm>
            <a:off x="695960" y="1988820"/>
            <a:ext cx="10909935" cy="1013460"/>
          </a:xfrm>
          <a:prstGeom prst="rect">
            <a:avLst/>
          </a:prstGeom>
          <a:noFill/>
          <a:ln w="12700" cap="flat">
            <a:noFill/>
            <a:miter lim="400000"/>
          </a:ln>
        </p:spPr>
        <p:style>
          <a:lnRef idx="0">
            <a:srgbClr val="FFFFFF"/>
          </a:lnRef>
          <a:fillRef idx="0">
            <a:srgbClr val="FFFFFF"/>
          </a:fillRef>
          <a:effectRef idx="0">
            <a:srgbClr val="FFFFFF"/>
          </a:effectRef>
          <a:fontRef idx="none"/>
        </p:style>
        <p:txBody>
          <a:bodyPr rot="0" vertOverflow="overflow" horzOverflow="overflow" vert="horz" wrap="square" lIns="45719" tIns="45719" rIns="45719" bIns="45719" numCol="1" spcCol="38100" rtlCol="0" anchor="t" forceAA="0" upright="0">
            <a:spAutoFit/>
          </a:bodyPr>
          <a:p>
            <a:pPr marL="0" marR="0" algn="l" defTabSz="914400" rtl="0" fontAlgn="auto" latinLnBrk="0" hangingPunct="0">
              <a:lnSpc>
                <a:spcPct val="100000"/>
              </a:lnSpc>
              <a:spcBef>
                <a:spcPts val="0"/>
              </a:spcBef>
              <a:spcAft>
                <a:spcPts val="0"/>
              </a:spcAft>
              <a:buClrTx/>
              <a:buSzTx/>
              <a:buFontTx/>
              <a:buNone/>
            </a:pPr>
            <a:r>
              <a:rPr kumimoji="0" lang="en-US" altLang="zh-CN" sz="2000" i="0" u="none" strike="noStrike" cap="none" spc="0" normalizeH="0" baseline="0">
                <a:ln>
                  <a:noFill/>
                </a:ln>
                <a:solidFill>
                  <a:srgbClr val="000000"/>
                </a:solidFill>
                <a:effectLst/>
                <a:uFillTx/>
                <a:latin typeface="+mj-lt"/>
                <a:ea typeface="+mj-ea"/>
                <a:cs typeface="+mj-cs"/>
                <a:sym typeface="Calibri" panose="020F0502020204030204"/>
              </a:rPr>
              <a:t>       </a:t>
            </a:r>
            <a:r>
              <a:rPr kumimoji="0" lang="zh-CN" altLang="en-US" sz="2000" i="0" u="none" strike="noStrike" cap="none" spc="0" normalizeH="0" baseline="0">
                <a:ln>
                  <a:noFill/>
                </a:ln>
                <a:solidFill>
                  <a:srgbClr val="000000"/>
                </a:solidFill>
                <a:effectLst/>
                <a:uFillTx/>
                <a:latin typeface="+mj-lt"/>
                <a:ea typeface="+mj-ea"/>
                <a:cs typeface="+mj-cs"/>
                <a:sym typeface="Calibri" panose="020F0502020204030204"/>
              </a:rPr>
              <a:t>由于在建立模型过程中已使用最新的样本进行测试，模型效果较好，泛化能力较强，但谨慎起见，进一步使用我司的AB测试</a:t>
            </a:r>
            <a:r>
              <a:rPr kumimoji="0" lang="zh-CN" altLang="en-US" sz="2000" i="0" u="none" strike="noStrike" cap="none" spc="0" normalizeH="0" baseline="0">
                <a:ln>
                  <a:noFill/>
                </a:ln>
                <a:solidFill>
                  <a:srgbClr val="000000"/>
                </a:solidFill>
                <a:effectLst/>
                <a:uFillTx/>
                <a:latin typeface="+mj-lt"/>
                <a:cs typeface="+mj-cs"/>
                <a:sym typeface="Calibri" panose="020F0502020204030204"/>
              </a:rPr>
              <a:t>实验（分流）进行模型效果测试，经过一段时间测试达到预期效果再评估是否应用更广的人群；</a:t>
            </a:r>
            <a:endParaRPr kumimoji="0" lang="zh-CN" altLang="en-US" sz="2000" b="0" i="0" u="none" strike="noStrike" cap="none" spc="0" normalizeH="0" baseline="0">
              <a:ln>
                <a:noFill/>
              </a:ln>
              <a:solidFill>
                <a:srgbClr val="000000"/>
              </a:solidFill>
              <a:effectLst/>
              <a:uFillTx/>
              <a:latin typeface="+mj-lt"/>
              <a:ea typeface="宋体" panose="02010600030101010101" pitchFamily="2" charset="-122"/>
              <a:cs typeface="+mj-cs"/>
              <a:sym typeface="Calibri" panose="020F0502020204030204"/>
            </a:endParaRPr>
          </a:p>
        </p:txBody>
      </p:sp>
      <p:sp>
        <p:nvSpPr>
          <p:cNvPr id="5" name="文本框 4"/>
          <p:cNvSpPr txBox="1"/>
          <p:nvPr/>
        </p:nvSpPr>
        <p:spPr>
          <a:xfrm>
            <a:off x="695960" y="3714750"/>
            <a:ext cx="2288540" cy="459105"/>
          </a:xfrm>
          <a:prstGeom prst="rect">
            <a:avLst/>
          </a:prstGeom>
          <a:noFill/>
          <a:ln w="12700" cap="flat">
            <a:noFill/>
            <a:miter lim="400000"/>
          </a:ln>
        </p:spPr>
        <p:style>
          <a:lnRef idx="0">
            <a:srgbClr val="FFFFFF"/>
          </a:lnRef>
          <a:fillRef idx="0">
            <a:srgbClr val="FFFFFF"/>
          </a:fillRef>
          <a:effectRef idx="0">
            <a:srgbClr val="FFFFFF"/>
          </a:effectRef>
          <a:fontRef idx="none"/>
        </p:style>
        <p:txBody>
          <a:bodyPr rot="0" vertOverflow="overflow" horzOverflow="overflow" vert="horz" wrap="square" lIns="45719" tIns="45719" rIns="45719" bIns="45719" numCol="1" spcCol="38100" rtlCol="0" anchor="t" forceAA="0" upright="0">
            <a:spAutoFit/>
          </a:bodyPr>
          <a:p>
            <a:pPr marL="342900" marR="0" indent="-342900" algn="l" defTabSz="914400" rtl="0" fontAlgn="auto" latinLnBrk="0" hangingPunct="0">
              <a:lnSpc>
                <a:spcPct val="100000"/>
              </a:lnSpc>
              <a:spcBef>
                <a:spcPts val="0"/>
              </a:spcBef>
              <a:spcAft>
                <a:spcPts val="0"/>
              </a:spcAft>
              <a:buClrTx/>
              <a:buSzTx/>
              <a:buFont typeface="Wingdings" panose="05000000000000000000" charset="0"/>
              <a:buChar char="Ø"/>
            </a:pPr>
            <a:r>
              <a:rPr kumimoji="0" lang="zh-CN" altLang="en-US" sz="2400" b="1" i="0" u="none" strike="noStrike" cap="none" spc="0" normalizeH="0" baseline="0">
                <a:ln>
                  <a:noFill/>
                </a:ln>
                <a:solidFill>
                  <a:srgbClr val="0564CD"/>
                </a:solidFill>
                <a:effectLst/>
                <a:uFillTx/>
                <a:latin typeface="微软雅黑" panose="020B0503020204020204" charset="-122"/>
                <a:ea typeface="微软雅黑" panose="020B0503020204020204" charset="-122"/>
                <a:cs typeface="微软雅黑" panose="020B0503020204020204" charset="-122"/>
                <a:sym typeface="Calibri" panose="020F0502020204030204"/>
              </a:rPr>
              <a:t>测试目标</a:t>
            </a:r>
            <a:endParaRPr kumimoji="0" lang="zh-CN" altLang="en-US" sz="2400" b="1" i="0" u="none" strike="noStrike" cap="none" spc="0" normalizeH="0" baseline="0">
              <a:ln>
                <a:noFill/>
              </a:ln>
              <a:solidFill>
                <a:srgbClr val="0564CD"/>
              </a:solidFill>
              <a:effectLst/>
              <a:uFillTx/>
              <a:latin typeface="微软雅黑" panose="020B0503020204020204" charset="-122"/>
              <a:ea typeface="微软雅黑" panose="020B0503020204020204" charset="-122"/>
              <a:cs typeface="微软雅黑" panose="020B0503020204020204" charset="-122"/>
              <a:sym typeface="Calibri" panose="020F0502020204030204"/>
            </a:endParaRPr>
          </a:p>
        </p:txBody>
      </p:sp>
      <p:sp>
        <p:nvSpPr>
          <p:cNvPr id="6" name="文本框 5"/>
          <p:cNvSpPr txBox="1"/>
          <p:nvPr/>
        </p:nvSpPr>
        <p:spPr>
          <a:xfrm>
            <a:off x="839470" y="4725035"/>
            <a:ext cx="10909935" cy="397510"/>
          </a:xfrm>
          <a:prstGeom prst="rect">
            <a:avLst/>
          </a:prstGeom>
          <a:noFill/>
          <a:ln w="12700" cap="flat">
            <a:noFill/>
            <a:miter lim="400000"/>
          </a:ln>
        </p:spPr>
        <p:style>
          <a:lnRef idx="0">
            <a:srgbClr val="FFFFFF"/>
          </a:lnRef>
          <a:fillRef idx="0">
            <a:srgbClr val="FFFFFF"/>
          </a:fillRef>
          <a:effectRef idx="0">
            <a:srgbClr val="FFFFFF"/>
          </a:effectRef>
          <a:fontRef idx="none"/>
        </p:style>
        <p:txBody>
          <a:bodyPr rot="0" vertOverflow="overflow" horzOverflow="overflow" vert="horz" wrap="square" lIns="45719" tIns="45719" rIns="45719" bIns="45719" numCol="1" spcCol="38100" rtlCol="0" anchor="t" forceAA="0" upright="0">
            <a:spAutoFit/>
          </a:bodyPr>
          <a:p>
            <a:pPr marL="0" marR="0" algn="l" defTabSz="914400" rtl="0" fontAlgn="auto" latinLnBrk="0" hangingPunct="0">
              <a:lnSpc>
                <a:spcPct val="100000"/>
              </a:lnSpc>
              <a:spcBef>
                <a:spcPts val="0"/>
              </a:spcBef>
              <a:spcAft>
                <a:spcPts val="0"/>
              </a:spcAft>
              <a:buClrTx/>
              <a:buSzTx/>
              <a:buFontTx/>
              <a:buNone/>
            </a:pPr>
            <a:r>
              <a:rPr kumimoji="0" lang="zh-CN" sz="2000" i="0" u="none" strike="noStrike" cap="none" spc="0" normalizeH="0" baseline="0">
                <a:ln>
                  <a:noFill/>
                </a:ln>
                <a:solidFill>
                  <a:srgbClr val="000000"/>
                </a:solidFill>
                <a:effectLst/>
                <a:uFillTx/>
                <a:latin typeface="+mj-lt"/>
                <a:ea typeface="宋体" panose="02010600030101010101" pitchFamily="2" charset="-122"/>
                <a:cs typeface="+mj-cs"/>
                <a:sym typeface="Calibri" panose="020F0502020204030204"/>
              </a:rPr>
              <a:t>本次测试的主要目标是</a:t>
            </a:r>
            <a:r>
              <a:rPr kumimoji="0" lang="zh-CN" altLang="en-US" sz="2000" i="0" u="none" strike="noStrike" cap="none" spc="0" normalizeH="0" baseline="0">
                <a:ln>
                  <a:noFill/>
                </a:ln>
                <a:solidFill>
                  <a:srgbClr val="000000"/>
                </a:solidFill>
                <a:effectLst/>
                <a:uFillTx/>
                <a:latin typeface="+mj-lt"/>
                <a:ea typeface="宋体" panose="02010600030101010101" pitchFamily="2" charset="-122"/>
                <a:cs typeface="+mj-cs"/>
                <a:sym typeface="Calibri" panose="020F0502020204030204"/>
              </a:rPr>
              <a:t>测试机器学习模型预测准确性、模型稳定性</a:t>
            </a:r>
            <a:endParaRPr kumimoji="0" lang="zh-CN" altLang="en-US" sz="2000" b="0" i="0" u="none" strike="noStrike" cap="none" spc="0" normalizeH="0" baseline="0">
              <a:ln>
                <a:noFill/>
              </a:ln>
              <a:solidFill>
                <a:srgbClr val="000000"/>
              </a:solidFill>
              <a:effectLst/>
              <a:uFillTx/>
              <a:latin typeface="+mj-lt"/>
              <a:ea typeface="宋体" panose="02010600030101010101" pitchFamily="2" charset="-122"/>
              <a:cs typeface="+mj-cs"/>
              <a:sym typeface="Calibri" panose="020F0502020204030204"/>
            </a:endParaRPr>
          </a:p>
        </p:txBody>
      </p:sp>
      <p:pic>
        <p:nvPicPr>
          <p:cNvPr id="10" name="图片 9" descr="kx_aucs"/>
          <p:cNvPicPr>
            <a:picLocks noChangeAspect="1"/>
          </p:cNvPicPr>
          <p:nvPr/>
        </p:nvPicPr>
        <p:blipFill>
          <a:blip r:embed="rId1"/>
          <a:stretch>
            <a:fillRect/>
          </a:stretch>
        </p:blipFill>
        <p:spPr>
          <a:xfrm>
            <a:off x="8544560" y="2853055"/>
            <a:ext cx="3100070" cy="2015490"/>
          </a:xfrm>
          <a:prstGeom prst="rect">
            <a:avLst/>
          </a:prstGeom>
        </p:spPr>
      </p:pic>
    </p:spTree>
  </p:cSld>
  <p:clrMapOvr>
    <a:masterClrMapping/>
  </p:clrMapOvr>
  <p:transition spd="med"/>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p:nvPr>
            <p:ph type="title"/>
          </p:nvPr>
        </p:nvSpPr>
        <p:spPr>
          <a:xfrm>
            <a:off x="335915" y="260985"/>
            <a:ext cx="10714355" cy="675005"/>
          </a:xfrm>
        </p:spPr>
        <p:txBody>
          <a:bodyPr>
            <a:normAutofit/>
          </a:bodyPr>
          <a:p>
            <a:r>
              <a:rPr lang="en-US" altLang="zh-CN" sz="3555"/>
              <a:t>4. </a:t>
            </a:r>
            <a:r>
              <a:rPr lang="zh-CN" sz="3555"/>
              <a:t>测试方案</a:t>
            </a:r>
            <a:endParaRPr lang="zh-CN" sz="3550">
              <a:sym typeface="+mn-ea"/>
            </a:endParaRPr>
          </a:p>
        </p:txBody>
      </p:sp>
      <p:pic>
        <p:nvPicPr>
          <p:cNvPr id="41" name="图片 40" descr="商机用户路径"/>
          <p:cNvPicPr>
            <a:picLocks noChangeAspect="1"/>
          </p:cNvPicPr>
          <p:nvPr/>
        </p:nvPicPr>
        <p:blipFill>
          <a:blip r:embed="rId1"/>
          <a:stretch>
            <a:fillRect/>
          </a:stretch>
        </p:blipFill>
        <p:spPr>
          <a:xfrm>
            <a:off x="1631950" y="2348865"/>
            <a:ext cx="8595360" cy="2741930"/>
          </a:xfrm>
          <a:prstGeom prst="rect">
            <a:avLst/>
          </a:prstGeom>
        </p:spPr>
      </p:pic>
      <p:sp>
        <p:nvSpPr>
          <p:cNvPr id="42" name="文本框 41"/>
          <p:cNvSpPr txBox="1"/>
          <p:nvPr/>
        </p:nvSpPr>
        <p:spPr>
          <a:xfrm>
            <a:off x="623570" y="1196975"/>
            <a:ext cx="2288540" cy="459105"/>
          </a:xfrm>
          <a:prstGeom prst="rect">
            <a:avLst/>
          </a:prstGeom>
          <a:noFill/>
          <a:ln w="12700" cap="flat">
            <a:noFill/>
            <a:miter lim="400000"/>
          </a:ln>
        </p:spPr>
        <p:style>
          <a:lnRef idx="0">
            <a:srgbClr val="FFFFFF"/>
          </a:lnRef>
          <a:fillRef idx="0">
            <a:srgbClr val="FFFFFF"/>
          </a:fillRef>
          <a:effectRef idx="0">
            <a:srgbClr val="FFFFFF"/>
          </a:effectRef>
          <a:fontRef idx="none"/>
        </p:style>
        <p:txBody>
          <a:bodyPr rot="0" vertOverflow="overflow" horzOverflow="overflow" vert="horz" wrap="square" lIns="45719" tIns="45719" rIns="45719" bIns="45719" numCol="1" spcCol="38100" rtlCol="0" anchor="t" forceAA="0" upright="0">
            <a:spAutoFit/>
          </a:bodyPr>
          <a:p>
            <a:pPr marL="342900" marR="0" indent="-342900" algn="l" defTabSz="914400" rtl="0" fontAlgn="auto" latinLnBrk="0" hangingPunct="0">
              <a:lnSpc>
                <a:spcPct val="100000"/>
              </a:lnSpc>
              <a:spcBef>
                <a:spcPts val="0"/>
              </a:spcBef>
              <a:spcAft>
                <a:spcPts val="0"/>
              </a:spcAft>
              <a:buClrTx/>
              <a:buSzTx/>
              <a:buFont typeface="Wingdings" panose="05000000000000000000" charset="0"/>
              <a:buChar char="Ø"/>
            </a:pPr>
            <a:r>
              <a:rPr kumimoji="0" lang="zh-CN" altLang="en-US" sz="2400" b="1" i="0" u="none" strike="noStrike" cap="none" spc="0" normalizeH="0" baseline="0">
                <a:ln>
                  <a:noFill/>
                </a:ln>
                <a:solidFill>
                  <a:srgbClr val="0564CD"/>
                </a:solidFill>
                <a:effectLst/>
                <a:uFillTx/>
                <a:latin typeface="微软雅黑" panose="020B0503020204020204" charset="-122"/>
                <a:ea typeface="微软雅黑" panose="020B0503020204020204" charset="-122"/>
                <a:cs typeface="微软雅黑" panose="020B0503020204020204" charset="-122"/>
                <a:sym typeface="Calibri" panose="020F0502020204030204"/>
              </a:rPr>
              <a:t>商机用户路径</a:t>
            </a:r>
            <a:endParaRPr kumimoji="0" lang="zh-CN" altLang="en-US" sz="2400" b="1" i="0" u="none" strike="noStrike" cap="none" spc="0" normalizeH="0" baseline="0">
              <a:ln>
                <a:noFill/>
              </a:ln>
              <a:solidFill>
                <a:srgbClr val="0564CD"/>
              </a:solidFill>
              <a:effectLst/>
              <a:uFillTx/>
              <a:latin typeface="微软雅黑" panose="020B0503020204020204" charset="-122"/>
              <a:ea typeface="微软雅黑" panose="020B0503020204020204" charset="-122"/>
              <a:cs typeface="微软雅黑" panose="020B0503020204020204" charset="-122"/>
              <a:sym typeface="Calibri" panose="020F0502020204030204"/>
            </a:endParaRPr>
          </a:p>
        </p:txBody>
      </p:sp>
    </p:spTree>
  </p:cSld>
  <p:clrMapOvr>
    <a:masterClrMapping/>
  </p:clrMapOvr>
  <p:transition spd="med"/>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圆角矩形 3"/>
          <p:cNvSpPr/>
          <p:nvPr/>
        </p:nvSpPr>
        <p:spPr>
          <a:xfrm>
            <a:off x="4799965" y="1601470"/>
            <a:ext cx="5400675" cy="1727835"/>
          </a:xfrm>
          <a:prstGeom prst="roundRect">
            <a:avLst/>
          </a:prstGeom>
          <a:solidFill>
            <a:srgbClr val="FFFFFF"/>
          </a:solidFill>
          <a:ln w="12700" cap="flat" cmpd="sng">
            <a:solidFill>
              <a:schemeClr val="accent2">
                <a:lumMod val="75000"/>
              </a:schemeClr>
            </a:solidFill>
            <a:prstDash val="dash"/>
            <a:miter lim="800000"/>
          </a:ln>
        </p:spPr>
        <p:style>
          <a:lnRef idx="0">
            <a:srgbClr val="FFFFFF"/>
          </a:lnRef>
          <a:fillRef idx="0">
            <a:srgbClr val="FFFFFF"/>
          </a:fillRef>
          <a:effectRef idx="0">
            <a:srgbClr val="FFFFFF"/>
          </a:effectRef>
          <a:fontRef idx="none"/>
        </p:style>
        <p:txBody>
          <a:bodyPr rot="0" vertOverflow="overflow" horzOverflow="overflow" vert="horz" wrap="square" lIns="45719" tIns="45719" rIns="45719" bIns="45719" numCol="1" spcCol="38100" rtlCol="0" anchor="ctr" forceAA="0" upright="0">
            <a:spAutoFit/>
          </a:bodyPr>
          <a:p>
            <a:pPr marL="0" marR="0" indent="0" algn="l" defTabSz="914400" rtl="0" fontAlgn="auto" latinLnBrk="0" hangingPunct="0">
              <a:lnSpc>
                <a:spcPct val="100000"/>
              </a:lnSpc>
              <a:spcBef>
                <a:spcPts val="0"/>
              </a:spcBef>
              <a:spcAft>
                <a:spcPts val="0"/>
              </a:spcAft>
              <a:buClrTx/>
              <a:buSzTx/>
              <a:buFontTx/>
              <a:buNone/>
            </a:pPr>
            <a:endParaRPr kumimoji="0" lang="zh-CN" altLang="en-US" sz="1800" b="0" i="0" u="none" strike="noStrike" cap="none" spc="0" normalizeH="0" baseline="0">
              <a:ln>
                <a:noFill/>
              </a:ln>
              <a:solidFill>
                <a:srgbClr val="000000"/>
              </a:solidFill>
              <a:effectLst/>
              <a:uFillTx/>
              <a:latin typeface="微软雅黑" panose="020B0503020204020204" charset="-122"/>
              <a:ea typeface="微软雅黑" panose="020B0503020204020204" charset="-122"/>
              <a:cs typeface="+mj-cs"/>
              <a:sym typeface="Calibri" panose="020F0502020204030204"/>
            </a:endParaRPr>
          </a:p>
        </p:txBody>
      </p:sp>
      <p:sp>
        <p:nvSpPr>
          <p:cNvPr id="2" name="标题 1"/>
          <p:cNvSpPr/>
          <p:nvPr>
            <p:ph type="title"/>
          </p:nvPr>
        </p:nvSpPr>
        <p:spPr>
          <a:xfrm>
            <a:off x="335915" y="260985"/>
            <a:ext cx="10714355" cy="675005"/>
          </a:xfrm>
        </p:spPr>
        <p:txBody>
          <a:bodyPr>
            <a:normAutofit/>
          </a:bodyPr>
          <a:p>
            <a:r>
              <a:rPr lang="en-US" altLang="zh-CN" sz="3555"/>
              <a:t>4. </a:t>
            </a:r>
            <a:r>
              <a:rPr lang="zh-CN" sz="3555"/>
              <a:t>测试方案</a:t>
            </a:r>
            <a:endParaRPr lang="zh-CN" sz="3550">
              <a:sym typeface="+mn-ea"/>
            </a:endParaRPr>
          </a:p>
        </p:txBody>
      </p:sp>
      <p:sp>
        <p:nvSpPr>
          <p:cNvPr id="23" name="圆角矩形 22"/>
          <p:cNvSpPr/>
          <p:nvPr/>
        </p:nvSpPr>
        <p:spPr>
          <a:xfrm>
            <a:off x="407035" y="2210999"/>
            <a:ext cx="1731645" cy="508777"/>
          </a:xfrm>
          <a:prstGeom prst="roundRect">
            <a:avLst/>
          </a:prstGeom>
          <a:solidFill>
            <a:srgbClr val="FFFFFF"/>
          </a:solidFill>
          <a:ln w="12700" cap="flat">
            <a:solidFill>
              <a:schemeClr val="accent1"/>
            </a:solidFill>
            <a:prstDash val="solid"/>
            <a:miter lim="800000"/>
          </a:ln>
        </p:spPr>
        <p:style>
          <a:lnRef idx="0">
            <a:srgbClr val="FFFFFF"/>
          </a:lnRef>
          <a:fillRef idx="0">
            <a:srgbClr val="FFFFFF"/>
          </a:fillRef>
          <a:effectRef idx="0">
            <a:srgbClr val="FFFFFF"/>
          </a:effectRef>
          <a:fontRef idx="none"/>
        </p:style>
        <p:txBody>
          <a:bodyPr rot="0" vertOverflow="overflow" horzOverflow="overflow" vert="horz" wrap="square" lIns="45719" tIns="45719" rIns="45719" bIns="45719" numCol="1" spcCol="38100" rtlCol="0" anchor="ctr" forceAA="0" upright="0">
            <a:spAutoFit/>
          </a:bodyPr>
          <a:p>
            <a:pPr marL="0" marR="0" indent="0" algn="l" defTabSz="914400" rtl="0" fontAlgn="auto" latinLnBrk="0" hangingPunct="0">
              <a:lnSpc>
                <a:spcPct val="100000"/>
              </a:lnSpc>
              <a:spcBef>
                <a:spcPts val="0"/>
              </a:spcBef>
              <a:spcAft>
                <a:spcPts val="0"/>
              </a:spcAft>
              <a:buClrTx/>
              <a:buSzTx/>
              <a:buFontTx/>
              <a:buNone/>
            </a:pPr>
            <a:r>
              <a:rPr kumimoji="0" lang="zh-CN" altLang="en-US" sz="2400" b="0" i="0" u="none" strike="noStrike" cap="none" spc="0" normalizeH="0" baseline="0">
                <a:ln>
                  <a:noFill/>
                </a:ln>
                <a:solidFill>
                  <a:srgbClr val="000000"/>
                </a:solidFill>
                <a:effectLst/>
                <a:uFillTx/>
                <a:latin typeface="微软雅黑" panose="020B0503020204020204" charset="-122"/>
                <a:ea typeface="微软雅黑" panose="020B0503020204020204" charset="-122"/>
                <a:cs typeface="+mj-cs"/>
                <a:sym typeface="Calibri" panose="020F0502020204030204"/>
              </a:rPr>
              <a:t>新商机用户</a:t>
            </a:r>
            <a:endParaRPr kumimoji="0" lang="zh-CN" altLang="en-US" sz="2400" b="0" i="0" u="none" strike="noStrike" cap="none" spc="0" normalizeH="0" baseline="0">
              <a:ln>
                <a:noFill/>
              </a:ln>
              <a:solidFill>
                <a:srgbClr val="000000"/>
              </a:solidFill>
              <a:effectLst/>
              <a:uFillTx/>
              <a:latin typeface="微软雅黑" panose="020B0503020204020204" charset="-122"/>
              <a:ea typeface="微软雅黑" panose="020B0503020204020204" charset="-122"/>
              <a:cs typeface="+mj-cs"/>
              <a:sym typeface="Calibri" panose="020F0502020204030204"/>
            </a:endParaRPr>
          </a:p>
        </p:txBody>
      </p:sp>
      <p:sp>
        <p:nvSpPr>
          <p:cNvPr id="24" name="圆角矩形 23"/>
          <p:cNvSpPr/>
          <p:nvPr/>
        </p:nvSpPr>
        <p:spPr>
          <a:xfrm>
            <a:off x="2639060" y="2022414"/>
            <a:ext cx="1872615" cy="918333"/>
          </a:xfrm>
          <a:prstGeom prst="roundRect">
            <a:avLst/>
          </a:prstGeom>
          <a:solidFill>
            <a:srgbClr val="FFFFFF"/>
          </a:solidFill>
          <a:ln w="12700" cap="flat">
            <a:solidFill>
              <a:schemeClr val="accent1"/>
            </a:solidFill>
            <a:prstDash val="solid"/>
            <a:miter lim="800000"/>
          </a:ln>
        </p:spPr>
        <p:style>
          <a:lnRef idx="0">
            <a:srgbClr val="FFFFFF"/>
          </a:lnRef>
          <a:fillRef idx="0">
            <a:srgbClr val="FFFFFF"/>
          </a:fillRef>
          <a:effectRef idx="0">
            <a:srgbClr val="FFFFFF"/>
          </a:effectRef>
          <a:fontRef idx="none"/>
        </p:style>
        <p:txBody>
          <a:bodyPr rot="0" vertOverflow="overflow" horzOverflow="overflow" vert="horz" wrap="square" lIns="45719" tIns="45719" rIns="45719" bIns="45719" numCol="1" spcCol="38100" rtlCol="0" anchor="ctr" forceAA="0" upright="0">
            <a:spAutoFit/>
          </a:bodyPr>
          <a:p>
            <a:pPr marL="0" marR="0" indent="0" algn="l" defTabSz="914400" rtl="0" fontAlgn="auto" latinLnBrk="0" hangingPunct="0">
              <a:lnSpc>
                <a:spcPct val="100000"/>
              </a:lnSpc>
              <a:spcBef>
                <a:spcPts val="0"/>
              </a:spcBef>
              <a:spcAft>
                <a:spcPts val="0"/>
              </a:spcAft>
              <a:buClrTx/>
              <a:buSzTx/>
              <a:buFontTx/>
              <a:buNone/>
            </a:pPr>
            <a:r>
              <a:rPr kumimoji="0" lang="zh-CN" altLang="en-US" sz="1600" b="0" i="0" u="none" strike="noStrike" cap="none" spc="0" normalizeH="0" baseline="0">
                <a:ln>
                  <a:noFill/>
                </a:ln>
                <a:solidFill>
                  <a:srgbClr val="000000"/>
                </a:solidFill>
                <a:effectLst/>
                <a:uFillTx/>
                <a:latin typeface="微软雅黑" panose="020B0503020204020204" charset="-122"/>
                <a:ea typeface="微软雅黑" panose="020B0503020204020204" charset="-122"/>
                <a:cs typeface="微软雅黑" panose="020B0503020204020204" charset="-122"/>
                <a:sym typeface="Calibri" panose="020F0502020204030204"/>
              </a:rPr>
              <a:t>筛选测试渠道</a:t>
            </a:r>
            <a:endParaRPr kumimoji="0" lang="zh-CN" altLang="en-US" sz="1600" b="0" i="0" u="none" strike="noStrike" cap="none" spc="0" normalizeH="0" baseline="0">
              <a:ln>
                <a:noFill/>
              </a:ln>
              <a:solidFill>
                <a:srgbClr val="000000"/>
              </a:solidFill>
              <a:effectLst/>
              <a:uFillTx/>
              <a:latin typeface="微软雅黑" panose="020B0503020204020204" charset="-122"/>
              <a:ea typeface="微软雅黑" panose="020B0503020204020204" charset="-122"/>
              <a:cs typeface="微软雅黑" panose="020B0503020204020204" charset="-122"/>
              <a:sym typeface="Calibri" panose="020F0502020204030204"/>
            </a:endParaRPr>
          </a:p>
          <a:p>
            <a:pPr marL="0" marR="0" indent="0" algn="l" defTabSz="914400" rtl="0" fontAlgn="auto" latinLnBrk="0" hangingPunct="0">
              <a:lnSpc>
                <a:spcPct val="100000"/>
              </a:lnSpc>
              <a:spcBef>
                <a:spcPts val="0"/>
              </a:spcBef>
              <a:spcAft>
                <a:spcPts val="0"/>
              </a:spcAft>
              <a:buClrTx/>
              <a:buSzTx/>
              <a:buFontTx/>
              <a:buNone/>
            </a:pPr>
            <a:r>
              <a:rPr kumimoji="0" lang="zh-CN" altLang="en-US" sz="1600" b="0" i="0" u="none" strike="noStrike" cap="none" spc="0" normalizeH="0" baseline="0">
                <a:ln>
                  <a:noFill/>
                </a:ln>
                <a:solidFill>
                  <a:srgbClr val="000000"/>
                </a:solidFill>
                <a:effectLst/>
                <a:uFillTx/>
                <a:latin typeface="微软雅黑" panose="020B0503020204020204" charset="-122"/>
                <a:ea typeface="微软雅黑" panose="020B0503020204020204" charset="-122"/>
                <a:cs typeface="微软雅黑" panose="020B0503020204020204" charset="-122"/>
                <a:sym typeface="Calibri" panose="020F0502020204030204"/>
              </a:rPr>
              <a:t>（比如</a:t>
            </a:r>
            <a:r>
              <a:rPr kumimoji="0" lang="en-US" altLang="zh-CN" sz="1600" b="0" i="0" u="none" strike="noStrike" cap="none" spc="0" normalizeH="0" baseline="0">
                <a:ln>
                  <a:noFill/>
                </a:ln>
                <a:solidFill>
                  <a:srgbClr val="000000"/>
                </a:solidFill>
                <a:effectLst/>
                <a:uFillTx/>
                <a:latin typeface="微软雅黑" panose="020B0503020204020204" charset="-122"/>
                <a:ea typeface="微软雅黑" panose="020B0503020204020204" charset="-122"/>
                <a:cs typeface="微软雅黑" panose="020B0503020204020204" charset="-122"/>
                <a:sym typeface="Calibri" panose="020F0502020204030204"/>
              </a:rPr>
              <a:t>PPC</a:t>
            </a:r>
            <a:r>
              <a:rPr kumimoji="0" lang="zh-CN" altLang="en-US" sz="1600" b="0" i="0" u="none" strike="noStrike" cap="none" spc="0" normalizeH="0" baseline="0">
                <a:ln>
                  <a:noFill/>
                </a:ln>
                <a:solidFill>
                  <a:srgbClr val="000000"/>
                </a:solidFill>
                <a:effectLst/>
                <a:uFillTx/>
                <a:latin typeface="微软雅黑" panose="020B0503020204020204" charset="-122"/>
                <a:ea typeface="微软雅黑" panose="020B0503020204020204" charset="-122"/>
                <a:cs typeface="微软雅黑" panose="020B0503020204020204" charset="-122"/>
                <a:sym typeface="Calibri" panose="020F0502020204030204"/>
              </a:rPr>
              <a:t>渠道</a:t>
            </a:r>
            <a:r>
              <a:rPr kumimoji="0" lang="en-US" altLang="zh-CN" sz="1600" b="0" i="0" u="none" strike="noStrike" cap="none" spc="0" normalizeH="0" baseline="0">
                <a:ln>
                  <a:noFill/>
                </a:ln>
                <a:solidFill>
                  <a:srgbClr val="000000"/>
                </a:solidFill>
                <a:effectLst/>
                <a:uFillTx/>
                <a:latin typeface="微软雅黑" panose="020B0503020204020204" charset="-122"/>
                <a:ea typeface="微软雅黑" panose="020B0503020204020204" charset="-122"/>
                <a:cs typeface="微软雅黑" panose="020B0503020204020204" charset="-122"/>
                <a:sym typeface="Calibri" panose="020F0502020204030204"/>
              </a:rPr>
              <a:t>500</a:t>
            </a:r>
            <a:r>
              <a:rPr kumimoji="0" lang="zh-CN" altLang="en-US" sz="1600" b="0" i="0" u="none" strike="noStrike" cap="none" spc="0" normalizeH="0" baseline="0">
                <a:ln>
                  <a:noFill/>
                </a:ln>
                <a:solidFill>
                  <a:srgbClr val="000000"/>
                </a:solidFill>
                <a:effectLst/>
                <a:uFillTx/>
                <a:latin typeface="微软雅黑" panose="020B0503020204020204" charset="-122"/>
                <a:ea typeface="微软雅黑" panose="020B0503020204020204" charset="-122"/>
                <a:cs typeface="微软雅黑" panose="020B0503020204020204" charset="-122"/>
                <a:sym typeface="Calibri" panose="020F0502020204030204"/>
              </a:rPr>
              <a:t>个商机用户</a:t>
            </a:r>
            <a:r>
              <a:rPr kumimoji="0" lang="zh-CN" altLang="en-US" sz="1600" b="0" i="0" u="none" strike="noStrike" cap="none" spc="0" normalizeH="0" baseline="0">
                <a:ln>
                  <a:noFill/>
                </a:ln>
                <a:solidFill>
                  <a:srgbClr val="000000"/>
                </a:solidFill>
                <a:effectLst/>
                <a:uFillTx/>
                <a:latin typeface="微软雅黑" panose="020B0503020204020204" charset="-122"/>
                <a:ea typeface="微软雅黑" panose="020B0503020204020204" charset="-122"/>
                <a:cs typeface="微软雅黑" panose="020B0503020204020204" charset="-122"/>
                <a:sym typeface="Calibri" panose="020F0502020204030204"/>
              </a:rPr>
              <a:t>）</a:t>
            </a:r>
            <a:endParaRPr kumimoji="0" lang="zh-CN" altLang="en-US" sz="1600" b="0" i="0" u="none" strike="noStrike" cap="none" spc="0" normalizeH="0" baseline="0">
              <a:ln>
                <a:noFill/>
              </a:ln>
              <a:solidFill>
                <a:srgbClr val="000000"/>
              </a:solidFill>
              <a:effectLst/>
              <a:uFillTx/>
              <a:latin typeface="微软雅黑" panose="020B0503020204020204" charset="-122"/>
              <a:ea typeface="微软雅黑" panose="020B0503020204020204" charset="-122"/>
              <a:cs typeface="微软雅黑" panose="020B0503020204020204" charset="-122"/>
              <a:sym typeface="Calibri" panose="020F0502020204030204"/>
            </a:endParaRPr>
          </a:p>
        </p:txBody>
      </p:sp>
      <p:sp>
        <p:nvSpPr>
          <p:cNvPr id="26" name="圆角矩形 25"/>
          <p:cNvSpPr/>
          <p:nvPr/>
        </p:nvSpPr>
        <p:spPr>
          <a:xfrm>
            <a:off x="4947920" y="2068287"/>
            <a:ext cx="1028065" cy="713556"/>
          </a:xfrm>
          <a:prstGeom prst="roundRect">
            <a:avLst/>
          </a:prstGeom>
          <a:solidFill>
            <a:srgbClr val="FFFFFF"/>
          </a:solidFill>
          <a:ln w="12700" cap="flat">
            <a:solidFill>
              <a:schemeClr val="accent1"/>
            </a:solidFill>
            <a:prstDash val="solid"/>
            <a:miter lim="800000"/>
          </a:ln>
        </p:spPr>
        <p:style>
          <a:lnRef idx="0">
            <a:srgbClr val="FFFFFF"/>
          </a:lnRef>
          <a:fillRef idx="0">
            <a:srgbClr val="FFFFFF"/>
          </a:fillRef>
          <a:effectRef idx="0">
            <a:srgbClr val="FFFFFF"/>
          </a:effectRef>
          <a:fontRef idx="none"/>
        </p:style>
        <p:txBody>
          <a:bodyPr rot="0" vertOverflow="overflow" horzOverflow="overflow" vert="horz" wrap="square" lIns="45719" tIns="45719" rIns="45719" bIns="45719" numCol="1" spcCol="38100" rtlCol="0" anchor="ctr" forceAA="0" upright="0">
            <a:spAutoFit/>
          </a:bodyPr>
          <a:p>
            <a:pPr marL="0" marR="0" indent="0" algn="l" defTabSz="914400" rtl="0" fontAlgn="auto" latinLnBrk="0" hangingPunct="0">
              <a:lnSpc>
                <a:spcPct val="100000"/>
              </a:lnSpc>
              <a:spcBef>
                <a:spcPts val="0"/>
              </a:spcBef>
              <a:spcAft>
                <a:spcPts val="0"/>
              </a:spcAft>
              <a:buClrTx/>
              <a:buSzTx/>
              <a:buFontTx/>
              <a:buNone/>
            </a:pPr>
            <a:r>
              <a:rPr kumimoji="0" lang="en-US" altLang="zh-CN" sz="1800" b="0" i="0" u="none" strike="noStrike" cap="none" spc="0" normalizeH="0" baseline="0">
                <a:ln>
                  <a:noFill/>
                </a:ln>
                <a:solidFill>
                  <a:srgbClr val="000000"/>
                </a:solidFill>
                <a:effectLst/>
                <a:uFillTx/>
                <a:latin typeface="微软雅黑" panose="020B0503020204020204" charset="-122"/>
                <a:ea typeface="微软雅黑" panose="020B0503020204020204" charset="-122"/>
                <a:cs typeface="微软雅黑" panose="020B0503020204020204" charset="-122"/>
                <a:sym typeface="Calibri" panose="020F0502020204030204"/>
              </a:rPr>
              <a:t>AB</a:t>
            </a:r>
            <a:r>
              <a:rPr kumimoji="0" lang="zh-CN" altLang="en-US" sz="1800" b="0" i="0" u="none" strike="noStrike" cap="none" spc="0" normalizeH="0" baseline="0">
                <a:ln>
                  <a:noFill/>
                </a:ln>
                <a:solidFill>
                  <a:srgbClr val="000000"/>
                </a:solidFill>
                <a:effectLst/>
                <a:uFillTx/>
                <a:latin typeface="微软雅黑" panose="020B0503020204020204" charset="-122"/>
                <a:ea typeface="微软雅黑" panose="020B0503020204020204" charset="-122"/>
                <a:cs typeface="微软雅黑" panose="020B0503020204020204" charset="-122"/>
                <a:sym typeface="Calibri" panose="020F0502020204030204"/>
              </a:rPr>
              <a:t>测试实验</a:t>
            </a:r>
            <a:endParaRPr kumimoji="0" lang="zh-CN" altLang="en-US" sz="1800" b="0" i="0" u="none" strike="noStrike" cap="none" spc="0" normalizeH="0" baseline="0">
              <a:ln>
                <a:noFill/>
              </a:ln>
              <a:solidFill>
                <a:srgbClr val="000000"/>
              </a:solidFill>
              <a:effectLst/>
              <a:uFillTx/>
              <a:latin typeface="微软雅黑" panose="020B0503020204020204" charset="-122"/>
              <a:ea typeface="微软雅黑" panose="020B0503020204020204" charset="-122"/>
              <a:cs typeface="微软雅黑" panose="020B0503020204020204" charset="-122"/>
              <a:sym typeface="Calibri" panose="020F0502020204030204"/>
            </a:endParaRPr>
          </a:p>
        </p:txBody>
      </p:sp>
      <p:sp>
        <p:nvSpPr>
          <p:cNvPr id="27" name="矩形 26"/>
          <p:cNvSpPr/>
          <p:nvPr/>
        </p:nvSpPr>
        <p:spPr>
          <a:xfrm>
            <a:off x="6604635" y="1846580"/>
            <a:ext cx="3018155" cy="582295"/>
          </a:xfrm>
          <a:prstGeom prst="rect">
            <a:avLst/>
          </a:prstGeom>
          <a:solidFill>
            <a:srgbClr val="FFFFFF"/>
          </a:solidFill>
          <a:ln w="12700" cap="flat">
            <a:solidFill>
              <a:schemeClr val="accent1"/>
            </a:solidFill>
            <a:prstDash val="solid"/>
            <a:miter lim="800000"/>
          </a:ln>
        </p:spPr>
        <p:style>
          <a:lnRef idx="0">
            <a:srgbClr val="FFFFFF"/>
          </a:lnRef>
          <a:fillRef idx="0">
            <a:srgbClr val="FFFFFF"/>
          </a:fillRef>
          <a:effectRef idx="0">
            <a:srgbClr val="FFFFFF"/>
          </a:effectRef>
          <a:fontRef idx="none"/>
        </p:style>
        <p:txBody>
          <a:bodyPr rot="0" vertOverflow="overflow" horzOverflow="overflow" vert="horz" wrap="square" lIns="45719" tIns="45719" rIns="45719" bIns="45719" numCol="1" spcCol="38100" rtlCol="0" anchor="ctr" forceAA="0" upright="0">
            <a:spAutoFit/>
          </a:bodyPr>
          <a:p>
            <a:pPr marL="0" marR="0" indent="0" algn="l" defTabSz="914400" rtl="0" fontAlgn="auto" latinLnBrk="0" hangingPunct="0">
              <a:lnSpc>
                <a:spcPct val="100000"/>
              </a:lnSpc>
              <a:spcBef>
                <a:spcPts val="0"/>
              </a:spcBef>
              <a:spcAft>
                <a:spcPts val="0"/>
              </a:spcAft>
              <a:buClrTx/>
              <a:buSzTx/>
              <a:buFontTx/>
              <a:buNone/>
            </a:pPr>
            <a:r>
              <a:rPr kumimoji="0" lang="en-US" altLang="zh-CN" sz="1600" b="0" i="0" u="none" strike="noStrike" cap="none" spc="0" normalizeH="0" baseline="0">
                <a:ln>
                  <a:noFill/>
                </a:ln>
                <a:solidFill>
                  <a:srgbClr val="000000"/>
                </a:solidFill>
                <a:effectLst/>
                <a:uFillTx/>
                <a:latin typeface="微软雅黑" panose="020B0503020204020204" charset="-122"/>
                <a:ea typeface="微软雅黑" panose="020B0503020204020204" charset="-122"/>
                <a:cs typeface="微软雅黑" panose="020B0503020204020204" charset="-122"/>
                <a:sym typeface="Calibri" panose="020F0502020204030204"/>
              </a:rPr>
              <a:t>A</a:t>
            </a:r>
            <a:r>
              <a:rPr kumimoji="0" lang="zh-CN" altLang="en-US" sz="1600" b="0" i="0" u="none" strike="noStrike" cap="none" spc="0" normalizeH="0" baseline="0">
                <a:ln>
                  <a:noFill/>
                </a:ln>
                <a:solidFill>
                  <a:srgbClr val="000000"/>
                </a:solidFill>
                <a:effectLst/>
                <a:uFillTx/>
                <a:latin typeface="微软雅黑" panose="020B0503020204020204" charset="-122"/>
                <a:ea typeface="微软雅黑" panose="020B0503020204020204" charset="-122"/>
                <a:cs typeface="微软雅黑" panose="020B0503020204020204" charset="-122"/>
                <a:sym typeface="Calibri" panose="020F0502020204030204"/>
              </a:rPr>
              <a:t>类用户正常进入商机分配系统（</a:t>
            </a:r>
            <a:r>
              <a:rPr kumimoji="0" lang="en-US" altLang="zh-CN" sz="1600" b="0" i="0" u="none" strike="noStrike" cap="none" spc="0" normalizeH="0" baseline="0">
                <a:ln>
                  <a:noFill/>
                </a:ln>
                <a:solidFill>
                  <a:srgbClr val="000000"/>
                </a:solidFill>
                <a:effectLst/>
                <a:uFillTx/>
                <a:latin typeface="微软雅黑" panose="020B0503020204020204" charset="-122"/>
                <a:ea typeface="微软雅黑" panose="020B0503020204020204" charset="-122"/>
                <a:cs typeface="微软雅黑" panose="020B0503020204020204" charset="-122"/>
                <a:sym typeface="Calibri" panose="020F0502020204030204"/>
              </a:rPr>
              <a:t>250</a:t>
            </a:r>
            <a:r>
              <a:rPr kumimoji="0" lang="zh-CN" altLang="en-US" sz="1600" b="0" i="0" u="none" strike="noStrike" cap="none" spc="0" normalizeH="0" baseline="0">
                <a:ln>
                  <a:noFill/>
                </a:ln>
                <a:solidFill>
                  <a:srgbClr val="000000"/>
                </a:solidFill>
                <a:effectLst/>
                <a:uFillTx/>
                <a:latin typeface="微软雅黑" panose="020B0503020204020204" charset="-122"/>
                <a:ea typeface="微软雅黑" panose="020B0503020204020204" charset="-122"/>
                <a:cs typeface="微软雅黑" panose="020B0503020204020204" charset="-122"/>
                <a:sym typeface="Calibri" panose="020F0502020204030204"/>
              </a:rPr>
              <a:t>个</a:t>
            </a:r>
            <a:r>
              <a:rPr kumimoji="0" lang="zh-CN" altLang="en-US" sz="1600" b="0" i="0" u="none" strike="noStrike" cap="none" spc="0" normalizeH="0" baseline="0">
                <a:ln>
                  <a:noFill/>
                </a:ln>
                <a:solidFill>
                  <a:srgbClr val="000000"/>
                </a:solidFill>
                <a:effectLst/>
                <a:uFillTx/>
                <a:latin typeface="微软雅黑" panose="020B0503020204020204" charset="-122"/>
                <a:ea typeface="微软雅黑" panose="020B0503020204020204" charset="-122"/>
                <a:cs typeface="微软雅黑" panose="020B0503020204020204" charset="-122"/>
                <a:sym typeface="Calibri" panose="020F0502020204030204"/>
              </a:rPr>
              <a:t>）</a:t>
            </a:r>
            <a:endParaRPr kumimoji="0" lang="zh-CN" altLang="en-US" sz="1600" b="0" i="0" u="none" strike="noStrike" cap="none" spc="0" normalizeH="0" baseline="0">
              <a:ln>
                <a:noFill/>
              </a:ln>
              <a:solidFill>
                <a:srgbClr val="000000"/>
              </a:solidFill>
              <a:effectLst/>
              <a:uFillTx/>
              <a:latin typeface="微软雅黑" panose="020B0503020204020204" charset="-122"/>
              <a:ea typeface="微软雅黑" panose="020B0503020204020204" charset="-122"/>
              <a:cs typeface="微软雅黑" panose="020B0503020204020204" charset="-122"/>
              <a:sym typeface="Calibri" panose="020F0502020204030204"/>
            </a:endParaRPr>
          </a:p>
        </p:txBody>
      </p:sp>
      <p:sp>
        <p:nvSpPr>
          <p:cNvPr id="28" name="矩形 27"/>
          <p:cNvSpPr/>
          <p:nvPr/>
        </p:nvSpPr>
        <p:spPr>
          <a:xfrm>
            <a:off x="6604635" y="2553335"/>
            <a:ext cx="3018155" cy="582295"/>
          </a:xfrm>
          <a:prstGeom prst="rect">
            <a:avLst/>
          </a:prstGeom>
          <a:solidFill>
            <a:srgbClr val="FFFFFF"/>
          </a:solidFill>
          <a:ln w="12700" cap="flat">
            <a:solidFill>
              <a:schemeClr val="accent1"/>
            </a:solidFill>
            <a:prstDash val="solid"/>
            <a:miter lim="800000"/>
          </a:ln>
        </p:spPr>
        <p:style>
          <a:lnRef idx="0">
            <a:srgbClr val="FFFFFF"/>
          </a:lnRef>
          <a:fillRef idx="0">
            <a:srgbClr val="FFFFFF"/>
          </a:fillRef>
          <a:effectRef idx="0">
            <a:srgbClr val="FFFFFF"/>
          </a:effectRef>
          <a:fontRef idx="none"/>
        </p:style>
        <p:txBody>
          <a:bodyPr rot="0" vertOverflow="overflow" horzOverflow="overflow" vert="horz" wrap="square" lIns="45719" tIns="45719" rIns="45719" bIns="45719" numCol="1" spcCol="38100" rtlCol="0" anchor="ctr" forceAA="0" upright="0">
            <a:spAutoFit/>
          </a:bodyPr>
          <a:p>
            <a:pPr marL="0" marR="0" indent="0" algn="l" defTabSz="914400" rtl="0" fontAlgn="auto" latinLnBrk="0" hangingPunct="0">
              <a:lnSpc>
                <a:spcPct val="100000"/>
              </a:lnSpc>
              <a:spcBef>
                <a:spcPts val="0"/>
              </a:spcBef>
              <a:spcAft>
                <a:spcPts val="0"/>
              </a:spcAft>
              <a:buClrTx/>
              <a:buSzTx/>
              <a:buFontTx/>
              <a:buNone/>
            </a:pPr>
            <a:r>
              <a:rPr kumimoji="0" lang="en-US" altLang="zh-CN" sz="1600" b="0" i="0" u="none" strike="noStrike" cap="none" spc="0" normalizeH="0" baseline="0">
                <a:ln>
                  <a:noFill/>
                </a:ln>
                <a:solidFill>
                  <a:srgbClr val="000000"/>
                </a:solidFill>
                <a:effectLst/>
                <a:uFillTx/>
                <a:latin typeface="微软雅黑" panose="020B0503020204020204" charset="-122"/>
                <a:ea typeface="微软雅黑" panose="020B0503020204020204" charset="-122"/>
                <a:cs typeface="微软雅黑" panose="020B0503020204020204" charset="-122"/>
                <a:sym typeface="Calibri" panose="020F0502020204030204"/>
              </a:rPr>
              <a:t>B</a:t>
            </a:r>
            <a:r>
              <a:rPr kumimoji="0" lang="zh-CN" altLang="en-US" sz="1600" b="0" i="0" u="none" strike="noStrike" cap="none" spc="0" normalizeH="0" baseline="0">
                <a:ln>
                  <a:noFill/>
                </a:ln>
                <a:solidFill>
                  <a:srgbClr val="000000"/>
                </a:solidFill>
                <a:effectLst/>
                <a:uFillTx/>
                <a:latin typeface="微软雅黑" panose="020B0503020204020204" charset="-122"/>
                <a:ea typeface="微软雅黑" panose="020B0503020204020204" charset="-122"/>
                <a:cs typeface="微软雅黑" panose="020B0503020204020204" charset="-122"/>
                <a:sym typeface="Calibri" panose="020F0502020204030204"/>
              </a:rPr>
              <a:t>类用户先进行模型等级划分（</a:t>
            </a:r>
            <a:r>
              <a:rPr kumimoji="0" lang="en-US" altLang="zh-CN" sz="1600" b="0" i="0" u="none" strike="noStrike" cap="none" spc="0" normalizeH="0" baseline="0">
                <a:ln>
                  <a:noFill/>
                </a:ln>
                <a:solidFill>
                  <a:srgbClr val="000000"/>
                </a:solidFill>
                <a:effectLst/>
                <a:uFillTx/>
                <a:latin typeface="微软雅黑" panose="020B0503020204020204" charset="-122"/>
                <a:ea typeface="微软雅黑" panose="020B0503020204020204" charset="-122"/>
                <a:cs typeface="微软雅黑" panose="020B0503020204020204" charset="-122"/>
                <a:sym typeface="Calibri" panose="020F0502020204030204"/>
              </a:rPr>
              <a:t>250</a:t>
            </a:r>
            <a:r>
              <a:rPr kumimoji="0" lang="zh-CN" altLang="en-US" sz="1600" b="0" i="0" u="none" strike="noStrike" cap="none" spc="0" normalizeH="0" baseline="0">
                <a:ln>
                  <a:noFill/>
                </a:ln>
                <a:solidFill>
                  <a:srgbClr val="000000"/>
                </a:solidFill>
                <a:effectLst/>
                <a:uFillTx/>
                <a:latin typeface="微软雅黑" panose="020B0503020204020204" charset="-122"/>
                <a:ea typeface="微软雅黑" panose="020B0503020204020204" charset="-122"/>
                <a:cs typeface="微软雅黑" panose="020B0503020204020204" charset="-122"/>
                <a:sym typeface="Calibri" panose="020F0502020204030204"/>
              </a:rPr>
              <a:t>个）</a:t>
            </a:r>
            <a:endParaRPr kumimoji="0" lang="zh-CN" altLang="en-US" sz="1600" b="0" i="0" u="none" strike="noStrike" cap="none" spc="0" normalizeH="0" baseline="0">
              <a:ln>
                <a:noFill/>
              </a:ln>
              <a:solidFill>
                <a:srgbClr val="000000"/>
              </a:solidFill>
              <a:effectLst/>
              <a:uFillTx/>
              <a:latin typeface="微软雅黑" panose="020B0503020204020204" charset="-122"/>
              <a:ea typeface="微软雅黑" panose="020B0503020204020204" charset="-122"/>
              <a:cs typeface="微软雅黑" panose="020B0503020204020204" charset="-122"/>
              <a:sym typeface="Calibri" panose="020F0502020204030204"/>
            </a:endParaRPr>
          </a:p>
        </p:txBody>
      </p:sp>
      <p:sp>
        <p:nvSpPr>
          <p:cNvPr id="29" name="圆角矩形 28"/>
          <p:cNvSpPr/>
          <p:nvPr/>
        </p:nvSpPr>
        <p:spPr>
          <a:xfrm>
            <a:off x="7201535" y="3501483"/>
            <a:ext cx="1824990" cy="713554"/>
          </a:xfrm>
          <a:prstGeom prst="roundRect">
            <a:avLst/>
          </a:prstGeom>
          <a:solidFill>
            <a:srgbClr val="FFFFFF"/>
          </a:solidFill>
          <a:ln w="12700" cap="flat">
            <a:solidFill>
              <a:schemeClr val="accent1"/>
            </a:solidFill>
            <a:prstDash val="solid"/>
            <a:miter lim="800000"/>
          </a:ln>
        </p:spPr>
        <p:style>
          <a:lnRef idx="0">
            <a:srgbClr val="FFFFFF"/>
          </a:lnRef>
          <a:fillRef idx="0">
            <a:srgbClr val="FFFFFF"/>
          </a:fillRef>
          <a:effectRef idx="0">
            <a:srgbClr val="FFFFFF"/>
          </a:effectRef>
          <a:fontRef idx="none"/>
        </p:style>
        <p:txBody>
          <a:bodyPr rot="0" vertOverflow="overflow" horzOverflow="overflow" vert="horz" wrap="square" lIns="45719" tIns="45719" rIns="45719" bIns="45719" numCol="1" spcCol="38100" rtlCol="0" anchor="ctr" forceAA="0" upright="0">
            <a:spAutoFit/>
          </a:bodyPr>
          <a:p>
            <a:pPr marL="0" marR="0" indent="0" algn="l" defTabSz="914400" rtl="0" fontAlgn="auto" latinLnBrk="0" hangingPunct="0">
              <a:lnSpc>
                <a:spcPct val="100000"/>
              </a:lnSpc>
              <a:spcBef>
                <a:spcPts val="0"/>
              </a:spcBef>
              <a:spcAft>
                <a:spcPts val="0"/>
              </a:spcAft>
              <a:buClrTx/>
              <a:buSzTx/>
              <a:buFontTx/>
              <a:buNone/>
            </a:pPr>
            <a:r>
              <a:rPr kumimoji="0" lang="en-US" altLang="zh-CN" sz="1800" b="0" i="0" u="none" strike="noStrike" cap="none" spc="0" normalizeH="0" baseline="0">
                <a:ln>
                  <a:noFill/>
                </a:ln>
                <a:solidFill>
                  <a:srgbClr val="000000"/>
                </a:solidFill>
                <a:effectLst/>
                <a:uFillTx/>
                <a:latin typeface="微软雅黑" panose="020B0503020204020204" charset="-122"/>
                <a:ea typeface="微软雅黑" panose="020B0503020204020204" charset="-122"/>
                <a:cs typeface="微软雅黑" panose="020B0503020204020204" charset="-122"/>
                <a:sym typeface="Calibri" panose="020F0502020204030204"/>
              </a:rPr>
              <a:t>CICD</a:t>
            </a:r>
            <a:r>
              <a:rPr kumimoji="0" lang="zh-CN" altLang="en-US" sz="1800" b="0" i="0" u="none" strike="noStrike" cap="none" spc="0" normalizeH="0" baseline="0">
                <a:ln>
                  <a:noFill/>
                </a:ln>
                <a:solidFill>
                  <a:srgbClr val="000000"/>
                </a:solidFill>
                <a:effectLst/>
                <a:uFillTx/>
                <a:latin typeface="微软雅黑" panose="020B0503020204020204" charset="-122"/>
                <a:ea typeface="微软雅黑" panose="020B0503020204020204" charset="-122"/>
                <a:cs typeface="微软雅黑" panose="020B0503020204020204" charset="-122"/>
                <a:sym typeface="Calibri" panose="020F0502020204030204"/>
              </a:rPr>
              <a:t>系统</a:t>
            </a:r>
            <a:r>
              <a:rPr kumimoji="0" lang="zh-CN" altLang="en-US" sz="1800" b="0" i="0" u="none" strike="noStrike" cap="none" spc="0" normalizeH="0" baseline="0">
                <a:ln>
                  <a:noFill/>
                </a:ln>
                <a:solidFill>
                  <a:srgbClr val="000000"/>
                </a:solidFill>
                <a:effectLst/>
                <a:uFillTx/>
                <a:latin typeface="微软雅黑" panose="020B0503020204020204" charset="-122"/>
                <a:ea typeface="微软雅黑" panose="020B0503020204020204" charset="-122"/>
                <a:cs typeface="微软雅黑" panose="020B0503020204020204" charset="-122"/>
                <a:sym typeface="Calibri" panose="020F0502020204030204"/>
              </a:rPr>
              <a:t>模型预测（实时）</a:t>
            </a:r>
            <a:endParaRPr kumimoji="0" lang="zh-CN" altLang="en-US" sz="1800" b="0" i="0" u="none" strike="noStrike" cap="none" spc="0" normalizeH="0" baseline="0">
              <a:ln>
                <a:noFill/>
              </a:ln>
              <a:solidFill>
                <a:srgbClr val="000000"/>
              </a:solidFill>
              <a:effectLst/>
              <a:uFillTx/>
              <a:latin typeface="微软雅黑" panose="020B0503020204020204" charset="-122"/>
              <a:ea typeface="微软雅黑" panose="020B0503020204020204" charset="-122"/>
              <a:cs typeface="微软雅黑" panose="020B0503020204020204" charset="-122"/>
              <a:sym typeface="Calibri" panose="020F0502020204030204"/>
            </a:endParaRPr>
          </a:p>
        </p:txBody>
      </p:sp>
      <p:cxnSp>
        <p:nvCxnSpPr>
          <p:cNvPr id="30" name="直接箭头连接符 29"/>
          <p:cNvCxnSpPr>
            <a:stCxn id="26" idx="3"/>
            <a:endCxn id="27" idx="1"/>
          </p:cNvCxnSpPr>
          <p:nvPr/>
        </p:nvCxnSpPr>
        <p:spPr>
          <a:xfrm flipV="1">
            <a:off x="5975985" y="2138045"/>
            <a:ext cx="628650" cy="287020"/>
          </a:xfrm>
          <a:prstGeom prst="straightConnector1">
            <a:avLst/>
          </a:prstGeom>
          <a:noFill/>
          <a:ln w="12700" cap="flat">
            <a:solidFill>
              <a:schemeClr val="accent1"/>
            </a:solidFill>
            <a:prstDash val="solid"/>
            <a:miter lim="800000"/>
            <a:tailEnd type="arrow"/>
          </a:ln>
        </p:spPr>
        <p:style>
          <a:lnRef idx="0">
            <a:srgbClr val="FFFFFF"/>
          </a:lnRef>
          <a:fillRef idx="0">
            <a:srgbClr val="FFFFFF"/>
          </a:fillRef>
          <a:effectRef idx="0">
            <a:srgbClr val="FFFFFF"/>
          </a:effectRef>
          <a:fontRef idx="none"/>
        </p:style>
      </p:cxnSp>
      <p:cxnSp>
        <p:nvCxnSpPr>
          <p:cNvPr id="31" name="直接箭头连接符 30"/>
          <p:cNvCxnSpPr>
            <a:stCxn id="26" idx="3"/>
            <a:endCxn id="28" idx="1"/>
          </p:cNvCxnSpPr>
          <p:nvPr/>
        </p:nvCxnSpPr>
        <p:spPr>
          <a:xfrm>
            <a:off x="5975985" y="2425065"/>
            <a:ext cx="628650" cy="419735"/>
          </a:xfrm>
          <a:prstGeom prst="straightConnector1">
            <a:avLst/>
          </a:prstGeom>
          <a:noFill/>
          <a:ln w="12700" cap="flat">
            <a:solidFill>
              <a:schemeClr val="accent1"/>
            </a:solidFill>
            <a:prstDash val="solid"/>
            <a:miter lim="800000"/>
            <a:tailEnd type="arrow"/>
          </a:ln>
        </p:spPr>
        <p:style>
          <a:lnRef idx="0">
            <a:srgbClr val="FFFFFF"/>
          </a:lnRef>
          <a:fillRef idx="0">
            <a:srgbClr val="FFFFFF"/>
          </a:fillRef>
          <a:effectRef idx="0">
            <a:srgbClr val="FFFFFF"/>
          </a:effectRef>
          <a:fontRef idx="none"/>
        </p:style>
      </p:cxnSp>
      <p:sp>
        <p:nvSpPr>
          <p:cNvPr id="32" name="文本框 31"/>
          <p:cNvSpPr txBox="1"/>
          <p:nvPr/>
        </p:nvSpPr>
        <p:spPr>
          <a:xfrm>
            <a:off x="6099810" y="1997710"/>
            <a:ext cx="436880" cy="367030"/>
          </a:xfrm>
          <a:prstGeom prst="rect">
            <a:avLst/>
          </a:prstGeom>
          <a:noFill/>
          <a:ln w="12700" cap="flat">
            <a:noFill/>
            <a:miter lim="400000"/>
          </a:ln>
        </p:spPr>
        <p:style>
          <a:lnRef idx="0">
            <a:srgbClr val="FFFFFF"/>
          </a:lnRef>
          <a:fillRef idx="0">
            <a:srgbClr val="FFFFFF"/>
          </a:fillRef>
          <a:effectRef idx="0">
            <a:srgbClr val="FFFFFF"/>
          </a:effectRef>
          <a:fontRef idx="none"/>
        </p:style>
        <p:txBody>
          <a:bodyPr rot="0" vertOverflow="overflow" horzOverflow="overflow" vert="horz" wrap="square" lIns="45719" tIns="45719" rIns="45719" bIns="45719" numCol="1" spcCol="38100" rtlCol="0" anchor="t" forceAA="0" upright="0">
            <a:spAutoFit/>
          </a:bodyPr>
          <a:p>
            <a:pPr marL="0" marR="0" indent="0" algn="l" defTabSz="914400" rtl="0" fontAlgn="auto" latinLnBrk="0" hangingPunct="0">
              <a:lnSpc>
                <a:spcPct val="100000"/>
              </a:lnSpc>
              <a:spcBef>
                <a:spcPts val="0"/>
              </a:spcBef>
              <a:spcAft>
                <a:spcPts val="0"/>
              </a:spcAft>
              <a:buClrTx/>
              <a:buSzTx/>
              <a:buFontTx/>
              <a:buNone/>
            </a:pPr>
            <a:r>
              <a:rPr kumimoji="0" lang="en-US" altLang="zh-CN" sz="1800" b="0" i="0" u="none" strike="noStrike" cap="none" spc="0" normalizeH="0" baseline="0">
                <a:ln>
                  <a:noFill/>
                </a:ln>
                <a:solidFill>
                  <a:srgbClr val="000000"/>
                </a:solidFill>
                <a:effectLst/>
                <a:uFillTx/>
                <a:latin typeface="微软雅黑" panose="020B0503020204020204" charset="-122"/>
                <a:ea typeface="微软雅黑" panose="020B0503020204020204" charset="-122"/>
                <a:cs typeface="+mj-cs"/>
                <a:sym typeface="Calibri" panose="020F0502020204030204"/>
              </a:rPr>
              <a:t>0.5</a:t>
            </a:r>
            <a:endParaRPr kumimoji="0" lang="en-US" altLang="zh-CN" sz="1800" b="0" i="0" u="none" strike="noStrike" cap="none" spc="0" normalizeH="0" baseline="0">
              <a:ln>
                <a:noFill/>
              </a:ln>
              <a:solidFill>
                <a:srgbClr val="000000"/>
              </a:solidFill>
              <a:effectLst/>
              <a:uFillTx/>
              <a:latin typeface="微软雅黑" panose="020B0503020204020204" charset="-122"/>
              <a:ea typeface="微软雅黑" panose="020B0503020204020204" charset="-122"/>
              <a:cs typeface="+mj-cs"/>
              <a:sym typeface="Calibri" panose="020F0502020204030204"/>
            </a:endParaRPr>
          </a:p>
        </p:txBody>
      </p:sp>
      <p:sp>
        <p:nvSpPr>
          <p:cNvPr id="33" name="文本框 32"/>
          <p:cNvSpPr txBox="1"/>
          <p:nvPr/>
        </p:nvSpPr>
        <p:spPr>
          <a:xfrm>
            <a:off x="6099810" y="2477770"/>
            <a:ext cx="436880" cy="367030"/>
          </a:xfrm>
          <a:prstGeom prst="rect">
            <a:avLst/>
          </a:prstGeom>
          <a:noFill/>
          <a:ln w="12700" cap="flat">
            <a:noFill/>
            <a:miter lim="400000"/>
          </a:ln>
        </p:spPr>
        <p:style>
          <a:lnRef idx="0">
            <a:srgbClr val="FFFFFF"/>
          </a:lnRef>
          <a:fillRef idx="0">
            <a:srgbClr val="FFFFFF"/>
          </a:fillRef>
          <a:effectRef idx="0">
            <a:srgbClr val="FFFFFF"/>
          </a:effectRef>
          <a:fontRef idx="none"/>
        </p:style>
        <p:txBody>
          <a:bodyPr rot="0" vertOverflow="overflow" horzOverflow="overflow" vert="horz" wrap="square" lIns="45719" tIns="45719" rIns="45719" bIns="45719" numCol="1" spcCol="38100" rtlCol="0" anchor="t" forceAA="0" upright="0">
            <a:spAutoFit/>
          </a:bodyPr>
          <a:p>
            <a:pPr marL="0" marR="0" indent="0" algn="l" defTabSz="914400" rtl="0" fontAlgn="auto" latinLnBrk="0" hangingPunct="0">
              <a:lnSpc>
                <a:spcPct val="100000"/>
              </a:lnSpc>
              <a:spcBef>
                <a:spcPts val="0"/>
              </a:spcBef>
              <a:spcAft>
                <a:spcPts val="0"/>
              </a:spcAft>
              <a:buClrTx/>
              <a:buSzTx/>
              <a:buFontTx/>
              <a:buNone/>
            </a:pPr>
            <a:r>
              <a:rPr kumimoji="0" lang="en-US" altLang="zh-CN" sz="1800" b="0" i="0" u="none" strike="noStrike" cap="none" spc="0" normalizeH="0" baseline="0">
                <a:ln>
                  <a:noFill/>
                </a:ln>
                <a:solidFill>
                  <a:srgbClr val="000000"/>
                </a:solidFill>
                <a:effectLst/>
                <a:uFillTx/>
                <a:latin typeface="微软雅黑" panose="020B0503020204020204" charset="-122"/>
                <a:ea typeface="微软雅黑" panose="020B0503020204020204" charset="-122"/>
                <a:cs typeface="+mj-cs"/>
                <a:sym typeface="Calibri" panose="020F0502020204030204"/>
              </a:rPr>
              <a:t>0.5</a:t>
            </a:r>
            <a:endParaRPr kumimoji="0" lang="en-US" altLang="zh-CN" sz="1800" b="0" i="0" u="none" strike="noStrike" cap="none" spc="0" normalizeH="0" baseline="0">
              <a:ln>
                <a:noFill/>
              </a:ln>
              <a:solidFill>
                <a:srgbClr val="000000"/>
              </a:solidFill>
              <a:effectLst/>
              <a:uFillTx/>
              <a:latin typeface="微软雅黑" panose="020B0503020204020204" charset="-122"/>
              <a:ea typeface="微软雅黑" panose="020B0503020204020204" charset="-122"/>
              <a:cs typeface="+mj-cs"/>
              <a:sym typeface="Calibri" panose="020F0502020204030204"/>
            </a:endParaRPr>
          </a:p>
        </p:txBody>
      </p:sp>
      <p:cxnSp>
        <p:nvCxnSpPr>
          <p:cNvPr id="34" name="直接箭头连接符 33"/>
          <p:cNvCxnSpPr/>
          <p:nvPr/>
        </p:nvCxnSpPr>
        <p:spPr>
          <a:xfrm>
            <a:off x="2138680" y="2479675"/>
            <a:ext cx="500380" cy="2540"/>
          </a:xfrm>
          <a:prstGeom prst="straightConnector1">
            <a:avLst/>
          </a:prstGeom>
          <a:noFill/>
          <a:ln w="12700" cap="flat">
            <a:solidFill>
              <a:schemeClr val="accent1"/>
            </a:solidFill>
            <a:prstDash val="solid"/>
            <a:miter lim="800000"/>
            <a:tailEnd type="arrow"/>
          </a:ln>
        </p:spPr>
        <p:style>
          <a:lnRef idx="0">
            <a:srgbClr val="FFFFFF"/>
          </a:lnRef>
          <a:fillRef idx="0">
            <a:srgbClr val="FFFFFF"/>
          </a:fillRef>
          <a:effectRef idx="0">
            <a:srgbClr val="FFFFFF"/>
          </a:effectRef>
          <a:fontRef idx="none"/>
        </p:style>
      </p:cxnSp>
      <p:cxnSp>
        <p:nvCxnSpPr>
          <p:cNvPr id="35" name="直接箭头连接符 34"/>
          <p:cNvCxnSpPr/>
          <p:nvPr/>
        </p:nvCxnSpPr>
        <p:spPr>
          <a:xfrm>
            <a:off x="4512310" y="2493010"/>
            <a:ext cx="359410" cy="5080"/>
          </a:xfrm>
          <a:prstGeom prst="straightConnector1">
            <a:avLst/>
          </a:prstGeom>
          <a:noFill/>
          <a:ln w="12700" cap="flat">
            <a:solidFill>
              <a:schemeClr val="accent1"/>
            </a:solidFill>
            <a:prstDash val="solid"/>
            <a:miter lim="800000"/>
            <a:tailEnd type="arrow"/>
          </a:ln>
        </p:spPr>
        <p:style>
          <a:lnRef idx="0">
            <a:srgbClr val="FFFFFF"/>
          </a:lnRef>
          <a:fillRef idx="0">
            <a:srgbClr val="FFFFFF"/>
          </a:fillRef>
          <a:effectRef idx="0">
            <a:srgbClr val="FFFFFF"/>
          </a:effectRef>
          <a:fontRef idx="none"/>
        </p:style>
      </p:cxnSp>
      <p:sp>
        <p:nvSpPr>
          <p:cNvPr id="36" name="圆角矩形 35"/>
          <p:cNvSpPr/>
          <p:nvPr/>
        </p:nvSpPr>
        <p:spPr>
          <a:xfrm>
            <a:off x="10704830" y="2228132"/>
            <a:ext cx="1079500" cy="713272"/>
          </a:xfrm>
          <a:prstGeom prst="roundRect">
            <a:avLst/>
          </a:prstGeom>
          <a:solidFill>
            <a:srgbClr val="FFFFFF"/>
          </a:solidFill>
          <a:ln w="12700" cap="flat">
            <a:solidFill>
              <a:schemeClr val="accent1"/>
            </a:solidFill>
            <a:prstDash val="solid"/>
            <a:miter lim="800000"/>
          </a:ln>
        </p:spPr>
        <p:style>
          <a:lnRef idx="0">
            <a:srgbClr val="FFFFFF"/>
          </a:lnRef>
          <a:fillRef idx="0">
            <a:srgbClr val="FFFFFF"/>
          </a:fillRef>
          <a:effectRef idx="0">
            <a:srgbClr val="FFFFFF"/>
          </a:effectRef>
          <a:fontRef idx="none"/>
        </p:style>
        <p:txBody>
          <a:bodyPr rot="0" vertOverflow="overflow" horzOverflow="overflow" vert="horz" wrap="square" lIns="45719" tIns="45719" rIns="45719" bIns="45719" numCol="1" spcCol="38100" rtlCol="0" anchor="ctr" forceAA="0" upright="0">
            <a:spAutoFit/>
          </a:bodyPr>
          <a:p>
            <a:pPr marL="0" marR="0" indent="0" algn="l" defTabSz="914400" rtl="0" fontAlgn="auto" latinLnBrk="0" hangingPunct="0">
              <a:lnSpc>
                <a:spcPct val="100000"/>
              </a:lnSpc>
              <a:spcBef>
                <a:spcPts val="0"/>
              </a:spcBef>
              <a:spcAft>
                <a:spcPts val="0"/>
              </a:spcAft>
              <a:buClrTx/>
              <a:buSzTx/>
              <a:buFontTx/>
              <a:buNone/>
            </a:pPr>
            <a:r>
              <a:rPr kumimoji="0" lang="zh-CN" altLang="en-US" sz="1800" b="0" i="0" u="none" strike="noStrike" cap="none" spc="0" normalizeH="0" baseline="0">
                <a:ln>
                  <a:noFill/>
                </a:ln>
                <a:solidFill>
                  <a:srgbClr val="000000"/>
                </a:solidFill>
                <a:effectLst/>
                <a:uFillTx/>
                <a:latin typeface="微软雅黑" panose="020B0503020204020204" charset="-122"/>
                <a:ea typeface="微软雅黑" panose="020B0503020204020204" charset="-122"/>
                <a:cs typeface="+mj-cs"/>
                <a:sym typeface="Calibri" panose="020F0502020204030204"/>
              </a:rPr>
              <a:t>商机分配</a:t>
            </a:r>
            <a:endParaRPr kumimoji="0" lang="zh-CN" altLang="en-US" sz="1800" b="0" i="0" u="none" strike="noStrike" cap="none" spc="0" normalizeH="0" baseline="0">
              <a:ln>
                <a:noFill/>
              </a:ln>
              <a:solidFill>
                <a:srgbClr val="000000"/>
              </a:solidFill>
              <a:effectLst/>
              <a:uFillTx/>
              <a:latin typeface="微软雅黑" panose="020B0503020204020204" charset="-122"/>
              <a:ea typeface="微软雅黑" panose="020B0503020204020204" charset="-122"/>
              <a:cs typeface="+mj-cs"/>
              <a:sym typeface="Calibri" panose="020F0502020204030204"/>
            </a:endParaRPr>
          </a:p>
          <a:p>
            <a:pPr marL="0" marR="0" indent="0" algn="l" defTabSz="914400" rtl="0" fontAlgn="auto" latinLnBrk="0" hangingPunct="0">
              <a:lnSpc>
                <a:spcPct val="100000"/>
              </a:lnSpc>
              <a:spcBef>
                <a:spcPts val="0"/>
              </a:spcBef>
              <a:spcAft>
                <a:spcPts val="0"/>
              </a:spcAft>
              <a:buClrTx/>
              <a:buSzTx/>
              <a:buFontTx/>
              <a:buNone/>
            </a:pPr>
            <a:r>
              <a:rPr kumimoji="0" lang="zh-CN" altLang="en-US" sz="1800" b="0" i="0" u="none" strike="noStrike" cap="none" spc="0" normalizeH="0" baseline="0">
                <a:ln>
                  <a:noFill/>
                </a:ln>
                <a:solidFill>
                  <a:srgbClr val="000000"/>
                </a:solidFill>
                <a:effectLst/>
                <a:uFillTx/>
                <a:latin typeface="微软雅黑" panose="020B0503020204020204" charset="-122"/>
                <a:ea typeface="微软雅黑" panose="020B0503020204020204" charset="-122"/>
                <a:cs typeface="+mj-cs"/>
                <a:sym typeface="Calibri" panose="020F0502020204030204"/>
              </a:rPr>
              <a:t>系统</a:t>
            </a:r>
            <a:endParaRPr kumimoji="0" lang="zh-CN" altLang="en-US" sz="1800" b="0" i="0" u="none" strike="noStrike" cap="none" spc="0" normalizeH="0" baseline="0">
              <a:ln>
                <a:noFill/>
              </a:ln>
              <a:solidFill>
                <a:srgbClr val="000000"/>
              </a:solidFill>
              <a:effectLst/>
              <a:uFillTx/>
              <a:latin typeface="微软雅黑" panose="020B0503020204020204" charset="-122"/>
              <a:ea typeface="微软雅黑" panose="020B0503020204020204" charset="-122"/>
              <a:cs typeface="+mj-cs"/>
              <a:sym typeface="Calibri" panose="020F0502020204030204"/>
            </a:endParaRPr>
          </a:p>
        </p:txBody>
      </p:sp>
      <p:cxnSp>
        <p:nvCxnSpPr>
          <p:cNvPr id="37" name="直接箭头连接符 36"/>
          <p:cNvCxnSpPr/>
          <p:nvPr/>
        </p:nvCxnSpPr>
        <p:spPr>
          <a:xfrm>
            <a:off x="9913620" y="2585085"/>
            <a:ext cx="791210" cy="0"/>
          </a:xfrm>
          <a:prstGeom prst="straightConnector1">
            <a:avLst/>
          </a:prstGeom>
          <a:noFill/>
          <a:ln w="12700" cap="flat">
            <a:solidFill>
              <a:schemeClr val="accent1"/>
            </a:solidFill>
            <a:prstDash val="solid"/>
            <a:miter lim="800000"/>
            <a:tailEnd type="arrow"/>
          </a:ln>
        </p:spPr>
        <p:style>
          <a:lnRef idx="0">
            <a:srgbClr val="FFFFFF"/>
          </a:lnRef>
          <a:fillRef idx="0">
            <a:srgbClr val="FFFFFF"/>
          </a:fillRef>
          <a:effectRef idx="0">
            <a:srgbClr val="FFFFFF"/>
          </a:effectRef>
          <a:fontRef idx="none"/>
        </p:style>
      </p:cxnSp>
      <p:sp>
        <p:nvSpPr>
          <p:cNvPr id="38" name="文本框 37"/>
          <p:cNvSpPr txBox="1"/>
          <p:nvPr/>
        </p:nvSpPr>
        <p:spPr>
          <a:xfrm>
            <a:off x="9965055" y="2238375"/>
            <a:ext cx="739775" cy="367030"/>
          </a:xfrm>
          <a:prstGeom prst="rect">
            <a:avLst/>
          </a:prstGeom>
          <a:noFill/>
          <a:ln w="12700" cap="flat">
            <a:noFill/>
            <a:miter lim="400000"/>
          </a:ln>
        </p:spPr>
        <p:style>
          <a:lnRef idx="0">
            <a:srgbClr val="FFFFFF"/>
          </a:lnRef>
          <a:fillRef idx="0">
            <a:srgbClr val="FFFFFF"/>
          </a:fillRef>
          <a:effectRef idx="0">
            <a:srgbClr val="FFFFFF"/>
          </a:effectRef>
          <a:fontRef idx="none"/>
        </p:style>
        <p:txBody>
          <a:bodyPr rot="0" vertOverflow="overflow" horzOverflow="overflow" vert="horz" wrap="square" lIns="45719" tIns="45719" rIns="45719" bIns="45719" numCol="1" spcCol="38100" rtlCol="0" anchor="t" forceAA="0" upright="0">
            <a:spAutoFit/>
          </a:bodyPr>
          <a:p>
            <a:pPr marL="0" marR="0" indent="0" algn="l" defTabSz="914400" rtl="0" fontAlgn="auto" latinLnBrk="0" hangingPunct="0">
              <a:lnSpc>
                <a:spcPct val="100000"/>
              </a:lnSpc>
              <a:spcBef>
                <a:spcPts val="0"/>
              </a:spcBef>
              <a:spcAft>
                <a:spcPts val="0"/>
              </a:spcAft>
              <a:buClrTx/>
              <a:buSzTx/>
              <a:buFontTx/>
              <a:buNone/>
            </a:pPr>
            <a:r>
              <a:rPr kumimoji="0" lang="en-US" altLang="zh-CN" sz="1800" b="0" i="0" u="none" strike="noStrike" cap="none" spc="0" normalizeH="0" baseline="0">
                <a:ln>
                  <a:noFill/>
                </a:ln>
                <a:solidFill>
                  <a:srgbClr val="000000"/>
                </a:solidFill>
                <a:effectLst/>
                <a:uFillTx/>
                <a:latin typeface="微软雅黑" panose="020B0503020204020204" charset="-122"/>
                <a:ea typeface="微软雅黑" panose="020B0503020204020204" charset="-122"/>
                <a:cs typeface="微软雅黑" panose="020B0503020204020204" charset="-122"/>
                <a:sym typeface="Calibri" panose="020F0502020204030204"/>
              </a:rPr>
              <a:t>500</a:t>
            </a:r>
            <a:r>
              <a:rPr kumimoji="0" lang="zh-CN" altLang="en-US" sz="1800" b="0" i="0" u="none" strike="noStrike" cap="none" spc="0" normalizeH="0" baseline="0">
                <a:ln>
                  <a:noFill/>
                </a:ln>
                <a:solidFill>
                  <a:srgbClr val="000000"/>
                </a:solidFill>
                <a:effectLst/>
                <a:uFillTx/>
                <a:latin typeface="微软雅黑" panose="020B0503020204020204" charset="-122"/>
                <a:ea typeface="微软雅黑" panose="020B0503020204020204" charset="-122"/>
                <a:cs typeface="微软雅黑" panose="020B0503020204020204" charset="-122"/>
                <a:sym typeface="Calibri" panose="020F0502020204030204"/>
              </a:rPr>
              <a:t>个</a:t>
            </a:r>
            <a:endParaRPr kumimoji="0" lang="zh-CN" altLang="en-US" sz="1800" b="0" i="0" u="none" strike="noStrike" cap="none" spc="0" normalizeH="0" baseline="0">
              <a:ln>
                <a:noFill/>
              </a:ln>
              <a:solidFill>
                <a:srgbClr val="000000"/>
              </a:solidFill>
              <a:effectLst/>
              <a:uFillTx/>
              <a:latin typeface="微软雅黑" panose="020B0503020204020204" charset="-122"/>
              <a:ea typeface="微软雅黑" panose="020B0503020204020204" charset="-122"/>
              <a:cs typeface="微软雅黑" panose="020B0503020204020204" charset="-122"/>
              <a:sym typeface="Calibri" panose="020F0502020204030204"/>
            </a:endParaRPr>
          </a:p>
        </p:txBody>
      </p:sp>
      <p:cxnSp>
        <p:nvCxnSpPr>
          <p:cNvPr id="39" name="直接箭头连接符 38"/>
          <p:cNvCxnSpPr>
            <a:stCxn id="29" idx="0"/>
            <a:endCxn id="28" idx="2"/>
          </p:cNvCxnSpPr>
          <p:nvPr/>
        </p:nvCxnSpPr>
        <p:spPr>
          <a:xfrm flipV="1">
            <a:off x="8114030" y="3135630"/>
            <a:ext cx="0" cy="365760"/>
          </a:xfrm>
          <a:prstGeom prst="straightConnector1">
            <a:avLst/>
          </a:prstGeom>
          <a:noFill/>
          <a:ln w="12700" cap="flat">
            <a:solidFill>
              <a:schemeClr val="accent1"/>
            </a:solidFill>
            <a:prstDash val="solid"/>
            <a:miter lim="800000"/>
            <a:tailEnd type="arrow"/>
          </a:ln>
        </p:spPr>
        <p:style>
          <a:lnRef idx="0">
            <a:srgbClr val="FFFFFF"/>
          </a:lnRef>
          <a:fillRef idx="0">
            <a:srgbClr val="FFFFFF"/>
          </a:fillRef>
          <a:effectRef idx="0">
            <a:srgbClr val="FFFFFF"/>
          </a:effectRef>
          <a:fontRef idx="none"/>
        </p:style>
      </p:cxnSp>
      <p:sp>
        <p:nvSpPr>
          <p:cNvPr id="42" name="文本框 41"/>
          <p:cNvSpPr txBox="1"/>
          <p:nvPr/>
        </p:nvSpPr>
        <p:spPr>
          <a:xfrm>
            <a:off x="623570" y="1196975"/>
            <a:ext cx="2288540" cy="459105"/>
          </a:xfrm>
          <a:prstGeom prst="rect">
            <a:avLst/>
          </a:prstGeom>
          <a:noFill/>
          <a:ln w="12700" cap="flat">
            <a:noFill/>
            <a:miter lim="400000"/>
          </a:ln>
        </p:spPr>
        <p:style>
          <a:lnRef idx="0">
            <a:srgbClr val="FFFFFF"/>
          </a:lnRef>
          <a:fillRef idx="0">
            <a:srgbClr val="FFFFFF"/>
          </a:fillRef>
          <a:effectRef idx="0">
            <a:srgbClr val="FFFFFF"/>
          </a:effectRef>
          <a:fontRef idx="none"/>
        </p:style>
        <p:txBody>
          <a:bodyPr rot="0" vertOverflow="overflow" horzOverflow="overflow" vert="horz" wrap="square" lIns="45719" tIns="45719" rIns="45719" bIns="45719" numCol="1" spcCol="38100" rtlCol="0" anchor="t" forceAA="0" upright="0">
            <a:spAutoFit/>
          </a:bodyPr>
          <a:p>
            <a:pPr marL="342900" marR="0" indent="-342900" algn="l" defTabSz="914400" rtl="0" fontAlgn="auto" latinLnBrk="0" hangingPunct="0">
              <a:lnSpc>
                <a:spcPct val="100000"/>
              </a:lnSpc>
              <a:spcBef>
                <a:spcPts val="0"/>
              </a:spcBef>
              <a:spcAft>
                <a:spcPts val="0"/>
              </a:spcAft>
              <a:buClrTx/>
              <a:buSzTx/>
              <a:buFont typeface="Wingdings" panose="05000000000000000000" charset="0"/>
              <a:buChar char="Ø"/>
            </a:pPr>
            <a:r>
              <a:rPr kumimoji="0" lang="zh-CN" altLang="en-US" sz="2400" b="1" i="0" u="none" strike="noStrike" cap="none" spc="0" normalizeH="0" baseline="0">
                <a:ln>
                  <a:noFill/>
                </a:ln>
                <a:solidFill>
                  <a:srgbClr val="0564CD"/>
                </a:solidFill>
                <a:effectLst/>
                <a:uFillTx/>
                <a:latin typeface="微软雅黑" panose="020B0503020204020204" charset="-122"/>
                <a:ea typeface="微软雅黑" panose="020B0503020204020204" charset="-122"/>
                <a:cs typeface="微软雅黑" panose="020B0503020204020204" charset="-122"/>
                <a:sym typeface="Calibri" panose="020F0502020204030204"/>
              </a:rPr>
              <a:t>方案</a:t>
            </a:r>
            <a:endParaRPr kumimoji="0" lang="en-US" altLang="zh-CN" sz="2400" b="1" i="0" u="none" strike="noStrike" cap="none" spc="0" normalizeH="0" baseline="0">
              <a:ln>
                <a:noFill/>
              </a:ln>
              <a:solidFill>
                <a:srgbClr val="0564CD"/>
              </a:solidFill>
              <a:effectLst/>
              <a:uFillTx/>
              <a:latin typeface="微软雅黑" panose="020B0503020204020204" charset="-122"/>
              <a:ea typeface="微软雅黑" panose="020B0503020204020204" charset="-122"/>
              <a:cs typeface="微软雅黑" panose="020B0503020204020204" charset="-122"/>
              <a:sym typeface="Calibri" panose="020F0502020204030204"/>
            </a:endParaRPr>
          </a:p>
        </p:txBody>
      </p:sp>
      <p:sp>
        <p:nvSpPr>
          <p:cNvPr id="3" name="文本框 2"/>
          <p:cNvSpPr txBox="1"/>
          <p:nvPr/>
        </p:nvSpPr>
        <p:spPr>
          <a:xfrm>
            <a:off x="551815" y="4293235"/>
            <a:ext cx="10994390" cy="2305685"/>
          </a:xfrm>
          <a:prstGeom prst="rect">
            <a:avLst/>
          </a:prstGeom>
          <a:noFill/>
          <a:ln w="12700" cap="flat">
            <a:noFill/>
            <a:miter lim="400000"/>
          </a:ln>
        </p:spPr>
        <p:style>
          <a:lnRef idx="0">
            <a:srgbClr val="FFFFFF"/>
          </a:lnRef>
          <a:fillRef idx="0">
            <a:srgbClr val="FFFFFF"/>
          </a:fillRef>
          <a:effectRef idx="0">
            <a:srgbClr val="FFFFFF"/>
          </a:effectRef>
          <a:fontRef idx="none"/>
        </p:style>
        <p:txBody>
          <a:bodyPr rot="0" vertOverflow="overflow" horzOverflow="overflow" vert="horz" wrap="square" lIns="45719" tIns="45719" rIns="45719" bIns="45719" numCol="1" spcCol="38100" rtlCol="0" anchor="t" forceAA="0" upright="0">
            <a:spAutoFit/>
          </a:bodyPr>
          <a:p>
            <a:pPr marL="0" marR="0" indent="0" algn="l" defTabSz="914400" rtl="0" fontAlgn="auto" latinLnBrk="0" hangingPunct="0">
              <a:lnSpc>
                <a:spcPct val="100000"/>
              </a:lnSpc>
              <a:spcBef>
                <a:spcPts val="0"/>
              </a:spcBef>
              <a:spcAft>
                <a:spcPts val="0"/>
              </a:spcAft>
              <a:buClrTx/>
              <a:buSzTx/>
              <a:buFontTx/>
              <a:buNone/>
            </a:pPr>
            <a:r>
              <a:rPr kumimoji="0" lang="en-US" altLang="zh-CN" sz="1800" b="0" i="0" u="none" strike="noStrike" cap="none" spc="0" normalizeH="0" baseline="0">
                <a:ln>
                  <a:noFill/>
                </a:ln>
                <a:solidFill>
                  <a:srgbClr val="000000"/>
                </a:solidFill>
                <a:effectLst/>
                <a:uFillTx/>
                <a:latin typeface="微软雅黑" panose="020B0503020204020204" charset="-122"/>
                <a:ea typeface="微软雅黑" panose="020B0503020204020204" charset="-122"/>
                <a:cs typeface="微软雅黑" panose="020B0503020204020204" charset="-122"/>
                <a:sym typeface="Calibri" panose="020F0502020204030204"/>
              </a:rPr>
              <a:t>1</a:t>
            </a:r>
            <a:r>
              <a:rPr kumimoji="0" lang="zh-CN" altLang="en-US" sz="1800" b="0" i="0" u="none" strike="noStrike" cap="none" spc="0" normalizeH="0" baseline="0">
                <a:ln>
                  <a:noFill/>
                </a:ln>
                <a:solidFill>
                  <a:srgbClr val="000000"/>
                </a:solidFill>
                <a:effectLst/>
                <a:uFillTx/>
                <a:latin typeface="微软雅黑" panose="020B0503020204020204" charset="-122"/>
                <a:ea typeface="微软雅黑" panose="020B0503020204020204" charset="-122"/>
                <a:cs typeface="微软雅黑" panose="020B0503020204020204" charset="-122"/>
                <a:sym typeface="Calibri" panose="020F0502020204030204"/>
              </a:rPr>
              <a:t>、先生成新商机用户；</a:t>
            </a:r>
            <a:endParaRPr kumimoji="0" lang="zh-CN" altLang="en-US" sz="1800" b="0" i="0" u="none" strike="noStrike" cap="none" spc="0" normalizeH="0" baseline="0">
              <a:ln>
                <a:noFill/>
              </a:ln>
              <a:solidFill>
                <a:srgbClr val="000000"/>
              </a:solidFill>
              <a:effectLst/>
              <a:uFillTx/>
              <a:latin typeface="微软雅黑" panose="020B0503020204020204" charset="-122"/>
              <a:ea typeface="微软雅黑" panose="020B0503020204020204" charset="-122"/>
              <a:cs typeface="微软雅黑" panose="020B0503020204020204" charset="-122"/>
              <a:sym typeface="Calibri" panose="020F0502020204030204"/>
            </a:endParaRPr>
          </a:p>
          <a:p>
            <a:pPr marL="0" marR="0" indent="0" algn="l" defTabSz="914400" rtl="0" fontAlgn="auto" latinLnBrk="0" hangingPunct="0">
              <a:lnSpc>
                <a:spcPct val="100000"/>
              </a:lnSpc>
              <a:spcBef>
                <a:spcPts val="0"/>
              </a:spcBef>
              <a:spcAft>
                <a:spcPts val="0"/>
              </a:spcAft>
              <a:buClrTx/>
              <a:buSzTx/>
              <a:buFontTx/>
              <a:buNone/>
            </a:pPr>
            <a:r>
              <a:rPr kumimoji="0" lang="en-US" altLang="zh-CN" sz="1800" b="0" i="0" u="none" strike="noStrike" cap="none" spc="0" normalizeH="0" baseline="0">
                <a:ln>
                  <a:noFill/>
                </a:ln>
                <a:solidFill>
                  <a:srgbClr val="000000"/>
                </a:solidFill>
                <a:effectLst/>
                <a:uFillTx/>
                <a:latin typeface="微软雅黑" panose="020B0503020204020204" charset="-122"/>
                <a:ea typeface="微软雅黑" panose="020B0503020204020204" charset="-122"/>
                <a:cs typeface="微软雅黑" panose="020B0503020204020204" charset="-122"/>
                <a:sym typeface="Calibri" panose="020F0502020204030204"/>
              </a:rPr>
              <a:t>2</a:t>
            </a:r>
            <a:r>
              <a:rPr kumimoji="0" lang="zh-CN" altLang="en-US" sz="1800" b="0" i="0" u="none" strike="noStrike" cap="none" spc="0" normalizeH="0" baseline="0">
                <a:ln>
                  <a:noFill/>
                </a:ln>
                <a:solidFill>
                  <a:srgbClr val="000000"/>
                </a:solidFill>
                <a:effectLst/>
                <a:uFillTx/>
                <a:latin typeface="微软雅黑" panose="020B0503020204020204" charset="-122"/>
                <a:ea typeface="微软雅黑" panose="020B0503020204020204" charset="-122"/>
                <a:cs typeface="微软雅黑" panose="020B0503020204020204" charset="-122"/>
                <a:sym typeface="Calibri" panose="020F0502020204030204"/>
              </a:rPr>
              <a:t>、</a:t>
            </a:r>
            <a:r>
              <a:rPr lang="zh-CN" altLang="en-US">
                <a:latin typeface="微软雅黑" panose="020B0503020204020204" charset="-122"/>
                <a:ea typeface="微软雅黑" panose="020B0503020204020204" charset="-122"/>
                <a:cs typeface="微软雅黑" panose="020B0503020204020204" charset="-122"/>
                <a:sym typeface="Calibri" panose="020F0502020204030204"/>
              </a:rPr>
              <a:t>挑选合适渠道用户进行测试；</a:t>
            </a:r>
            <a:endParaRPr kumimoji="0" lang="zh-CN" altLang="en-US" sz="1800" b="0" i="0" u="none" strike="noStrike" cap="none" spc="0" normalizeH="0" baseline="0">
              <a:ln>
                <a:noFill/>
              </a:ln>
              <a:solidFill>
                <a:srgbClr val="000000"/>
              </a:solidFill>
              <a:effectLst/>
              <a:uFillTx/>
              <a:latin typeface="微软雅黑" panose="020B0503020204020204" charset="-122"/>
              <a:ea typeface="微软雅黑" panose="020B0503020204020204" charset="-122"/>
              <a:cs typeface="微软雅黑" panose="020B0503020204020204" charset="-122"/>
              <a:sym typeface="Calibri" panose="020F0502020204030204"/>
            </a:endParaRPr>
          </a:p>
          <a:p>
            <a:pPr marL="0" marR="0" indent="0" algn="l" defTabSz="914400" rtl="0" fontAlgn="auto" latinLnBrk="0" hangingPunct="0">
              <a:lnSpc>
                <a:spcPct val="100000"/>
              </a:lnSpc>
              <a:spcBef>
                <a:spcPts val="0"/>
              </a:spcBef>
              <a:spcAft>
                <a:spcPts val="0"/>
              </a:spcAft>
              <a:buClrTx/>
              <a:buSzTx/>
              <a:buFontTx/>
              <a:buNone/>
            </a:pPr>
            <a:r>
              <a:rPr kumimoji="0" lang="en-US" altLang="zh-CN" sz="1800" b="0" i="0" u="none" strike="noStrike" cap="none" spc="0" normalizeH="0" baseline="0">
                <a:ln>
                  <a:noFill/>
                </a:ln>
                <a:solidFill>
                  <a:srgbClr val="000000"/>
                </a:solidFill>
                <a:effectLst/>
                <a:uFillTx/>
                <a:latin typeface="微软雅黑" panose="020B0503020204020204" charset="-122"/>
                <a:ea typeface="微软雅黑" panose="020B0503020204020204" charset="-122"/>
                <a:cs typeface="微软雅黑" panose="020B0503020204020204" charset="-122"/>
                <a:sym typeface="Calibri" panose="020F0502020204030204"/>
              </a:rPr>
              <a:t>3</a:t>
            </a:r>
            <a:r>
              <a:rPr kumimoji="0" lang="zh-CN" altLang="en-US" sz="1800" b="0" i="0" u="none" strike="noStrike" cap="none" spc="0" normalizeH="0" baseline="0">
                <a:ln>
                  <a:noFill/>
                </a:ln>
                <a:solidFill>
                  <a:srgbClr val="000000"/>
                </a:solidFill>
                <a:effectLst/>
                <a:uFillTx/>
                <a:latin typeface="微软雅黑" panose="020B0503020204020204" charset="-122"/>
                <a:ea typeface="微软雅黑" panose="020B0503020204020204" charset="-122"/>
                <a:cs typeface="微软雅黑" panose="020B0503020204020204" charset="-122"/>
                <a:sym typeface="Calibri" panose="020F0502020204030204"/>
              </a:rPr>
              <a:t>、将这批用户调用</a:t>
            </a:r>
            <a:r>
              <a:rPr kumimoji="0" lang="en-US" altLang="zh-CN" sz="1800" b="0" i="0" u="none" strike="noStrike" cap="none" spc="0" normalizeH="0" baseline="0">
                <a:ln>
                  <a:noFill/>
                </a:ln>
                <a:solidFill>
                  <a:srgbClr val="000000"/>
                </a:solidFill>
                <a:effectLst/>
                <a:uFillTx/>
                <a:latin typeface="微软雅黑" panose="020B0503020204020204" charset="-122"/>
                <a:ea typeface="微软雅黑" panose="020B0503020204020204" charset="-122"/>
                <a:cs typeface="微软雅黑" panose="020B0503020204020204" charset="-122"/>
                <a:sym typeface="Calibri" panose="020F0502020204030204"/>
              </a:rPr>
              <a:t>AB</a:t>
            </a:r>
            <a:r>
              <a:rPr kumimoji="0" lang="zh-CN" altLang="en-US" sz="1800" b="0" i="0" u="none" strike="noStrike" cap="none" spc="0" normalizeH="0" baseline="0">
                <a:ln>
                  <a:noFill/>
                </a:ln>
                <a:solidFill>
                  <a:srgbClr val="000000"/>
                </a:solidFill>
                <a:effectLst/>
                <a:uFillTx/>
                <a:latin typeface="微软雅黑" panose="020B0503020204020204" charset="-122"/>
                <a:ea typeface="微软雅黑" panose="020B0503020204020204" charset="-122"/>
                <a:cs typeface="微软雅黑" panose="020B0503020204020204" charset="-122"/>
                <a:sym typeface="Calibri" panose="020F0502020204030204"/>
              </a:rPr>
              <a:t>测试实验进行分流，并配置随机分流参数并生成</a:t>
            </a:r>
            <a:r>
              <a:rPr kumimoji="0" lang="en-US" altLang="zh-CN" sz="1800" b="0" i="0" u="none" strike="noStrike" cap="none" spc="0" normalizeH="0" baseline="0">
                <a:ln>
                  <a:noFill/>
                </a:ln>
                <a:solidFill>
                  <a:srgbClr val="000000"/>
                </a:solidFill>
                <a:effectLst/>
                <a:uFillTx/>
                <a:latin typeface="微软雅黑" panose="020B0503020204020204" charset="-122"/>
                <a:ea typeface="微软雅黑" panose="020B0503020204020204" charset="-122"/>
                <a:cs typeface="微软雅黑" panose="020B0503020204020204" charset="-122"/>
                <a:sym typeface="Calibri" panose="020F0502020204030204"/>
              </a:rPr>
              <a:t>A</a:t>
            </a:r>
            <a:r>
              <a:rPr kumimoji="0" lang="zh-CN" altLang="en-US" sz="1800" b="0" i="0" u="none" strike="noStrike" cap="none" spc="0" normalizeH="0" baseline="0">
                <a:ln>
                  <a:noFill/>
                </a:ln>
                <a:solidFill>
                  <a:srgbClr val="000000"/>
                </a:solidFill>
                <a:effectLst/>
                <a:uFillTx/>
                <a:latin typeface="微软雅黑" panose="020B0503020204020204" charset="-122"/>
                <a:ea typeface="微软雅黑" panose="020B0503020204020204" charset="-122"/>
                <a:cs typeface="微软雅黑" panose="020B0503020204020204" charset="-122"/>
                <a:sym typeface="Calibri" panose="020F0502020204030204"/>
              </a:rPr>
              <a:t>、</a:t>
            </a:r>
            <a:r>
              <a:rPr kumimoji="0" lang="en-US" altLang="zh-CN" sz="1800" b="0" i="0" u="none" strike="noStrike" cap="none" spc="0" normalizeH="0" baseline="0">
                <a:ln>
                  <a:noFill/>
                </a:ln>
                <a:solidFill>
                  <a:srgbClr val="000000"/>
                </a:solidFill>
                <a:effectLst/>
                <a:uFillTx/>
                <a:latin typeface="微软雅黑" panose="020B0503020204020204" charset="-122"/>
                <a:ea typeface="微软雅黑" panose="020B0503020204020204" charset="-122"/>
                <a:cs typeface="微软雅黑" panose="020B0503020204020204" charset="-122"/>
                <a:sym typeface="Calibri" panose="020F0502020204030204"/>
              </a:rPr>
              <a:t>B</a:t>
            </a:r>
            <a:r>
              <a:rPr kumimoji="0" lang="zh-CN" altLang="en-US" sz="1800" b="0" i="0" u="none" strike="noStrike" cap="none" spc="0" normalizeH="0" baseline="0">
                <a:ln>
                  <a:noFill/>
                </a:ln>
                <a:solidFill>
                  <a:srgbClr val="000000"/>
                </a:solidFill>
                <a:effectLst/>
                <a:uFillTx/>
                <a:latin typeface="微软雅黑" panose="020B0503020204020204" charset="-122"/>
                <a:ea typeface="微软雅黑" panose="020B0503020204020204" charset="-122"/>
                <a:cs typeface="微软雅黑" panose="020B0503020204020204" charset="-122"/>
                <a:sym typeface="Calibri" panose="020F0502020204030204"/>
              </a:rPr>
              <a:t>类用户（比如</a:t>
            </a:r>
            <a:r>
              <a:rPr kumimoji="0" lang="en-US" altLang="zh-CN" sz="1800" b="0" i="0" u="none" strike="noStrike" cap="none" spc="0" normalizeH="0" baseline="0">
                <a:ln>
                  <a:noFill/>
                </a:ln>
                <a:solidFill>
                  <a:srgbClr val="000000"/>
                </a:solidFill>
                <a:effectLst/>
                <a:uFillTx/>
                <a:latin typeface="微软雅黑" panose="020B0503020204020204" charset="-122"/>
                <a:ea typeface="微软雅黑" panose="020B0503020204020204" charset="-122"/>
                <a:cs typeface="微软雅黑" panose="020B0503020204020204" charset="-122"/>
                <a:sym typeface="Calibri" panose="020F0502020204030204"/>
              </a:rPr>
              <a:t>0.5:0.5</a:t>
            </a:r>
            <a:r>
              <a:rPr kumimoji="0" lang="zh-CN" altLang="en-US" sz="1800" b="0" i="0" u="none" strike="noStrike" cap="none" spc="0" normalizeH="0" baseline="0">
                <a:ln>
                  <a:noFill/>
                </a:ln>
                <a:solidFill>
                  <a:srgbClr val="000000"/>
                </a:solidFill>
                <a:effectLst/>
                <a:uFillTx/>
                <a:latin typeface="微软雅黑" panose="020B0503020204020204" charset="-122"/>
                <a:ea typeface="微软雅黑" panose="020B0503020204020204" charset="-122"/>
                <a:cs typeface="微软雅黑" panose="020B0503020204020204" charset="-122"/>
                <a:sym typeface="Calibri" panose="020F0502020204030204"/>
              </a:rPr>
              <a:t>）；</a:t>
            </a:r>
            <a:endParaRPr kumimoji="0" lang="zh-CN" altLang="en-US" sz="1800" b="0" i="0" u="none" strike="noStrike" cap="none" spc="0" normalizeH="0" baseline="0">
              <a:ln>
                <a:noFill/>
              </a:ln>
              <a:solidFill>
                <a:srgbClr val="000000"/>
              </a:solidFill>
              <a:effectLst/>
              <a:uFillTx/>
              <a:latin typeface="微软雅黑" panose="020B0503020204020204" charset="-122"/>
              <a:ea typeface="微软雅黑" panose="020B0503020204020204" charset="-122"/>
              <a:cs typeface="微软雅黑" panose="020B0503020204020204" charset="-122"/>
              <a:sym typeface="Calibri" panose="020F0502020204030204"/>
            </a:endParaRPr>
          </a:p>
          <a:p>
            <a:pPr marL="0" marR="0" indent="0" algn="l" defTabSz="914400" rtl="0" fontAlgn="auto" latinLnBrk="0" hangingPunct="0">
              <a:lnSpc>
                <a:spcPct val="100000"/>
              </a:lnSpc>
              <a:spcBef>
                <a:spcPts val="0"/>
              </a:spcBef>
              <a:spcAft>
                <a:spcPts val="0"/>
              </a:spcAft>
              <a:buClrTx/>
              <a:buSzTx/>
              <a:buFontTx/>
              <a:buNone/>
            </a:pPr>
            <a:r>
              <a:rPr kumimoji="0" lang="en-US" altLang="zh-CN" sz="1800" b="0" i="0" u="none" strike="noStrike" cap="none" spc="0" normalizeH="0" baseline="0">
                <a:ln>
                  <a:noFill/>
                </a:ln>
                <a:solidFill>
                  <a:srgbClr val="000000"/>
                </a:solidFill>
                <a:effectLst/>
                <a:uFillTx/>
                <a:latin typeface="微软雅黑" panose="020B0503020204020204" charset="-122"/>
                <a:ea typeface="微软雅黑" panose="020B0503020204020204" charset="-122"/>
                <a:cs typeface="微软雅黑" panose="020B0503020204020204" charset="-122"/>
                <a:sym typeface="Calibri" panose="020F0502020204030204"/>
              </a:rPr>
              <a:t>4</a:t>
            </a:r>
            <a:r>
              <a:rPr kumimoji="0" lang="zh-CN" altLang="en-US" sz="1800" b="0" i="0" u="none" strike="noStrike" cap="none" spc="0" normalizeH="0" baseline="0">
                <a:ln>
                  <a:noFill/>
                </a:ln>
                <a:solidFill>
                  <a:srgbClr val="000000"/>
                </a:solidFill>
                <a:effectLst/>
                <a:uFillTx/>
                <a:latin typeface="微软雅黑" panose="020B0503020204020204" charset="-122"/>
                <a:ea typeface="微软雅黑" panose="020B0503020204020204" charset="-122"/>
                <a:cs typeface="微软雅黑" panose="020B0503020204020204" charset="-122"/>
                <a:sym typeface="Calibri" panose="020F0502020204030204"/>
              </a:rPr>
              <a:t>、</a:t>
            </a:r>
            <a:r>
              <a:rPr kumimoji="0" lang="en-US" altLang="zh-CN" sz="1800" b="0" i="0" u="none" strike="noStrike" cap="none" spc="0" normalizeH="0" baseline="0">
                <a:ln>
                  <a:noFill/>
                </a:ln>
                <a:solidFill>
                  <a:srgbClr val="000000"/>
                </a:solidFill>
                <a:effectLst/>
                <a:uFillTx/>
                <a:latin typeface="微软雅黑" panose="020B0503020204020204" charset="-122"/>
                <a:ea typeface="微软雅黑" panose="020B0503020204020204" charset="-122"/>
                <a:cs typeface="微软雅黑" panose="020B0503020204020204" charset="-122"/>
                <a:sym typeface="Calibri" panose="020F0502020204030204"/>
              </a:rPr>
              <a:t>B</a:t>
            </a:r>
            <a:r>
              <a:rPr kumimoji="0" lang="zh-CN" altLang="en-US" sz="1800" b="0" i="0" u="none" strike="noStrike" cap="none" spc="0" normalizeH="0" baseline="0">
                <a:ln>
                  <a:noFill/>
                </a:ln>
                <a:solidFill>
                  <a:srgbClr val="000000"/>
                </a:solidFill>
                <a:effectLst/>
                <a:uFillTx/>
                <a:latin typeface="微软雅黑" panose="020B0503020204020204" charset="-122"/>
                <a:ea typeface="微软雅黑" panose="020B0503020204020204" charset="-122"/>
                <a:cs typeface="微软雅黑" panose="020B0503020204020204" charset="-122"/>
                <a:sym typeface="Calibri" panose="020F0502020204030204"/>
              </a:rPr>
              <a:t>类实时调用机器学习模型预测投保意向概率并划分好等级并生成标签，然后</a:t>
            </a:r>
            <a:r>
              <a:rPr kumimoji="0" lang="en-US" altLang="zh-CN" sz="1800" b="0" i="0" u="none" strike="noStrike" cap="none" spc="0" normalizeH="0" baseline="0">
                <a:ln>
                  <a:noFill/>
                </a:ln>
                <a:solidFill>
                  <a:srgbClr val="000000"/>
                </a:solidFill>
                <a:effectLst/>
                <a:uFillTx/>
                <a:latin typeface="微软雅黑" panose="020B0503020204020204" charset="-122"/>
                <a:ea typeface="微软雅黑" panose="020B0503020204020204" charset="-122"/>
                <a:cs typeface="微软雅黑" panose="020B0503020204020204" charset="-122"/>
                <a:sym typeface="Calibri" panose="020F0502020204030204"/>
              </a:rPr>
              <a:t>A</a:t>
            </a:r>
            <a:r>
              <a:rPr kumimoji="0" lang="zh-CN" altLang="en-US" sz="1800" b="0" i="0" u="none" strike="noStrike" cap="none" spc="0" normalizeH="0" baseline="0">
                <a:ln>
                  <a:noFill/>
                </a:ln>
                <a:solidFill>
                  <a:srgbClr val="000000"/>
                </a:solidFill>
                <a:effectLst/>
                <a:uFillTx/>
                <a:latin typeface="微软雅黑" panose="020B0503020204020204" charset="-122"/>
                <a:ea typeface="微软雅黑" panose="020B0503020204020204" charset="-122"/>
                <a:cs typeface="微软雅黑" panose="020B0503020204020204" charset="-122"/>
                <a:sym typeface="Calibri" panose="020F0502020204030204"/>
              </a:rPr>
              <a:t>、</a:t>
            </a:r>
            <a:r>
              <a:rPr kumimoji="0" lang="en-US" altLang="zh-CN" sz="1800" b="0" i="0" u="none" strike="noStrike" cap="none" spc="0" normalizeH="0" baseline="0">
                <a:ln>
                  <a:noFill/>
                </a:ln>
                <a:solidFill>
                  <a:srgbClr val="000000"/>
                </a:solidFill>
                <a:effectLst/>
                <a:uFillTx/>
                <a:latin typeface="微软雅黑" panose="020B0503020204020204" charset="-122"/>
                <a:ea typeface="微软雅黑" panose="020B0503020204020204" charset="-122"/>
                <a:cs typeface="微软雅黑" panose="020B0503020204020204" charset="-122"/>
                <a:sym typeface="Calibri" panose="020F0502020204030204"/>
              </a:rPr>
              <a:t>B</a:t>
            </a:r>
            <a:r>
              <a:rPr kumimoji="0" lang="zh-CN" altLang="en-US" sz="1800" b="0" i="0" u="none" strike="noStrike" cap="none" spc="0" normalizeH="0" baseline="0">
                <a:ln>
                  <a:noFill/>
                </a:ln>
                <a:solidFill>
                  <a:srgbClr val="000000"/>
                </a:solidFill>
                <a:effectLst/>
                <a:uFillTx/>
                <a:latin typeface="微软雅黑" panose="020B0503020204020204" charset="-122"/>
                <a:ea typeface="微软雅黑" panose="020B0503020204020204" charset="-122"/>
                <a:cs typeface="微软雅黑" panose="020B0503020204020204" charset="-122"/>
                <a:sym typeface="Calibri" panose="020F0502020204030204"/>
              </a:rPr>
              <a:t>类用户一起进入商机分配系统（</a:t>
            </a:r>
            <a:r>
              <a:rPr kumimoji="0" lang="en-US" altLang="zh-CN" sz="1800" b="0" i="0" u="none" strike="noStrike" cap="none" spc="0" normalizeH="0" baseline="0">
                <a:ln>
                  <a:noFill/>
                </a:ln>
                <a:solidFill>
                  <a:srgbClr val="000000"/>
                </a:solidFill>
                <a:effectLst/>
                <a:uFillTx/>
                <a:latin typeface="微软雅黑" panose="020B0503020204020204" charset="-122"/>
                <a:ea typeface="微软雅黑" panose="020B0503020204020204" charset="-122"/>
                <a:cs typeface="微软雅黑" panose="020B0503020204020204" charset="-122"/>
                <a:sym typeface="Calibri" panose="020F0502020204030204"/>
              </a:rPr>
              <a:t>B</a:t>
            </a:r>
            <a:r>
              <a:rPr kumimoji="0" lang="zh-CN" altLang="en-US" sz="1800" b="0" i="0" u="none" strike="noStrike" cap="none" spc="0" normalizeH="0" baseline="0">
                <a:ln>
                  <a:noFill/>
                </a:ln>
                <a:solidFill>
                  <a:srgbClr val="000000"/>
                </a:solidFill>
                <a:effectLst/>
                <a:uFillTx/>
                <a:latin typeface="微软雅黑" panose="020B0503020204020204" charset="-122"/>
                <a:ea typeface="微软雅黑" panose="020B0503020204020204" charset="-122"/>
                <a:cs typeface="微软雅黑" panose="020B0503020204020204" charset="-122"/>
                <a:sym typeface="Calibri" panose="020F0502020204030204"/>
              </a:rPr>
              <a:t>类中</a:t>
            </a:r>
            <a:r>
              <a:rPr lang="zh-CN" altLang="en-US">
                <a:solidFill>
                  <a:srgbClr val="FF0000"/>
                </a:solidFill>
                <a:latin typeface="微软雅黑" panose="020B0503020204020204" charset="-122"/>
                <a:ea typeface="微软雅黑" panose="020B0503020204020204" charset="-122"/>
                <a:cs typeface="微软雅黑" panose="020B0503020204020204" charset="-122"/>
                <a:sym typeface="Calibri" panose="020F0502020204030204"/>
              </a:rPr>
              <a:t>投保意向等级较高的用户</a:t>
            </a:r>
            <a:r>
              <a:rPr lang="zh-CN" altLang="en-US">
                <a:solidFill>
                  <a:schemeClr val="tx1"/>
                </a:solidFill>
                <a:latin typeface="微软雅黑" panose="020B0503020204020204" charset="-122"/>
                <a:ea typeface="微软雅黑" panose="020B0503020204020204" charset="-122"/>
                <a:cs typeface="微软雅黑" panose="020B0503020204020204" charset="-122"/>
                <a:sym typeface="Calibri" panose="020F0502020204030204"/>
              </a:rPr>
              <a:t>与</a:t>
            </a:r>
            <a:r>
              <a:rPr lang="en-US" altLang="zh-CN">
                <a:solidFill>
                  <a:schemeClr val="tx1"/>
                </a:solidFill>
                <a:latin typeface="微软雅黑" panose="020B0503020204020204" charset="-122"/>
                <a:ea typeface="微软雅黑" panose="020B0503020204020204" charset="-122"/>
                <a:cs typeface="微软雅黑" panose="020B0503020204020204" charset="-122"/>
                <a:sym typeface="Calibri" panose="020F0502020204030204"/>
              </a:rPr>
              <a:t>A</a:t>
            </a:r>
            <a:r>
              <a:rPr lang="zh-CN" altLang="en-US">
                <a:solidFill>
                  <a:schemeClr val="tx1"/>
                </a:solidFill>
                <a:latin typeface="微软雅黑" panose="020B0503020204020204" charset="-122"/>
                <a:ea typeface="微软雅黑" panose="020B0503020204020204" charset="-122"/>
                <a:cs typeface="微软雅黑" panose="020B0503020204020204" charset="-122"/>
                <a:sym typeface="Calibri" panose="020F0502020204030204"/>
              </a:rPr>
              <a:t>类用户随机派发给同一批顾问</a:t>
            </a:r>
            <a:r>
              <a:rPr lang="en-US" altLang="zh-CN">
                <a:solidFill>
                  <a:schemeClr val="tx1"/>
                </a:solidFill>
                <a:latin typeface="微软雅黑" panose="020B0503020204020204" charset="-122"/>
                <a:ea typeface="微软雅黑" panose="020B0503020204020204" charset="-122"/>
                <a:cs typeface="微软雅黑" panose="020B0503020204020204" charset="-122"/>
                <a:sym typeface="Calibri" panose="020F0502020204030204"/>
              </a:rPr>
              <a:t>-</a:t>
            </a:r>
            <a:r>
              <a:rPr lang="zh-CN" altLang="en-US">
                <a:solidFill>
                  <a:schemeClr val="tx1"/>
                </a:solidFill>
                <a:latin typeface="微软雅黑" panose="020B0503020204020204" charset="-122"/>
                <a:ea typeface="微软雅黑" panose="020B0503020204020204" charset="-122"/>
                <a:cs typeface="微软雅黑" panose="020B0503020204020204" charset="-122"/>
                <a:sym typeface="Calibri" panose="020F0502020204030204"/>
              </a:rPr>
              <a:t>专案</a:t>
            </a:r>
            <a:r>
              <a:rPr lang="en-US" altLang="zh-CN">
                <a:solidFill>
                  <a:schemeClr val="tx1"/>
                </a:solidFill>
                <a:latin typeface="微软雅黑" panose="020B0503020204020204" charset="-122"/>
                <a:ea typeface="微软雅黑" panose="020B0503020204020204" charset="-122"/>
                <a:cs typeface="微软雅黑" panose="020B0503020204020204" charset="-122"/>
                <a:sym typeface="Calibri" panose="020F0502020204030204"/>
              </a:rPr>
              <a:t>1</a:t>
            </a:r>
            <a:r>
              <a:rPr lang="zh-CN" altLang="en-US">
                <a:solidFill>
                  <a:srgbClr val="FF0000"/>
                </a:solidFill>
                <a:latin typeface="微软雅黑" panose="020B0503020204020204" charset="-122"/>
                <a:ea typeface="微软雅黑" panose="020B0503020204020204" charset="-122"/>
                <a:cs typeface="微软雅黑" panose="020B0503020204020204" charset="-122"/>
                <a:sym typeface="Calibri" panose="020F0502020204030204"/>
              </a:rPr>
              <a:t>，</a:t>
            </a:r>
            <a:r>
              <a:rPr lang="en-US" altLang="zh-CN">
                <a:solidFill>
                  <a:schemeClr val="tx1"/>
                </a:solidFill>
                <a:latin typeface="微软雅黑" panose="020B0503020204020204" charset="-122"/>
                <a:ea typeface="微软雅黑" panose="020B0503020204020204" charset="-122"/>
                <a:cs typeface="微软雅黑" panose="020B0503020204020204" charset="-122"/>
                <a:sym typeface="Calibri" panose="020F0502020204030204"/>
              </a:rPr>
              <a:t>B</a:t>
            </a:r>
            <a:r>
              <a:rPr lang="zh-CN" altLang="en-US">
                <a:solidFill>
                  <a:schemeClr val="tx1"/>
                </a:solidFill>
                <a:latin typeface="微软雅黑" panose="020B0503020204020204" charset="-122"/>
                <a:ea typeface="微软雅黑" panose="020B0503020204020204" charset="-122"/>
                <a:cs typeface="微软雅黑" panose="020B0503020204020204" charset="-122"/>
                <a:sym typeface="Calibri" panose="020F0502020204030204"/>
              </a:rPr>
              <a:t>类中</a:t>
            </a:r>
            <a:r>
              <a:rPr lang="zh-CN" altLang="en-US">
                <a:solidFill>
                  <a:srgbClr val="FF0000"/>
                </a:solidFill>
                <a:latin typeface="微软雅黑" panose="020B0503020204020204" charset="-122"/>
                <a:ea typeface="微软雅黑" panose="020B0503020204020204" charset="-122"/>
                <a:cs typeface="微软雅黑" panose="020B0503020204020204" charset="-122"/>
                <a:sym typeface="Calibri" panose="020F0502020204030204"/>
              </a:rPr>
              <a:t>投保意向等级较低的分配其他顾问</a:t>
            </a:r>
            <a:r>
              <a:rPr lang="en-US" altLang="zh-CN">
                <a:solidFill>
                  <a:srgbClr val="FF0000"/>
                </a:solidFill>
                <a:latin typeface="微软雅黑" panose="020B0503020204020204" charset="-122"/>
                <a:ea typeface="微软雅黑" panose="020B0503020204020204" charset="-122"/>
                <a:cs typeface="微软雅黑" panose="020B0503020204020204" charset="-122"/>
                <a:sym typeface="Calibri" panose="020F0502020204030204"/>
              </a:rPr>
              <a:t>-</a:t>
            </a:r>
            <a:r>
              <a:rPr lang="zh-CN" altLang="en-US">
                <a:solidFill>
                  <a:srgbClr val="FF0000"/>
                </a:solidFill>
                <a:latin typeface="微软雅黑" panose="020B0503020204020204" charset="-122"/>
                <a:ea typeface="微软雅黑" panose="020B0503020204020204" charset="-122"/>
                <a:cs typeface="微软雅黑" panose="020B0503020204020204" charset="-122"/>
                <a:sym typeface="Calibri" panose="020F0502020204030204"/>
              </a:rPr>
              <a:t>专案</a:t>
            </a:r>
            <a:r>
              <a:rPr lang="en-US" altLang="zh-CN">
                <a:solidFill>
                  <a:srgbClr val="FF0000"/>
                </a:solidFill>
                <a:latin typeface="微软雅黑" panose="020B0503020204020204" charset="-122"/>
                <a:ea typeface="微软雅黑" panose="020B0503020204020204" charset="-122"/>
                <a:cs typeface="微软雅黑" panose="020B0503020204020204" charset="-122"/>
                <a:sym typeface="Calibri" panose="020F0502020204030204"/>
              </a:rPr>
              <a:t>2</a:t>
            </a:r>
            <a:r>
              <a:rPr lang="zh-CN" altLang="en-US">
                <a:solidFill>
                  <a:srgbClr val="FF0000"/>
                </a:solidFill>
                <a:latin typeface="微软雅黑" panose="020B0503020204020204" charset="-122"/>
                <a:ea typeface="微软雅黑" panose="020B0503020204020204" charset="-122"/>
                <a:cs typeface="微软雅黑" panose="020B0503020204020204" charset="-122"/>
                <a:sym typeface="Calibri" panose="020F0502020204030204"/>
              </a:rPr>
              <a:t>）</a:t>
            </a:r>
            <a:r>
              <a:rPr kumimoji="0" lang="zh-CN" altLang="en-US" sz="1800" b="0" i="0" u="none" strike="noStrike" cap="none" spc="0" normalizeH="0" baseline="0">
                <a:ln>
                  <a:noFill/>
                </a:ln>
                <a:solidFill>
                  <a:srgbClr val="000000"/>
                </a:solidFill>
                <a:effectLst/>
                <a:uFillTx/>
                <a:latin typeface="微软雅黑" panose="020B0503020204020204" charset="-122"/>
                <a:ea typeface="微软雅黑" panose="020B0503020204020204" charset="-122"/>
                <a:cs typeface="微软雅黑" panose="020B0503020204020204" charset="-122"/>
                <a:sym typeface="Calibri" panose="020F0502020204030204"/>
              </a:rPr>
              <a:t>；</a:t>
            </a:r>
            <a:endParaRPr kumimoji="0" lang="zh-CN" altLang="en-US" sz="1800" b="0" i="0" u="none" strike="noStrike" cap="none" spc="0" normalizeH="0" baseline="0">
              <a:ln>
                <a:noFill/>
              </a:ln>
              <a:solidFill>
                <a:srgbClr val="000000"/>
              </a:solidFill>
              <a:effectLst/>
              <a:uFillTx/>
              <a:latin typeface="微软雅黑" panose="020B0503020204020204" charset="-122"/>
              <a:ea typeface="微软雅黑" panose="020B0503020204020204" charset="-122"/>
              <a:cs typeface="微软雅黑" panose="020B0503020204020204" charset="-122"/>
              <a:sym typeface="Calibri" panose="020F0502020204030204"/>
            </a:endParaRPr>
          </a:p>
          <a:p>
            <a:pPr marL="0" marR="0" indent="0" algn="l" defTabSz="914400" rtl="0" fontAlgn="auto" latinLnBrk="0" hangingPunct="0">
              <a:lnSpc>
                <a:spcPct val="100000"/>
              </a:lnSpc>
              <a:spcBef>
                <a:spcPts val="0"/>
              </a:spcBef>
              <a:spcAft>
                <a:spcPts val="0"/>
              </a:spcAft>
              <a:buClrTx/>
              <a:buSzTx/>
              <a:buFontTx/>
              <a:buNone/>
            </a:pPr>
            <a:r>
              <a:rPr kumimoji="0" lang="en-US" altLang="zh-CN" sz="1800" b="0" i="0" u="none" strike="noStrike" cap="none" spc="0" normalizeH="0" baseline="0">
                <a:ln>
                  <a:noFill/>
                </a:ln>
                <a:solidFill>
                  <a:srgbClr val="000000"/>
                </a:solidFill>
                <a:effectLst/>
                <a:uFillTx/>
                <a:latin typeface="微软雅黑" panose="020B0503020204020204" charset="-122"/>
                <a:ea typeface="微软雅黑" panose="020B0503020204020204" charset="-122"/>
                <a:cs typeface="微软雅黑" panose="020B0503020204020204" charset="-122"/>
                <a:sym typeface="Calibri" panose="020F0502020204030204"/>
              </a:rPr>
              <a:t>5</a:t>
            </a:r>
            <a:r>
              <a:rPr kumimoji="0" lang="zh-CN" altLang="en-US" sz="1800" b="0" i="0" u="none" strike="noStrike" cap="none" spc="0" normalizeH="0" baseline="0">
                <a:ln>
                  <a:noFill/>
                </a:ln>
                <a:solidFill>
                  <a:srgbClr val="000000"/>
                </a:solidFill>
                <a:effectLst/>
                <a:uFillTx/>
                <a:latin typeface="微软雅黑" panose="020B0503020204020204" charset="-122"/>
                <a:ea typeface="微软雅黑" panose="020B0503020204020204" charset="-122"/>
                <a:cs typeface="微软雅黑" panose="020B0503020204020204" charset="-122"/>
                <a:sym typeface="Calibri" panose="020F0502020204030204"/>
              </a:rPr>
              <a:t>、达到要求的实验测试数据后可停止测试实验，给予一定转化表现期（比如</a:t>
            </a:r>
            <a:r>
              <a:rPr kumimoji="0" lang="en-US" altLang="zh-CN" sz="1800" b="0" i="0" u="none" strike="noStrike" cap="none" spc="0" normalizeH="0" baseline="0">
                <a:ln>
                  <a:noFill/>
                </a:ln>
                <a:solidFill>
                  <a:srgbClr val="000000"/>
                </a:solidFill>
                <a:effectLst/>
                <a:uFillTx/>
                <a:latin typeface="微软雅黑" panose="020B0503020204020204" charset="-122"/>
                <a:ea typeface="微软雅黑" panose="020B0503020204020204" charset="-122"/>
                <a:cs typeface="微软雅黑" panose="020B0503020204020204" charset="-122"/>
                <a:sym typeface="Calibri" panose="020F0502020204030204"/>
              </a:rPr>
              <a:t>1</a:t>
            </a:r>
            <a:r>
              <a:rPr kumimoji="0" lang="zh-CN" altLang="en-US" sz="1800" b="0" i="0" u="none" strike="noStrike" cap="none" spc="0" normalizeH="0" baseline="0">
                <a:ln>
                  <a:noFill/>
                </a:ln>
                <a:solidFill>
                  <a:srgbClr val="000000"/>
                </a:solidFill>
                <a:effectLst/>
                <a:uFillTx/>
                <a:latin typeface="微软雅黑" panose="020B0503020204020204" charset="-122"/>
                <a:ea typeface="微软雅黑" panose="020B0503020204020204" charset="-122"/>
                <a:cs typeface="微软雅黑" panose="020B0503020204020204" charset="-122"/>
                <a:sym typeface="Calibri" panose="020F0502020204030204"/>
              </a:rPr>
              <a:t>个月）对比评估</a:t>
            </a:r>
            <a:r>
              <a:rPr kumimoji="0" lang="en-US" altLang="zh-CN" sz="1800" b="0" i="0" u="none" strike="noStrike" cap="none" spc="0" normalizeH="0" baseline="0">
                <a:ln>
                  <a:noFill/>
                </a:ln>
                <a:solidFill>
                  <a:srgbClr val="000000"/>
                </a:solidFill>
                <a:effectLst/>
                <a:uFillTx/>
                <a:latin typeface="微软雅黑" panose="020B0503020204020204" charset="-122"/>
                <a:ea typeface="微软雅黑" panose="020B0503020204020204" charset="-122"/>
                <a:cs typeface="微软雅黑" panose="020B0503020204020204" charset="-122"/>
                <a:sym typeface="Calibri" panose="020F0502020204030204"/>
              </a:rPr>
              <a:t>AB</a:t>
            </a:r>
            <a:r>
              <a:rPr kumimoji="0" lang="zh-CN" altLang="en-US" sz="1800" b="0" i="0" u="none" strike="noStrike" cap="none" spc="0" normalizeH="0" baseline="0">
                <a:ln>
                  <a:noFill/>
                </a:ln>
                <a:solidFill>
                  <a:srgbClr val="000000"/>
                </a:solidFill>
                <a:effectLst/>
                <a:uFillTx/>
                <a:latin typeface="微软雅黑" panose="020B0503020204020204" charset="-122"/>
                <a:ea typeface="微软雅黑" panose="020B0503020204020204" charset="-122"/>
                <a:cs typeface="微软雅黑" panose="020B0503020204020204" charset="-122"/>
                <a:sym typeface="Calibri" panose="020F0502020204030204"/>
              </a:rPr>
              <a:t>的转化效果；</a:t>
            </a:r>
            <a:endParaRPr kumimoji="0" lang="zh-CN" altLang="en-US" sz="1800" b="0" i="0" u="none" strike="noStrike" cap="none" spc="0" normalizeH="0" baseline="0">
              <a:ln>
                <a:noFill/>
              </a:ln>
              <a:solidFill>
                <a:srgbClr val="000000"/>
              </a:solidFill>
              <a:effectLst/>
              <a:uFillTx/>
              <a:latin typeface="微软雅黑" panose="020B0503020204020204" charset="-122"/>
              <a:ea typeface="微软雅黑" panose="020B0503020204020204" charset="-122"/>
              <a:cs typeface="微软雅黑" panose="020B0503020204020204" charset="-122"/>
              <a:sym typeface="Calibri" panose="020F0502020204030204"/>
            </a:endParaRPr>
          </a:p>
        </p:txBody>
      </p:sp>
      <p:sp>
        <p:nvSpPr>
          <p:cNvPr id="5" name="文本框 4"/>
          <p:cNvSpPr txBox="1"/>
          <p:nvPr/>
        </p:nvSpPr>
        <p:spPr>
          <a:xfrm>
            <a:off x="551815" y="3429000"/>
            <a:ext cx="6529705" cy="520700"/>
          </a:xfrm>
          <a:prstGeom prst="rect">
            <a:avLst/>
          </a:prstGeom>
          <a:noFill/>
          <a:ln w="12700" cap="flat">
            <a:noFill/>
            <a:miter lim="400000"/>
          </a:ln>
        </p:spPr>
        <p:style>
          <a:lnRef idx="0">
            <a:srgbClr val="FFFFFF"/>
          </a:lnRef>
          <a:fillRef idx="0">
            <a:srgbClr val="FFFFFF"/>
          </a:fillRef>
          <a:effectRef idx="0">
            <a:srgbClr val="FFFFFF"/>
          </a:effectRef>
          <a:fontRef idx="none"/>
        </p:style>
        <p:txBody>
          <a:bodyPr rot="0" vertOverflow="overflow" horzOverflow="overflow" vert="horz" wrap="square" lIns="45719" tIns="45719" rIns="45719" bIns="45719" numCol="1" spcCol="38100" rtlCol="0" anchor="t" forceAA="0" upright="0">
            <a:spAutoFit/>
          </a:bodyPr>
          <a:p>
            <a:pPr marL="0" marR="0" indent="0" algn="l" defTabSz="914400" rtl="0" fontAlgn="auto" latinLnBrk="0" hangingPunct="0">
              <a:lnSpc>
                <a:spcPct val="100000"/>
              </a:lnSpc>
              <a:spcBef>
                <a:spcPts val="0"/>
              </a:spcBef>
              <a:spcAft>
                <a:spcPts val="0"/>
              </a:spcAft>
              <a:buClrTx/>
              <a:buSzTx/>
              <a:buFontTx/>
              <a:buNone/>
            </a:pPr>
            <a:r>
              <a:rPr kumimoji="0" lang="zh-CN" altLang="en-US" sz="1400" b="1" i="0" u="none" strike="noStrike" cap="none" spc="0" normalizeH="0" baseline="0">
                <a:ln>
                  <a:noFill/>
                </a:ln>
                <a:solidFill>
                  <a:srgbClr val="FF0000"/>
                </a:solidFill>
                <a:effectLst/>
                <a:uFillTx/>
                <a:latin typeface="微软雅黑" panose="020B0503020204020204" charset="-122"/>
                <a:ea typeface="微软雅黑" panose="020B0503020204020204" charset="-122"/>
                <a:cs typeface="微软雅黑" panose="020B0503020204020204" charset="-122"/>
                <a:sym typeface="Calibri" panose="020F0502020204030204"/>
              </a:rPr>
              <a:t>AB测试实验</a:t>
            </a:r>
            <a:r>
              <a:rPr kumimoji="0" lang="zh-CN" altLang="en-US" sz="1400" b="0" i="0" u="none" strike="noStrike" cap="none" spc="0" normalizeH="0" baseline="0">
                <a:ln>
                  <a:noFill/>
                </a:ln>
                <a:solidFill>
                  <a:srgbClr val="000000"/>
                </a:solidFill>
                <a:effectLst/>
                <a:uFillTx/>
                <a:latin typeface="微软雅黑" panose="020B0503020204020204" charset="-122"/>
                <a:ea typeface="微软雅黑" panose="020B0503020204020204" charset="-122"/>
                <a:cs typeface="微软雅黑" panose="020B0503020204020204" charset="-122"/>
                <a:sym typeface="Calibri" panose="020F0502020204030204"/>
              </a:rPr>
              <a:t>的前身是随机对照试验-双盲测试，是“医疗/生物实验将研究对象随机分组，对不同组实施不同的干预，对照起效果”。</a:t>
            </a:r>
            <a:endParaRPr kumimoji="0" lang="zh-CN" altLang="en-US" sz="1400" b="0" i="0" u="none" strike="noStrike" cap="none" spc="0" normalizeH="0" baseline="0">
              <a:ln>
                <a:noFill/>
              </a:ln>
              <a:solidFill>
                <a:srgbClr val="000000"/>
              </a:solidFill>
              <a:effectLst/>
              <a:uFillTx/>
              <a:latin typeface="微软雅黑" panose="020B0503020204020204" charset="-122"/>
              <a:ea typeface="微软雅黑" panose="020B0503020204020204" charset="-122"/>
              <a:cs typeface="微软雅黑" panose="020B0503020204020204" charset="-122"/>
              <a:sym typeface="Calibri" panose="020F0502020204030204"/>
            </a:endParaRPr>
          </a:p>
        </p:txBody>
      </p:sp>
    </p:spTree>
  </p:cSld>
  <p:clrMapOvr>
    <a:masterClrMapping/>
  </p:clrMapOvr>
  <p:transition spd="med"/>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p:nvPr>
            <p:ph type="title"/>
          </p:nvPr>
        </p:nvSpPr>
        <p:spPr>
          <a:xfrm>
            <a:off x="335915" y="260985"/>
            <a:ext cx="10714355" cy="675005"/>
          </a:xfrm>
        </p:spPr>
        <p:txBody>
          <a:bodyPr>
            <a:normAutofit/>
          </a:bodyPr>
          <a:p>
            <a:r>
              <a:rPr lang="en-US" altLang="zh-CN" sz="3555"/>
              <a:t>4. </a:t>
            </a:r>
            <a:r>
              <a:rPr lang="zh-CN" sz="3555"/>
              <a:t>测试方案</a:t>
            </a:r>
            <a:endParaRPr lang="zh-CN" sz="3550">
              <a:sym typeface="+mn-ea"/>
            </a:endParaRPr>
          </a:p>
        </p:txBody>
      </p:sp>
      <p:sp>
        <p:nvSpPr>
          <p:cNvPr id="42" name="文本框 41"/>
          <p:cNvSpPr txBox="1"/>
          <p:nvPr/>
        </p:nvSpPr>
        <p:spPr>
          <a:xfrm>
            <a:off x="623570" y="1196975"/>
            <a:ext cx="2288540" cy="397510"/>
          </a:xfrm>
          <a:prstGeom prst="rect">
            <a:avLst/>
          </a:prstGeom>
          <a:noFill/>
          <a:ln w="12700" cap="flat">
            <a:noFill/>
            <a:miter lim="400000"/>
          </a:ln>
        </p:spPr>
        <p:style>
          <a:lnRef idx="0">
            <a:srgbClr val="FFFFFF"/>
          </a:lnRef>
          <a:fillRef idx="0">
            <a:srgbClr val="FFFFFF"/>
          </a:fillRef>
          <a:effectRef idx="0">
            <a:srgbClr val="FFFFFF"/>
          </a:effectRef>
          <a:fontRef idx="none"/>
        </p:style>
        <p:txBody>
          <a:bodyPr rot="0" vertOverflow="overflow" horzOverflow="overflow" vert="horz" wrap="square" lIns="45719" tIns="45719" rIns="45719" bIns="45719" numCol="1" spcCol="38100" rtlCol="0" anchor="t" forceAA="0" upright="0">
            <a:spAutoFit/>
          </a:bodyPr>
          <a:p>
            <a:pPr marL="342900" marR="0" indent="-342900" algn="l" defTabSz="914400" rtl="0" fontAlgn="auto" latinLnBrk="0" hangingPunct="0">
              <a:lnSpc>
                <a:spcPct val="100000"/>
              </a:lnSpc>
              <a:spcBef>
                <a:spcPts val="0"/>
              </a:spcBef>
              <a:spcAft>
                <a:spcPts val="0"/>
              </a:spcAft>
              <a:buClrTx/>
              <a:buSzTx/>
              <a:buFont typeface="Wingdings" panose="05000000000000000000" charset="0"/>
              <a:buChar char="ü"/>
            </a:pPr>
            <a:r>
              <a:rPr kumimoji="0" lang="en-US" altLang="zh-CN" sz="2000" b="1" i="0" u="none" strike="noStrike" cap="none" spc="0" normalizeH="0" baseline="0">
                <a:ln>
                  <a:noFill/>
                </a:ln>
                <a:solidFill>
                  <a:srgbClr val="0564CD"/>
                </a:solidFill>
                <a:effectLst/>
                <a:uFillTx/>
                <a:latin typeface="微软雅黑" panose="020B0503020204020204" charset="-122"/>
                <a:ea typeface="微软雅黑" panose="020B0503020204020204" charset="-122"/>
                <a:cs typeface="微软雅黑" panose="020B0503020204020204" charset="-122"/>
                <a:sym typeface="Calibri" panose="020F0502020204030204"/>
              </a:rPr>
              <a:t>PPC</a:t>
            </a:r>
            <a:r>
              <a:rPr kumimoji="0" lang="zh-CN" sz="2000" b="1" i="0" u="none" strike="noStrike" cap="none" spc="0" normalizeH="0" baseline="0">
                <a:ln>
                  <a:noFill/>
                </a:ln>
                <a:solidFill>
                  <a:srgbClr val="0564CD"/>
                </a:solidFill>
                <a:effectLst/>
                <a:uFillTx/>
                <a:latin typeface="微软雅黑" panose="020B0503020204020204" charset="-122"/>
                <a:ea typeface="微软雅黑" panose="020B0503020204020204" charset="-122"/>
                <a:cs typeface="微软雅黑" panose="020B0503020204020204" charset="-122"/>
                <a:sym typeface="Calibri" panose="020F0502020204030204"/>
              </a:rPr>
              <a:t>渠道分析</a:t>
            </a:r>
            <a:endParaRPr kumimoji="0" lang="zh-CN" sz="2000" b="1" i="0" u="none" strike="noStrike" cap="none" spc="0" normalizeH="0" baseline="0">
              <a:ln>
                <a:noFill/>
              </a:ln>
              <a:solidFill>
                <a:srgbClr val="0564CD"/>
              </a:solidFill>
              <a:effectLst/>
              <a:uFillTx/>
              <a:latin typeface="微软雅黑" panose="020B0503020204020204" charset="-122"/>
              <a:ea typeface="微软雅黑" panose="020B0503020204020204" charset="-122"/>
              <a:cs typeface="微软雅黑" panose="020B0503020204020204" charset="-122"/>
              <a:sym typeface="Calibri" panose="020F0502020204030204"/>
            </a:endParaRPr>
          </a:p>
        </p:txBody>
      </p:sp>
      <p:sp>
        <p:nvSpPr>
          <p:cNvPr id="3" name="文本框 2"/>
          <p:cNvSpPr txBox="1"/>
          <p:nvPr/>
        </p:nvSpPr>
        <p:spPr>
          <a:xfrm>
            <a:off x="623570" y="1917065"/>
            <a:ext cx="5904230" cy="2167255"/>
          </a:xfrm>
          <a:prstGeom prst="rect">
            <a:avLst/>
          </a:prstGeom>
          <a:noFill/>
          <a:ln w="12700" cap="flat">
            <a:noFill/>
            <a:miter lim="400000"/>
          </a:ln>
        </p:spPr>
        <p:style>
          <a:lnRef idx="0">
            <a:srgbClr val="FFFFFF"/>
          </a:lnRef>
          <a:fillRef idx="0">
            <a:srgbClr val="FFFFFF"/>
          </a:fillRef>
          <a:effectRef idx="0">
            <a:srgbClr val="FFFFFF"/>
          </a:effectRef>
          <a:fontRef idx="none"/>
        </p:style>
        <p:txBody>
          <a:bodyPr rot="0" vertOverflow="overflow" horzOverflow="overflow" vert="horz" wrap="square" lIns="45719" tIns="45719" rIns="45719" bIns="45719" numCol="1" spcCol="38100" rtlCol="0" anchor="t" forceAA="0" upright="0">
            <a:spAutoFit/>
          </a:bodyPr>
          <a:p>
            <a:pPr marL="0" marR="0" indent="0" algn="l" defTabSz="914400" rtl="0" fontAlgn="auto" latinLnBrk="0" hangingPunct="0">
              <a:lnSpc>
                <a:spcPct val="150000"/>
              </a:lnSpc>
              <a:spcBef>
                <a:spcPts val="0"/>
              </a:spcBef>
              <a:spcAft>
                <a:spcPts val="0"/>
              </a:spcAft>
              <a:buClrTx/>
              <a:buSzTx/>
              <a:buFontTx/>
              <a:buNone/>
            </a:pPr>
            <a:r>
              <a:rPr kumimoji="0" lang="en-US" altLang="zh-CN" sz="1800" b="0" i="0" u="none" strike="noStrike" cap="none" spc="0" normalizeH="0" baseline="0">
                <a:ln>
                  <a:noFill/>
                </a:ln>
                <a:solidFill>
                  <a:srgbClr val="000000"/>
                </a:solidFill>
                <a:effectLst/>
                <a:uFillTx/>
                <a:latin typeface="微软雅黑" panose="020B0503020204020204" charset="-122"/>
                <a:ea typeface="微软雅黑" panose="020B0503020204020204" charset="-122"/>
                <a:cs typeface="微软雅黑" panose="020B0503020204020204" charset="-122"/>
                <a:sym typeface="Calibri" panose="020F0502020204030204"/>
              </a:rPr>
              <a:t>1</a:t>
            </a:r>
            <a:r>
              <a:rPr kumimoji="0" lang="zh-CN" altLang="en-US" sz="1800" b="0" i="0" u="none" strike="noStrike" cap="none" spc="0" normalizeH="0" baseline="0">
                <a:ln>
                  <a:noFill/>
                </a:ln>
                <a:solidFill>
                  <a:srgbClr val="000000"/>
                </a:solidFill>
                <a:effectLst/>
                <a:uFillTx/>
                <a:latin typeface="微软雅黑" panose="020B0503020204020204" charset="-122"/>
                <a:ea typeface="微软雅黑" panose="020B0503020204020204" charset="-122"/>
                <a:cs typeface="微软雅黑" panose="020B0503020204020204" charset="-122"/>
                <a:sym typeface="Calibri" panose="020F0502020204030204"/>
              </a:rPr>
              <a:t>、从业务层面上看，</a:t>
            </a:r>
            <a:r>
              <a:rPr kumimoji="0" lang="en-US" altLang="zh-CN" sz="1800" b="0" i="0" u="none" strike="noStrike" cap="none" spc="0" normalizeH="0" baseline="0">
                <a:ln>
                  <a:noFill/>
                </a:ln>
                <a:solidFill>
                  <a:srgbClr val="000000"/>
                </a:solidFill>
                <a:effectLst/>
                <a:uFillTx/>
                <a:latin typeface="微软雅黑" panose="020B0503020204020204" charset="-122"/>
                <a:ea typeface="微软雅黑" panose="020B0503020204020204" charset="-122"/>
                <a:cs typeface="微软雅黑" panose="020B0503020204020204" charset="-122"/>
                <a:sym typeface="Calibri" panose="020F0502020204030204"/>
              </a:rPr>
              <a:t>PPC</a:t>
            </a:r>
            <a:r>
              <a:rPr kumimoji="0" lang="zh-CN" altLang="en-US" sz="1800" b="0" i="0" u="none" strike="noStrike" cap="none" spc="0" normalizeH="0" baseline="0">
                <a:ln>
                  <a:noFill/>
                </a:ln>
                <a:solidFill>
                  <a:srgbClr val="000000"/>
                </a:solidFill>
                <a:effectLst/>
                <a:uFillTx/>
                <a:latin typeface="微软雅黑" panose="020B0503020204020204" charset="-122"/>
                <a:ea typeface="微软雅黑" panose="020B0503020204020204" charset="-122"/>
                <a:cs typeface="微软雅黑" panose="020B0503020204020204" charset="-122"/>
                <a:sym typeface="Calibri" panose="020F0502020204030204"/>
              </a:rPr>
              <a:t>渠道属于二类商机，现有商机分配可随机派给同一批顾问，随机性符合测试要求；</a:t>
            </a:r>
            <a:endParaRPr kumimoji="0" lang="zh-CN" altLang="en-US" sz="1800" b="0" i="0" u="none" strike="noStrike" cap="none" spc="0" normalizeH="0" baseline="0">
              <a:ln>
                <a:noFill/>
              </a:ln>
              <a:solidFill>
                <a:srgbClr val="000000"/>
              </a:solidFill>
              <a:effectLst/>
              <a:uFillTx/>
              <a:latin typeface="微软雅黑" panose="020B0503020204020204" charset="-122"/>
              <a:ea typeface="微软雅黑" panose="020B0503020204020204" charset="-122"/>
              <a:cs typeface="微软雅黑" panose="020B0503020204020204" charset="-122"/>
              <a:sym typeface="Calibri" panose="020F0502020204030204"/>
            </a:endParaRPr>
          </a:p>
          <a:p>
            <a:pPr marL="0" marR="0" indent="0" algn="l" defTabSz="914400" rtl="0" fontAlgn="auto" latinLnBrk="0" hangingPunct="0">
              <a:lnSpc>
                <a:spcPct val="150000"/>
              </a:lnSpc>
              <a:spcBef>
                <a:spcPts val="0"/>
              </a:spcBef>
              <a:spcAft>
                <a:spcPts val="0"/>
              </a:spcAft>
              <a:buClrTx/>
              <a:buSzTx/>
              <a:buFontTx/>
              <a:buNone/>
            </a:pPr>
            <a:r>
              <a:rPr kumimoji="0" lang="en-US" altLang="zh-CN" sz="1800" b="0" i="0" u="none" strike="noStrike" cap="none" spc="0" normalizeH="0" baseline="0">
                <a:ln>
                  <a:noFill/>
                </a:ln>
                <a:solidFill>
                  <a:srgbClr val="000000"/>
                </a:solidFill>
                <a:effectLst/>
                <a:uFillTx/>
                <a:latin typeface="微软雅黑" panose="020B0503020204020204" charset="-122"/>
                <a:ea typeface="微软雅黑" panose="020B0503020204020204" charset="-122"/>
                <a:cs typeface="微软雅黑" panose="020B0503020204020204" charset="-122"/>
                <a:sym typeface="Calibri" panose="020F0502020204030204"/>
              </a:rPr>
              <a:t>2</a:t>
            </a:r>
            <a:r>
              <a:rPr kumimoji="0" lang="zh-CN" altLang="en-US" sz="1800" b="0" i="0" u="none" strike="noStrike" cap="none" spc="0" normalizeH="0" baseline="0">
                <a:ln>
                  <a:noFill/>
                </a:ln>
                <a:solidFill>
                  <a:srgbClr val="000000"/>
                </a:solidFill>
                <a:effectLst/>
                <a:uFillTx/>
                <a:latin typeface="微软雅黑" panose="020B0503020204020204" charset="-122"/>
                <a:ea typeface="微软雅黑" panose="020B0503020204020204" charset="-122"/>
                <a:cs typeface="微软雅黑" panose="020B0503020204020204" charset="-122"/>
                <a:sym typeface="Calibri" panose="020F0502020204030204"/>
              </a:rPr>
              <a:t>、从数据分析层面上看，</a:t>
            </a:r>
            <a:r>
              <a:rPr kumimoji="0" lang="en-US" altLang="zh-CN" sz="1800" b="0" i="0" u="none" strike="noStrike" cap="none" spc="0" normalizeH="0" baseline="0">
                <a:ln>
                  <a:noFill/>
                </a:ln>
                <a:solidFill>
                  <a:srgbClr val="000000"/>
                </a:solidFill>
                <a:effectLst/>
                <a:uFillTx/>
                <a:latin typeface="微软雅黑" panose="020B0503020204020204" charset="-122"/>
                <a:ea typeface="微软雅黑" panose="020B0503020204020204" charset="-122"/>
                <a:cs typeface="微软雅黑" panose="020B0503020204020204" charset="-122"/>
                <a:sym typeface="Calibri" panose="020F0502020204030204"/>
              </a:rPr>
              <a:t>PPC</a:t>
            </a:r>
            <a:r>
              <a:rPr kumimoji="0" lang="zh-CN" altLang="en-US" sz="1800" b="0" i="0" u="none" strike="noStrike" cap="none" spc="0" normalizeH="0" baseline="0">
                <a:ln>
                  <a:noFill/>
                </a:ln>
                <a:solidFill>
                  <a:srgbClr val="000000"/>
                </a:solidFill>
                <a:effectLst/>
                <a:uFillTx/>
                <a:latin typeface="微软雅黑" panose="020B0503020204020204" charset="-122"/>
                <a:ea typeface="微软雅黑" panose="020B0503020204020204" charset="-122"/>
                <a:cs typeface="微软雅黑" panose="020B0503020204020204" charset="-122"/>
                <a:sym typeface="Calibri" panose="020F0502020204030204"/>
              </a:rPr>
              <a:t>渠道的转化水平在</a:t>
            </a:r>
            <a:r>
              <a:rPr kumimoji="0" lang="en-US" altLang="zh-CN" sz="1800" b="0" i="0" u="none" strike="noStrike" cap="none" spc="0" normalizeH="0" baseline="0">
                <a:ln>
                  <a:noFill/>
                </a:ln>
                <a:solidFill>
                  <a:srgbClr val="000000"/>
                </a:solidFill>
                <a:effectLst/>
                <a:uFillTx/>
                <a:latin typeface="微软雅黑" panose="020B0503020204020204" charset="-122"/>
                <a:ea typeface="微软雅黑" panose="020B0503020204020204" charset="-122"/>
                <a:cs typeface="微软雅黑" panose="020B0503020204020204" charset="-122"/>
                <a:sym typeface="Calibri" panose="020F0502020204030204"/>
              </a:rPr>
              <a:t>2%</a:t>
            </a:r>
            <a:r>
              <a:rPr kumimoji="0" lang="zh-CN" altLang="en-US" sz="1800" b="0" i="0" u="none" strike="noStrike" cap="none" spc="0" normalizeH="0" baseline="0">
                <a:ln>
                  <a:noFill/>
                </a:ln>
                <a:solidFill>
                  <a:srgbClr val="000000"/>
                </a:solidFill>
                <a:effectLst/>
                <a:uFillTx/>
                <a:latin typeface="微软雅黑" panose="020B0503020204020204" charset="-122"/>
                <a:ea typeface="微软雅黑" panose="020B0503020204020204" charset="-122"/>
                <a:cs typeface="微软雅黑" panose="020B0503020204020204" charset="-122"/>
                <a:sym typeface="Calibri" panose="020F0502020204030204"/>
              </a:rPr>
              <a:t>左右，近几个月商机用户月均</a:t>
            </a:r>
            <a:r>
              <a:rPr kumimoji="0" lang="en-US" altLang="zh-CN" sz="1800" b="0" i="0" u="none" strike="noStrike" cap="none" spc="0" normalizeH="0" baseline="0">
                <a:ln>
                  <a:noFill/>
                </a:ln>
                <a:solidFill>
                  <a:srgbClr val="000000"/>
                </a:solidFill>
                <a:effectLst/>
                <a:uFillTx/>
                <a:latin typeface="微软雅黑" panose="020B0503020204020204" charset="-122"/>
                <a:ea typeface="微软雅黑" panose="020B0503020204020204" charset="-122"/>
                <a:cs typeface="微软雅黑" panose="020B0503020204020204" charset="-122"/>
                <a:sym typeface="Calibri" panose="020F0502020204030204"/>
              </a:rPr>
              <a:t>14000</a:t>
            </a:r>
            <a:r>
              <a:rPr kumimoji="0" lang="zh-CN" altLang="en-US" sz="1800" b="0" i="0" u="none" strike="noStrike" cap="none" spc="0" normalizeH="0" baseline="0">
                <a:ln>
                  <a:noFill/>
                </a:ln>
                <a:solidFill>
                  <a:srgbClr val="000000"/>
                </a:solidFill>
                <a:effectLst/>
                <a:uFillTx/>
                <a:latin typeface="微软雅黑" panose="020B0503020204020204" charset="-122"/>
                <a:ea typeface="微软雅黑" panose="020B0503020204020204" charset="-122"/>
                <a:cs typeface="微软雅黑" panose="020B0503020204020204" charset="-122"/>
                <a:sym typeface="Calibri" panose="020F0502020204030204"/>
              </a:rPr>
              <a:t>左右，每天渠道用户约</a:t>
            </a:r>
            <a:r>
              <a:rPr kumimoji="0" lang="en-US" altLang="zh-CN" sz="1800" b="0" i="0" u="none" strike="noStrike" cap="none" spc="0" normalizeH="0" baseline="0">
                <a:ln>
                  <a:noFill/>
                </a:ln>
                <a:solidFill>
                  <a:srgbClr val="000000"/>
                </a:solidFill>
                <a:effectLst/>
                <a:uFillTx/>
                <a:latin typeface="微软雅黑" panose="020B0503020204020204" charset="-122"/>
                <a:ea typeface="微软雅黑" panose="020B0503020204020204" charset="-122"/>
                <a:cs typeface="微软雅黑" panose="020B0503020204020204" charset="-122"/>
                <a:sym typeface="Calibri" panose="020F0502020204030204"/>
              </a:rPr>
              <a:t>480</a:t>
            </a:r>
            <a:r>
              <a:rPr kumimoji="0" lang="zh-CN" altLang="en-US" sz="1800" b="0" i="0" u="none" strike="noStrike" cap="none" spc="0" normalizeH="0" baseline="0">
                <a:ln>
                  <a:noFill/>
                </a:ln>
                <a:solidFill>
                  <a:srgbClr val="000000"/>
                </a:solidFill>
                <a:effectLst/>
                <a:uFillTx/>
                <a:latin typeface="微软雅黑" panose="020B0503020204020204" charset="-122"/>
                <a:ea typeface="微软雅黑" panose="020B0503020204020204" charset="-122"/>
                <a:cs typeface="微软雅黑" panose="020B0503020204020204" charset="-122"/>
                <a:sym typeface="Calibri" panose="020F0502020204030204"/>
              </a:rPr>
              <a:t>个，数据较稳定，符合测试要求；</a:t>
            </a:r>
            <a:endParaRPr kumimoji="0" lang="zh-CN" altLang="en-US" sz="1800" b="0" i="0" u="none" strike="noStrike" cap="none" spc="0" normalizeH="0" baseline="0">
              <a:ln>
                <a:noFill/>
              </a:ln>
              <a:solidFill>
                <a:srgbClr val="000000"/>
              </a:solidFill>
              <a:effectLst/>
              <a:uFillTx/>
              <a:latin typeface="微软雅黑" panose="020B0503020204020204" charset="-122"/>
              <a:ea typeface="微软雅黑" panose="020B0503020204020204" charset="-122"/>
              <a:cs typeface="微软雅黑" panose="020B0503020204020204" charset="-122"/>
              <a:sym typeface="Calibri" panose="020F0502020204030204"/>
            </a:endParaRPr>
          </a:p>
        </p:txBody>
      </p:sp>
      <p:sp>
        <p:nvSpPr>
          <p:cNvPr id="7" name="文本框 6"/>
          <p:cNvSpPr txBox="1"/>
          <p:nvPr/>
        </p:nvSpPr>
        <p:spPr>
          <a:xfrm>
            <a:off x="7809230" y="4293235"/>
            <a:ext cx="2670810" cy="367030"/>
          </a:xfrm>
          <a:prstGeom prst="rect">
            <a:avLst/>
          </a:prstGeom>
          <a:noFill/>
          <a:ln w="12700" cap="flat">
            <a:noFill/>
            <a:miter lim="400000"/>
          </a:ln>
        </p:spPr>
        <p:style>
          <a:lnRef idx="0">
            <a:srgbClr val="FFFFFF"/>
          </a:lnRef>
          <a:fillRef idx="0">
            <a:srgbClr val="FFFFFF"/>
          </a:fillRef>
          <a:effectRef idx="0">
            <a:srgbClr val="FFFFFF"/>
          </a:effectRef>
          <a:fontRef idx="none"/>
        </p:style>
        <p:txBody>
          <a:bodyPr rot="0" vertOverflow="overflow" horzOverflow="overflow" vert="horz" wrap="square" lIns="45719" tIns="45719" rIns="45719" bIns="45719" numCol="1" spcCol="38100" rtlCol="0" anchor="t" forceAA="0" upright="0">
            <a:spAutoFit/>
          </a:bodyPr>
          <a:p>
            <a:pPr marL="0" marR="0" indent="0" algn="l" defTabSz="914400" rtl="0" fontAlgn="auto" latinLnBrk="0" hangingPunct="0">
              <a:lnSpc>
                <a:spcPct val="100000"/>
              </a:lnSpc>
              <a:spcBef>
                <a:spcPts val="0"/>
              </a:spcBef>
              <a:spcAft>
                <a:spcPts val="0"/>
              </a:spcAft>
              <a:buClrTx/>
              <a:buSzTx/>
              <a:buFontTx/>
              <a:buNone/>
            </a:pPr>
            <a:r>
              <a:rPr kumimoji="0" lang="en-US" altLang="zh-CN" sz="1800" b="1" i="0" u="none" strike="noStrike" cap="none" spc="0" normalizeH="0" baseline="0">
                <a:ln>
                  <a:noFill/>
                </a:ln>
                <a:solidFill>
                  <a:srgbClr val="000000"/>
                </a:solidFill>
                <a:effectLst/>
                <a:uFillTx/>
                <a:latin typeface="+mj-lt"/>
                <a:ea typeface="+mj-ea"/>
                <a:cs typeface="+mj-cs"/>
                <a:sym typeface="Calibri" panose="020F0502020204030204"/>
              </a:rPr>
              <a:t>PPC</a:t>
            </a:r>
            <a:r>
              <a:rPr kumimoji="0" lang="zh-CN" altLang="en-US" sz="1800" b="1" i="0" u="none" strike="noStrike" cap="none" spc="0" normalizeH="0" baseline="0">
                <a:ln>
                  <a:noFill/>
                </a:ln>
                <a:solidFill>
                  <a:srgbClr val="000000"/>
                </a:solidFill>
                <a:effectLst/>
                <a:uFillTx/>
                <a:latin typeface="+mj-lt"/>
                <a:ea typeface="+mj-ea"/>
                <a:cs typeface="+mj-cs"/>
                <a:sym typeface="Calibri" panose="020F0502020204030204"/>
              </a:rPr>
              <a:t>渠道下单转化趋势</a:t>
            </a:r>
            <a:endParaRPr kumimoji="0" lang="zh-CN" altLang="en-US" sz="1800" b="1" i="0" u="none" strike="noStrike" cap="none" spc="0" normalizeH="0" baseline="0">
              <a:ln>
                <a:noFill/>
              </a:ln>
              <a:solidFill>
                <a:srgbClr val="000000"/>
              </a:solidFill>
              <a:effectLst/>
              <a:uFillTx/>
              <a:latin typeface="+mj-lt"/>
              <a:ea typeface="+mj-ea"/>
              <a:cs typeface="+mj-cs"/>
              <a:sym typeface="Calibri" panose="020F0502020204030204"/>
            </a:endParaRPr>
          </a:p>
        </p:txBody>
      </p:sp>
      <p:pic>
        <p:nvPicPr>
          <p:cNvPr id="4" name="图片 3"/>
          <p:cNvPicPr>
            <a:picLocks noChangeAspect="1"/>
          </p:cNvPicPr>
          <p:nvPr/>
        </p:nvPicPr>
        <p:blipFill>
          <a:blip r:embed="rId1"/>
          <a:stretch>
            <a:fillRect/>
          </a:stretch>
        </p:blipFill>
        <p:spPr>
          <a:xfrm>
            <a:off x="3791585" y="4149090"/>
            <a:ext cx="2427605" cy="2392045"/>
          </a:xfrm>
          <a:prstGeom prst="rect">
            <a:avLst/>
          </a:prstGeom>
        </p:spPr>
      </p:pic>
      <p:pic>
        <p:nvPicPr>
          <p:cNvPr id="5" name="图片 4"/>
          <p:cNvPicPr>
            <a:picLocks noChangeAspect="1"/>
          </p:cNvPicPr>
          <p:nvPr/>
        </p:nvPicPr>
        <p:blipFill>
          <a:blip r:embed="rId2"/>
          <a:stretch>
            <a:fillRect/>
          </a:stretch>
        </p:blipFill>
        <p:spPr>
          <a:xfrm>
            <a:off x="6527800" y="1615440"/>
            <a:ext cx="4266565" cy="2533650"/>
          </a:xfrm>
          <a:prstGeom prst="rect">
            <a:avLst/>
          </a:prstGeom>
        </p:spPr>
      </p:pic>
    </p:spTree>
  </p:cSld>
  <p:clrMapOvr>
    <a:masterClrMapping/>
  </p:clrMapOvr>
  <p:transition spd="med"/>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p:nvPr>
            <p:ph type="title"/>
          </p:nvPr>
        </p:nvSpPr>
        <p:spPr>
          <a:xfrm>
            <a:off x="335915" y="260985"/>
            <a:ext cx="10714355" cy="675005"/>
          </a:xfrm>
        </p:spPr>
        <p:txBody>
          <a:bodyPr>
            <a:normAutofit/>
          </a:bodyPr>
          <a:p>
            <a:r>
              <a:rPr lang="en-US" altLang="zh-CN" sz="3555"/>
              <a:t>4. </a:t>
            </a:r>
            <a:r>
              <a:rPr lang="zh-CN" sz="3555"/>
              <a:t>测试方案</a:t>
            </a:r>
            <a:endParaRPr lang="zh-CN" sz="3550">
              <a:sym typeface="+mn-ea"/>
            </a:endParaRPr>
          </a:p>
        </p:txBody>
      </p:sp>
      <p:sp>
        <p:nvSpPr>
          <p:cNvPr id="42" name="文本框 41"/>
          <p:cNvSpPr txBox="1"/>
          <p:nvPr/>
        </p:nvSpPr>
        <p:spPr>
          <a:xfrm>
            <a:off x="623570" y="1196975"/>
            <a:ext cx="2288540" cy="397510"/>
          </a:xfrm>
          <a:prstGeom prst="rect">
            <a:avLst/>
          </a:prstGeom>
          <a:noFill/>
          <a:ln w="12700" cap="flat">
            <a:noFill/>
            <a:miter lim="400000"/>
          </a:ln>
        </p:spPr>
        <p:style>
          <a:lnRef idx="0">
            <a:srgbClr val="FFFFFF"/>
          </a:lnRef>
          <a:fillRef idx="0">
            <a:srgbClr val="FFFFFF"/>
          </a:fillRef>
          <a:effectRef idx="0">
            <a:srgbClr val="FFFFFF"/>
          </a:effectRef>
          <a:fontRef idx="none"/>
        </p:style>
        <p:txBody>
          <a:bodyPr rot="0" vertOverflow="overflow" horzOverflow="overflow" vert="horz" wrap="square" lIns="45719" tIns="45719" rIns="45719" bIns="45719" numCol="1" spcCol="38100" rtlCol="0" anchor="t" forceAA="0" upright="0">
            <a:spAutoFit/>
          </a:bodyPr>
          <a:p>
            <a:pPr marL="342900" marR="0" indent="-342900" algn="l" defTabSz="914400" rtl="0" fontAlgn="auto" latinLnBrk="0" hangingPunct="0">
              <a:lnSpc>
                <a:spcPct val="100000"/>
              </a:lnSpc>
              <a:spcBef>
                <a:spcPts val="0"/>
              </a:spcBef>
              <a:spcAft>
                <a:spcPts val="0"/>
              </a:spcAft>
              <a:buClrTx/>
              <a:buSzTx/>
              <a:buFont typeface="Wingdings" panose="05000000000000000000" charset="0"/>
              <a:buChar char="ü"/>
            </a:pPr>
            <a:r>
              <a:rPr kumimoji="0" lang="en-US" altLang="zh-CN" sz="2000" b="1" i="0" u="none" strike="noStrike" cap="none" spc="0" normalizeH="0" baseline="0">
                <a:ln>
                  <a:noFill/>
                </a:ln>
                <a:solidFill>
                  <a:srgbClr val="0564CD"/>
                </a:solidFill>
                <a:effectLst/>
                <a:uFillTx/>
                <a:latin typeface="微软雅黑" panose="020B0503020204020204" charset="-122"/>
                <a:ea typeface="微软雅黑" panose="020B0503020204020204" charset="-122"/>
                <a:cs typeface="微软雅黑" panose="020B0503020204020204" charset="-122"/>
                <a:sym typeface="Calibri" panose="020F0502020204030204"/>
              </a:rPr>
              <a:t>PPC</a:t>
            </a:r>
            <a:r>
              <a:rPr kumimoji="0" lang="zh-CN" sz="2000" b="1" i="0" u="none" strike="noStrike" cap="none" spc="0" normalizeH="0" baseline="0">
                <a:ln>
                  <a:noFill/>
                </a:ln>
                <a:solidFill>
                  <a:srgbClr val="0564CD"/>
                </a:solidFill>
                <a:effectLst/>
                <a:uFillTx/>
                <a:latin typeface="微软雅黑" panose="020B0503020204020204" charset="-122"/>
                <a:ea typeface="微软雅黑" panose="020B0503020204020204" charset="-122"/>
                <a:cs typeface="微软雅黑" panose="020B0503020204020204" charset="-122"/>
                <a:sym typeface="Calibri" panose="020F0502020204030204"/>
              </a:rPr>
              <a:t>渠道分析</a:t>
            </a:r>
            <a:endParaRPr kumimoji="0" lang="zh-CN" sz="2000" b="1" i="0" u="none" strike="noStrike" cap="none" spc="0" normalizeH="0" baseline="0">
              <a:ln>
                <a:noFill/>
              </a:ln>
              <a:solidFill>
                <a:srgbClr val="0564CD"/>
              </a:solidFill>
              <a:effectLst/>
              <a:uFillTx/>
              <a:latin typeface="微软雅黑" panose="020B0503020204020204" charset="-122"/>
              <a:ea typeface="微软雅黑" panose="020B0503020204020204" charset="-122"/>
              <a:cs typeface="微软雅黑" panose="020B0503020204020204" charset="-122"/>
              <a:sym typeface="Calibri" panose="020F0502020204030204"/>
            </a:endParaRPr>
          </a:p>
        </p:txBody>
      </p:sp>
      <p:sp>
        <p:nvSpPr>
          <p:cNvPr id="3" name="文本框 2"/>
          <p:cNvSpPr txBox="1"/>
          <p:nvPr/>
        </p:nvSpPr>
        <p:spPr>
          <a:xfrm>
            <a:off x="695960" y="1701165"/>
            <a:ext cx="10789285" cy="1751965"/>
          </a:xfrm>
          <a:prstGeom prst="rect">
            <a:avLst/>
          </a:prstGeom>
          <a:noFill/>
          <a:ln w="12700" cap="flat">
            <a:noFill/>
            <a:miter lim="400000"/>
          </a:ln>
        </p:spPr>
        <p:style>
          <a:lnRef idx="0">
            <a:srgbClr val="FFFFFF"/>
          </a:lnRef>
          <a:fillRef idx="0">
            <a:srgbClr val="FFFFFF"/>
          </a:fillRef>
          <a:effectRef idx="0">
            <a:srgbClr val="FFFFFF"/>
          </a:effectRef>
          <a:fontRef idx="none"/>
        </p:style>
        <p:txBody>
          <a:bodyPr rot="0" vertOverflow="overflow" horzOverflow="overflow" vert="horz" wrap="square" lIns="45719" tIns="45719" rIns="45719" bIns="45719" numCol="1" spcCol="38100" rtlCol="0" anchor="t" forceAA="0" upright="0">
            <a:spAutoFit/>
          </a:bodyPr>
          <a:p>
            <a:pPr marL="0" marR="0" indent="0" algn="l" defTabSz="914400" rtl="0" fontAlgn="auto" latinLnBrk="0" hangingPunct="0">
              <a:lnSpc>
                <a:spcPct val="150000"/>
              </a:lnSpc>
              <a:spcBef>
                <a:spcPts val="0"/>
              </a:spcBef>
              <a:spcAft>
                <a:spcPts val="0"/>
              </a:spcAft>
              <a:buClrTx/>
              <a:buSzTx/>
              <a:buFontTx/>
              <a:buNone/>
            </a:pPr>
            <a:r>
              <a:rPr kumimoji="0" lang="en-US" altLang="zh-CN" sz="1800" b="0" i="0" u="none" strike="noStrike" cap="none" spc="0" normalizeH="0" baseline="0">
                <a:ln>
                  <a:noFill/>
                </a:ln>
                <a:solidFill>
                  <a:srgbClr val="000000"/>
                </a:solidFill>
                <a:effectLst/>
                <a:uFillTx/>
                <a:latin typeface="微软雅黑" panose="020B0503020204020204" charset="-122"/>
                <a:ea typeface="微软雅黑" panose="020B0503020204020204" charset="-122"/>
                <a:cs typeface="微软雅黑" panose="020B0503020204020204" charset="-122"/>
                <a:sym typeface="Calibri" panose="020F0502020204030204"/>
              </a:rPr>
              <a:t>3</a:t>
            </a:r>
            <a:r>
              <a:rPr kumimoji="0" lang="zh-CN" altLang="en-US" sz="1800" b="0" i="0" u="none" strike="noStrike" cap="none" spc="0" normalizeH="0" baseline="0">
                <a:ln>
                  <a:noFill/>
                </a:ln>
                <a:solidFill>
                  <a:srgbClr val="000000"/>
                </a:solidFill>
                <a:effectLst/>
                <a:uFillTx/>
                <a:latin typeface="微软雅黑" panose="020B0503020204020204" charset="-122"/>
                <a:ea typeface="微软雅黑" panose="020B0503020204020204" charset="-122"/>
                <a:cs typeface="微软雅黑" panose="020B0503020204020204" charset="-122"/>
                <a:sym typeface="Calibri" panose="020F0502020204030204"/>
              </a:rPr>
              <a:t>、从模型排序的结果来看，下单率排序性很好，</a:t>
            </a:r>
            <a:r>
              <a:rPr kumimoji="0" lang="zh-CN" sz="1800" b="0" i="0" u="none" strike="noStrike" cap="none" spc="0" normalizeH="0" baseline="0">
                <a:ln>
                  <a:noFill/>
                </a:ln>
                <a:solidFill>
                  <a:srgbClr val="000000"/>
                </a:solidFill>
                <a:effectLst/>
                <a:uFillTx/>
                <a:latin typeface="微软雅黑" panose="020B0503020204020204" charset="-122"/>
                <a:ea typeface="微软雅黑" panose="020B0503020204020204" charset="-122"/>
                <a:cs typeface="微软雅黑" panose="020B0503020204020204" charset="-122"/>
                <a:sym typeface="Calibri" panose="020F0502020204030204"/>
              </a:rPr>
              <a:t>将用户按投保意向概率从高到低划分</a:t>
            </a:r>
            <a:r>
              <a:rPr kumimoji="0" lang="en-US" altLang="zh-CN" sz="1800" b="0" i="0" u="none" strike="noStrike" cap="none" spc="0" normalizeH="0" baseline="0">
                <a:ln>
                  <a:noFill/>
                </a:ln>
                <a:solidFill>
                  <a:srgbClr val="000000"/>
                </a:solidFill>
                <a:effectLst/>
                <a:uFillTx/>
                <a:latin typeface="微软雅黑" panose="020B0503020204020204" charset="-122"/>
                <a:ea typeface="微软雅黑" panose="020B0503020204020204" charset="-122"/>
                <a:cs typeface="微软雅黑" panose="020B0503020204020204" charset="-122"/>
                <a:sym typeface="Calibri" panose="020F0502020204030204"/>
              </a:rPr>
              <a:t>A</a:t>
            </a:r>
            <a:r>
              <a:rPr kumimoji="0" lang="zh-CN" altLang="en-US" sz="1800" b="0" i="0" u="none" strike="noStrike" cap="none" spc="0" normalizeH="0" baseline="0">
                <a:ln>
                  <a:noFill/>
                </a:ln>
                <a:solidFill>
                  <a:srgbClr val="000000"/>
                </a:solidFill>
                <a:effectLst/>
                <a:uFillTx/>
                <a:latin typeface="微软雅黑" panose="020B0503020204020204" charset="-122"/>
                <a:ea typeface="微软雅黑" panose="020B0503020204020204" charset="-122"/>
                <a:cs typeface="微软雅黑" panose="020B0503020204020204" charset="-122"/>
                <a:sym typeface="Calibri" panose="020F0502020204030204"/>
              </a:rPr>
              <a:t>、</a:t>
            </a:r>
            <a:r>
              <a:rPr kumimoji="0" lang="en-US" altLang="zh-CN" sz="1800" b="0" i="0" u="none" strike="noStrike" cap="none" spc="0" normalizeH="0" baseline="0">
                <a:ln>
                  <a:noFill/>
                </a:ln>
                <a:solidFill>
                  <a:srgbClr val="000000"/>
                </a:solidFill>
                <a:effectLst/>
                <a:uFillTx/>
                <a:latin typeface="微软雅黑" panose="020B0503020204020204" charset="-122"/>
                <a:ea typeface="微软雅黑" panose="020B0503020204020204" charset="-122"/>
                <a:cs typeface="微软雅黑" panose="020B0503020204020204" charset="-122"/>
                <a:sym typeface="Calibri" panose="020F0502020204030204"/>
              </a:rPr>
              <a:t>B</a:t>
            </a:r>
            <a:r>
              <a:rPr kumimoji="0" lang="zh-CN" altLang="en-US" sz="1800" b="0" i="0" u="none" strike="noStrike" cap="none" spc="0" normalizeH="0" baseline="0">
                <a:ln>
                  <a:noFill/>
                </a:ln>
                <a:solidFill>
                  <a:srgbClr val="000000"/>
                </a:solidFill>
                <a:effectLst/>
                <a:uFillTx/>
                <a:latin typeface="微软雅黑" panose="020B0503020204020204" charset="-122"/>
                <a:ea typeface="微软雅黑" panose="020B0503020204020204" charset="-122"/>
                <a:cs typeface="微软雅黑" panose="020B0503020204020204" charset="-122"/>
                <a:sym typeface="Calibri" panose="020F0502020204030204"/>
              </a:rPr>
              <a:t>、</a:t>
            </a:r>
            <a:r>
              <a:rPr kumimoji="0" lang="en-US" altLang="zh-CN" sz="1800" b="0" i="0" u="none" strike="noStrike" cap="none" spc="0" normalizeH="0" baseline="0">
                <a:ln>
                  <a:noFill/>
                </a:ln>
                <a:solidFill>
                  <a:srgbClr val="000000"/>
                </a:solidFill>
                <a:effectLst/>
                <a:uFillTx/>
                <a:latin typeface="微软雅黑" panose="020B0503020204020204" charset="-122"/>
                <a:ea typeface="微软雅黑" panose="020B0503020204020204" charset="-122"/>
                <a:cs typeface="微软雅黑" panose="020B0503020204020204" charset="-122"/>
                <a:sym typeface="Calibri" panose="020F0502020204030204"/>
              </a:rPr>
              <a:t>C</a:t>
            </a:r>
            <a:r>
              <a:rPr kumimoji="0" lang="zh-CN" altLang="en-US" sz="1800" b="0" i="0" u="none" strike="noStrike" cap="none" spc="0" normalizeH="0" baseline="0">
                <a:ln>
                  <a:noFill/>
                </a:ln>
                <a:solidFill>
                  <a:srgbClr val="000000"/>
                </a:solidFill>
                <a:effectLst/>
                <a:uFillTx/>
                <a:latin typeface="微软雅黑" panose="020B0503020204020204" charset="-122"/>
                <a:ea typeface="微软雅黑" panose="020B0503020204020204" charset="-122"/>
                <a:cs typeface="微软雅黑" panose="020B0503020204020204" charset="-122"/>
                <a:sym typeface="Calibri" panose="020F0502020204030204"/>
              </a:rPr>
              <a:t>、</a:t>
            </a:r>
            <a:r>
              <a:rPr kumimoji="0" lang="en-US" altLang="zh-CN" sz="1800" b="0" i="0" u="none" strike="noStrike" cap="none" spc="0" normalizeH="0" baseline="0">
                <a:ln>
                  <a:noFill/>
                </a:ln>
                <a:solidFill>
                  <a:srgbClr val="000000"/>
                </a:solidFill>
                <a:effectLst/>
                <a:uFillTx/>
                <a:latin typeface="微软雅黑" panose="020B0503020204020204" charset="-122"/>
                <a:ea typeface="微软雅黑" panose="020B0503020204020204" charset="-122"/>
                <a:cs typeface="微软雅黑" panose="020B0503020204020204" charset="-122"/>
                <a:sym typeface="Calibri" panose="020F0502020204030204"/>
              </a:rPr>
              <a:t>D</a:t>
            </a:r>
            <a:r>
              <a:rPr kumimoji="0" lang="zh-CN" altLang="en-US" sz="1800" b="0" i="0" u="none" strike="noStrike" cap="none" spc="0" normalizeH="0" baseline="0">
                <a:ln>
                  <a:noFill/>
                </a:ln>
                <a:solidFill>
                  <a:srgbClr val="000000"/>
                </a:solidFill>
                <a:effectLst/>
                <a:uFillTx/>
                <a:latin typeface="微软雅黑" panose="020B0503020204020204" charset="-122"/>
                <a:ea typeface="微软雅黑" panose="020B0503020204020204" charset="-122"/>
                <a:cs typeface="微软雅黑" panose="020B0503020204020204" charset="-122"/>
                <a:sym typeface="Calibri" panose="020F0502020204030204"/>
              </a:rPr>
              <a:t>四个等级，</a:t>
            </a:r>
            <a:r>
              <a:rPr kumimoji="0" lang="en-US" sz="1800" b="0" i="0" u="none" strike="noStrike" cap="none" spc="0" normalizeH="0" baseline="0">
                <a:ln>
                  <a:noFill/>
                </a:ln>
                <a:solidFill>
                  <a:srgbClr val="000000"/>
                </a:solidFill>
                <a:effectLst/>
                <a:uFillTx/>
                <a:latin typeface="微软雅黑" panose="020B0503020204020204" charset="-122"/>
                <a:ea typeface="微软雅黑" panose="020B0503020204020204" charset="-122"/>
                <a:cs typeface="微软雅黑" panose="020B0503020204020204" charset="-122"/>
                <a:sym typeface="Calibri" panose="020F0502020204030204"/>
              </a:rPr>
              <a:t>A+B</a:t>
            </a:r>
            <a:r>
              <a:rPr kumimoji="0" lang="zh-CN" altLang="en-US" sz="1800" b="0" i="0" u="none" strike="noStrike" cap="none" spc="0" normalizeH="0" baseline="0">
                <a:ln>
                  <a:noFill/>
                </a:ln>
                <a:solidFill>
                  <a:srgbClr val="000000"/>
                </a:solidFill>
                <a:effectLst/>
                <a:uFillTx/>
                <a:latin typeface="微软雅黑" panose="020B0503020204020204" charset="-122"/>
                <a:ea typeface="微软雅黑" panose="020B0503020204020204" charset="-122"/>
                <a:cs typeface="微软雅黑" panose="020B0503020204020204" charset="-122"/>
                <a:sym typeface="Calibri" panose="020F0502020204030204"/>
              </a:rPr>
              <a:t>（占</a:t>
            </a:r>
            <a:r>
              <a:rPr kumimoji="0" lang="en-US" altLang="zh-CN" sz="1800" b="0" i="0" u="none" strike="noStrike" cap="none" spc="0" normalizeH="0" baseline="0">
                <a:ln>
                  <a:noFill/>
                </a:ln>
                <a:solidFill>
                  <a:srgbClr val="000000"/>
                </a:solidFill>
                <a:effectLst/>
                <a:uFillTx/>
                <a:latin typeface="微软雅黑" panose="020B0503020204020204" charset="-122"/>
                <a:ea typeface="微软雅黑" panose="020B0503020204020204" charset="-122"/>
                <a:cs typeface="微软雅黑" panose="020B0503020204020204" charset="-122"/>
                <a:sym typeface="Calibri" panose="020F0502020204030204"/>
              </a:rPr>
              <a:t>40%</a:t>
            </a:r>
            <a:r>
              <a:rPr kumimoji="0" lang="zh-CN" altLang="en-US" sz="1800" b="0" i="0" u="none" strike="noStrike" cap="none" spc="0" normalizeH="0" baseline="0">
                <a:ln>
                  <a:noFill/>
                </a:ln>
                <a:solidFill>
                  <a:srgbClr val="000000"/>
                </a:solidFill>
                <a:effectLst/>
                <a:uFillTx/>
                <a:latin typeface="微软雅黑" panose="020B0503020204020204" charset="-122"/>
                <a:ea typeface="微软雅黑" panose="020B0503020204020204" charset="-122"/>
                <a:cs typeface="微软雅黑" panose="020B0503020204020204" charset="-122"/>
                <a:sym typeface="Calibri" panose="020F0502020204030204"/>
              </a:rPr>
              <a:t>）走专案</a:t>
            </a:r>
            <a:r>
              <a:rPr kumimoji="0" lang="en-US" altLang="zh-CN" sz="1800" b="0" i="0" u="none" strike="noStrike" cap="none" spc="0" normalizeH="0" baseline="0">
                <a:ln>
                  <a:noFill/>
                </a:ln>
                <a:solidFill>
                  <a:srgbClr val="000000"/>
                </a:solidFill>
                <a:effectLst/>
                <a:uFillTx/>
                <a:latin typeface="微软雅黑" panose="020B0503020204020204" charset="-122"/>
                <a:ea typeface="微软雅黑" panose="020B0503020204020204" charset="-122"/>
                <a:cs typeface="微软雅黑" panose="020B0503020204020204" charset="-122"/>
                <a:sym typeface="Calibri" panose="020F0502020204030204"/>
              </a:rPr>
              <a:t>1</a:t>
            </a:r>
            <a:r>
              <a:rPr kumimoji="0" lang="zh-CN" altLang="en-US" sz="1800" b="0" i="0" u="none" strike="noStrike" cap="none" spc="0" normalizeH="0" baseline="0">
                <a:ln>
                  <a:noFill/>
                </a:ln>
                <a:solidFill>
                  <a:srgbClr val="000000"/>
                </a:solidFill>
                <a:effectLst/>
                <a:uFillTx/>
                <a:latin typeface="微软雅黑" panose="020B0503020204020204" charset="-122"/>
                <a:ea typeface="微软雅黑" panose="020B0503020204020204" charset="-122"/>
                <a:cs typeface="微软雅黑" panose="020B0503020204020204" charset="-122"/>
                <a:sym typeface="Calibri" panose="020F0502020204030204"/>
              </a:rPr>
              <a:t>，</a:t>
            </a:r>
            <a:r>
              <a:rPr kumimoji="0" lang="en-US" altLang="zh-CN" sz="1800" b="0" i="0" u="none" strike="noStrike" cap="none" spc="0" normalizeH="0" baseline="0">
                <a:ln>
                  <a:noFill/>
                </a:ln>
                <a:solidFill>
                  <a:srgbClr val="000000"/>
                </a:solidFill>
                <a:effectLst/>
                <a:uFillTx/>
                <a:latin typeface="微软雅黑" panose="020B0503020204020204" charset="-122"/>
                <a:ea typeface="微软雅黑" panose="020B0503020204020204" charset="-122"/>
                <a:cs typeface="微软雅黑" panose="020B0503020204020204" charset="-122"/>
                <a:sym typeface="Calibri" panose="020F0502020204030204"/>
              </a:rPr>
              <a:t>C+D(</a:t>
            </a:r>
            <a:r>
              <a:rPr kumimoji="0" lang="zh-CN" altLang="en-US" sz="1800" b="0" i="0" u="none" strike="noStrike" cap="none" spc="0" normalizeH="0" baseline="0">
                <a:ln>
                  <a:noFill/>
                </a:ln>
                <a:solidFill>
                  <a:srgbClr val="000000"/>
                </a:solidFill>
                <a:effectLst/>
                <a:uFillTx/>
                <a:latin typeface="微软雅黑" panose="020B0503020204020204" charset="-122"/>
                <a:ea typeface="微软雅黑" panose="020B0503020204020204" charset="-122"/>
                <a:cs typeface="微软雅黑" panose="020B0503020204020204" charset="-122"/>
                <a:sym typeface="Calibri" panose="020F0502020204030204"/>
              </a:rPr>
              <a:t>占</a:t>
            </a:r>
            <a:r>
              <a:rPr kumimoji="0" lang="en-US" altLang="zh-CN" sz="1800" b="0" i="0" u="none" strike="noStrike" cap="none" spc="0" normalizeH="0" baseline="0">
                <a:ln>
                  <a:noFill/>
                </a:ln>
                <a:solidFill>
                  <a:srgbClr val="000000"/>
                </a:solidFill>
                <a:effectLst/>
                <a:uFillTx/>
                <a:latin typeface="微软雅黑" panose="020B0503020204020204" charset="-122"/>
                <a:ea typeface="微软雅黑" panose="020B0503020204020204" charset="-122"/>
                <a:cs typeface="微软雅黑" panose="020B0503020204020204" charset="-122"/>
                <a:sym typeface="Calibri" panose="020F0502020204030204"/>
              </a:rPr>
              <a:t>60%)</a:t>
            </a:r>
            <a:r>
              <a:rPr kumimoji="0" lang="zh-CN" altLang="en-US" sz="1800" b="0" i="0" u="none" strike="noStrike" cap="none" spc="0" normalizeH="0" baseline="0">
                <a:ln>
                  <a:noFill/>
                </a:ln>
                <a:solidFill>
                  <a:srgbClr val="000000"/>
                </a:solidFill>
                <a:effectLst/>
                <a:uFillTx/>
                <a:latin typeface="微软雅黑" panose="020B0503020204020204" charset="-122"/>
                <a:ea typeface="微软雅黑" panose="020B0503020204020204" charset="-122"/>
                <a:cs typeface="微软雅黑" panose="020B0503020204020204" charset="-122"/>
                <a:sym typeface="Calibri" panose="020F0502020204030204"/>
              </a:rPr>
              <a:t>走专案</a:t>
            </a:r>
            <a:r>
              <a:rPr kumimoji="0" lang="en-US" altLang="zh-CN" sz="1800" b="0" i="0" u="none" strike="noStrike" cap="none" spc="0" normalizeH="0" baseline="0">
                <a:ln>
                  <a:noFill/>
                </a:ln>
                <a:solidFill>
                  <a:srgbClr val="000000"/>
                </a:solidFill>
                <a:effectLst/>
                <a:uFillTx/>
                <a:latin typeface="微软雅黑" panose="020B0503020204020204" charset="-122"/>
                <a:ea typeface="微软雅黑" panose="020B0503020204020204" charset="-122"/>
                <a:cs typeface="微软雅黑" panose="020B0503020204020204" charset="-122"/>
                <a:sym typeface="Calibri" panose="020F0502020204030204"/>
              </a:rPr>
              <a:t>2</a:t>
            </a:r>
            <a:r>
              <a:rPr kumimoji="0" lang="zh-CN" altLang="en-US" sz="1800" b="0" i="0" u="none" strike="noStrike" cap="none" spc="0" normalizeH="0" baseline="0">
                <a:ln>
                  <a:noFill/>
                </a:ln>
                <a:solidFill>
                  <a:srgbClr val="000000"/>
                </a:solidFill>
                <a:effectLst/>
                <a:uFillTx/>
                <a:latin typeface="微软雅黑" panose="020B0503020204020204" charset="-122"/>
                <a:ea typeface="微软雅黑" panose="020B0503020204020204" charset="-122"/>
                <a:cs typeface="微软雅黑" panose="020B0503020204020204" charset="-122"/>
                <a:sym typeface="Calibri" panose="020F0502020204030204"/>
              </a:rPr>
              <a:t>；</a:t>
            </a:r>
            <a:endParaRPr kumimoji="0" lang="zh-CN" altLang="en-US" sz="1800" b="0" i="0" u="none" strike="noStrike" cap="none" spc="0" normalizeH="0" baseline="0">
              <a:ln>
                <a:noFill/>
              </a:ln>
              <a:solidFill>
                <a:srgbClr val="000000"/>
              </a:solidFill>
              <a:effectLst/>
              <a:uFillTx/>
              <a:latin typeface="微软雅黑" panose="020B0503020204020204" charset="-122"/>
              <a:ea typeface="微软雅黑" panose="020B0503020204020204" charset="-122"/>
              <a:cs typeface="微软雅黑" panose="020B0503020204020204" charset="-122"/>
              <a:sym typeface="Calibri" panose="020F0502020204030204"/>
            </a:endParaRPr>
          </a:p>
          <a:p>
            <a:pPr marL="0" marR="0" indent="0" algn="l" defTabSz="914400" rtl="0" fontAlgn="auto" latinLnBrk="0" hangingPunct="0">
              <a:lnSpc>
                <a:spcPct val="150000"/>
              </a:lnSpc>
              <a:spcBef>
                <a:spcPts val="0"/>
              </a:spcBef>
              <a:spcAft>
                <a:spcPts val="0"/>
              </a:spcAft>
              <a:buClrTx/>
              <a:buSzTx/>
              <a:buFontTx/>
              <a:buNone/>
            </a:pPr>
            <a:r>
              <a:rPr kumimoji="0" lang="en-US" altLang="zh-CN" sz="1800" b="0" i="0" u="none" strike="noStrike" cap="none" spc="0" normalizeH="0" baseline="0">
                <a:ln>
                  <a:noFill/>
                </a:ln>
                <a:solidFill>
                  <a:srgbClr val="000000"/>
                </a:solidFill>
                <a:effectLst/>
                <a:uFillTx/>
                <a:latin typeface="微软雅黑" panose="020B0503020204020204" charset="-122"/>
                <a:ea typeface="微软雅黑" panose="020B0503020204020204" charset="-122"/>
                <a:cs typeface="微软雅黑" panose="020B0503020204020204" charset="-122"/>
                <a:sym typeface="Calibri" panose="020F0502020204030204"/>
              </a:rPr>
              <a:t>4</a:t>
            </a:r>
            <a:r>
              <a:rPr kumimoji="0" lang="zh-CN" altLang="en-US" sz="1800" b="0" i="0" u="none" strike="noStrike" cap="none" spc="0" normalizeH="0" baseline="0">
                <a:ln>
                  <a:noFill/>
                </a:ln>
                <a:solidFill>
                  <a:srgbClr val="000000"/>
                </a:solidFill>
                <a:effectLst/>
                <a:uFillTx/>
                <a:latin typeface="微软雅黑" panose="020B0503020204020204" charset="-122"/>
                <a:ea typeface="微软雅黑" panose="020B0503020204020204" charset="-122"/>
                <a:cs typeface="微软雅黑" panose="020B0503020204020204" charset="-122"/>
                <a:sym typeface="Calibri" panose="020F0502020204030204"/>
              </a:rPr>
              <a:t>、</a:t>
            </a:r>
            <a:r>
              <a:rPr lang="en-US">
                <a:latin typeface="微软雅黑" panose="020B0503020204020204" charset="-122"/>
                <a:ea typeface="微软雅黑" panose="020B0503020204020204" charset="-122"/>
                <a:cs typeface="微软雅黑" panose="020B0503020204020204" charset="-122"/>
                <a:sym typeface="Calibri" panose="020F0502020204030204"/>
              </a:rPr>
              <a:t>A+B</a:t>
            </a:r>
            <a:r>
              <a:rPr kumimoji="0" lang="zh-CN" altLang="en-US" sz="1800" b="0" i="0" u="none" strike="noStrike" cap="none" spc="0" normalizeH="0" baseline="0">
                <a:ln>
                  <a:noFill/>
                </a:ln>
                <a:solidFill>
                  <a:srgbClr val="000000"/>
                </a:solidFill>
                <a:effectLst/>
                <a:uFillTx/>
                <a:latin typeface="微软雅黑" panose="020B0503020204020204" charset="-122"/>
                <a:ea typeface="微软雅黑" panose="020B0503020204020204" charset="-122"/>
                <a:cs typeface="微软雅黑" panose="020B0503020204020204" charset="-122"/>
                <a:sym typeface="Calibri" panose="020F0502020204030204"/>
              </a:rPr>
              <a:t>用户的平均转化概率约</a:t>
            </a:r>
            <a:r>
              <a:rPr kumimoji="0" lang="en-US" altLang="zh-CN" sz="1800" b="0" i="0" u="none" strike="noStrike" cap="none" spc="0" normalizeH="0" baseline="0">
                <a:ln>
                  <a:noFill/>
                </a:ln>
                <a:solidFill>
                  <a:srgbClr val="000000"/>
                </a:solidFill>
                <a:effectLst/>
                <a:uFillTx/>
                <a:latin typeface="微软雅黑" panose="020B0503020204020204" charset="-122"/>
                <a:ea typeface="微软雅黑" panose="020B0503020204020204" charset="-122"/>
                <a:cs typeface="微软雅黑" panose="020B0503020204020204" charset="-122"/>
                <a:sym typeface="Calibri" panose="020F0502020204030204"/>
              </a:rPr>
              <a:t>0.04</a:t>
            </a:r>
            <a:r>
              <a:rPr kumimoji="0" lang="zh-CN" altLang="en-US" sz="1800" b="0" i="0" u="none" strike="noStrike" cap="none" spc="0" normalizeH="0" baseline="0">
                <a:ln>
                  <a:noFill/>
                </a:ln>
                <a:solidFill>
                  <a:srgbClr val="000000"/>
                </a:solidFill>
                <a:effectLst/>
                <a:uFillTx/>
                <a:latin typeface="微软雅黑" panose="020B0503020204020204" charset="-122"/>
                <a:ea typeface="微软雅黑" panose="020B0503020204020204" charset="-122"/>
                <a:cs typeface="微软雅黑" panose="020B0503020204020204" charset="-122"/>
                <a:sym typeface="Calibri" panose="020F0502020204030204"/>
              </a:rPr>
              <a:t>；</a:t>
            </a:r>
            <a:endParaRPr kumimoji="0" lang="zh-CN" altLang="en-US" sz="1800" b="0" i="0" u="none" strike="noStrike" cap="none" spc="0" normalizeH="0" baseline="0">
              <a:ln>
                <a:noFill/>
              </a:ln>
              <a:solidFill>
                <a:srgbClr val="000000"/>
              </a:solidFill>
              <a:effectLst/>
              <a:uFillTx/>
              <a:latin typeface="微软雅黑" panose="020B0503020204020204" charset="-122"/>
              <a:ea typeface="微软雅黑" panose="020B0503020204020204" charset="-122"/>
              <a:cs typeface="微软雅黑" panose="020B0503020204020204" charset="-122"/>
              <a:sym typeface="Calibri" panose="020F0502020204030204"/>
            </a:endParaRPr>
          </a:p>
          <a:p>
            <a:pPr marL="0" marR="0" indent="0" algn="l" defTabSz="914400" rtl="0" fontAlgn="auto" latinLnBrk="0" hangingPunct="0">
              <a:lnSpc>
                <a:spcPct val="150000"/>
              </a:lnSpc>
              <a:spcBef>
                <a:spcPts val="0"/>
              </a:spcBef>
              <a:spcAft>
                <a:spcPts val="0"/>
              </a:spcAft>
              <a:buClrTx/>
              <a:buSzTx/>
              <a:buFontTx/>
              <a:buNone/>
            </a:pPr>
            <a:r>
              <a:rPr kumimoji="0" lang="en-US" altLang="zh-CN" sz="1800" b="0" i="0" u="none" strike="noStrike" cap="none" spc="0" normalizeH="0" baseline="0">
                <a:ln>
                  <a:noFill/>
                </a:ln>
                <a:solidFill>
                  <a:srgbClr val="000000"/>
                </a:solidFill>
                <a:effectLst/>
                <a:uFillTx/>
                <a:latin typeface="微软雅黑" panose="020B0503020204020204" charset="-122"/>
                <a:ea typeface="微软雅黑" panose="020B0503020204020204" charset="-122"/>
                <a:cs typeface="微软雅黑" panose="020B0503020204020204" charset="-122"/>
                <a:sym typeface="Calibri" panose="020F0502020204030204"/>
              </a:rPr>
              <a:t>5</a:t>
            </a:r>
            <a:r>
              <a:rPr kumimoji="0" lang="zh-CN" altLang="en-US" sz="1800" b="0" i="0" u="none" strike="noStrike" cap="none" spc="0" normalizeH="0" baseline="0">
                <a:ln>
                  <a:noFill/>
                </a:ln>
                <a:solidFill>
                  <a:srgbClr val="000000"/>
                </a:solidFill>
                <a:effectLst/>
                <a:uFillTx/>
                <a:latin typeface="微软雅黑" panose="020B0503020204020204" charset="-122"/>
                <a:ea typeface="微软雅黑" panose="020B0503020204020204" charset="-122"/>
                <a:cs typeface="微软雅黑" panose="020B0503020204020204" charset="-122"/>
                <a:sym typeface="Calibri" panose="020F0502020204030204"/>
              </a:rPr>
              <a:t>、根据预期的转化概率结果，计算了本次实验所需的样本总量及实验天数；</a:t>
            </a:r>
            <a:endParaRPr kumimoji="0" lang="zh-CN" altLang="en-US" sz="1800" b="0" i="0" u="none" strike="noStrike" cap="none" spc="0" normalizeH="0" baseline="0">
              <a:ln>
                <a:noFill/>
              </a:ln>
              <a:solidFill>
                <a:srgbClr val="000000"/>
              </a:solidFill>
              <a:effectLst/>
              <a:uFillTx/>
              <a:latin typeface="微软雅黑" panose="020B0503020204020204" charset="-122"/>
              <a:ea typeface="微软雅黑" panose="020B0503020204020204" charset="-122"/>
              <a:cs typeface="微软雅黑" panose="020B0503020204020204" charset="-122"/>
              <a:sym typeface="Calibri" panose="020F0502020204030204"/>
            </a:endParaRPr>
          </a:p>
        </p:txBody>
      </p:sp>
      <p:sp>
        <p:nvSpPr>
          <p:cNvPr id="6" name="文本框 5"/>
          <p:cNvSpPr txBox="1"/>
          <p:nvPr/>
        </p:nvSpPr>
        <p:spPr>
          <a:xfrm>
            <a:off x="839470" y="3789045"/>
            <a:ext cx="3898265" cy="1751965"/>
          </a:xfrm>
          <a:prstGeom prst="rect">
            <a:avLst/>
          </a:prstGeom>
          <a:noFill/>
          <a:ln w="12700" cap="flat">
            <a:noFill/>
            <a:miter lim="400000"/>
          </a:ln>
        </p:spPr>
        <p:style>
          <a:lnRef idx="0">
            <a:srgbClr val="FFFFFF"/>
          </a:lnRef>
          <a:fillRef idx="0">
            <a:srgbClr val="FFFFFF"/>
          </a:fillRef>
          <a:effectRef idx="0">
            <a:srgbClr val="FFFFFF"/>
          </a:effectRef>
          <a:fontRef idx="none"/>
        </p:style>
        <p:txBody>
          <a:bodyPr rot="0" vertOverflow="overflow" horzOverflow="overflow" vert="horz" wrap="square" lIns="45719" tIns="45719" rIns="45719" bIns="45719" numCol="1" spcCol="38100" rtlCol="0" anchor="t" forceAA="0" upright="0">
            <a:spAutoFit/>
          </a:bodyPr>
          <a:p>
            <a:pPr marL="0" marR="0" indent="0" algn="l" defTabSz="914400" rtl="0" fontAlgn="auto" latinLnBrk="0" hangingPunct="0">
              <a:lnSpc>
                <a:spcPct val="100000"/>
              </a:lnSpc>
              <a:spcBef>
                <a:spcPts val="0"/>
              </a:spcBef>
              <a:spcAft>
                <a:spcPts val="0"/>
              </a:spcAft>
              <a:buClrTx/>
              <a:buSzTx/>
              <a:buFontTx/>
              <a:buNone/>
            </a:pPr>
            <a:r>
              <a:rPr kumimoji="0" lang="zh-CN" altLang="en-US" sz="1800" b="1" i="0" u="none" strike="noStrike" cap="none" spc="0" normalizeH="0" baseline="0">
                <a:ln>
                  <a:noFill/>
                </a:ln>
                <a:solidFill>
                  <a:srgbClr val="000000"/>
                </a:solidFill>
                <a:effectLst/>
                <a:uFillTx/>
                <a:latin typeface="+mj-lt"/>
                <a:ea typeface="+mj-ea"/>
                <a:cs typeface="+mj-cs"/>
                <a:sym typeface="Calibri" panose="020F0502020204030204"/>
              </a:rPr>
              <a:t>显著性水平：</a:t>
            </a:r>
            <a:r>
              <a:rPr kumimoji="0" lang="en-US" altLang="zh-CN" sz="1800" b="0" i="0" u="none" strike="noStrike" cap="none" spc="0" normalizeH="0" baseline="0">
                <a:ln>
                  <a:noFill/>
                </a:ln>
                <a:solidFill>
                  <a:srgbClr val="000000"/>
                </a:solidFill>
                <a:effectLst/>
                <a:uFillTx/>
                <a:latin typeface="+mj-lt"/>
                <a:ea typeface="+mj-ea"/>
                <a:cs typeface="+mj-cs"/>
                <a:sym typeface="Calibri" panose="020F0502020204030204"/>
              </a:rPr>
              <a:t>0.05</a:t>
            </a:r>
            <a:endParaRPr kumimoji="0" lang="en-US" altLang="zh-CN" sz="1800" b="0" i="0" u="none" strike="noStrike" cap="none" spc="0" normalizeH="0" baseline="0">
              <a:ln>
                <a:noFill/>
              </a:ln>
              <a:solidFill>
                <a:srgbClr val="000000"/>
              </a:solidFill>
              <a:effectLst/>
              <a:uFillTx/>
              <a:latin typeface="+mj-lt"/>
              <a:ea typeface="+mj-ea"/>
              <a:cs typeface="+mj-cs"/>
              <a:sym typeface="Calibri" panose="020F0502020204030204"/>
            </a:endParaRPr>
          </a:p>
          <a:p>
            <a:pPr marL="0" marR="0" indent="0" algn="l" defTabSz="914400" rtl="0" fontAlgn="auto" latinLnBrk="0" hangingPunct="0">
              <a:lnSpc>
                <a:spcPct val="100000"/>
              </a:lnSpc>
              <a:spcBef>
                <a:spcPts val="0"/>
              </a:spcBef>
              <a:spcAft>
                <a:spcPts val="0"/>
              </a:spcAft>
              <a:buClrTx/>
              <a:buSzTx/>
              <a:buFontTx/>
              <a:buNone/>
            </a:pPr>
            <a:r>
              <a:rPr kumimoji="0" lang="en-US" altLang="zh-CN" sz="1800" b="1" i="0" u="none" strike="noStrike" cap="none" spc="0" normalizeH="0" baseline="0">
                <a:ln>
                  <a:noFill/>
                </a:ln>
                <a:solidFill>
                  <a:srgbClr val="000000"/>
                </a:solidFill>
                <a:effectLst/>
                <a:uFillTx/>
                <a:latin typeface="+mj-lt"/>
                <a:ea typeface="宋体" panose="02010600030101010101" pitchFamily="2" charset="-122"/>
                <a:cs typeface="+mj-cs"/>
                <a:sym typeface="Calibri" panose="020F0502020204030204"/>
              </a:rPr>
              <a:t>统计功效</a:t>
            </a:r>
            <a:r>
              <a:rPr kumimoji="0" lang="zh-CN" altLang="en-US" sz="1800" b="1" i="0" u="none" strike="noStrike" cap="none" spc="0" normalizeH="0" baseline="0">
                <a:ln>
                  <a:noFill/>
                </a:ln>
                <a:solidFill>
                  <a:srgbClr val="000000"/>
                </a:solidFill>
                <a:effectLst/>
                <a:uFillTx/>
                <a:latin typeface="+mj-lt"/>
                <a:ea typeface="宋体" panose="02010600030101010101" pitchFamily="2" charset="-122"/>
                <a:cs typeface="+mj-cs"/>
                <a:sym typeface="Calibri" panose="020F0502020204030204"/>
              </a:rPr>
              <a:t>：</a:t>
            </a:r>
            <a:r>
              <a:rPr kumimoji="0" lang="en-US" altLang="zh-CN" sz="1800" b="0" i="0" u="none" strike="noStrike" cap="none" spc="0" normalizeH="0" baseline="0">
                <a:ln>
                  <a:noFill/>
                </a:ln>
                <a:solidFill>
                  <a:srgbClr val="000000"/>
                </a:solidFill>
                <a:effectLst/>
                <a:uFillTx/>
                <a:latin typeface="+mj-lt"/>
                <a:ea typeface="宋体" panose="02010600030101010101" pitchFamily="2" charset="-122"/>
                <a:cs typeface="+mj-cs"/>
                <a:sym typeface="Calibri" panose="020F0502020204030204"/>
              </a:rPr>
              <a:t>0.8</a:t>
            </a:r>
            <a:endParaRPr kumimoji="0" lang="en-US" altLang="zh-CN" sz="1800" b="0" i="0" u="none" strike="noStrike" cap="none" spc="0" normalizeH="0" baseline="0">
              <a:ln>
                <a:noFill/>
              </a:ln>
              <a:solidFill>
                <a:srgbClr val="000000"/>
              </a:solidFill>
              <a:effectLst/>
              <a:uFillTx/>
              <a:latin typeface="+mj-lt"/>
              <a:ea typeface="宋体" panose="02010600030101010101" pitchFamily="2" charset="-122"/>
              <a:cs typeface="+mj-cs"/>
              <a:sym typeface="Calibri" panose="020F0502020204030204"/>
            </a:endParaRPr>
          </a:p>
          <a:p>
            <a:pPr marL="0" marR="0" indent="0" algn="l" defTabSz="914400" rtl="0" fontAlgn="auto" latinLnBrk="0" hangingPunct="0">
              <a:lnSpc>
                <a:spcPct val="100000"/>
              </a:lnSpc>
              <a:spcBef>
                <a:spcPts val="0"/>
              </a:spcBef>
              <a:spcAft>
                <a:spcPts val="0"/>
              </a:spcAft>
              <a:buClrTx/>
              <a:buSzTx/>
              <a:buFontTx/>
              <a:buNone/>
            </a:pPr>
            <a:r>
              <a:rPr kumimoji="0" lang="zh-CN" altLang="en-US" sz="1800" b="1" i="0" u="none" strike="noStrike" cap="none" spc="0" normalizeH="0" baseline="0">
                <a:ln>
                  <a:noFill/>
                </a:ln>
                <a:solidFill>
                  <a:srgbClr val="000000"/>
                </a:solidFill>
                <a:effectLst/>
                <a:uFillTx/>
                <a:latin typeface="+mj-lt"/>
                <a:ea typeface="宋体" panose="02010600030101010101" pitchFamily="2" charset="-122"/>
                <a:cs typeface="+mj-cs"/>
                <a:sym typeface="Calibri" panose="020F0502020204030204"/>
              </a:rPr>
              <a:t>目前月平均转化率：</a:t>
            </a:r>
            <a:r>
              <a:rPr kumimoji="0" lang="en-US" altLang="zh-CN" sz="1800" b="0" i="0" u="none" strike="noStrike" cap="none" spc="0" normalizeH="0" baseline="0">
                <a:ln>
                  <a:noFill/>
                </a:ln>
                <a:solidFill>
                  <a:srgbClr val="000000"/>
                </a:solidFill>
                <a:effectLst/>
                <a:uFillTx/>
                <a:latin typeface="+mj-lt"/>
                <a:ea typeface="宋体" panose="02010600030101010101" pitchFamily="2" charset="-122"/>
                <a:cs typeface="+mj-cs"/>
                <a:sym typeface="Calibri" panose="020F0502020204030204"/>
              </a:rPr>
              <a:t>0.02</a:t>
            </a:r>
            <a:endParaRPr kumimoji="0" lang="en-US" altLang="zh-CN" sz="1800" b="0" i="0" u="none" strike="noStrike" cap="none" spc="0" normalizeH="0" baseline="0">
              <a:ln>
                <a:noFill/>
              </a:ln>
              <a:solidFill>
                <a:srgbClr val="000000"/>
              </a:solidFill>
              <a:effectLst/>
              <a:uFillTx/>
              <a:latin typeface="+mj-lt"/>
              <a:ea typeface="宋体" panose="02010600030101010101" pitchFamily="2" charset="-122"/>
              <a:cs typeface="+mj-cs"/>
              <a:sym typeface="Calibri" panose="020F0502020204030204"/>
            </a:endParaRPr>
          </a:p>
          <a:p>
            <a:pPr marL="0" marR="0" indent="0" algn="l" defTabSz="914400" rtl="0" fontAlgn="auto" latinLnBrk="0" hangingPunct="0">
              <a:lnSpc>
                <a:spcPct val="100000"/>
              </a:lnSpc>
              <a:spcBef>
                <a:spcPts val="0"/>
              </a:spcBef>
              <a:spcAft>
                <a:spcPts val="0"/>
              </a:spcAft>
              <a:buClrTx/>
              <a:buSzTx/>
              <a:buFontTx/>
              <a:buNone/>
            </a:pPr>
            <a:r>
              <a:rPr kumimoji="0" lang="en-US" altLang="zh-CN" sz="1800" b="1" i="0" u="none" strike="noStrike" cap="none" spc="0" normalizeH="0" baseline="0">
                <a:ln>
                  <a:noFill/>
                </a:ln>
                <a:solidFill>
                  <a:srgbClr val="000000"/>
                </a:solidFill>
                <a:effectLst/>
                <a:uFillTx/>
                <a:latin typeface="+mj-lt"/>
                <a:ea typeface="宋体" panose="02010600030101010101" pitchFamily="2" charset="-122"/>
                <a:cs typeface="+mj-cs"/>
                <a:sym typeface="Calibri" panose="020F0502020204030204"/>
              </a:rPr>
              <a:t>A+B</a:t>
            </a:r>
            <a:r>
              <a:rPr kumimoji="0" lang="zh-CN" altLang="en-US" sz="1800" b="1" i="0" u="none" strike="noStrike" cap="none" spc="0" normalizeH="0" baseline="0">
                <a:ln>
                  <a:noFill/>
                </a:ln>
                <a:solidFill>
                  <a:srgbClr val="000000"/>
                </a:solidFill>
                <a:effectLst/>
                <a:uFillTx/>
                <a:latin typeface="+mj-lt"/>
                <a:ea typeface="宋体" panose="02010600030101010101" pitchFamily="2" charset="-122"/>
                <a:cs typeface="+mj-cs"/>
                <a:sym typeface="Calibri" panose="020F0502020204030204"/>
              </a:rPr>
              <a:t>类用户目标月转化率：</a:t>
            </a:r>
            <a:r>
              <a:rPr kumimoji="0" lang="en-US" altLang="zh-CN" sz="1800" b="1" i="0" u="none" strike="noStrike" cap="none" spc="0" normalizeH="0" baseline="0">
                <a:ln>
                  <a:noFill/>
                </a:ln>
                <a:solidFill>
                  <a:srgbClr val="FF0000"/>
                </a:solidFill>
                <a:effectLst/>
                <a:uFillTx/>
                <a:latin typeface="+mj-lt"/>
                <a:ea typeface="宋体" panose="02010600030101010101" pitchFamily="2" charset="-122"/>
                <a:cs typeface="+mj-cs"/>
                <a:sym typeface="Calibri" panose="020F0502020204030204"/>
              </a:rPr>
              <a:t>0.04</a:t>
            </a:r>
            <a:endParaRPr kumimoji="0" lang="en-US" altLang="zh-CN" sz="1800" b="0" i="0" u="none" strike="noStrike" cap="none" spc="0" normalizeH="0" baseline="0">
              <a:ln>
                <a:noFill/>
              </a:ln>
              <a:solidFill>
                <a:srgbClr val="000000"/>
              </a:solidFill>
              <a:effectLst/>
              <a:uFillTx/>
              <a:latin typeface="+mj-lt"/>
              <a:ea typeface="宋体" panose="02010600030101010101" pitchFamily="2" charset="-122"/>
              <a:cs typeface="+mj-cs"/>
              <a:sym typeface="Calibri" panose="020F0502020204030204"/>
            </a:endParaRPr>
          </a:p>
          <a:p>
            <a:pPr marL="0" marR="0" indent="0" algn="l" defTabSz="914400" rtl="0" fontAlgn="auto" latinLnBrk="0" hangingPunct="0">
              <a:lnSpc>
                <a:spcPct val="100000"/>
              </a:lnSpc>
              <a:spcBef>
                <a:spcPts val="0"/>
              </a:spcBef>
              <a:spcAft>
                <a:spcPts val="0"/>
              </a:spcAft>
              <a:buClrTx/>
              <a:buSzTx/>
              <a:buFontTx/>
              <a:buNone/>
            </a:pPr>
            <a:r>
              <a:rPr kumimoji="0" lang="zh-CN" altLang="en-US" sz="1800" b="1" i="0" u="none" strike="noStrike" cap="none" spc="0" normalizeH="0" baseline="0">
                <a:ln>
                  <a:noFill/>
                </a:ln>
                <a:solidFill>
                  <a:srgbClr val="000000"/>
                </a:solidFill>
                <a:effectLst/>
                <a:uFillTx/>
                <a:latin typeface="+mj-lt"/>
                <a:ea typeface="宋体" panose="02010600030101010101" pitchFamily="2" charset="-122"/>
                <a:cs typeface="+mj-cs"/>
                <a:sym typeface="Calibri" panose="020F0502020204030204"/>
              </a:rPr>
              <a:t>实验的样本总数</a:t>
            </a:r>
            <a:r>
              <a:rPr kumimoji="0" lang="zh-CN" altLang="en-US" sz="1800" b="0" i="0" u="none" strike="noStrike" cap="none" spc="0" normalizeH="0" baseline="0">
                <a:ln>
                  <a:noFill/>
                </a:ln>
                <a:solidFill>
                  <a:srgbClr val="000000"/>
                </a:solidFill>
                <a:effectLst/>
                <a:uFillTx/>
                <a:latin typeface="+mj-lt"/>
                <a:ea typeface="宋体" panose="02010600030101010101" pitchFamily="2" charset="-122"/>
                <a:cs typeface="+mj-cs"/>
                <a:sym typeface="Calibri" panose="020F0502020204030204"/>
              </a:rPr>
              <a:t>：</a:t>
            </a:r>
            <a:r>
              <a:rPr kumimoji="0" lang="en-US" altLang="zh-CN" sz="1800" b="1" i="0" u="none" strike="noStrike" cap="none" spc="0" normalizeH="0" baseline="0">
                <a:ln>
                  <a:noFill/>
                </a:ln>
                <a:solidFill>
                  <a:srgbClr val="FF0000"/>
                </a:solidFill>
                <a:effectLst/>
                <a:uFillTx/>
                <a:latin typeface="+mj-lt"/>
                <a:ea typeface="宋体" panose="02010600030101010101" pitchFamily="2" charset="-122"/>
                <a:cs typeface="+mj-cs"/>
                <a:sym typeface="Calibri" panose="020F0502020204030204"/>
              </a:rPr>
              <a:t>3880</a:t>
            </a:r>
            <a:endParaRPr kumimoji="0" lang="zh-CN" altLang="en-US" sz="1800" b="1" i="0" u="none" strike="noStrike" cap="none" spc="0" normalizeH="0" baseline="0">
              <a:ln>
                <a:noFill/>
              </a:ln>
              <a:solidFill>
                <a:srgbClr val="FF0000"/>
              </a:solidFill>
              <a:effectLst/>
              <a:uFillTx/>
              <a:latin typeface="+mj-lt"/>
              <a:ea typeface="宋体" panose="02010600030101010101" pitchFamily="2" charset="-122"/>
              <a:cs typeface="+mj-cs"/>
              <a:sym typeface="Calibri" panose="020F0502020204030204"/>
            </a:endParaRPr>
          </a:p>
          <a:p>
            <a:pPr marL="0" marR="0" indent="0" algn="l" defTabSz="914400" rtl="0" fontAlgn="auto" latinLnBrk="0" hangingPunct="0">
              <a:lnSpc>
                <a:spcPct val="100000"/>
              </a:lnSpc>
              <a:spcBef>
                <a:spcPts val="0"/>
              </a:spcBef>
              <a:spcAft>
                <a:spcPts val="0"/>
              </a:spcAft>
              <a:buClrTx/>
              <a:buSzTx/>
              <a:buFontTx/>
              <a:buNone/>
            </a:pPr>
            <a:r>
              <a:rPr kumimoji="0" lang="zh-CN" altLang="en-US" sz="1800" b="1" i="0" u="none" strike="noStrike" cap="none" spc="0" normalizeH="0" baseline="0">
                <a:ln>
                  <a:noFill/>
                </a:ln>
                <a:solidFill>
                  <a:schemeClr val="tx1"/>
                </a:solidFill>
                <a:effectLst/>
                <a:uFillTx/>
                <a:latin typeface="+mj-lt"/>
                <a:ea typeface="宋体" panose="02010600030101010101" pitchFamily="2" charset="-122"/>
                <a:cs typeface="+mj-cs"/>
                <a:sym typeface="Calibri" panose="020F0502020204030204"/>
              </a:rPr>
              <a:t>实验天数：</a:t>
            </a:r>
            <a:r>
              <a:rPr kumimoji="0" lang="zh-CN" altLang="en-US" sz="1800" b="1" i="0" u="none" strike="noStrike" cap="none" spc="0" normalizeH="0" baseline="0">
                <a:ln>
                  <a:noFill/>
                </a:ln>
                <a:solidFill>
                  <a:srgbClr val="FF0000"/>
                </a:solidFill>
                <a:effectLst/>
                <a:uFillTx/>
                <a:latin typeface="+mj-lt"/>
                <a:ea typeface="宋体" panose="02010600030101010101" pitchFamily="2" charset="-122"/>
                <a:cs typeface="+mj-cs"/>
                <a:sym typeface="Calibri" panose="020F0502020204030204"/>
              </a:rPr>
              <a:t>约</a:t>
            </a:r>
            <a:r>
              <a:rPr kumimoji="0" lang="en-US" altLang="zh-CN" sz="1800" b="1" i="0" u="none" strike="noStrike" cap="none" spc="0" normalizeH="0" baseline="0">
                <a:ln>
                  <a:noFill/>
                </a:ln>
                <a:solidFill>
                  <a:srgbClr val="FF0000"/>
                </a:solidFill>
                <a:effectLst/>
                <a:uFillTx/>
                <a:latin typeface="+mj-lt"/>
                <a:ea typeface="宋体" panose="02010600030101010101" pitchFamily="2" charset="-122"/>
                <a:cs typeface="+mj-cs"/>
                <a:sym typeface="Calibri" panose="020F0502020204030204"/>
              </a:rPr>
              <a:t>16</a:t>
            </a:r>
            <a:r>
              <a:rPr kumimoji="0" lang="zh-CN" altLang="en-US" sz="1800" b="1" i="0" u="none" strike="noStrike" cap="none" spc="0" normalizeH="0" baseline="0">
                <a:ln>
                  <a:noFill/>
                </a:ln>
                <a:solidFill>
                  <a:srgbClr val="FF0000"/>
                </a:solidFill>
                <a:effectLst/>
                <a:uFillTx/>
                <a:latin typeface="+mj-lt"/>
                <a:ea typeface="宋体" panose="02010600030101010101" pitchFamily="2" charset="-122"/>
                <a:cs typeface="+mj-cs"/>
                <a:sym typeface="Calibri" panose="020F0502020204030204"/>
              </a:rPr>
              <a:t>天（剔除周末）</a:t>
            </a:r>
            <a:endParaRPr kumimoji="0" lang="zh-CN" altLang="en-US" sz="1800" b="1" i="0" u="none" strike="noStrike" cap="none" spc="0" normalizeH="0" baseline="0">
              <a:ln>
                <a:noFill/>
              </a:ln>
              <a:solidFill>
                <a:srgbClr val="FF0000"/>
              </a:solidFill>
              <a:effectLst/>
              <a:uFillTx/>
              <a:latin typeface="+mj-lt"/>
              <a:ea typeface="宋体" panose="02010600030101010101" pitchFamily="2" charset="-122"/>
              <a:cs typeface="+mj-cs"/>
              <a:sym typeface="Calibri" panose="020F0502020204030204"/>
            </a:endParaRPr>
          </a:p>
        </p:txBody>
      </p:sp>
      <p:sp>
        <p:nvSpPr>
          <p:cNvPr id="7" name="文本框 6"/>
          <p:cNvSpPr txBox="1"/>
          <p:nvPr/>
        </p:nvSpPr>
        <p:spPr>
          <a:xfrm>
            <a:off x="6327140" y="5864225"/>
            <a:ext cx="4377690" cy="367030"/>
          </a:xfrm>
          <a:prstGeom prst="rect">
            <a:avLst/>
          </a:prstGeom>
          <a:noFill/>
          <a:ln w="12700" cap="flat">
            <a:noFill/>
            <a:miter lim="400000"/>
          </a:ln>
        </p:spPr>
        <p:style>
          <a:lnRef idx="0">
            <a:srgbClr val="FFFFFF"/>
          </a:lnRef>
          <a:fillRef idx="0">
            <a:srgbClr val="FFFFFF"/>
          </a:fillRef>
          <a:effectRef idx="0">
            <a:srgbClr val="FFFFFF"/>
          </a:effectRef>
          <a:fontRef idx="none"/>
        </p:style>
        <p:txBody>
          <a:bodyPr rot="0" vertOverflow="overflow" horzOverflow="overflow" vert="horz" wrap="square" lIns="45719" tIns="45719" rIns="45719" bIns="45719" numCol="1" spcCol="38100" rtlCol="0" anchor="t" forceAA="0" upright="0">
            <a:spAutoFit/>
          </a:bodyPr>
          <a:p>
            <a:pPr marL="0" marR="0" indent="0" algn="l" defTabSz="914400" rtl="0" fontAlgn="auto" latinLnBrk="0" hangingPunct="0">
              <a:lnSpc>
                <a:spcPct val="100000"/>
              </a:lnSpc>
              <a:spcBef>
                <a:spcPts val="0"/>
              </a:spcBef>
              <a:spcAft>
                <a:spcPts val="0"/>
              </a:spcAft>
              <a:buClrTx/>
              <a:buSzTx/>
              <a:buFontTx/>
              <a:buNone/>
            </a:pPr>
            <a:r>
              <a:rPr kumimoji="0" lang="en-US" altLang="zh-CN" sz="1800" b="1" i="0" u="none" strike="noStrike" cap="none" spc="0" normalizeH="0" baseline="0">
                <a:ln>
                  <a:noFill/>
                </a:ln>
                <a:solidFill>
                  <a:srgbClr val="000000"/>
                </a:solidFill>
                <a:effectLst/>
                <a:uFillTx/>
                <a:latin typeface="+mj-lt"/>
                <a:ea typeface="+mj-ea"/>
                <a:cs typeface="+mj-cs"/>
                <a:sym typeface="Calibri" panose="020F0502020204030204"/>
              </a:rPr>
              <a:t>PPC</a:t>
            </a:r>
            <a:r>
              <a:rPr kumimoji="0" lang="zh-CN" altLang="en-US" sz="1800" b="1" i="0" u="none" strike="noStrike" cap="none" spc="0" normalizeH="0" baseline="0">
                <a:ln>
                  <a:noFill/>
                </a:ln>
                <a:solidFill>
                  <a:srgbClr val="000000"/>
                </a:solidFill>
                <a:effectLst/>
                <a:uFillTx/>
                <a:latin typeface="+mj-lt"/>
                <a:ea typeface="+mj-ea"/>
                <a:cs typeface="+mj-cs"/>
                <a:sym typeface="Calibri" panose="020F0502020204030204"/>
              </a:rPr>
              <a:t>渠道用户模型预测排序结果</a:t>
            </a:r>
            <a:endParaRPr kumimoji="0" lang="zh-CN" altLang="en-US" sz="1800" b="1" i="0" u="none" strike="noStrike" cap="none" spc="0" normalizeH="0" baseline="0">
              <a:ln>
                <a:noFill/>
              </a:ln>
              <a:solidFill>
                <a:srgbClr val="000000"/>
              </a:solidFill>
              <a:effectLst/>
              <a:uFillTx/>
              <a:latin typeface="+mj-lt"/>
              <a:ea typeface="+mj-ea"/>
              <a:cs typeface="+mj-cs"/>
              <a:sym typeface="Calibri" panose="020F0502020204030204"/>
            </a:endParaRPr>
          </a:p>
        </p:txBody>
      </p:sp>
      <p:pic>
        <p:nvPicPr>
          <p:cNvPr id="8" name="图片 7"/>
          <p:cNvPicPr>
            <a:picLocks noChangeAspect="1"/>
          </p:cNvPicPr>
          <p:nvPr/>
        </p:nvPicPr>
        <p:blipFill>
          <a:blip r:embed="rId1"/>
          <a:stretch>
            <a:fillRect/>
          </a:stretch>
        </p:blipFill>
        <p:spPr>
          <a:xfrm>
            <a:off x="4511675" y="3717290"/>
            <a:ext cx="5886450" cy="1651000"/>
          </a:xfrm>
          <a:prstGeom prst="rect">
            <a:avLst/>
          </a:prstGeom>
        </p:spPr>
      </p:pic>
    </p:spTree>
  </p:cSld>
  <p:clrMapOvr>
    <a:masterClrMapping/>
  </p:clrMapOvr>
  <p:transition spd="med"/>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p:nvPr>
            <p:ph type="title"/>
          </p:nvPr>
        </p:nvSpPr>
        <p:spPr>
          <a:xfrm>
            <a:off x="335915" y="260985"/>
            <a:ext cx="10714355" cy="675005"/>
          </a:xfrm>
        </p:spPr>
        <p:txBody>
          <a:bodyPr>
            <a:normAutofit/>
          </a:bodyPr>
          <a:p>
            <a:r>
              <a:rPr lang="en-US" altLang="zh-CN" sz="3555"/>
              <a:t>4. </a:t>
            </a:r>
            <a:r>
              <a:rPr lang="zh-CN" sz="3555"/>
              <a:t>测试方案</a:t>
            </a:r>
            <a:endParaRPr lang="zh-CN" sz="3550">
              <a:sym typeface="+mn-ea"/>
            </a:endParaRPr>
          </a:p>
        </p:txBody>
      </p:sp>
      <p:sp>
        <p:nvSpPr>
          <p:cNvPr id="42" name="文本框 41"/>
          <p:cNvSpPr txBox="1"/>
          <p:nvPr/>
        </p:nvSpPr>
        <p:spPr>
          <a:xfrm>
            <a:off x="641350" y="1196975"/>
            <a:ext cx="2270760" cy="397510"/>
          </a:xfrm>
          <a:prstGeom prst="rect">
            <a:avLst/>
          </a:prstGeom>
          <a:noFill/>
          <a:ln w="12700" cap="flat">
            <a:noFill/>
            <a:miter lim="400000"/>
          </a:ln>
        </p:spPr>
        <p:style>
          <a:lnRef idx="0">
            <a:srgbClr val="FFFFFF"/>
          </a:lnRef>
          <a:fillRef idx="0">
            <a:srgbClr val="FFFFFF"/>
          </a:fillRef>
          <a:effectRef idx="0">
            <a:srgbClr val="FFFFFF"/>
          </a:effectRef>
          <a:fontRef idx="none"/>
        </p:style>
        <p:txBody>
          <a:bodyPr rot="0" vertOverflow="overflow" horzOverflow="overflow" vert="horz" wrap="square" lIns="45719" tIns="45719" rIns="45719" bIns="45719" numCol="1" spcCol="38100" rtlCol="0" anchor="t" forceAA="0" upright="0">
            <a:spAutoFit/>
          </a:bodyPr>
          <a:p>
            <a:pPr marL="342900" marR="0" indent="-342900" algn="l" defTabSz="914400" rtl="0" fontAlgn="auto" latinLnBrk="0" hangingPunct="0">
              <a:lnSpc>
                <a:spcPct val="100000"/>
              </a:lnSpc>
              <a:spcBef>
                <a:spcPts val="0"/>
              </a:spcBef>
              <a:spcAft>
                <a:spcPts val="0"/>
              </a:spcAft>
              <a:buClrTx/>
              <a:buSzTx/>
              <a:buFont typeface="Wingdings" panose="05000000000000000000" charset="0"/>
              <a:buChar char="Ø"/>
            </a:pPr>
            <a:r>
              <a:rPr kumimoji="0" lang="zh-CN" altLang="en-US" sz="2000" b="1" i="0" u="none" strike="noStrike" cap="none" spc="0" normalizeH="0" baseline="0">
                <a:ln>
                  <a:noFill/>
                </a:ln>
                <a:solidFill>
                  <a:srgbClr val="0564CD"/>
                </a:solidFill>
                <a:effectLst/>
                <a:uFillTx/>
                <a:latin typeface="微软雅黑" panose="020B0503020204020204" charset="-122"/>
                <a:ea typeface="微软雅黑" panose="020B0503020204020204" charset="-122"/>
                <a:cs typeface="微软雅黑" panose="020B0503020204020204" charset="-122"/>
                <a:sym typeface="Calibri" panose="020F0502020204030204"/>
              </a:rPr>
              <a:t>下一步计划</a:t>
            </a:r>
            <a:endParaRPr kumimoji="0" lang="zh-CN" altLang="en-US" sz="2000" b="1" i="0" u="none" strike="noStrike" cap="none" spc="0" normalizeH="0" baseline="0">
              <a:ln>
                <a:noFill/>
              </a:ln>
              <a:solidFill>
                <a:srgbClr val="0564CD"/>
              </a:solidFill>
              <a:effectLst/>
              <a:uFillTx/>
              <a:latin typeface="微软雅黑" panose="020B0503020204020204" charset="-122"/>
              <a:ea typeface="微软雅黑" panose="020B0503020204020204" charset="-122"/>
              <a:cs typeface="微软雅黑" panose="020B0503020204020204" charset="-122"/>
              <a:sym typeface="Calibri" panose="020F0502020204030204"/>
            </a:endParaRPr>
          </a:p>
        </p:txBody>
      </p:sp>
      <p:sp>
        <p:nvSpPr>
          <p:cNvPr id="3" name="文本框 2"/>
          <p:cNvSpPr txBox="1"/>
          <p:nvPr/>
        </p:nvSpPr>
        <p:spPr>
          <a:xfrm>
            <a:off x="1645285" y="2132965"/>
            <a:ext cx="8901430" cy="1336675"/>
          </a:xfrm>
          <a:prstGeom prst="rect">
            <a:avLst/>
          </a:prstGeom>
          <a:noFill/>
          <a:ln w="12700" cap="flat">
            <a:noFill/>
            <a:miter lim="400000"/>
          </a:ln>
        </p:spPr>
        <p:style>
          <a:lnRef idx="0">
            <a:srgbClr val="FFFFFF"/>
          </a:lnRef>
          <a:fillRef idx="0">
            <a:srgbClr val="FFFFFF"/>
          </a:fillRef>
          <a:effectRef idx="0">
            <a:srgbClr val="FFFFFF"/>
          </a:effectRef>
          <a:fontRef idx="none"/>
        </p:style>
        <p:txBody>
          <a:bodyPr rot="0" vertOverflow="overflow" horzOverflow="overflow" vert="horz" wrap="square" lIns="45719" tIns="45719" rIns="45719" bIns="45719" numCol="1" spcCol="38100" rtlCol="0" anchor="t" forceAA="0" upright="0">
            <a:spAutoFit/>
          </a:bodyPr>
          <a:p>
            <a:pPr marL="0" marR="0" indent="0" algn="l" defTabSz="914400" rtl="0" fontAlgn="auto" latinLnBrk="0" hangingPunct="0">
              <a:lnSpc>
                <a:spcPct val="150000"/>
              </a:lnSpc>
              <a:spcBef>
                <a:spcPts val="0"/>
              </a:spcBef>
              <a:spcAft>
                <a:spcPts val="0"/>
              </a:spcAft>
              <a:buClrTx/>
              <a:buSzTx/>
              <a:buFontTx/>
              <a:buNone/>
            </a:pPr>
            <a:r>
              <a:rPr kumimoji="0" lang="en-US" altLang="zh-CN" sz="1800" b="0" i="0" u="none" strike="noStrike" cap="none" spc="0" normalizeH="0" baseline="0">
                <a:ln>
                  <a:noFill/>
                </a:ln>
                <a:solidFill>
                  <a:srgbClr val="000000"/>
                </a:solidFill>
                <a:effectLst/>
                <a:uFillTx/>
                <a:latin typeface="微软雅黑" panose="020B0503020204020204" charset="-122"/>
                <a:ea typeface="微软雅黑" panose="020B0503020204020204" charset="-122"/>
                <a:cs typeface="微软雅黑" panose="020B0503020204020204" charset="-122"/>
                <a:sym typeface="Calibri" panose="020F0502020204030204"/>
              </a:rPr>
              <a:t>1</a:t>
            </a:r>
            <a:r>
              <a:rPr kumimoji="0" lang="zh-CN" altLang="en-US" sz="1800" b="0" i="0" u="none" strike="noStrike" cap="none" spc="0" normalizeH="0" baseline="0">
                <a:ln>
                  <a:noFill/>
                </a:ln>
                <a:solidFill>
                  <a:srgbClr val="000000"/>
                </a:solidFill>
                <a:effectLst/>
                <a:uFillTx/>
                <a:latin typeface="微软雅黑" panose="020B0503020204020204" charset="-122"/>
                <a:ea typeface="微软雅黑" panose="020B0503020204020204" charset="-122"/>
                <a:cs typeface="微软雅黑" panose="020B0503020204020204" charset="-122"/>
                <a:sym typeface="Calibri" panose="020F0502020204030204"/>
              </a:rPr>
              <a:t>、确定测试渠道、渠道对应的分配策略及顾问跟进人力情况；</a:t>
            </a:r>
            <a:endParaRPr kumimoji="0" lang="zh-CN" altLang="en-US" sz="1800" b="0" i="0" u="none" strike="noStrike" cap="none" spc="0" normalizeH="0" baseline="0">
              <a:ln>
                <a:noFill/>
              </a:ln>
              <a:solidFill>
                <a:srgbClr val="000000"/>
              </a:solidFill>
              <a:effectLst/>
              <a:uFillTx/>
              <a:latin typeface="微软雅黑" panose="020B0503020204020204" charset="-122"/>
              <a:ea typeface="微软雅黑" panose="020B0503020204020204" charset="-122"/>
              <a:cs typeface="微软雅黑" panose="020B0503020204020204" charset="-122"/>
              <a:sym typeface="Calibri" panose="020F0502020204030204"/>
            </a:endParaRPr>
          </a:p>
          <a:p>
            <a:pPr marL="0" marR="0" indent="0" algn="l" defTabSz="914400" rtl="0" fontAlgn="auto" latinLnBrk="0" hangingPunct="0">
              <a:lnSpc>
                <a:spcPct val="150000"/>
              </a:lnSpc>
              <a:spcBef>
                <a:spcPts val="0"/>
              </a:spcBef>
              <a:spcAft>
                <a:spcPts val="0"/>
              </a:spcAft>
              <a:buClrTx/>
              <a:buSzTx/>
              <a:buFontTx/>
              <a:buNone/>
            </a:pPr>
            <a:r>
              <a:rPr kumimoji="0" lang="en-US" altLang="zh-CN" sz="1800" b="0" i="0" u="none" strike="noStrike" cap="none" spc="0" normalizeH="0" baseline="0">
                <a:ln>
                  <a:noFill/>
                </a:ln>
                <a:solidFill>
                  <a:srgbClr val="000000"/>
                </a:solidFill>
                <a:effectLst/>
                <a:uFillTx/>
                <a:latin typeface="微软雅黑" panose="020B0503020204020204" charset="-122"/>
                <a:ea typeface="微软雅黑" panose="020B0503020204020204" charset="-122"/>
                <a:cs typeface="微软雅黑" panose="020B0503020204020204" charset="-122"/>
                <a:sym typeface="Calibri" panose="020F0502020204030204"/>
              </a:rPr>
              <a:t>2</a:t>
            </a:r>
            <a:r>
              <a:rPr kumimoji="0" lang="zh-CN" altLang="en-US" sz="1800" b="0" i="0" u="none" strike="noStrike" cap="none" spc="0" normalizeH="0" baseline="0">
                <a:ln>
                  <a:noFill/>
                </a:ln>
                <a:solidFill>
                  <a:srgbClr val="000000"/>
                </a:solidFill>
                <a:effectLst/>
                <a:uFillTx/>
                <a:latin typeface="微软雅黑" panose="020B0503020204020204" charset="-122"/>
                <a:ea typeface="微软雅黑" panose="020B0503020204020204" charset="-122"/>
                <a:cs typeface="微软雅黑" panose="020B0503020204020204" charset="-122"/>
                <a:sym typeface="Calibri" panose="020F0502020204030204"/>
              </a:rPr>
              <a:t>、熟悉</a:t>
            </a:r>
            <a:r>
              <a:rPr kumimoji="0" lang="en-US" altLang="zh-CN" sz="1800" b="0" i="0" u="none" strike="noStrike" cap="none" spc="0" normalizeH="0" baseline="0">
                <a:ln>
                  <a:noFill/>
                </a:ln>
                <a:solidFill>
                  <a:srgbClr val="000000"/>
                </a:solidFill>
                <a:effectLst/>
                <a:uFillTx/>
                <a:latin typeface="微软雅黑" panose="020B0503020204020204" charset="-122"/>
                <a:ea typeface="微软雅黑" panose="020B0503020204020204" charset="-122"/>
                <a:cs typeface="微软雅黑" panose="020B0503020204020204" charset="-122"/>
                <a:sym typeface="Calibri" panose="020F0502020204030204"/>
              </a:rPr>
              <a:t>AB</a:t>
            </a:r>
            <a:r>
              <a:rPr kumimoji="0" lang="zh-CN" altLang="en-US" sz="1800" b="0" i="0" u="none" strike="noStrike" cap="none" spc="0" normalizeH="0" baseline="0">
                <a:ln>
                  <a:noFill/>
                </a:ln>
                <a:solidFill>
                  <a:srgbClr val="000000"/>
                </a:solidFill>
                <a:effectLst/>
                <a:uFillTx/>
                <a:latin typeface="微软雅黑" panose="020B0503020204020204" charset="-122"/>
                <a:ea typeface="微软雅黑" panose="020B0503020204020204" charset="-122"/>
                <a:cs typeface="微软雅黑" panose="020B0503020204020204" charset="-122"/>
                <a:sym typeface="Calibri" panose="020F0502020204030204"/>
              </a:rPr>
              <a:t>测试平台及整理</a:t>
            </a:r>
            <a:r>
              <a:rPr kumimoji="0" lang="en-US" altLang="zh-CN" sz="1800" b="0" i="0" u="none" strike="noStrike" cap="none" spc="0" normalizeH="0" baseline="0">
                <a:ln>
                  <a:noFill/>
                </a:ln>
                <a:solidFill>
                  <a:srgbClr val="000000"/>
                </a:solidFill>
                <a:effectLst/>
                <a:uFillTx/>
                <a:latin typeface="微软雅黑" panose="020B0503020204020204" charset="-122"/>
                <a:ea typeface="微软雅黑" panose="020B0503020204020204" charset="-122"/>
                <a:cs typeface="微软雅黑" panose="020B0503020204020204" charset="-122"/>
                <a:sym typeface="Calibri" panose="020F0502020204030204"/>
              </a:rPr>
              <a:t>AB</a:t>
            </a:r>
            <a:r>
              <a:rPr kumimoji="0" lang="zh-CN" altLang="en-US" sz="1800" b="0" i="0" u="none" strike="noStrike" cap="none" spc="0" normalizeH="0" baseline="0">
                <a:ln>
                  <a:noFill/>
                </a:ln>
                <a:solidFill>
                  <a:srgbClr val="000000"/>
                </a:solidFill>
                <a:effectLst/>
                <a:uFillTx/>
                <a:latin typeface="微软雅黑" panose="020B0503020204020204" charset="-122"/>
                <a:ea typeface="微软雅黑" panose="020B0503020204020204" charset="-122"/>
                <a:cs typeface="微软雅黑" panose="020B0503020204020204" charset="-122"/>
                <a:sym typeface="Calibri" panose="020F0502020204030204"/>
              </a:rPr>
              <a:t>测试上线需求；</a:t>
            </a:r>
            <a:endParaRPr kumimoji="0" lang="zh-CN" altLang="en-US" sz="1800" b="0" i="0" u="none" strike="noStrike" cap="none" spc="0" normalizeH="0" baseline="0">
              <a:ln>
                <a:noFill/>
              </a:ln>
              <a:solidFill>
                <a:srgbClr val="000000"/>
              </a:solidFill>
              <a:effectLst/>
              <a:uFillTx/>
              <a:latin typeface="微软雅黑" panose="020B0503020204020204" charset="-122"/>
              <a:ea typeface="微软雅黑" panose="020B0503020204020204" charset="-122"/>
              <a:cs typeface="微软雅黑" panose="020B0503020204020204" charset="-122"/>
              <a:sym typeface="Calibri" panose="020F0502020204030204"/>
            </a:endParaRPr>
          </a:p>
          <a:p>
            <a:pPr marL="0" marR="0" indent="0" algn="l" defTabSz="914400" rtl="0" fontAlgn="auto" latinLnBrk="0" hangingPunct="0">
              <a:lnSpc>
                <a:spcPct val="150000"/>
              </a:lnSpc>
              <a:spcBef>
                <a:spcPts val="0"/>
              </a:spcBef>
              <a:spcAft>
                <a:spcPts val="0"/>
              </a:spcAft>
              <a:buClrTx/>
              <a:buSzTx/>
              <a:buFontTx/>
              <a:buNone/>
            </a:pPr>
            <a:r>
              <a:rPr kumimoji="0" lang="en-US" altLang="zh-CN" sz="1800" b="0" i="0" u="none" strike="noStrike" cap="none" spc="0" normalizeH="0" baseline="0">
                <a:ln>
                  <a:noFill/>
                </a:ln>
                <a:solidFill>
                  <a:srgbClr val="000000"/>
                </a:solidFill>
                <a:effectLst/>
                <a:uFillTx/>
                <a:latin typeface="微软雅黑" panose="020B0503020204020204" charset="-122"/>
                <a:ea typeface="微软雅黑" panose="020B0503020204020204" charset="-122"/>
                <a:cs typeface="微软雅黑" panose="020B0503020204020204" charset="-122"/>
                <a:sym typeface="Calibri" panose="020F0502020204030204"/>
              </a:rPr>
              <a:t>3</a:t>
            </a:r>
            <a:r>
              <a:rPr kumimoji="0" lang="zh-CN" altLang="en-US" sz="1800" b="0" i="0" u="none" strike="noStrike" cap="none" spc="0" normalizeH="0" baseline="0">
                <a:ln>
                  <a:noFill/>
                </a:ln>
                <a:solidFill>
                  <a:srgbClr val="000000"/>
                </a:solidFill>
                <a:effectLst/>
                <a:uFillTx/>
                <a:latin typeface="微软雅黑" panose="020B0503020204020204" charset="-122"/>
                <a:ea typeface="微软雅黑" panose="020B0503020204020204" charset="-122"/>
                <a:cs typeface="微软雅黑" panose="020B0503020204020204" charset="-122"/>
                <a:sym typeface="Calibri" panose="020F0502020204030204"/>
              </a:rPr>
              <a:t>、熟悉</a:t>
            </a:r>
            <a:r>
              <a:rPr kumimoji="0" lang="en-US" altLang="zh-CN" sz="1800" b="0" i="0" u="none" strike="noStrike" cap="none" spc="0" normalizeH="0" baseline="0">
                <a:ln>
                  <a:noFill/>
                </a:ln>
                <a:solidFill>
                  <a:srgbClr val="000000"/>
                </a:solidFill>
                <a:effectLst/>
                <a:uFillTx/>
                <a:latin typeface="微软雅黑" panose="020B0503020204020204" charset="-122"/>
                <a:ea typeface="微软雅黑" panose="020B0503020204020204" charset="-122"/>
                <a:cs typeface="微软雅黑" panose="020B0503020204020204" charset="-122"/>
                <a:sym typeface="Calibri" panose="020F0502020204030204"/>
              </a:rPr>
              <a:t>CICD</a:t>
            </a:r>
            <a:r>
              <a:rPr kumimoji="0" lang="zh-CN" altLang="en-US" sz="1800" b="0" i="0" u="none" strike="noStrike" cap="none" spc="0" normalizeH="0" baseline="0">
                <a:ln>
                  <a:noFill/>
                </a:ln>
                <a:solidFill>
                  <a:srgbClr val="000000"/>
                </a:solidFill>
                <a:effectLst/>
                <a:uFillTx/>
                <a:latin typeface="微软雅黑" panose="020B0503020204020204" charset="-122"/>
                <a:ea typeface="微软雅黑" panose="020B0503020204020204" charset="-122"/>
                <a:cs typeface="微软雅黑" panose="020B0503020204020204" charset="-122"/>
                <a:sym typeface="Calibri" panose="020F0502020204030204"/>
              </a:rPr>
              <a:t>系统及准备机器</a:t>
            </a:r>
            <a:r>
              <a:rPr kumimoji="0" lang="zh-CN" altLang="en-US" sz="1800" b="0" i="0" u="none" strike="noStrike" cap="none" spc="0" normalizeH="0" baseline="0">
                <a:ln>
                  <a:noFill/>
                </a:ln>
                <a:solidFill>
                  <a:srgbClr val="000000"/>
                </a:solidFill>
                <a:effectLst/>
                <a:uFillTx/>
                <a:latin typeface="微软雅黑" panose="020B0503020204020204" charset="-122"/>
                <a:ea typeface="微软雅黑" panose="020B0503020204020204" charset="-122"/>
                <a:cs typeface="微软雅黑" panose="020B0503020204020204" charset="-122"/>
                <a:sym typeface="Calibri" panose="020F0502020204030204"/>
              </a:rPr>
              <a:t>学习模型上线；</a:t>
            </a:r>
            <a:endParaRPr kumimoji="0" lang="zh-CN" altLang="en-US" sz="1800" b="0" i="0" u="none" strike="noStrike" cap="none" spc="0" normalizeH="0" baseline="0">
              <a:ln>
                <a:noFill/>
              </a:ln>
              <a:solidFill>
                <a:srgbClr val="000000"/>
              </a:solidFill>
              <a:effectLst/>
              <a:uFillTx/>
              <a:latin typeface="微软雅黑" panose="020B0503020204020204" charset="-122"/>
              <a:ea typeface="微软雅黑" panose="020B0503020204020204" charset="-122"/>
              <a:cs typeface="微软雅黑" panose="020B0503020204020204" charset="-122"/>
              <a:sym typeface="Calibri" panose="020F0502020204030204"/>
            </a:endParaRPr>
          </a:p>
        </p:txBody>
      </p:sp>
    </p:spTree>
  </p:cSld>
  <p:clrMapOvr>
    <a:masterClrMapping/>
  </p:clrMapOvr>
  <p:transition spd="med"/>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p:nvPr>
            <p:ph type="title"/>
          </p:nvPr>
        </p:nvSpPr>
        <p:spPr>
          <a:xfrm>
            <a:off x="335915" y="260985"/>
            <a:ext cx="10714355" cy="675005"/>
          </a:xfrm>
        </p:spPr>
        <p:txBody>
          <a:bodyPr>
            <a:normAutofit/>
          </a:bodyPr>
          <a:p>
            <a:r>
              <a:rPr lang="en-US" altLang="zh-CN" sz="3555"/>
              <a:t>4. </a:t>
            </a:r>
            <a:r>
              <a:rPr lang="zh-CN" sz="3555"/>
              <a:t>测试方案</a:t>
            </a:r>
            <a:endParaRPr lang="zh-CN" sz="3550">
              <a:sym typeface="+mn-ea"/>
            </a:endParaRPr>
          </a:p>
        </p:txBody>
      </p:sp>
      <p:sp>
        <p:nvSpPr>
          <p:cNvPr id="42" name="文本框 41"/>
          <p:cNvSpPr txBox="1"/>
          <p:nvPr/>
        </p:nvSpPr>
        <p:spPr>
          <a:xfrm>
            <a:off x="623570" y="1196975"/>
            <a:ext cx="2288540" cy="397510"/>
          </a:xfrm>
          <a:prstGeom prst="rect">
            <a:avLst/>
          </a:prstGeom>
          <a:noFill/>
          <a:ln w="12700" cap="flat">
            <a:noFill/>
            <a:miter lim="400000"/>
          </a:ln>
        </p:spPr>
        <p:style>
          <a:lnRef idx="0">
            <a:srgbClr val="FFFFFF"/>
          </a:lnRef>
          <a:fillRef idx="0">
            <a:srgbClr val="FFFFFF"/>
          </a:fillRef>
          <a:effectRef idx="0">
            <a:srgbClr val="FFFFFF"/>
          </a:effectRef>
          <a:fontRef idx="none"/>
        </p:style>
        <p:txBody>
          <a:bodyPr rot="0" vertOverflow="overflow" horzOverflow="overflow" vert="horz" wrap="square" lIns="45719" tIns="45719" rIns="45719" bIns="45719" numCol="1" spcCol="38100" rtlCol="0" anchor="t" forceAA="0" upright="0">
            <a:spAutoFit/>
          </a:bodyPr>
          <a:p>
            <a:pPr marL="342900" marR="0" indent="-342900" algn="l" defTabSz="914400" rtl="0" fontAlgn="auto" latinLnBrk="0" hangingPunct="0">
              <a:lnSpc>
                <a:spcPct val="100000"/>
              </a:lnSpc>
              <a:spcBef>
                <a:spcPts val="0"/>
              </a:spcBef>
              <a:spcAft>
                <a:spcPts val="0"/>
              </a:spcAft>
              <a:buClrTx/>
              <a:buSzTx/>
              <a:buFont typeface="Wingdings" panose="05000000000000000000" charset="0"/>
              <a:buChar char="Ø"/>
            </a:pPr>
            <a:r>
              <a:rPr kumimoji="0" lang="zh-CN" sz="2000" b="1" i="0" u="none" strike="noStrike" cap="none" spc="0" normalizeH="0" baseline="0">
                <a:ln>
                  <a:noFill/>
                </a:ln>
                <a:solidFill>
                  <a:srgbClr val="0564CD"/>
                </a:solidFill>
                <a:effectLst/>
                <a:uFillTx/>
                <a:latin typeface="微软雅黑" panose="020B0503020204020204" charset="-122"/>
                <a:ea typeface="微软雅黑" panose="020B0503020204020204" charset="-122"/>
                <a:cs typeface="微软雅黑" panose="020B0503020204020204" charset="-122"/>
                <a:sym typeface="Calibri" panose="020F0502020204030204"/>
              </a:rPr>
              <a:t>需要的支持</a:t>
            </a:r>
            <a:endParaRPr kumimoji="0" lang="zh-CN" sz="2000" b="1" i="0" u="none" strike="noStrike" cap="none" spc="0" normalizeH="0" baseline="0">
              <a:ln>
                <a:noFill/>
              </a:ln>
              <a:solidFill>
                <a:srgbClr val="0564CD"/>
              </a:solidFill>
              <a:effectLst/>
              <a:uFillTx/>
              <a:latin typeface="微软雅黑" panose="020B0503020204020204" charset="-122"/>
              <a:ea typeface="微软雅黑" panose="020B0503020204020204" charset="-122"/>
              <a:cs typeface="微软雅黑" panose="020B0503020204020204" charset="-122"/>
              <a:sym typeface="Calibri" panose="020F0502020204030204"/>
            </a:endParaRPr>
          </a:p>
        </p:txBody>
      </p:sp>
      <p:graphicFrame>
        <p:nvGraphicFramePr>
          <p:cNvPr id="4" name="表格 3"/>
          <p:cNvGraphicFramePr/>
          <p:nvPr/>
        </p:nvGraphicFramePr>
        <p:xfrm>
          <a:off x="1431290" y="2041525"/>
          <a:ext cx="9330690" cy="3500120"/>
        </p:xfrm>
        <a:graphic>
          <a:graphicData uri="http://schemas.openxmlformats.org/drawingml/2006/table">
            <a:tbl>
              <a:tblPr firstRow="1" bandRow="1">
                <a:tableStyleId>{5C22544A-7EE6-4342-B048-85BDC9FD1C3A}</a:tableStyleId>
              </a:tblPr>
              <a:tblGrid>
                <a:gridCol w="3312160"/>
                <a:gridCol w="2209165"/>
                <a:gridCol w="3809365"/>
              </a:tblGrid>
              <a:tr h="437515">
                <a:tc>
                  <a:txBody>
                    <a:bodyPr/>
                    <a:p>
                      <a:pPr indent="0" algn="ctr">
                        <a:buNone/>
                      </a:pPr>
                      <a:r>
                        <a:rPr lang="zh-CN" sz="1800" b="1">
                          <a:solidFill>
                            <a:srgbClr val="FFFFFF"/>
                          </a:solidFill>
                          <a:latin typeface="微软雅黑" panose="020B0503020204020204" charset="-122"/>
                          <a:ea typeface="微软雅黑" panose="020B0503020204020204" charset="-122"/>
                        </a:rPr>
                        <a:t>部门</a:t>
                      </a:r>
                      <a:endParaRPr lang="zh-CN" altLang="en-US" sz="1800" b="1">
                        <a:solidFill>
                          <a:srgbClr val="FFFFFF"/>
                        </a:solidFill>
                        <a:latin typeface="微软雅黑" panose="020B0503020204020204" charset="-122"/>
                        <a:ea typeface="微软雅黑" panose="020B0503020204020204" charset="-122"/>
                      </a:endParaRPr>
                    </a:p>
                  </a:txBody>
                  <a:tcPr marL="12700" marR="12700" marT="12700" vert="horz" anchor="ctr" anchorCtr="0">
                    <a:lnL>
                      <a:noFill/>
                    </a:lnL>
                    <a:lnR w="6350" cap="flat" cmpd="sng">
                      <a:solidFill>
                        <a:srgbClr val="FFFFFF"/>
                      </a:solidFill>
                      <a:prstDash val="solid"/>
                      <a:headEnd type="none" w="med" len="med"/>
                      <a:tailEnd type="none" w="med" len="med"/>
                    </a:lnR>
                    <a:lnT cap="flat">
                      <a:noFill/>
                    </a:lnT>
                    <a:lnB w="19050" cap="flat" cmpd="sng">
                      <a:solidFill>
                        <a:srgbClr val="FFFFFF"/>
                      </a:solidFill>
                      <a:prstDash val="solid"/>
                      <a:headEnd type="none" w="med" len="med"/>
                      <a:tailEnd type="none" w="med" len="med"/>
                    </a:lnB>
                    <a:lnTlToBr>
                      <a:noFill/>
                    </a:lnTlToBr>
                    <a:lnBlToTr>
                      <a:noFill/>
                    </a:lnBlToTr>
                    <a:solidFill>
                      <a:srgbClr val="5B9BD5"/>
                    </a:solidFill>
                  </a:tcPr>
                </a:tc>
                <a:tc>
                  <a:txBody>
                    <a:bodyPr/>
                    <a:p>
                      <a:pPr indent="0" algn="ctr">
                        <a:buNone/>
                      </a:pPr>
                      <a:r>
                        <a:rPr lang="zh-CN" sz="1800" b="1">
                          <a:solidFill>
                            <a:srgbClr val="FFFFFF"/>
                          </a:solidFill>
                          <a:latin typeface="微软雅黑" panose="020B0503020204020204" charset="-122"/>
                          <a:ea typeface="微软雅黑" panose="020B0503020204020204" charset="-122"/>
                        </a:rPr>
                        <a:t>成员</a:t>
                      </a:r>
                      <a:endParaRPr lang="zh-CN" altLang="en-US" sz="1800" b="1">
                        <a:solidFill>
                          <a:srgbClr val="FFFFFF"/>
                        </a:solidFill>
                        <a:latin typeface="微软雅黑" panose="020B0503020204020204" charset="-122"/>
                        <a:ea typeface="微软雅黑" panose="020B0503020204020204" charset="-122"/>
                      </a:endParaRPr>
                    </a:p>
                  </a:txBody>
                  <a:tcPr marL="12700" marR="12700" marT="12700" vert="horz" anchor="ctr" anchorCtr="0">
                    <a:lnL w="6350" cap="flat" cmpd="sng">
                      <a:solidFill>
                        <a:srgbClr val="FFFFFF"/>
                      </a:solidFill>
                      <a:prstDash val="solid"/>
                      <a:headEnd type="none" w="med" len="med"/>
                      <a:tailEnd type="none" w="med" len="med"/>
                    </a:lnL>
                    <a:lnR w="6350" cap="flat" cmpd="sng">
                      <a:solidFill>
                        <a:srgbClr val="FFFFFF"/>
                      </a:solidFill>
                      <a:prstDash val="solid"/>
                      <a:headEnd type="none" w="med" len="med"/>
                      <a:tailEnd type="none" w="med" len="med"/>
                    </a:lnR>
                    <a:lnT cap="flat">
                      <a:noFill/>
                    </a:lnT>
                    <a:lnB w="19050" cap="flat" cmpd="sng">
                      <a:solidFill>
                        <a:srgbClr val="FFFFFF"/>
                      </a:solidFill>
                      <a:prstDash val="solid"/>
                      <a:headEnd type="none" w="med" len="med"/>
                      <a:tailEnd type="none" w="med" len="med"/>
                    </a:lnB>
                    <a:lnTlToBr>
                      <a:noFill/>
                    </a:lnTlToBr>
                    <a:lnBlToTr>
                      <a:noFill/>
                    </a:lnBlToTr>
                    <a:solidFill>
                      <a:srgbClr val="5B9BD5"/>
                    </a:solidFill>
                  </a:tcPr>
                </a:tc>
                <a:tc>
                  <a:txBody>
                    <a:bodyPr/>
                    <a:p>
                      <a:pPr indent="0" algn="ctr">
                        <a:buNone/>
                      </a:pPr>
                      <a:r>
                        <a:rPr lang="zh-CN" sz="1800" b="1">
                          <a:solidFill>
                            <a:srgbClr val="FFFFFF"/>
                          </a:solidFill>
                          <a:latin typeface="微软雅黑" panose="020B0503020204020204" charset="-122"/>
                          <a:ea typeface="微软雅黑" panose="020B0503020204020204" charset="-122"/>
                        </a:rPr>
                        <a:t>分工</a:t>
                      </a:r>
                      <a:endParaRPr lang="zh-CN" altLang="en-US" sz="1800" b="1">
                        <a:solidFill>
                          <a:srgbClr val="FFFFFF"/>
                        </a:solidFill>
                        <a:latin typeface="微软雅黑" panose="020B0503020204020204" charset="-122"/>
                        <a:ea typeface="微软雅黑" panose="020B0503020204020204" charset="-122"/>
                      </a:endParaRPr>
                    </a:p>
                  </a:txBody>
                  <a:tcPr marL="12700" marR="12700" marT="12700" vert="horz" anchor="ctr" anchorCtr="0">
                    <a:lnL w="6350" cap="flat" cmpd="sng">
                      <a:solidFill>
                        <a:srgbClr val="FFFFFF"/>
                      </a:solidFill>
                      <a:prstDash val="solid"/>
                      <a:headEnd type="none" w="med" len="med"/>
                      <a:tailEnd type="none" w="med" len="med"/>
                    </a:lnL>
                    <a:lnR cap="flat">
                      <a:noFill/>
                    </a:lnR>
                    <a:lnT cap="flat">
                      <a:noFill/>
                    </a:lnT>
                    <a:lnB w="19050" cap="flat" cmpd="sng">
                      <a:solidFill>
                        <a:srgbClr val="FFFFFF"/>
                      </a:solidFill>
                      <a:prstDash val="solid"/>
                      <a:headEnd type="none" w="med" len="med"/>
                      <a:tailEnd type="none" w="med" len="med"/>
                    </a:lnB>
                    <a:lnTlToBr>
                      <a:noFill/>
                    </a:lnTlToBr>
                    <a:lnBlToTr>
                      <a:noFill/>
                    </a:lnBlToTr>
                    <a:solidFill>
                      <a:srgbClr val="5B9BD5"/>
                    </a:solidFill>
                  </a:tcPr>
                </a:tc>
              </a:tr>
              <a:tr h="437515">
                <a:tc>
                  <a:txBody>
                    <a:bodyPr/>
                    <a:p>
                      <a:pPr indent="0" algn="ctr">
                        <a:buNone/>
                      </a:pPr>
                      <a:r>
                        <a:rPr lang="zh-CN" sz="1400" b="0">
                          <a:solidFill>
                            <a:srgbClr val="000000"/>
                          </a:solidFill>
                          <a:latin typeface="微软雅黑" panose="020B0503020204020204" charset="-122"/>
                          <a:ea typeface="微软雅黑" panose="020B0503020204020204" charset="-122"/>
                        </a:rPr>
                        <a:t>用户增长部</a:t>
                      </a:r>
                      <a:endParaRPr lang="zh-CN" altLang="en-US" sz="1400" b="0">
                        <a:solidFill>
                          <a:srgbClr val="000000"/>
                        </a:solidFill>
                        <a:latin typeface="微软雅黑" panose="020B0503020204020204" charset="-122"/>
                        <a:ea typeface="微软雅黑" panose="020B0503020204020204" charset="-122"/>
                      </a:endParaRPr>
                    </a:p>
                  </a:txBody>
                  <a:tcPr marL="12700" marR="12700" marT="12700" vert="horz" anchor="ctr" anchorCtr="0">
                    <a:lnL>
                      <a:noFill/>
                    </a:lnL>
                    <a:lnR w="6350" cap="flat" cmpd="sng">
                      <a:solidFill>
                        <a:srgbClr val="FFFFFF"/>
                      </a:solidFill>
                      <a:prstDash val="solid"/>
                      <a:headEnd type="none" w="med" len="med"/>
                      <a:tailEnd type="none" w="med" len="med"/>
                    </a:lnR>
                    <a:lnT w="19050" cap="flat" cmpd="sng">
                      <a:solidFill>
                        <a:srgbClr val="FFFFFF"/>
                      </a:solidFill>
                      <a:prstDash val="solid"/>
                      <a:headEnd type="none" w="med" len="med"/>
                      <a:tailEnd type="none" w="med" len="med"/>
                    </a:lnT>
                    <a:lnB w="6350" cap="flat" cmpd="sng">
                      <a:solidFill>
                        <a:srgbClr val="FFFFFF"/>
                      </a:solidFill>
                      <a:prstDash val="solid"/>
                      <a:headEnd type="none" w="med" len="med"/>
                      <a:tailEnd type="none" w="med" len="med"/>
                    </a:lnB>
                    <a:lnTlToBr>
                      <a:noFill/>
                    </a:lnTlToBr>
                    <a:lnBlToTr>
                      <a:noFill/>
                    </a:lnBlToTr>
                    <a:solidFill>
                      <a:srgbClr val="BDD7EE"/>
                    </a:solidFill>
                  </a:tcPr>
                </a:tc>
                <a:tc>
                  <a:txBody>
                    <a:bodyPr/>
                    <a:p>
                      <a:pPr indent="0" algn="ctr">
                        <a:buNone/>
                      </a:pPr>
                      <a:r>
                        <a:rPr lang="zh-CN" sz="1400" b="0">
                          <a:solidFill>
                            <a:srgbClr val="000000"/>
                          </a:solidFill>
                          <a:latin typeface="微软雅黑" panose="020B0503020204020204" charset="-122"/>
                          <a:ea typeface="微软雅黑" panose="020B0503020204020204" charset="-122"/>
                        </a:rPr>
                        <a:t>杭天扬、王向楠</a:t>
                      </a:r>
                      <a:endParaRPr lang="zh-CN" altLang="en-US" sz="1400" b="0">
                        <a:solidFill>
                          <a:srgbClr val="000000"/>
                        </a:solidFill>
                        <a:latin typeface="微软雅黑" panose="020B0503020204020204" charset="-122"/>
                        <a:ea typeface="微软雅黑" panose="020B0503020204020204" charset="-122"/>
                      </a:endParaRPr>
                    </a:p>
                  </a:txBody>
                  <a:tcPr marL="12700" marR="12700" marT="12700" vert="horz" anchor="ctr" anchorCtr="0">
                    <a:lnL w="6350" cap="flat" cmpd="sng">
                      <a:solidFill>
                        <a:srgbClr val="FFFFFF"/>
                      </a:solidFill>
                      <a:prstDash val="solid"/>
                      <a:headEnd type="none" w="med" len="med"/>
                      <a:tailEnd type="none" w="med" len="med"/>
                    </a:lnL>
                    <a:lnR w="6350" cap="flat" cmpd="sng">
                      <a:solidFill>
                        <a:srgbClr val="FFFFFF"/>
                      </a:solidFill>
                      <a:prstDash val="solid"/>
                      <a:headEnd type="none" w="med" len="med"/>
                      <a:tailEnd type="none" w="med" len="med"/>
                    </a:lnR>
                    <a:lnT w="19050" cap="flat" cmpd="sng">
                      <a:solidFill>
                        <a:srgbClr val="FFFFFF"/>
                      </a:solidFill>
                      <a:prstDash val="solid"/>
                      <a:headEnd type="none" w="med" len="med"/>
                      <a:tailEnd type="none" w="med" len="med"/>
                    </a:lnT>
                    <a:lnB w="6350" cap="flat" cmpd="sng">
                      <a:solidFill>
                        <a:srgbClr val="FFFFFF"/>
                      </a:solidFill>
                      <a:prstDash val="solid"/>
                      <a:headEnd type="none" w="med" len="med"/>
                      <a:tailEnd type="none" w="med" len="med"/>
                    </a:lnB>
                    <a:lnTlToBr>
                      <a:noFill/>
                    </a:lnTlToBr>
                    <a:lnBlToTr>
                      <a:noFill/>
                    </a:lnBlToTr>
                    <a:solidFill>
                      <a:srgbClr val="BDD7EE"/>
                    </a:solidFill>
                  </a:tcPr>
                </a:tc>
                <a:tc>
                  <a:txBody>
                    <a:bodyPr/>
                    <a:p>
                      <a:pPr indent="0" algn="ctr">
                        <a:buNone/>
                      </a:pPr>
                      <a:r>
                        <a:rPr lang="zh-CN" sz="1400" b="0">
                          <a:solidFill>
                            <a:srgbClr val="000000"/>
                          </a:solidFill>
                          <a:latin typeface="微软雅黑" panose="020B0503020204020204" charset="-122"/>
                          <a:ea typeface="微软雅黑" panose="020B0503020204020204" charset="-122"/>
                        </a:rPr>
                        <a:t>资源联动、整体把控</a:t>
                      </a:r>
                      <a:endParaRPr lang="zh-CN" altLang="en-US" sz="1400" b="0">
                        <a:solidFill>
                          <a:srgbClr val="000000"/>
                        </a:solidFill>
                        <a:latin typeface="微软雅黑" panose="020B0503020204020204" charset="-122"/>
                        <a:ea typeface="微软雅黑" panose="020B0503020204020204" charset="-122"/>
                      </a:endParaRPr>
                    </a:p>
                  </a:txBody>
                  <a:tcPr marL="12700" marR="12700" marT="12700" vert="horz" anchor="ctr" anchorCtr="0">
                    <a:lnL w="6350" cap="flat" cmpd="sng">
                      <a:solidFill>
                        <a:srgbClr val="FFFFFF"/>
                      </a:solidFill>
                      <a:prstDash val="solid"/>
                      <a:headEnd type="none" w="med" len="med"/>
                      <a:tailEnd type="none" w="med" len="med"/>
                    </a:lnL>
                    <a:lnR cap="flat">
                      <a:noFill/>
                    </a:lnR>
                    <a:lnT w="19050" cap="flat" cmpd="sng">
                      <a:solidFill>
                        <a:srgbClr val="FFFFFF"/>
                      </a:solidFill>
                      <a:prstDash val="solid"/>
                      <a:headEnd type="none" w="med" len="med"/>
                      <a:tailEnd type="none" w="med" len="med"/>
                    </a:lnT>
                    <a:lnB w="6350" cap="flat" cmpd="sng">
                      <a:solidFill>
                        <a:srgbClr val="FFFFFF"/>
                      </a:solidFill>
                      <a:prstDash val="solid"/>
                      <a:headEnd type="none" w="med" len="med"/>
                      <a:tailEnd type="none" w="med" len="med"/>
                    </a:lnB>
                    <a:lnTlToBr>
                      <a:noFill/>
                    </a:lnTlToBr>
                    <a:lnBlToTr>
                      <a:noFill/>
                    </a:lnBlToTr>
                    <a:solidFill>
                      <a:srgbClr val="BDD7EE"/>
                    </a:solidFill>
                  </a:tcPr>
                </a:tc>
              </a:tr>
              <a:tr h="437515">
                <a:tc>
                  <a:txBody>
                    <a:bodyPr/>
                    <a:p>
                      <a:pPr indent="0" algn="ctr">
                        <a:buNone/>
                      </a:pPr>
                      <a:r>
                        <a:rPr lang="zh-CN" sz="1400" b="0">
                          <a:solidFill>
                            <a:srgbClr val="000000"/>
                          </a:solidFill>
                          <a:latin typeface="微软雅黑" panose="020B0503020204020204" charset="-122"/>
                          <a:ea typeface="微软雅黑" panose="020B0503020204020204" charset="-122"/>
                        </a:rPr>
                        <a:t>用户增长部</a:t>
                      </a:r>
                      <a:endParaRPr lang="zh-CN" altLang="en-US" sz="1400" b="0">
                        <a:solidFill>
                          <a:srgbClr val="000000"/>
                        </a:solidFill>
                        <a:latin typeface="微软雅黑" panose="020B0503020204020204" charset="-122"/>
                        <a:ea typeface="微软雅黑" panose="020B0503020204020204" charset="-122"/>
                      </a:endParaRPr>
                    </a:p>
                  </a:txBody>
                  <a:tcPr marL="12700" marR="12700" marT="12700" vert="horz" anchor="ctr" anchorCtr="0">
                    <a:lnL>
                      <a:noFill/>
                    </a:lnL>
                    <a:lnR w="6350" cap="flat" cmpd="sng">
                      <a:solidFill>
                        <a:srgbClr val="FFFFFF"/>
                      </a:solidFill>
                      <a:prstDash val="solid"/>
                      <a:headEnd type="none" w="med" len="med"/>
                      <a:tailEnd type="none" w="med" len="med"/>
                    </a:lnR>
                    <a:lnT w="6350" cap="flat" cmpd="sng">
                      <a:solidFill>
                        <a:srgbClr val="FFFFFF"/>
                      </a:solidFill>
                      <a:prstDash val="solid"/>
                      <a:headEnd type="none" w="med" len="med"/>
                      <a:tailEnd type="none" w="med" len="med"/>
                    </a:lnT>
                    <a:lnB w="6350" cap="flat" cmpd="sng">
                      <a:solidFill>
                        <a:srgbClr val="FFFFFF"/>
                      </a:solidFill>
                      <a:prstDash val="solid"/>
                      <a:headEnd type="none" w="med" len="med"/>
                      <a:tailEnd type="none" w="med" len="med"/>
                    </a:lnB>
                    <a:lnTlToBr>
                      <a:noFill/>
                    </a:lnTlToBr>
                    <a:lnBlToTr>
                      <a:noFill/>
                    </a:lnBlToTr>
                    <a:solidFill>
                      <a:srgbClr val="DDEBF7"/>
                    </a:solidFill>
                  </a:tcPr>
                </a:tc>
                <a:tc>
                  <a:txBody>
                    <a:bodyPr/>
                    <a:p>
                      <a:pPr indent="0" algn="ctr">
                        <a:buNone/>
                      </a:pPr>
                      <a:r>
                        <a:rPr lang="zh-CN" sz="1400" b="0">
                          <a:solidFill>
                            <a:srgbClr val="000000"/>
                          </a:solidFill>
                          <a:latin typeface="微软雅黑" panose="020B0503020204020204" charset="-122"/>
                          <a:ea typeface="微软雅黑" panose="020B0503020204020204" charset="-122"/>
                        </a:rPr>
                        <a:t>邱南平、何之磊</a:t>
                      </a:r>
                      <a:endParaRPr lang="zh-CN" altLang="en-US" sz="1400" b="0">
                        <a:solidFill>
                          <a:srgbClr val="000000"/>
                        </a:solidFill>
                        <a:latin typeface="微软雅黑" panose="020B0503020204020204" charset="-122"/>
                        <a:ea typeface="微软雅黑" panose="020B0503020204020204" charset="-122"/>
                      </a:endParaRPr>
                    </a:p>
                  </a:txBody>
                  <a:tcPr marL="12700" marR="12700" marT="12700" vert="horz" anchor="ctr" anchorCtr="0">
                    <a:lnL w="6350" cap="flat" cmpd="sng">
                      <a:solidFill>
                        <a:srgbClr val="FFFFFF"/>
                      </a:solidFill>
                      <a:prstDash val="solid"/>
                      <a:headEnd type="none" w="med" len="med"/>
                      <a:tailEnd type="none" w="med" len="med"/>
                    </a:lnL>
                    <a:lnR w="6350" cap="flat" cmpd="sng">
                      <a:solidFill>
                        <a:srgbClr val="FFFFFF"/>
                      </a:solidFill>
                      <a:prstDash val="solid"/>
                      <a:headEnd type="none" w="med" len="med"/>
                      <a:tailEnd type="none" w="med" len="med"/>
                    </a:lnR>
                    <a:lnT w="6350" cap="flat" cmpd="sng">
                      <a:solidFill>
                        <a:srgbClr val="FFFFFF"/>
                      </a:solidFill>
                      <a:prstDash val="solid"/>
                      <a:headEnd type="none" w="med" len="med"/>
                      <a:tailEnd type="none" w="med" len="med"/>
                    </a:lnT>
                    <a:lnB w="6350" cap="flat" cmpd="sng">
                      <a:solidFill>
                        <a:srgbClr val="FFFFFF"/>
                      </a:solidFill>
                      <a:prstDash val="solid"/>
                      <a:headEnd type="none" w="med" len="med"/>
                      <a:tailEnd type="none" w="med" len="med"/>
                    </a:lnB>
                    <a:lnTlToBr>
                      <a:noFill/>
                    </a:lnTlToBr>
                    <a:lnBlToTr>
                      <a:noFill/>
                    </a:lnBlToTr>
                    <a:solidFill>
                      <a:srgbClr val="DDEBF7"/>
                    </a:solidFill>
                  </a:tcPr>
                </a:tc>
                <a:tc>
                  <a:txBody>
                    <a:bodyPr/>
                    <a:p>
                      <a:pPr indent="0" algn="ctr">
                        <a:buNone/>
                      </a:pPr>
                      <a:r>
                        <a:rPr lang="zh-CN" sz="1400" b="0">
                          <a:solidFill>
                            <a:srgbClr val="000000"/>
                          </a:solidFill>
                          <a:latin typeface="微软雅黑" panose="020B0503020204020204" charset="-122"/>
                          <a:ea typeface="微软雅黑" panose="020B0503020204020204" charset="-122"/>
                        </a:rPr>
                        <a:t>模型上线、</a:t>
                      </a:r>
                      <a:r>
                        <a:rPr lang="en-US" altLang="zh-CN" sz="1400" b="0">
                          <a:solidFill>
                            <a:srgbClr val="000000"/>
                          </a:solidFill>
                          <a:latin typeface="微软雅黑" panose="020B0503020204020204" charset="-122"/>
                          <a:ea typeface="微软雅黑" panose="020B0503020204020204" charset="-122"/>
                        </a:rPr>
                        <a:t>AB</a:t>
                      </a:r>
                      <a:r>
                        <a:rPr lang="zh-CN" sz="1400" b="0">
                          <a:solidFill>
                            <a:srgbClr val="000000"/>
                          </a:solidFill>
                          <a:latin typeface="微软雅黑" panose="020B0503020204020204" charset="-122"/>
                          <a:ea typeface="微软雅黑" panose="020B0503020204020204" charset="-122"/>
                        </a:rPr>
                        <a:t>实验设计</a:t>
                      </a:r>
                      <a:endParaRPr lang="zh-CN" altLang="en-US" sz="1400" b="0">
                        <a:solidFill>
                          <a:srgbClr val="000000"/>
                        </a:solidFill>
                        <a:latin typeface="微软雅黑" panose="020B0503020204020204" charset="-122"/>
                        <a:ea typeface="微软雅黑" panose="020B0503020204020204" charset="-122"/>
                      </a:endParaRPr>
                    </a:p>
                  </a:txBody>
                  <a:tcPr marL="12700" marR="12700" marT="12700" vert="horz" anchor="ctr" anchorCtr="0">
                    <a:lnL w="6350" cap="flat" cmpd="sng">
                      <a:solidFill>
                        <a:srgbClr val="FFFFFF"/>
                      </a:solidFill>
                      <a:prstDash val="solid"/>
                      <a:headEnd type="none" w="med" len="med"/>
                      <a:tailEnd type="none" w="med" len="med"/>
                    </a:lnL>
                    <a:lnR cap="flat">
                      <a:noFill/>
                    </a:lnR>
                    <a:lnT w="6350" cap="flat" cmpd="sng">
                      <a:solidFill>
                        <a:srgbClr val="FFFFFF"/>
                      </a:solidFill>
                      <a:prstDash val="solid"/>
                      <a:headEnd type="none" w="med" len="med"/>
                      <a:tailEnd type="none" w="med" len="med"/>
                    </a:lnT>
                    <a:lnB w="6350" cap="flat" cmpd="sng">
                      <a:solidFill>
                        <a:srgbClr val="FFFFFF"/>
                      </a:solidFill>
                      <a:prstDash val="solid"/>
                      <a:headEnd type="none" w="med" len="med"/>
                      <a:tailEnd type="none" w="med" len="med"/>
                    </a:lnB>
                    <a:lnTlToBr>
                      <a:noFill/>
                    </a:lnTlToBr>
                    <a:lnBlToTr>
                      <a:noFill/>
                    </a:lnBlToTr>
                    <a:solidFill>
                      <a:srgbClr val="DDEBF7"/>
                    </a:solidFill>
                  </a:tcPr>
                </a:tc>
              </a:tr>
              <a:tr h="437515">
                <a:tc>
                  <a:txBody>
                    <a:bodyPr/>
                    <a:p>
                      <a:pPr indent="0" algn="ctr">
                        <a:buNone/>
                      </a:pPr>
                      <a:r>
                        <a:rPr lang="zh-CN" sz="1400" b="0">
                          <a:solidFill>
                            <a:srgbClr val="000000"/>
                          </a:solidFill>
                          <a:latin typeface="微软雅黑" panose="020B0503020204020204" charset="-122"/>
                          <a:ea typeface="微软雅黑" panose="020B0503020204020204" charset="-122"/>
                        </a:rPr>
                        <a:t>慧选事业部</a:t>
                      </a:r>
                      <a:endParaRPr lang="zh-CN" altLang="en-US" sz="1400" b="0">
                        <a:solidFill>
                          <a:srgbClr val="000000"/>
                        </a:solidFill>
                        <a:latin typeface="微软雅黑" panose="020B0503020204020204" charset="-122"/>
                        <a:ea typeface="微软雅黑" panose="020B0503020204020204" charset="-122"/>
                      </a:endParaRPr>
                    </a:p>
                  </a:txBody>
                  <a:tcPr marL="12700" marR="12700" marT="12700" vert="horz" anchor="ctr" anchorCtr="0">
                    <a:lnL>
                      <a:noFill/>
                    </a:lnL>
                    <a:lnR w="6350" cap="flat" cmpd="sng">
                      <a:solidFill>
                        <a:srgbClr val="FFFFFF"/>
                      </a:solidFill>
                      <a:prstDash val="solid"/>
                      <a:headEnd type="none" w="med" len="med"/>
                      <a:tailEnd type="none" w="med" len="med"/>
                    </a:lnR>
                    <a:lnT w="6350" cap="flat" cmpd="sng">
                      <a:solidFill>
                        <a:srgbClr val="FFFFFF"/>
                      </a:solidFill>
                      <a:prstDash val="solid"/>
                      <a:headEnd type="none" w="med" len="med"/>
                      <a:tailEnd type="none" w="med" len="med"/>
                    </a:lnT>
                    <a:lnB w="6350" cap="flat" cmpd="sng">
                      <a:solidFill>
                        <a:srgbClr val="FFFFFF"/>
                      </a:solidFill>
                      <a:prstDash val="solid"/>
                      <a:headEnd type="none" w="med" len="med"/>
                      <a:tailEnd type="none" w="med" len="med"/>
                    </a:lnB>
                    <a:lnTlToBr>
                      <a:noFill/>
                    </a:lnTlToBr>
                    <a:lnBlToTr>
                      <a:noFill/>
                    </a:lnBlToTr>
                    <a:solidFill>
                      <a:srgbClr val="BDD7EE"/>
                    </a:solidFill>
                  </a:tcPr>
                </a:tc>
                <a:tc>
                  <a:txBody>
                    <a:bodyPr/>
                    <a:p>
                      <a:pPr indent="0" algn="ctr">
                        <a:buNone/>
                      </a:pPr>
                      <a:r>
                        <a:rPr lang="zh-CN" altLang="en-US" sz="1400" b="0">
                          <a:solidFill>
                            <a:srgbClr val="000000"/>
                          </a:solidFill>
                          <a:latin typeface="微软雅黑" panose="020B0503020204020204" charset="-122"/>
                          <a:ea typeface="微软雅黑" panose="020B0503020204020204" charset="-122"/>
                        </a:rPr>
                        <a:t>彩虹、毛豆</a:t>
                      </a:r>
                      <a:endParaRPr lang="zh-CN" altLang="en-US" sz="1400" b="0">
                        <a:solidFill>
                          <a:srgbClr val="000000"/>
                        </a:solidFill>
                        <a:latin typeface="微软雅黑" panose="020B0503020204020204" charset="-122"/>
                        <a:ea typeface="微软雅黑" panose="020B0503020204020204" charset="-122"/>
                      </a:endParaRPr>
                    </a:p>
                  </a:txBody>
                  <a:tcPr marL="12700" marR="12700" marT="12700" vert="horz" anchor="ctr" anchorCtr="0">
                    <a:lnL w="6350" cap="flat" cmpd="sng">
                      <a:solidFill>
                        <a:srgbClr val="FFFFFF"/>
                      </a:solidFill>
                      <a:prstDash val="solid"/>
                      <a:headEnd type="none" w="med" len="med"/>
                      <a:tailEnd type="none" w="med" len="med"/>
                    </a:lnL>
                    <a:lnR w="6350" cap="flat" cmpd="sng">
                      <a:solidFill>
                        <a:srgbClr val="FFFFFF"/>
                      </a:solidFill>
                      <a:prstDash val="solid"/>
                      <a:headEnd type="none" w="med" len="med"/>
                      <a:tailEnd type="none" w="med" len="med"/>
                    </a:lnR>
                    <a:lnT w="6350" cap="flat" cmpd="sng">
                      <a:solidFill>
                        <a:srgbClr val="FFFFFF"/>
                      </a:solidFill>
                      <a:prstDash val="solid"/>
                      <a:headEnd type="none" w="med" len="med"/>
                      <a:tailEnd type="none" w="med" len="med"/>
                    </a:lnT>
                    <a:lnB w="6350" cap="flat" cmpd="sng">
                      <a:solidFill>
                        <a:srgbClr val="FFFFFF"/>
                      </a:solidFill>
                      <a:prstDash val="solid"/>
                      <a:headEnd type="none" w="med" len="med"/>
                      <a:tailEnd type="none" w="med" len="med"/>
                    </a:lnB>
                    <a:lnTlToBr>
                      <a:noFill/>
                    </a:lnTlToBr>
                    <a:lnBlToTr>
                      <a:noFill/>
                    </a:lnBlToTr>
                    <a:solidFill>
                      <a:srgbClr val="BDD7EE"/>
                    </a:solidFill>
                  </a:tcPr>
                </a:tc>
                <a:tc>
                  <a:txBody>
                    <a:bodyPr/>
                    <a:p>
                      <a:pPr indent="0" algn="ctr">
                        <a:buNone/>
                      </a:pPr>
                      <a:r>
                        <a:rPr lang="zh-CN" altLang="en-US" sz="1400" b="0">
                          <a:solidFill>
                            <a:srgbClr val="000000"/>
                          </a:solidFill>
                          <a:latin typeface="微软雅黑" panose="020B0503020204020204" charset="-122"/>
                          <a:ea typeface="微软雅黑" panose="020B0503020204020204" charset="-122"/>
                        </a:rPr>
                        <a:t>顾问资源支持</a:t>
                      </a:r>
                      <a:endParaRPr lang="zh-CN" altLang="en-US" sz="1400" b="0">
                        <a:solidFill>
                          <a:srgbClr val="000000"/>
                        </a:solidFill>
                        <a:latin typeface="微软雅黑" panose="020B0503020204020204" charset="-122"/>
                        <a:ea typeface="微软雅黑" panose="020B0503020204020204" charset="-122"/>
                      </a:endParaRPr>
                    </a:p>
                  </a:txBody>
                  <a:tcPr marL="12700" marR="12700" marT="12700" vert="horz" anchor="ctr" anchorCtr="0">
                    <a:lnL w="6350" cap="flat" cmpd="sng">
                      <a:solidFill>
                        <a:srgbClr val="FFFFFF"/>
                      </a:solidFill>
                      <a:prstDash val="solid"/>
                      <a:headEnd type="none" w="med" len="med"/>
                      <a:tailEnd type="none" w="med" len="med"/>
                    </a:lnL>
                    <a:lnR cap="flat">
                      <a:noFill/>
                    </a:lnR>
                    <a:lnT w="6350" cap="flat" cmpd="sng">
                      <a:solidFill>
                        <a:srgbClr val="FFFFFF"/>
                      </a:solidFill>
                      <a:prstDash val="solid"/>
                      <a:headEnd type="none" w="med" len="med"/>
                      <a:tailEnd type="none" w="med" len="med"/>
                    </a:lnT>
                    <a:lnB w="6350" cap="flat" cmpd="sng">
                      <a:solidFill>
                        <a:srgbClr val="FFFFFF"/>
                      </a:solidFill>
                      <a:prstDash val="solid"/>
                      <a:headEnd type="none" w="med" len="med"/>
                      <a:tailEnd type="none" w="med" len="med"/>
                    </a:lnB>
                    <a:lnTlToBr>
                      <a:noFill/>
                    </a:lnTlToBr>
                    <a:lnBlToTr>
                      <a:noFill/>
                    </a:lnBlToTr>
                    <a:solidFill>
                      <a:srgbClr val="BDD7EE"/>
                    </a:solidFill>
                  </a:tcPr>
                </a:tc>
              </a:tr>
              <a:tr h="437515">
                <a:tc>
                  <a:txBody>
                    <a:bodyPr/>
                    <a:p>
                      <a:pPr indent="0" algn="ctr">
                        <a:buNone/>
                      </a:pPr>
                      <a:r>
                        <a:rPr lang="zh-CN" altLang="en-US" sz="1400" b="0">
                          <a:solidFill>
                            <a:srgbClr val="000000"/>
                          </a:solidFill>
                          <a:latin typeface="微软雅黑" panose="020B0503020204020204" charset="-122"/>
                          <a:ea typeface="微软雅黑" panose="020B0503020204020204" charset="-122"/>
                          <a:sym typeface="+mn-ea"/>
                        </a:rPr>
                        <a:t>研发管理中心</a:t>
                      </a:r>
                      <a:endParaRPr lang="zh-CN" altLang="en-US" sz="1400" b="0">
                        <a:solidFill>
                          <a:srgbClr val="000000"/>
                        </a:solidFill>
                        <a:latin typeface="微软雅黑" panose="020B0503020204020204" charset="-122"/>
                        <a:ea typeface="微软雅黑" panose="020B0503020204020204" charset="-122"/>
                        <a:sym typeface="+mn-ea"/>
                      </a:endParaRPr>
                    </a:p>
                  </a:txBody>
                  <a:tcPr marL="12700" marR="12700" marT="12700" vert="horz" anchor="ctr" anchorCtr="0">
                    <a:lnL>
                      <a:noFill/>
                    </a:lnL>
                    <a:lnR w="6350" cap="flat" cmpd="sng">
                      <a:solidFill>
                        <a:srgbClr val="FFFFFF"/>
                      </a:solidFill>
                      <a:prstDash val="solid"/>
                      <a:headEnd type="none" w="med" len="med"/>
                      <a:tailEnd type="none" w="med" len="med"/>
                    </a:lnR>
                    <a:lnT w="6350" cap="flat" cmpd="sng">
                      <a:solidFill>
                        <a:srgbClr val="FFFFFF"/>
                      </a:solidFill>
                      <a:prstDash val="solid"/>
                      <a:headEnd type="none" w="med" len="med"/>
                      <a:tailEnd type="none" w="med" len="med"/>
                    </a:lnT>
                    <a:lnB w="6350" cap="flat" cmpd="sng">
                      <a:solidFill>
                        <a:srgbClr val="FFFFFF"/>
                      </a:solidFill>
                      <a:prstDash val="solid"/>
                      <a:headEnd type="none" w="med" len="med"/>
                      <a:tailEnd type="none" w="med" len="med"/>
                    </a:lnB>
                    <a:lnTlToBr>
                      <a:noFill/>
                    </a:lnTlToBr>
                    <a:lnBlToTr>
                      <a:noFill/>
                    </a:lnBlToTr>
                    <a:solidFill>
                      <a:srgbClr val="DDEBF7"/>
                    </a:solidFill>
                  </a:tcPr>
                </a:tc>
                <a:tc>
                  <a:txBody>
                    <a:bodyPr/>
                    <a:p>
                      <a:pPr indent="0" algn="ctr">
                        <a:buNone/>
                      </a:pPr>
                      <a:r>
                        <a:rPr lang="zh-CN" sz="1400" b="0">
                          <a:solidFill>
                            <a:srgbClr val="000000"/>
                          </a:solidFill>
                          <a:latin typeface="微软雅黑" panose="020B0503020204020204" charset="-122"/>
                          <a:ea typeface="微软雅黑" panose="020B0503020204020204" charset="-122"/>
                        </a:rPr>
                        <a:t>思源等</a:t>
                      </a:r>
                      <a:endParaRPr lang="zh-CN" sz="1400" b="0">
                        <a:solidFill>
                          <a:srgbClr val="000000"/>
                        </a:solidFill>
                        <a:latin typeface="微软雅黑" panose="020B0503020204020204" charset="-122"/>
                        <a:ea typeface="微软雅黑" panose="020B0503020204020204" charset="-122"/>
                      </a:endParaRPr>
                    </a:p>
                  </a:txBody>
                  <a:tcPr marL="12700" marR="12700" marT="12700" vert="horz" anchor="ctr" anchorCtr="0">
                    <a:lnL w="6350" cap="flat" cmpd="sng">
                      <a:solidFill>
                        <a:srgbClr val="FFFFFF"/>
                      </a:solidFill>
                      <a:prstDash val="solid"/>
                      <a:headEnd type="none" w="med" len="med"/>
                      <a:tailEnd type="none" w="med" len="med"/>
                    </a:lnL>
                    <a:lnR w="6350" cap="flat" cmpd="sng">
                      <a:solidFill>
                        <a:srgbClr val="FFFFFF"/>
                      </a:solidFill>
                      <a:prstDash val="solid"/>
                      <a:headEnd type="none" w="med" len="med"/>
                      <a:tailEnd type="none" w="med" len="med"/>
                    </a:lnR>
                    <a:lnT w="6350" cap="flat" cmpd="sng">
                      <a:solidFill>
                        <a:srgbClr val="FFFFFF"/>
                      </a:solidFill>
                      <a:prstDash val="solid"/>
                      <a:headEnd type="none" w="med" len="med"/>
                      <a:tailEnd type="none" w="med" len="med"/>
                    </a:lnT>
                    <a:lnB w="6350" cap="flat" cmpd="sng">
                      <a:solidFill>
                        <a:srgbClr val="FFFFFF"/>
                      </a:solidFill>
                      <a:prstDash val="solid"/>
                      <a:headEnd type="none" w="med" len="med"/>
                      <a:tailEnd type="none" w="med" len="med"/>
                    </a:lnB>
                    <a:lnTlToBr>
                      <a:noFill/>
                    </a:lnTlToBr>
                    <a:lnBlToTr>
                      <a:noFill/>
                    </a:lnBlToTr>
                    <a:solidFill>
                      <a:srgbClr val="DDEBF7"/>
                    </a:solidFill>
                  </a:tcPr>
                </a:tc>
                <a:tc>
                  <a:txBody>
                    <a:bodyPr/>
                    <a:p>
                      <a:pPr indent="0" algn="ctr">
                        <a:buNone/>
                      </a:pPr>
                      <a:r>
                        <a:rPr lang="zh-CN" sz="1400" b="0">
                          <a:solidFill>
                            <a:srgbClr val="000000"/>
                          </a:solidFill>
                          <a:latin typeface="微软雅黑" panose="020B0503020204020204" charset="-122"/>
                          <a:ea typeface="微软雅黑" panose="020B0503020204020204" charset="-122"/>
                        </a:rPr>
                        <a:t>技术资源支持</a:t>
                      </a:r>
                      <a:endParaRPr lang="zh-CN" altLang="en-US" sz="1400" b="0">
                        <a:solidFill>
                          <a:srgbClr val="000000"/>
                        </a:solidFill>
                        <a:latin typeface="微软雅黑" panose="020B0503020204020204" charset="-122"/>
                        <a:ea typeface="微软雅黑" panose="020B0503020204020204" charset="-122"/>
                      </a:endParaRPr>
                    </a:p>
                  </a:txBody>
                  <a:tcPr marL="12700" marR="12700" marT="12700" vert="horz" anchor="ctr" anchorCtr="0">
                    <a:lnL w="6350" cap="flat" cmpd="sng">
                      <a:solidFill>
                        <a:srgbClr val="FFFFFF"/>
                      </a:solidFill>
                      <a:prstDash val="solid"/>
                      <a:headEnd type="none" w="med" len="med"/>
                      <a:tailEnd type="none" w="med" len="med"/>
                    </a:lnL>
                    <a:lnR cap="flat">
                      <a:noFill/>
                    </a:lnR>
                    <a:lnT w="6350" cap="flat" cmpd="sng">
                      <a:solidFill>
                        <a:srgbClr val="FFFFFF"/>
                      </a:solidFill>
                      <a:prstDash val="solid"/>
                      <a:headEnd type="none" w="med" len="med"/>
                      <a:tailEnd type="none" w="med" len="med"/>
                    </a:lnT>
                    <a:lnB w="6350" cap="flat" cmpd="sng">
                      <a:solidFill>
                        <a:srgbClr val="FFFFFF"/>
                      </a:solidFill>
                      <a:prstDash val="solid"/>
                      <a:headEnd type="none" w="med" len="med"/>
                      <a:tailEnd type="none" w="med" len="med"/>
                    </a:lnB>
                    <a:lnTlToBr>
                      <a:noFill/>
                    </a:lnTlToBr>
                    <a:lnBlToTr>
                      <a:noFill/>
                    </a:lnBlToTr>
                    <a:solidFill>
                      <a:srgbClr val="DDEBF7"/>
                    </a:solidFill>
                  </a:tcPr>
                </a:tc>
              </a:tr>
              <a:tr h="437515">
                <a:tc>
                  <a:txBody>
                    <a:bodyPr/>
                    <a:p>
                      <a:pPr indent="0" algn="ctr">
                        <a:buNone/>
                      </a:pPr>
                      <a:r>
                        <a:rPr lang="zh-CN" sz="1400">
                          <a:solidFill>
                            <a:srgbClr val="000000"/>
                          </a:solidFill>
                          <a:latin typeface="微软雅黑" panose="020B0503020204020204" charset="-122"/>
                          <a:ea typeface="微软雅黑" panose="020B0503020204020204" charset="-122"/>
                          <a:sym typeface="+mn-ea"/>
                        </a:rPr>
                        <a:t>开发平台事业部</a:t>
                      </a:r>
                      <a:endParaRPr lang="zh-CN" altLang="en-US" sz="1400" b="0">
                        <a:solidFill>
                          <a:srgbClr val="000000"/>
                        </a:solidFill>
                        <a:latin typeface="微软雅黑" panose="020B0503020204020204" charset="-122"/>
                        <a:ea typeface="微软雅黑" panose="020B0503020204020204" charset="-122"/>
                      </a:endParaRPr>
                    </a:p>
                  </a:txBody>
                  <a:tcPr marL="12700" marR="12700" marT="12700" vert="horz" anchor="ctr" anchorCtr="0">
                    <a:lnL>
                      <a:noFill/>
                    </a:lnL>
                    <a:lnR w="6350" cap="flat" cmpd="sng">
                      <a:solidFill>
                        <a:srgbClr val="FFFFFF"/>
                      </a:solidFill>
                      <a:prstDash val="solid"/>
                      <a:headEnd type="none" w="med" len="med"/>
                      <a:tailEnd type="none" w="med" len="med"/>
                    </a:lnR>
                    <a:lnT w="6350" cap="flat" cmpd="sng">
                      <a:solidFill>
                        <a:srgbClr val="FFFFFF"/>
                      </a:solidFill>
                      <a:prstDash val="solid"/>
                      <a:headEnd type="none" w="med" len="med"/>
                      <a:tailEnd type="none" w="med" len="med"/>
                    </a:lnT>
                    <a:lnB w="6350" cap="flat" cmpd="sng">
                      <a:solidFill>
                        <a:srgbClr val="FFFFFF"/>
                      </a:solidFill>
                      <a:prstDash val="solid"/>
                      <a:headEnd type="none" w="med" len="med"/>
                      <a:tailEnd type="none" w="med" len="med"/>
                    </a:lnB>
                    <a:lnTlToBr>
                      <a:noFill/>
                    </a:lnTlToBr>
                    <a:lnBlToTr>
                      <a:noFill/>
                    </a:lnBlToTr>
                    <a:solidFill>
                      <a:srgbClr val="BDD7EE"/>
                    </a:solidFill>
                  </a:tcPr>
                </a:tc>
                <a:tc>
                  <a:txBody>
                    <a:bodyPr/>
                    <a:p>
                      <a:pPr indent="0" algn="ctr">
                        <a:buNone/>
                      </a:pPr>
                      <a:r>
                        <a:rPr lang="zh-CN" sz="1400" b="0">
                          <a:solidFill>
                            <a:srgbClr val="000000"/>
                          </a:solidFill>
                          <a:latin typeface="微软雅黑" panose="020B0503020204020204" charset="-122"/>
                          <a:ea typeface="微软雅黑" panose="020B0503020204020204" charset="-122"/>
                        </a:rPr>
                        <a:t>路克、斯文</a:t>
                      </a:r>
                      <a:endParaRPr lang="zh-CN" altLang="en-US" sz="1400" b="0">
                        <a:solidFill>
                          <a:srgbClr val="000000"/>
                        </a:solidFill>
                        <a:latin typeface="微软雅黑" panose="020B0503020204020204" charset="-122"/>
                        <a:ea typeface="微软雅黑" panose="020B0503020204020204" charset="-122"/>
                      </a:endParaRPr>
                    </a:p>
                  </a:txBody>
                  <a:tcPr marL="12700" marR="12700" marT="12700" vert="horz" anchor="ctr" anchorCtr="0">
                    <a:lnL w="6350" cap="flat" cmpd="sng">
                      <a:solidFill>
                        <a:srgbClr val="FFFFFF"/>
                      </a:solidFill>
                      <a:prstDash val="solid"/>
                      <a:headEnd type="none" w="med" len="med"/>
                      <a:tailEnd type="none" w="med" len="med"/>
                    </a:lnL>
                    <a:lnR w="6350" cap="flat" cmpd="sng">
                      <a:solidFill>
                        <a:srgbClr val="FFFFFF"/>
                      </a:solidFill>
                      <a:prstDash val="solid"/>
                      <a:headEnd type="none" w="med" len="med"/>
                      <a:tailEnd type="none" w="med" len="med"/>
                    </a:lnR>
                    <a:lnT w="6350" cap="flat" cmpd="sng">
                      <a:solidFill>
                        <a:srgbClr val="FFFFFF"/>
                      </a:solidFill>
                      <a:prstDash val="solid"/>
                      <a:headEnd type="none" w="med" len="med"/>
                      <a:tailEnd type="none" w="med" len="med"/>
                    </a:lnT>
                    <a:lnB w="6350" cap="flat" cmpd="sng">
                      <a:solidFill>
                        <a:srgbClr val="FFFFFF"/>
                      </a:solidFill>
                      <a:prstDash val="solid"/>
                      <a:headEnd type="none" w="med" len="med"/>
                      <a:tailEnd type="none" w="med" len="med"/>
                    </a:lnB>
                    <a:lnTlToBr>
                      <a:noFill/>
                    </a:lnTlToBr>
                    <a:lnBlToTr>
                      <a:noFill/>
                    </a:lnBlToTr>
                    <a:solidFill>
                      <a:srgbClr val="BDD7EE"/>
                    </a:solidFill>
                  </a:tcPr>
                </a:tc>
                <a:tc>
                  <a:txBody>
                    <a:bodyPr/>
                    <a:p>
                      <a:pPr indent="0" algn="ctr">
                        <a:buNone/>
                      </a:pPr>
                      <a:r>
                        <a:rPr lang="zh-CN" altLang="en-US" sz="1400" b="0">
                          <a:solidFill>
                            <a:srgbClr val="000000"/>
                          </a:solidFill>
                          <a:latin typeface="微软雅黑" panose="020B0503020204020204" charset="-122"/>
                          <a:ea typeface="微软雅黑" panose="020B0503020204020204" charset="-122"/>
                        </a:rPr>
                        <a:t>商机分配等业务及资源支持</a:t>
                      </a:r>
                      <a:endParaRPr lang="zh-CN" altLang="en-US" sz="1400" b="0">
                        <a:solidFill>
                          <a:srgbClr val="000000"/>
                        </a:solidFill>
                        <a:latin typeface="微软雅黑" panose="020B0503020204020204" charset="-122"/>
                        <a:ea typeface="微软雅黑" panose="020B0503020204020204" charset="-122"/>
                      </a:endParaRPr>
                    </a:p>
                  </a:txBody>
                  <a:tcPr marL="12700" marR="12700" marT="12700" vert="horz" anchor="ctr" anchorCtr="0">
                    <a:lnL w="6350" cap="flat" cmpd="sng">
                      <a:solidFill>
                        <a:srgbClr val="FFFFFF"/>
                      </a:solidFill>
                      <a:prstDash val="solid"/>
                      <a:headEnd type="none" w="med" len="med"/>
                      <a:tailEnd type="none" w="med" len="med"/>
                    </a:lnL>
                    <a:lnR cap="flat">
                      <a:noFill/>
                    </a:lnR>
                    <a:lnT w="6350" cap="flat" cmpd="sng">
                      <a:solidFill>
                        <a:srgbClr val="FFFFFF"/>
                      </a:solidFill>
                      <a:prstDash val="solid"/>
                      <a:headEnd type="none" w="med" len="med"/>
                      <a:tailEnd type="none" w="med" len="med"/>
                    </a:lnT>
                    <a:lnB w="6350" cap="flat" cmpd="sng">
                      <a:solidFill>
                        <a:srgbClr val="FFFFFF"/>
                      </a:solidFill>
                      <a:prstDash val="solid"/>
                      <a:headEnd type="none" w="med" len="med"/>
                      <a:tailEnd type="none" w="med" len="med"/>
                    </a:lnB>
                    <a:lnTlToBr>
                      <a:noFill/>
                    </a:lnTlToBr>
                    <a:lnBlToTr>
                      <a:noFill/>
                    </a:lnBlToTr>
                    <a:solidFill>
                      <a:srgbClr val="BDD7EE"/>
                    </a:solidFill>
                  </a:tcPr>
                </a:tc>
              </a:tr>
              <a:tr h="437515">
                <a:tc>
                  <a:txBody>
                    <a:bodyPr/>
                    <a:p>
                      <a:pPr algn="ctr">
                        <a:buNone/>
                      </a:pPr>
                      <a:r>
                        <a:rPr lang="zh-CN" sz="1400" b="0">
                          <a:solidFill>
                            <a:srgbClr val="000000"/>
                          </a:solidFill>
                          <a:latin typeface="微软雅黑" panose="020B0503020204020204" charset="-122"/>
                          <a:ea typeface="微软雅黑" panose="020B0503020204020204" charset="-122"/>
                        </a:rPr>
                        <a:t>数智产品部</a:t>
                      </a:r>
                      <a:endParaRPr lang="zh-CN" sz="1400" b="0">
                        <a:solidFill>
                          <a:srgbClr val="000000"/>
                        </a:solidFill>
                        <a:latin typeface="微软雅黑" panose="020B0503020204020204" charset="-122"/>
                        <a:ea typeface="微软雅黑" panose="020B0503020204020204" charset="-122"/>
                      </a:endParaRPr>
                    </a:p>
                  </a:txBody>
                  <a:tcPr marL="12700" marR="12700" marT="12700" vert="horz" anchor="ctr" anchorCtr="0">
                    <a:lnL>
                      <a:noFill/>
                    </a:lnL>
                    <a:lnR w="6350" cap="flat" cmpd="sng">
                      <a:solidFill>
                        <a:srgbClr val="FFFFFF"/>
                      </a:solidFill>
                      <a:prstDash val="solid"/>
                      <a:headEnd type="none" w="med" len="med"/>
                      <a:tailEnd type="none" w="med" len="med"/>
                    </a:lnR>
                    <a:lnT w="6350" cap="flat" cmpd="sng">
                      <a:solidFill>
                        <a:srgbClr val="FFFFFF"/>
                      </a:solidFill>
                      <a:prstDash val="solid"/>
                      <a:headEnd type="none" w="med" len="med"/>
                      <a:tailEnd type="none" w="med" len="med"/>
                    </a:lnT>
                    <a:lnB w="6350" cap="flat" cmpd="sng">
                      <a:solidFill>
                        <a:srgbClr val="FFFFFF"/>
                      </a:solidFill>
                      <a:prstDash val="solid"/>
                      <a:headEnd type="none" w="med" len="med"/>
                      <a:tailEnd type="none" w="med" len="med"/>
                    </a:lnB>
                    <a:lnTlToBr>
                      <a:noFill/>
                    </a:lnTlToBr>
                    <a:lnBlToTr>
                      <a:noFill/>
                    </a:lnBlToTr>
                    <a:solidFill>
                      <a:srgbClr val="DDEBF7"/>
                    </a:solidFill>
                  </a:tcPr>
                </a:tc>
                <a:tc>
                  <a:txBody>
                    <a:bodyPr/>
                    <a:p>
                      <a:pPr algn="ctr">
                        <a:buNone/>
                      </a:pPr>
                      <a:r>
                        <a:rPr lang="zh-CN" sz="1400" b="0">
                          <a:solidFill>
                            <a:srgbClr val="000000"/>
                          </a:solidFill>
                          <a:latin typeface="微软雅黑" panose="020B0503020204020204" charset="-122"/>
                          <a:ea typeface="微软雅黑" panose="020B0503020204020204" charset="-122"/>
                        </a:rPr>
                        <a:t>李思雯</a:t>
                      </a:r>
                      <a:endParaRPr lang="zh-CN" sz="1400" b="0">
                        <a:solidFill>
                          <a:srgbClr val="000000"/>
                        </a:solidFill>
                        <a:latin typeface="微软雅黑" panose="020B0503020204020204" charset="-122"/>
                        <a:ea typeface="微软雅黑" panose="020B0503020204020204" charset="-122"/>
                      </a:endParaRPr>
                    </a:p>
                  </a:txBody>
                  <a:tcPr marL="12700" marR="12700" marT="12700" vert="horz" anchor="ctr" anchorCtr="0">
                    <a:lnL w="6350" cap="flat" cmpd="sng">
                      <a:solidFill>
                        <a:srgbClr val="FFFFFF"/>
                      </a:solidFill>
                      <a:prstDash val="solid"/>
                      <a:headEnd type="none" w="med" len="med"/>
                      <a:tailEnd type="none" w="med" len="med"/>
                    </a:lnL>
                    <a:lnR w="6350" cap="flat" cmpd="sng">
                      <a:solidFill>
                        <a:srgbClr val="FFFFFF"/>
                      </a:solidFill>
                      <a:prstDash val="solid"/>
                      <a:headEnd type="none" w="med" len="med"/>
                      <a:tailEnd type="none" w="med" len="med"/>
                    </a:lnR>
                    <a:lnT w="6350" cap="flat" cmpd="sng">
                      <a:solidFill>
                        <a:srgbClr val="FFFFFF"/>
                      </a:solidFill>
                      <a:prstDash val="solid"/>
                      <a:headEnd type="none" w="med" len="med"/>
                      <a:tailEnd type="none" w="med" len="med"/>
                    </a:lnT>
                    <a:lnB w="6350" cap="flat" cmpd="sng">
                      <a:solidFill>
                        <a:srgbClr val="FFFFFF"/>
                      </a:solidFill>
                      <a:prstDash val="solid"/>
                      <a:headEnd type="none" w="med" len="med"/>
                      <a:tailEnd type="none" w="med" len="med"/>
                    </a:lnB>
                    <a:lnTlToBr>
                      <a:noFill/>
                    </a:lnTlToBr>
                    <a:lnBlToTr>
                      <a:noFill/>
                    </a:lnBlToTr>
                    <a:solidFill>
                      <a:srgbClr val="DDEBF7"/>
                    </a:solidFill>
                  </a:tcPr>
                </a:tc>
                <a:tc>
                  <a:txBody>
                    <a:bodyPr/>
                    <a:p>
                      <a:pPr algn="ctr">
                        <a:buNone/>
                      </a:pPr>
                      <a:r>
                        <a:rPr lang="en-US" altLang="zh-CN" sz="1400">
                          <a:solidFill>
                            <a:srgbClr val="000000"/>
                          </a:solidFill>
                          <a:latin typeface="微软雅黑" panose="020B0503020204020204" charset="-122"/>
                          <a:ea typeface="微软雅黑" panose="020B0503020204020204" charset="-122"/>
                          <a:sym typeface="+mn-ea"/>
                        </a:rPr>
                        <a:t>AB</a:t>
                      </a:r>
                      <a:r>
                        <a:rPr lang="zh-CN" sz="1400">
                          <a:solidFill>
                            <a:srgbClr val="000000"/>
                          </a:solidFill>
                          <a:latin typeface="微软雅黑" panose="020B0503020204020204" charset="-122"/>
                          <a:ea typeface="微软雅黑" panose="020B0503020204020204" charset="-122"/>
                          <a:sym typeface="+mn-ea"/>
                        </a:rPr>
                        <a:t>实验支持</a:t>
                      </a:r>
                      <a:endParaRPr lang="zh-CN" sz="1400" b="0">
                        <a:solidFill>
                          <a:srgbClr val="000000"/>
                        </a:solidFill>
                        <a:latin typeface="微软雅黑" panose="020B0503020204020204" charset="-122"/>
                        <a:ea typeface="微软雅黑" panose="020B0503020204020204" charset="-122"/>
                      </a:endParaRPr>
                    </a:p>
                  </a:txBody>
                  <a:tcPr marL="12700" marR="12700" marT="12700" vert="horz" anchor="ctr" anchorCtr="0">
                    <a:lnL w="6350" cap="flat" cmpd="sng">
                      <a:solidFill>
                        <a:srgbClr val="FFFFFF"/>
                      </a:solidFill>
                      <a:prstDash val="solid"/>
                      <a:headEnd type="none" w="med" len="med"/>
                      <a:tailEnd type="none" w="med" len="med"/>
                    </a:lnL>
                    <a:lnR cap="flat">
                      <a:noFill/>
                    </a:lnR>
                    <a:lnT w="6350" cap="flat" cmpd="sng">
                      <a:solidFill>
                        <a:srgbClr val="FFFFFF"/>
                      </a:solidFill>
                      <a:prstDash val="solid"/>
                      <a:headEnd type="none" w="med" len="med"/>
                      <a:tailEnd type="none" w="med" len="med"/>
                    </a:lnT>
                    <a:lnB w="6350" cap="flat" cmpd="sng">
                      <a:solidFill>
                        <a:srgbClr val="FFFFFF"/>
                      </a:solidFill>
                      <a:prstDash val="solid"/>
                      <a:headEnd type="none" w="med" len="med"/>
                      <a:tailEnd type="none" w="med" len="med"/>
                    </a:lnB>
                    <a:lnTlToBr>
                      <a:noFill/>
                    </a:lnTlToBr>
                    <a:lnBlToTr>
                      <a:noFill/>
                    </a:lnBlToTr>
                    <a:solidFill>
                      <a:srgbClr val="DDEBF7"/>
                    </a:solidFill>
                  </a:tcPr>
                </a:tc>
              </a:tr>
              <a:tr h="437515">
                <a:tc>
                  <a:txBody>
                    <a:bodyPr/>
                    <a:p>
                      <a:pPr algn="ctr">
                        <a:buNone/>
                      </a:pPr>
                      <a:r>
                        <a:rPr lang="zh-CN" altLang="en-US" sz="1400" b="0">
                          <a:solidFill>
                            <a:srgbClr val="000000"/>
                          </a:solidFill>
                          <a:latin typeface="微软雅黑" panose="020B0503020204020204" charset="-122"/>
                          <a:ea typeface="微软雅黑" panose="020B0503020204020204" charset="-122"/>
                        </a:rPr>
                        <a:t>企划部</a:t>
                      </a:r>
                      <a:endParaRPr lang="zh-CN" altLang="en-US" sz="1400" b="0">
                        <a:solidFill>
                          <a:srgbClr val="000000"/>
                        </a:solidFill>
                        <a:latin typeface="微软雅黑" panose="020B0503020204020204" charset="-122"/>
                        <a:ea typeface="微软雅黑" panose="020B0503020204020204" charset="-122"/>
                      </a:endParaRPr>
                    </a:p>
                  </a:txBody>
                  <a:tcPr marL="12700" marR="12700" marT="12700" vert="horz" anchor="ctr" anchorCtr="0">
                    <a:lnL>
                      <a:noFill/>
                    </a:lnL>
                    <a:lnR w="6350" cap="flat" cmpd="sng">
                      <a:solidFill>
                        <a:srgbClr val="FFFFFF"/>
                      </a:solidFill>
                      <a:prstDash val="solid"/>
                      <a:headEnd type="none" w="med" len="med"/>
                      <a:tailEnd type="none" w="med" len="med"/>
                    </a:lnR>
                    <a:lnT w="6350" cap="flat" cmpd="sng">
                      <a:solidFill>
                        <a:srgbClr val="FFFFFF"/>
                      </a:solidFill>
                      <a:prstDash val="solid"/>
                      <a:headEnd type="none" w="med" len="med"/>
                      <a:tailEnd type="none" w="med" len="med"/>
                    </a:lnT>
                    <a:lnB w="6350" cap="flat" cmpd="sng">
                      <a:solidFill>
                        <a:srgbClr val="FFFFFF"/>
                      </a:solidFill>
                      <a:prstDash val="solid"/>
                      <a:headEnd type="none" w="med" len="med"/>
                      <a:tailEnd type="none" w="med" len="med"/>
                    </a:lnB>
                    <a:lnTlToBr>
                      <a:noFill/>
                    </a:lnTlToBr>
                    <a:lnBlToTr>
                      <a:noFill/>
                    </a:lnBlToTr>
                    <a:solidFill>
                      <a:srgbClr val="DDEBF7"/>
                    </a:solidFill>
                  </a:tcPr>
                </a:tc>
                <a:tc>
                  <a:txBody>
                    <a:bodyPr/>
                    <a:p>
                      <a:pPr algn="ctr">
                        <a:buNone/>
                      </a:pPr>
                      <a:r>
                        <a:rPr lang="zh-CN" altLang="en-US" sz="1400" b="0">
                          <a:solidFill>
                            <a:srgbClr val="000000"/>
                          </a:solidFill>
                          <a:latin typeface="微软雅黑" panose="020B0503020204020204" charset="-122"/>
                          <a:ea typeface="微软雅黑" panose="020B0503020204020204" charset="-122"/>
                        </a:rPr>
                        <a:t>米修、璇子</a:t>
                      </a:r>
                      <a:endParaRPr lang="zh-CN" altLang="en-US" sz="1400" b="0">
                        <a:solidFill>
                          <a:srgbClr val="000000"/>
                        </a:solidFill>
                        <a:latin typeface="微软雅黑" panose="020B0503020204020204" charset="-122"/>
                        <a:ea typeface="微软雅黑" panose="020B0503020204020204" charset="-122"/>
                      </a:endParaRPr>
                    </a:p>
                  </a:txBody>
                  <a:tcPr marL="12700" marR="12700" marT="12700" vert="horz" anchor="ctr" anchorCtr="0">
                    <a:lnL w="6350" cap="flat" cmpd="sng">
                      <a:solidFill>
                        <a:srgbClr val="FFFFFF"/>
                      </a:solidFill>
                      <a:prstDash val="solid"/>
                      <a:headEnd type="none" w="med" len="med"/>
                      <a:tailEnd type="none" w="med" len="med"/>
                    </a:lnL>
                    <a:lnR w="6350" cap="flat" cmpd="sng">
                      <a:solidFill>
                        <a:srgbClr val="FFFFFF"/>
                      </a:solidFill>
                      <a:prstDash val="solid"/>
                      <a:headEnd type="none" w="med" len="med"/>
                      <a:tailEnd type="none" w="med" len="med"/>
                    </a:lnR>
                    <a:lnT w="6350" cap="flat" cmpd="sng">
                      <a:solidFill>
                        <a:srgbClr val="FFFFFF"/>
                      </a:solidFill>
                      <a:prstDash val="solid"/>
                      <a:headEnd type="none" w="med" len="med"/>
                      <a:tailEnd type="none" w="med" len="med"/>
                    </a:lnT>
                    <a:lnB w="6350" cap="flat" cmpd="sng">
                      <a:solidFill>
                        <a:srgbClr val="FFFFFF"/>
                      </a:solidFill>
                      <a:prstDash val="solid"/>
                      <a:headEnd type="none" w="med" len="med"/>
                      <a:tailEnd type="none" w="med" len="med"/>
                    </a:lnB>
                    <a:lnTlToBr>
                      <a:noFill/>
                    </a:lnTlToBr>
                    <a:lnBlToTr>
                      <a:noFill/>
                    </a:lnBlToTr>
                    <a:solidFill>
                      <a:srgbClr val="DDEBF7"/>
                    </a:solidFill>
                  </a:tcPr>
                </a:tc>
                <a:tc>
                  <a:txBody>
                    <a:bodyPr/>
                    <a:p>
                      <a:pPr algn="ctr">
                        <a:buNone/>
                      </a:pPr>
                      <a:r>
                        <a:rPr lang="zh-CN" altLang="en-US" sz="1400" b="0">
                          <a:solidFill>
                            <a:srgbClr val="000000"/>
                          </a:solidFill>
                          <a:latin typeface="微软雅黑" panose="020B0503020204020204" charset="-122"/>
                          <a:ea typeface="微软雅黑" panose="020B0503020204020204" charset="-122"/>
                        </a:rPr>
                        <a:t>商机分配支持</a:t>
                      </a:r>
                      <a:endParaRPr lang="zh-CN" altLang="en-US" sz="1400" b="0">
                        <a:solidFill>
                          <a:srgbClr val="000000"/>
                        </a:solidFill>
                        <a:latin typeface="微软雅黑" panose="020B0503020204020204" charset="-122"/>
                        <a:ea typeface="微软雅黑" panose="020B0503020204020204" charset="-122"/>
                      </a:endParaRPr>
                    </a:p>
                  </a:txBody>
                  <a:tcPr marL="12700" marR="12700" marT="12700" vert="horz" anchor="ctr" anchorCtr="0">
                    <a:lnL w="6350" cap="flat" cmpd="sng">
                      <a:solidFill>
                        <a:srgbClr val="FFFFFF"/>
                      </a:solidFill>
                      <a:prstDash val="solid"/>
                      <a:headEnd type="none" w="med" len="med"/>
                      <a:tailEnd type="none" w="med" len="med"/>
                    </a:lnL>
                    <a:lnR cap="flat">
                      <a:noFill/>
                    </a:lnR>
                    <a:lnT w="6350" cap="flat" cmpd="sng">
                      <a:solidFill>
                        <a:srgbClr val="FFFFFF"/>
                      </a:solidFill>
                      <a:prstDash val="solid"/>
                      <a:headEnd type="none" w="med" len="med"/>
                      <a:tailEnd type="none" w="med" len="med"/>
                    </a:lnT>
                    <a:lnB w="6350" cap="flat" cmpd="sng">
                      <a:solidFill>
                        <a:srgbClr val="FFFFFF"/>
                      </a:solidFill>
                      <a:prstDash val="solid"/>
                      <a:headEnd type="none" w="med" len="med"/>
                      <a:tailEnd type="none" w="med" len="med"/>
                    </a:lnB>
                    <a:lnTlToBr>
                      <a:noFill/>
                    </a:lnTlToBr>
                    <a:lnBlToTr>
                      <a:noFill/>
                    </a:lnBlToTr>
                    <a:solidFill>
                      <a:srgbClr val="DDEBF7"/>
                    </a:solidFill>
                  </a:tcPr>
                </a:tc>
              </a:tr>
            </a:tbl>
          </a:graphicData>
        </a:graphic>
      </p:graphicFrame>
    </p:spTree>
  </p:cSld>
  <p:clrMapOvr>
    <a:masterClrMapping/>
  </p:clrMapOvr>
  <p:transition spd="med"/>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2" name="文本框 21"/>
          <p:cNvSpPr txBox="1"/>
          <p:nvPr/>
        </p:nvSpPr>
        <p:spPr>
          <a:xfrm>
            <a:off x="4872355" y="2636520"/>
            <a:ext cx="2225040" cy="1013460"/>
          </a:xfrm>
          <a:prstGeom prst="rect">
            <a:avLst/>
          </a:prstGeom>
          <a:noFill/>
          <a:ln w="12700" cap="flat">
            <a:noFill/>
            <a:miter lim="400000"/>
          </a:ln>
        </p:spPr>
        <p:style>
          <a:lnRef idx="0">
            <a:srgbClr val="FFFFFF"/>
          </a:lnRef>
          <a:fillRef idx="0">
            <a:srgbClr val="FFFFFF"/>
          </a:fillRef>
          <a:effectRef idx="0">
            <a:srgbClr val="FFFFFF"/>
          </a:effectRef>
          <a:fontRef idx="none"/>
        </p:style>
        <p:txBody>
          <a:bodyPr rot="0" vertOverflow="overflow" horzOverflow="overflow" vert="horz" wrap="square" lIns="45719" tIns="45719" rIns="45719" bIns="45719" numCol="1" spcCol="38100" rtlCol="0" anchor="t" forceAA="0" upright="0">
            <a:spAutoFit/>
          </a:bodyPr>
          <a:p>
            <a:pPr marL="0" marR="0" indent="0" algn="l" defTabSz="914400" rtl="0" fontAlgn="auto" latinLnBrk="0" hangingPunct="0">
              <a:lnSpc>
                <a:spcPct val="100000"/>
              </a:lnSpc>
              <a:spcBef>
                <a:spcPts val="0"/>
              </a:spcBef>
              <a:spcAft>
                <a:spcPts val="0"/>
              </a:spcAft>
              <a:buClrTx/>
              <a:buSzTx/>
              <a:buFontTx/>
              <a:buNone/>
            </a:pPr>
            <a:r>
              <a:rPr kumimoji="0" lang="en-US" altLang="zh-CN" sz="6000" b="0" i="0" u="none" strike="noStrike" cap="none" spc="0" normalizeH="0" baseline="0">
                <a:ln>
                  <a:noFill/>
                </a:ln>
                <a:solidFill>
                  <a:srgbClr val="0564CD"/>
                </a:solidFill>
                <a:effectLst/>
                <a:uFillTx/>
                <a:latin typeface="微软雅黑" panose="020B0503020204020204" charset="-122"/>
                <a:ea typeface="微软雅黑" panose="020B0503020204020204" charset="-122"/>
                <a:cs typeface="+mj-cs"/>
                <a:sym typeface="Calibri" panose="020F0502020204030204"/>
              </a:rPr>
              <a:t>Q&amp;A</a:t>
            </a:r>
            <a:endParaRPr kumimoji="0" lang="en-US" altLang="zh-CN" sz="6000" b="0" i="0" u="none" strike="noStrike" cap="none" spc="0" normalizeH="0" baseline="0">
              <a:ln>
                <a:noFill/>
              </a:ln>
              <a:solidFill>
                <a:srgbClr val="0564CD"/>
              </a:solidFill>
              <a:effectLst/>
              <a:uFillTx/>
              <a:latin typeface="微软雅黑" panose="020B0503020204020204" charset="-122"/>
              <a:ea typeface="微软雅黑" panose="020B0503020204020204" charset="-122"/>
              <a:cs typeface="+mj-cs"/>
              <a:sym typeface="Calibri" panose="020F0502020204030204"/>
            </a:endParaRPr>
          </a:p>
        </p:txBody>
      </p:sp>
    </p:spTree>
  </p:cSld>
  <p:clrMapOvr>
    <a:masterClrMapping/>
  </p:clrMapOvr>
  <p:transition spd="med"/>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Ovr>
    <a:masterClrMapping/>
  </p:clrMapOvr>
  <p:transition spd="med"/>
</p:sld>
</file>

<file path=ppt/theme/theme1.xml><?xml version="1.0" encoding="utf-8"?>
<a:theme xmlns:a="http://schemas.openxmlformats.org/drawingml/2006/main" name="Office 主题">
  <a:themeElements>
    <a:clrScheme name="Office 主题">
      <a:dk1>
        <a:srgbClr val="000000"/>
      </a:dk1>
      <a:lt1>
        <a:srgbClr val="FFFFFF"/>
      </a:lt1>
      <a:dk2>
        <a:srgbClr val="A7A7A7"/>
      </a:dk2>
      <a:lt2>
        <a:srgbClr val="535353"/>
      </a:lt2>
      <a:accent1>
        <a:srgbClr val="5B9BD5"/>
      </a:accent1>
      <a:accent2>
        <a:srgbClr val="ED7D31"/>
      </a:accent2>
      <a:accent3>
        <a:srgbClr val="A5A5A5"/>
      </a:accent3>
      <a:accent4>
        <a:srgbClr val="FFC000"/>
      </a:accent4>
      <a:accent5>
        <a:srgbClr val="4472C4"/>
      </a:accent5>
      <a:accent6>
        <a:srgbClr val="70AD47"/>
      </a:accent6>
      <a:hlink>
        <a:srgbClr val="0000FF"/>
      </a:hlink>
      <a:folHlink>
        <a:srgbClr val="FF00FF"/>
      </a:folHlink>
    </a:clrScheme>
    <a:fontScheme name="Office 主题">
      <a:majorFont>
        <a:latin typeface="Calibri"/>
        <a:ea typeface="Calibri"/>
        <a:cs typeface="Calibri"/>
      </a:majorFont>
      <a:minorFont>
        <a:latin typeface="Helvetica"/>
        <a:ea typeface="Helvetica"/>
        <a:cs typeface="Helvetica"/>
      </a:minorFont>
    </a:fontScheme>
    <a:fmtScheme name="Office 主题">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12700" cap="flat">
          <a:solidFill>
            <a:schemeClr val="accent1"/>
          </a:solidFill>
          <a:prstDash val="solid"/>
          <a:miter lim="800000"/>
        </a:ln>
      </a:spPr>
      <a:bodyPr rot="0" spcFirstLastPara="1" vertOverflow="overflow" horzOverflow="overflow" vert="horz" wrap="square" lIns="45719" tIns="45719" rIns="45719" bIns="45719" numCol="1" spcCol="38100" rtlCol="0" anchor="ctr" upright="0">
        <a:spAutoFit/>
      </a:bodyPr>
      <a:lstStyle>
        <a:defPPr marL="0" marR="0" indent="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j-lt"/>
            <a:ea typeface="+mj-ea"/>
            <a:cs typeface="+mj-cs"/>
            <a:sym typeface="Calibri" panose="020F0502020204030204"/>
          </a:defRPr>
        </a:defPPr>
        <a:lvl1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9pPr>
      </a:lstStyle>
      <a:style>
        <a:lnRef idx="0">
          <a:srgbClr val="FFFFFF"/>
        </a:lnRef>
        <a:fillRef idx="0">
          <a:srgbClr val="FFFFFF"/>
        </a:fillRef>
        <a:effectRef idx="0">
          <a:srgbClr val="FFFFFF"/>
        </a:effectRef>
        <a:fontRef idx="none"/>
      </a:style>
    </a:spDef>
    <a:lnDef>
      <a:spPr>
        <a:noFill/>
        <a:ln w="12700" cap="flat">
          <a:solidFill>
            <a:schemeClr val="accent1"/>
          </a:solidFill>
          <a:prstDash val="solid"/>
          <a:miter lim="800000"/>
        </a:ln>
      </a:spPr>
      <a:bodyPr rot="0" spcFirstLastPara="1" vertOverflow="overflow" horzOverflow="overflow" vert="horz" wrap="square" lIns="91439" tIns="45719" rIns="91439" bIns="45719" numCol="1" spcCol="38100" rtlCol="0" anchor="t" upright="0">
        <a:noAutofit/>
      </a:bodyPr>
      <a:lstStyle>
        <a:def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9pPr>
      </a:lstStyle>
      <a:style>
        <a:lnRef idx="0">
          <a:srgbClr val="FFFFFF"/>
        </a:lnRef>
        <a:fillRef idx="0">
          <a:srgbClr val="FFFFFF"/>
        </a:fillRef>
        <a:effectRef idx="0">
          <a:srgbClr val="FFFFFF"/>
        </a:effectRef>
        <a:fontRef idx="none"/>
      </a:style>
    </a:lnDef>
    <a:txDef>
      <a:spPr>
        <a:noFill/>
        <a:ln w="12700" cap="flat">
          <a:noFill/>
          <a:miter lim="400000"/>
        </a:ln>
      </a:spPr>
      <a:bodyPr rot="0" spcFirstLastPara="1" vertOverflow="overflow" horzOverflow="overflow" vert="horz" wrap="square" lIns="45719" tIns="45719" rIns="45719" bIns="45719" numCol="1" spcCol="38100" rtlCol="0" anchor="t" upright="0">
        <a:spAutoFit/>
      </a:bodyPr>
      <a:lstStyle>
        <a:defPPr marL="0" marR="0" indent="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j-lt"/>
            <a:ea typeface="+mj-ea"/>
            <a:cs typeface="+mj-cs"/>
            <a:sym typeface="Calibri" panose="020F0502020204030204"/>
          </a:defRPr>
        </a:defPPr>
        <a:lvl1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9pPr>
      </a:lstStyle>
      <a:style>
        <a:lnRef idx="0">
          <a:srgbClr val="FFFFFF"/>
        </a:lnRef>
        <a:fillRef idx="0">
          <a:srgbClr val="FFFFFF"/>
        </a:fillRef>
        <a:effectRef idx="0">
          <a:srgbClr val="FFFFFF"/>
        </a:effectRef>
        <a:fontRef idx="none"/>
      </a:style>
    </a:txDef>
  </a:objectDefaul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主题">
      <a:dk1>
        <a:srgbClr val="000000"/>
      </a:dk1>
      <a:lt1>
        <a:srgbClr val="FFFFFF"/>
      </a:lt1>
      <a:dk2>
        <a:srgbClr val="A7A7A7"/>
      </a:dk2>
      <a:lt2>
        <a:srgbClr val="535353"/>
      </a:lt2>
      <a:accent1>
        <a:srgbClr val="5B9BD5"/>
      </a:accent1>
      <a:accent2>
        <a:srgbClr val="ED7D31"/>
      </a:accent2>
      <a:accent3>
        <a:srgbClr val="A5A5A5"/>
      </a:accent3>
      <a:accent4>
        <a:srgbClr val="FFC000"/>
      </a:accent4>
      <a:accent5>
        <a:srgbClr val="4472C4"/>
      </a:accent5>
      <a:accent6>
        <a:srgbClr val="70AD47"/>
      </a:accent6>
      <a:hlink>
        <a:srgbClr val="0000FF"/>
      </a:hlink>
      <a:folHlink>
        <a:srgbClr val="FF00FF"/>
      </a:folHlink>
    </a:clrScheme>
    <a:fontScheme name="Office 主题">
      <a:majorFont>
        <a:latin typeface="Calibri"/>
        <a:ea typeface="Calibri"/>
        <a:cs typeface="Calibri"/>
      </a:majorFont>
      <a:minorFont>
        <a:latin typeface="Helvetica"/>
        <a:ea typeface="Helvetica"/>
        <a:cs typeface="Helvetica"/>
      </a:minorFont>
    </a:fontScheme>
    <a:fmtScheme name="Office 主题">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12700" cap="flat">
          <a:solidFill>
            <a:schemeClr val="accent1"/>
          </a:solidFill>
          <a:prstDash val="solid"/>
          <a:miter lim="800000"/>
        </a:ln>
      </a:spPr>
      <a:bodyPr rot="0" spcFirstLastPara="1" vertOverflow="overflow" horzOverflow="overflow" vert="horz" wrap="square" lIns="45719" tIns="45719" rIns="45719" bIns="45719" numCol="1" spcCol="38100" rtlCol="0" anchor="ctr" upright="0">
        <a:spAutoFit/>
      </a:bodyPr>
      <a:lstStyle>
        <a:defPPr marL="0" marR="0" indent="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j-lt"/>
            <a:ea typeface="+mj-ea"/>
            <a:cs typeface="+mj-cs"/>
            <a:sym typeface="Calibri" panose="020F0502020204030204"/>
          </a:defRPr>
        </a:defPPr>
        <a:lvl1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9pPr>
      </a:lstStyle>
      <a:style>
        <a:lnRef idx="0">
          <a:srgbClr val="FFFFFF"/>
        </a:lnRef>
        <a:fillRef idx="0">
          <a:srgbClr val="FFFFFF"/>
        </a:fillRef>
        <a:effectRef idx="0">
          <a:srgbClr val="FFFFFF"/>
        </a:effectRef>
        <a:fontRef idx="none"/>
      </a:style>
    </a:spDef>
    <a:lnDef>
      <a:spPr>
        <a:noFill/>
        <a:ln w="12700" cap="flat">
          <a:solidFill>
            <a:schemeClr val="accent1"/>
          </a:solidFill>
          <a:prstDash val="solid"/>
          <a:miter lim="800000"/>
        </a:ln>
      </a:spPr>
      <a:bodyPr rot="0" spcFirstLastPara="1" vertOverflow="overflow" horzOverflow="overflow" vert="horz" wrap="square" lIns="91439" tIns="45719" rIns="91439" bIns="45719" numCol="1" spcCol="38100" rtlCol="0" anchor="t" upright="0">
        <a:noAutofit/>
      </a:bodyPr>
      <a:lstStyle>
        <a:def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9pPr>
      </a:lstStyle>
      <a:style>
        <a:lnRef idx="0">
          <a:srgbClr val="FFFFFF"/>
        </a:lnRef>
        <a:fillRef idx="0">
          <a:srgbClr val="FFFFFF"/>
        </a:fillRef>
        <a:effectRef idx="0">
          <a:srgbClr val="FFFFFF"/>
        </a:effectRef>
        <a:fontRef idx="none"/>
      </a:style>
    </a:lnDef>
    <a:txDef>
      <a:spPr>
        <a:noFill/>
        <a:ln w="12700" cap="flat">
          <a:noFill/>
          <a:miter lim="400000"/>
        </a:ln>
      </a:spPr>
      <a:bodyPr rot="0" spcFirstLastPara="1" vertOverflow="overflow" horzOverflow="overflow" vert="horz" wrap="square" lIns="45719" tIns="45719" rIns="45719" bIns="45719" numCol="1" spcCol="38100" rtlCol="0" anchor="t" upright="0">
        <a:spAutoFit/>
      </a:bodyPr>
      <a:lstStyle>
        <a:defPPr marL="0" marR="0" indent="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mj-lt"/>
            <a:ea typeface="+mj-ea"/>
            <a:cs typeface="+mj-cs"/>
            <a:sym typeface="Calibri" panose="020F0502020204030204"/>
          </a:defRPr>
        </a:defPPr>
        <a:lvl1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9pPr>
      </a:lstStyle>
      <a:style>
        <a:lnRef idx="0">
          <a:srgbClr val="FFFFFF"/>
        </a:lnRef>
        <a:fillRef idx="0">
          <a:srgbClr val="FFFFFF"/>
        </a:fillRef>
        <a:effectRef idx="0">
          <a:srgbClr val="FFFFFF"/>
        </a:effectRef>
        <a:fontRef idx="none"/>
      </a:style>
    </a:txDef>
  </a:objectDefaul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4430</Words>
  <Application>WPS 演示</Application>
  <PresentationFormat/>
  <Paragraphs>404</Paragraphs>
  <Slides>36</Slides>
  <Notes>0</Notes>
  <HiddenSlides>0</HiddenSlides>
  <MMClips>0</MMClips>
  <ScaleCrop>false</ScaleCrop>
  <HeadingPairs>
    <vt:vector size="8" baseType="variant">
      <vt:variant>
        <vt:lpstr>已用的字体</vt:lpstr>
      </vt:variant>
      <vt:variant>
        <vt:i4>13</vt:i4>
      </vt:variant>
      <vt:variant>
        <vt:lpstr>主题</vt:lpstr>
      </vt:variant>
      <vt:variant>
        <vt:i4>1</vt:i4>
      </vt:variant>
      <vt:variant>
        <vt:lpstr>嵌入 OLE 服务器</vt:lpstr>
      </vt:variant>
      <vt:variant>
        <vt:i4>1</vt:i4>
      </vt:variant>
      <vt:variant>
        <vt:lpstr>幻灯片标题</vt:lpstr>
      </vt:variant>
      <vt:variant>
        <vt:i4>36</vt:i4>
      </vt:variant>
    </vt:vector>
  </HeadingPairs>
  <TitlesOfParts>
    <vt:vector size="51" baseType="lpstr">
      <vt:lpstr>Arial</vt:lpstr>
      <vt:lpstr>宋体</vt:lpstr>
      <vt:lpstr>Wingdings</vt:lpstr>
      <vt:lpstr>Calibri</vt:lpstr>
      <vt:lpstr>Calibri Light</vt:lpstr>
      <vt:lpstr>Arial</vt:lpstr>
      <vt:lpstr>微软雅黑</vt:lpstr>
      <vt:lpstr>Wingdings</vt:lpstr>
      <vt:lpstr>等线</vt:lpstr>
      <vt:lpstr>Arial Unicode MS</vt:lpstr>
      <vt:lpstr>Cambria Math</vt:lpstr>
      <vt:lpstr>MS Mincho</vt:lpstr>
      <vt:lpstr>Segoe Print</vt:lpstr>
      <vt:lpstr>Office 主题</vt:lpstr>
      <vt:lpstr>Package</vt:lpstr>
      <vt:lpstr>用户投保意向预测模型结果 汇报及测试方案</vt:lpstr>
      <vt:lpstr>目录</vt:lpstr>
      <vt:lpstr>1. 项目背景与目标</vt:lpstr>
      <vt:lpstr>2. 模型设计</vt:lpstr>
      <vt:lpstr>2. 模型设计</vt:lpstr>
      <vt:lpstr>2. 模型设计</vt:lpstr>
      <vt:lpstr>2. 模型设计</vt:lpstr>
      <vt:lpstr>2. 模型设计</vt:lpstr>
      <vt:lpstr>3. 模型建立-数据维度</vt:lpstr>
      <vt:lpstr>3. 模型建立-数据维度</vt:lpstr>
      <vt:lpstr>3. 模型建立-数据维度</vt:lpstr>
      <vt:lpstr>3. 模型建立-数据维度</vt:lpstr>
      <vt:lpstr>3. 模型建立-数据维度</vt:lpstr>
      <vt:lpstr>3. 模型建立-数据维度</vt:lpstr>
      <vt:lpstr>3. 模型建立-XGBOOST</vt:lpstr>
      <vt:lpstr>3. 模型建立-XGBOOST</vt:lpstr>
      <vt:lpstr>3. 模型建立-XGBOOST</vt:lpstr>
      <vt:lpstr>3. 模型建立-XGBOOST</vt:lpstr>
      <vt:lpstr>3. 模型建立-XGBOOST</vt:lpstr>
      <vt:lpstr>3. 模型建立-XGBOOST</vt:lpstr>
      <vt:lpstr>3. 模型建立-数据维度</vt:lpstr>
      <vt:lpstr>3. 模型建立-深度神经网络</vt:lpstr>
      <vt:lpstr>3. 模型建立-深度神经网络</vt:lpstr>
      <vt:lpstr>3. 模型建立-深度神经网络</vt:lpstr>
      <vt:lpstr>3. 模型建立-深度神经网络</vt:lpstr>
      <vt:lpstr>3. 模型建立-深度神经网络</vt:lpstr>
      <vt:lpstr>3. 模型建立-模型对比</vt:lpstr>
      <vt:lpstr>4. 测试方案</vt:lpstr>
      <vt:lpstr>4. 测试方案</vt:lpstr>
      <vt:lpstr>4. 测试方案</vt:lpstr>
      <vt:lpstr>4. 测试方案</vt:lpstr>
      <vt:lpstr>4. 测试方案</vt:lpstr>
      <vt:lpstr>4. 测试方案</vt:lpstr>
      <vt:lpstr>4. 测试方案</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hz21076997</cp:lastModifiedBy>
  <cp:revision>66</cp:revision>
  <dcterms:created xsi:type="dcterms:W3CDTF">2021-11-23T09:51:00Z</dcterms:created>
  <dcterms:modified xsi:type="dcterms:W3CDTF">2022-01-24T02:17:45Z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2052-11.8.2.10393</vt:lpwstr>
  </property>
</Properties>
</file>