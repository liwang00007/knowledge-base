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handoutMasterIdLst>
    <p:handoutMasterId r:id="rId24"/>
  </p:handoutMasterIdLst>
  <p:sldIdLst>
    <p:sldId id="256" r:id="rId3"/>
    <p:sldId id="277" r:id="rId4"/>
    <p:sldId id="287" r:id="rId5"/>
    <p:sldId id="278" r:id="rId6"/>
    <p:sldId id="288" r:id="rId7"/>
    <p:sldId id="286" r:id="rId8"/>
    <p:sldId id="295" r:id="rId9"/>
    <p:sldId id="289" r:id="rId10"/>
    <p:sldId id="279" r:id="rId11"/>
    <p:sldId id="331" r:id="rId13"/>
    <p:sldId id="332" r:id="rId14"/>
    <p:sldId id="334" r:id="rId15"/>
    <p:sldId id="335" r:id="rId16"/>
    <p:sldId id="337" r:id="rId17"/>
    <p:sldId id="353" r:id="rId18"/>
    <p:sldId id="354" r:id="rId19"/>
    <p:sldId id="355" r:id="rId20"/>
    <p:sldId id="294" r:id="rId21"/>
    <p:sldId id="275" r:id="rId22"/>
    <p:sldId id="261" r:id="rId23"/>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Calibri" panose="020F0502020204030204"/>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Calibri" panose="020F0502020204030204"/>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Calibri" panose="020F0502020204030204"/>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Calibri" panose="020F0502020204030204"/>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Calibri" panose="020F0502020204030204"/>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Calibri" panose="020F0502020204030204"/>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Calibri" panose="020F0502020204030204"/>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Calibri" panose="020F0502020204030204"/>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Calibri" panose="020F050202020403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0564C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940675A-B579-460E-94D1-54222C63F5D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handoutMaster" Target="handoutMasters/handoutMaster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notesMaster" Target="notesMasters/notesMaster1.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0" name="Shape 70"/>
          <p:cNvSpPr/>
          <p:nvPr>
            <p:ph type="sldImg"/>
          </p:nvPr>
        </p:nvSpPr>
        <p:spPr>
          <a:xfrm>
            <a:off x="1143000" y="685800"/>
            <a:ext cx="4572000" cy="3429000"/>
          </a:xfrm>
          <a:prstGeom prst="rect">
            <a:avLst/>
          </a:prstGeom>
        </p:spPr>
        <p:txBody>
          <a:bodyPr/>
          <a:lstStyle/>
          <a:p/>
        </p:txBody>
      </p:sp>
      <p:sp>
        <p:nvSpPr>
          <p:cNvPr id="71" name="Shape 71"/>
          <p:cNvSpPr/>
          <p:nvPr>
            <p:ph type="body" sz="quarter" idx="1"/>
          </p:nvPr>
        </p:nvSpPr>
        <p:spPr>
          <a:xfrm>
            <a:off x="914400" y="4343400"/>
            <a:ext cx="5029200" cy="4114800"/>
          </a:xfrm>
          <a:prstGeom prst="rect">
            <a:avLst/>
          </a:prstGeom>
        </p:spPr>
        <p:txBody>
          <a:bodyPr/>
          <a:lstStyle/>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panose="020F0502020204030204"/>
      </a:defRPr>
    </a:lvl1pPr>
    <a:lvl2pPr indent="228600" latinLnBrk="0">
      <a:defRPr sz="1200">
        <a:latin typeface="+mj-lt"/>
        <a:ea typeface="+mj-ea"/>
        <a:cs typeface="+mj-cs"/>
        <a:sym typeface="Calibri" panose="020F0502020204030204"/>
      </a:defRPr>
    </a:lvl2pPr>
    <a:lvl3pPr indent="457200" latinLnBrk="0">
      <a:defRPr sz="1200">
        <a:latin typeface="+mj-lt"/>
        <a:ea typeface="+mj-ea"/>
        <a:cs typeface="+mj-cs"/>
        <a:sym typeface="Calibri" panose="020F0502020204030204"/>
      </a:defRPr>
    </a:lvl3pPr>
    <a:lvl4pPr indent="685800" latinLnBrk="0">
      <a:defRPr sz="1200">
        <a:latin typeface="+mj-lt"/>
        <a:ea typeface="+mj-ea"/>
        <a:cs typeface="+mj-cs"/>
        <a:sym typeface="Calibri" panose="020F0502020204030204"/>
      </a:defRPr>
    </a:lvl4pPr>
    <a:lvl5pPr indent="914400" latinLnBrk="0">
      <a:defRPr sz="1200">
        <a:latin typeface="+mj-lt"/>
        <a:ea typeface="+mj-ea"/>
        <a:cs typeface="+mj-cs"/>
        <a:sym typeface="Calibri" panose="020F0502020204030204"/>
      </a:defRPr>
    </a:lvl5pPr>
    <a:lvl6pPr indent="1143000" latinLnBrk="0">
      <a:defRPr sz="1200">
        <a:latin typeface="+mj-lt"/>
        <a:ea typeface="+mj-ea"/>
        <a:cs typeface="+mj-cs"/>
        <a:sym typeface="Calibri" panose="020F0502020204030204"/>
      </a:defRPr>
    </a:lvl6pPr>
    <a:lvl7pPr indent="1371600" latinLnBrk="0">
      <a:defRPr sz="1200">
        <a:latin typeface="+mj-lt"/>
        <a:ea typeface="+mj-ea"/>
        <a:cs typeface="+mj-cs"/>
        <a:sym typeface="Calibri" panose="020F0502020204030204"/>
      </a:defRPr>
    </a:lvl7pPr>
    <a:lvl8pPr indent="1600200" latinLnBrk="0">
      <a:defRPr sz="1200">
        <a:latin typeface="+mj-lt"/>
        <a:ea typeface="+mj-ea"/>
        <a:cs typeface="+mj-cs"/>
        <a:sym typeface="Calibri" panose="020F0502020204030204"/>
      </a:defRPr>
    </a:lvl8pPr>
    <a:lvl9pPr indent="1828800" latinLnBrk="0">
      <a:defRPr sz="1200">
        <a:latin typeface="+mj-lt"/>
        <a:ea typeface="+mj-ea"/>
        <a:cs typeface="+mj-cs"/>
        <a:sym typeface="Calibri" panose="020F050202020403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idx="1"/>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idx="1"/>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idx="1"/>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idx="1"/>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idx="1"/>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idx="1"/>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image" Target="../media/image9.png"/><Relationship Id="rId4" Type="http://schemas.openxmlformats.org/officeDocument/2006/relationships/image" Target="../media/image8.png"/><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Sp="0">
  <p:cSld name="封面">
    <p:spTree>
      <p:nvGrpSpPr>
        <p:cNvPr id="1" name=""/>
        <p:cNvGrpSpPr/>
        <p:nvPr/>
      </p:nvGrpSpPr>
      <p:grpSpPr>
        <a:xfrm>
          <a:off x="0" y="0"/>
          <a:ext cx="0" cy="0"/>
          <a:chOff x="0" y="0"/>
          <a:chExt cx="0" cy="0"/>
        </a:xfrm>
      </p:grpSpPr>
      <p:pic>
        <p:nvPicPr>
          <p:cNvPr id="13" name="ppt活波-封面.png" descr="ppt活波-封面.png"/>
          <p:cNvPicPr>
            <a:picLocks noChangeAspect="1"/>
          </p:cNvPicPr>
          <p:nvPr/>
        </p:nvPicPr>
        <p:blipFill>
          <a:blip r:embed="rId2"/>
          <a:srcRect l="17" r="17"/>
          <a:stretch>
            <a:fillRect/>
          </a:stretch>
        </p:blipFill>
        <p:spPr>
          <a:xfrm>
            <a:off x="0" y="0"/>
            <a:ext cx="12192000" cy="6860418"/>
          </a:xfrm>
          <a:prstGeom prst="rect">
            <a:avLst/>
          </a:prstGeom>
          <a:ln w="12700">
            <a:miter lim="400000"/>
            <a:headEnd/>
            <a:tailEnd/>
          </a:ln>
        </p:spPr>
      </p:pic>
      <p:sp>
        <p:nvSpPr>
          <p:cNvPr id="14" name="标题文本"/>
          <p:cNvSpPr txBox="1"/>
          <p:nvPr>
            <p:ph type="title" hasCustomPrompt="1"/>
          </p:nvPr>
        </p:nvSpPr>
        <p:spPr>
          <a:xfrm>
            <a:off x="4848984" y="1909715"/>
            <a:ext cx="6361015" cy="1670840"/>
          </a:xfrm>
          <a:prstGeom prst="rect">
            <a:avLst/>
          </a:prstGeom>
        </p:spPr>
        <p:txBody>
          <a:bodyPr anchor="t"/>
          <a:lstStyle>
            <a:lvl1pPr algn="r">
              <a:defRPr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标题文本</a:t>
            </a:r>
          </a:p>
        </p:txBody>
      </p:sp>
      <p:sp>
        <p:nvSpPr>
          <p:cNvPr id="15" name="正文级别 1…"/>
          <p:cNvSpPr txBox="1"/>
          <p:nvPr>
            <p:ph type="body" sz="quarter" idx="1" hasCustomPrompt="1"/>
          </p:nvPr>
        </p:nvSpPr>
        <p:spPr>
          <a:xfrm>
            <a:off x="7377588" y="3413038"/>
            <a:ext cx="3832411" cy="1670840"/>
          </a:xfrm>
          <a:prstGeom prst="rect">
            <a:avLst/>
          </a:prstGeom>
        </p:spPr>
        <p:txBody>
          <a:bodyPr anchor="ctr"/>
          <a:lstStyle>
            <a:lvl1pPr marL="0" indent="0" algn="r">
              <a:lnSpc>
                <a:spcPct val="120000"/>
              </a:lnSpc>
              <a:buSzTx/>
              <a:buFontTx/>
              <a:buNone/>
              <a:defRPr sz="14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0" indent="457200" algn="r">
              <a:lnSpc>
                <a:spcPct val="120000"/>
              </a:lnSpc>
              <a:buSzTx/>
              <a:buFontTx/>
              <a:buNone/>
              <a:defRPr sz="14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2pPr>
            <a:lvl3pPr marL="0" indent="914400" algn="r">
              <a:lnSpc>
                <a:spcPct val="120000"/>
              </a:lnSpc>
              <a:buSzTx/>
              <a:buFontTx/>
              <a:buNone/>
              <a:defRPr sz="14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3pPr>
            <a:lvl4pPr marL="0" indent="1371600" algn="r">
              <a:lnSpc>
                <a:spcPct val="120000"/>
              </a:lnSpc>
              <a:buSzTx/>
              <a:buFontTx/>
              <a:buNone/>
              <a:defRPr sz="14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4pPr>
            <a:lvl5pPr marL="0" indent="1828800" algn="r">
              <a:lnSpc>
                <a:spcPct val="120000"/>
              </a:lnSpc>
              <a:buSzTx/>
              <a:buFontTx/>
              <a:buNone/>
              <a:defRPr sz="14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5pPr>
          </a:lstStyle>
          <a:p>
            <a:r>
              <a:t>主讲部门：XXXXXX</a:t>
            </a:r>
          </a:p>
          <a:p>
            <a:pPr lvl="1"/>
          </a:p>
          <a:p>
            <a:pPr lvl="2"/>
          </a:p>
          <a:p>
            <a:pPr lvl="3"/>
          </a:p>
          <a:p>
            <a:pPr lvl="4"/>
          </a:p>
        </p:txBody>
      </p:sp>
      <p:pic>
        <p:nvPicPr>
          <p:cNvPr id="16" name="logo-05.png" descr="logo-05.png"/>
          <p:cNvPicPr>
            <a:picLocks noChangeAspect="1"/>
          </p:cNvPicPr>
          <p:nvPr/>
        </p:nvPicPr>
        <p:blipFill>
          <a:blip r:embed="rId3"/>
          <a:stretch>
            <a:fillRect/>
          </a:stretch>
        </p:blipFill>
        <p:spPr>
          <a:xfrm>
            <a:off x="719342" y="554809"/>
            <a:ext cx="2675407" cy="486805"/>
          </a:xfrm>
          <a:prstGeom prst="rect">
            <a:avLst/>
          </a:prstGeom>
          <a:ln w="12700">
            <a:miter lim="400000"/>
            <a:headEnd/>
            <a:tailEnd/>
          </a:ln>
        </p:spPr>
      </p:pic>
      <p:sp>
        <p:nvSpPr>
          <p:cNvPr id="17" name="幻灯片编号"/>
          <p:cNvSpPr txBox="1"/>
          <p:nvPr>
            <p:ph type="sldNum" sz="quarter" idx="2"/>
          </p:nvPr>
        </p:nvSpPr>
        <p:spPr>
          <a:xfrm>
            <a:off x="5892800" y="6172200"/>
            <a:ext cx="2844800" cy="368301"/>
          </a:xfrm>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目录">
    <p:spTree>
      <p:nvGrpSpPr>
        <p:cNvPr id="1" name=""/>
        <p:cNvGrpSpPr/>
        <p:nvPr/>
      </p:nvGrpSpPr>
      <p:grpSpPr>
        <a:xfrm>
          <a:off x="0" y="0"/>
          <a:ext cx="0" cy="0"/>
          <a:chOff x="0" y="0"/>
          <a:chExt cx="0" cy="0"/>
        </a:xfrm>
      </p:grpSpPr>
      <p:sp>
        <p:nvSpPr>
          <p:cNvPr id="24" name="幻灯片编号"/>
          <p:cNvSpPr txBox="1"/>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showMasterSp="0">
  <p:cSld name="大标题">
    <p:spTree>
      <p:nvGrpSpPr>
        <p:cNvPr id="1" name=""/>
        <p:cNvGrpSpPr/>
        <p:nvPr/>
      </p:nvGrpSpPr>
      <p:grpSpPr>
        <a:xfrm>
          <a:off x="0" y="0"/>
          <a:ext cx="0" cy="0"/>
          <a:chOff x="0" y="0"/>
          <a:chExt cx="0" cy="0"/>
        </a:xfrm>
      </p:grpSpPr>
      <p:pic>
        <p:nvPicPr>
          <p:cNvPr id="31" name="ppt活泼-大标题.png" descr="ppt活泼-大标题.png"/>
          <p:cNvPicPr>
            <a:picLocks noChangeAspect="1"/>
          </p:cNvPicPr>
          <p:nvPr/>
        </p:nvPicPr>
        <p:blipFill>
          <a:blip r:embed="rId2"/>
          <a:stretch>
            <a:fillRect/>
          </a:stretch>
        </p:blipFill>
        <p:spPr>
          <a:xfrm>
            <a:off x="0" y="0"/>
            <a:ext cx="12192000" cy="6858000"/>
          </a:xfrm>
          <a:prstGeom prst="rect">
            <a:avLst/>
          </a:prstGeom>
          <a:ln w="12700">
            <a:miter lim="400000"/>
            <a:headEnd/>
            <a:tailEnd/>
          </a:ln>
        </p:spPr>
      </p:pic>
      <p:pic>
        <p:nvPicPr>
          <p:cNvPr id="32" name="1慧择logo-反白.png" descr="1慧择logo-反白.png"/>
          <p:cNvPicPr>
            <a:picLocks noChangeAspect="1"/>
          </p:cNvPicPr>
          <p:nvPr/>
        </p:nvPicPr>
        <p:blipFill>
          <a:blip r:embed="rId3"/>
          <a:stretch>
            <a:fillRect/>
          </a:stretch>
        </p:blipFill>
        <p:spPr>
          <a:xfrm>
            <a:off x="10678416" y="298378"/>
            <a:ext cx="1140168" cy="532803"/>
          </a:xfrm>
          <a:prstGeom prst="rect">
            <a:avLst/>
          </a:prstGeom>
          <a:ln w="12700">
            <a:miter lim="400000"/>
            <a:headEnd/>
            <a:tailEnd/>
          </a:ln>
        </p:spPr>
      </p:pic>
      <p:sp>
        <p:nvSpPr>
          <p:cNvPr id="33" name="幻灯片编号"/>
          <p:cNvSpPr txBox="1"/>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showMasterSp="0">
  <p:cSld name="标题和内容">
    <p:spTree>
      <p:nvGrpSpPr>
        <p:cNvPr id="1" name=""/>
        <p:cNvGrpSpPr/>
        <p:nvPr/>
      </p:nvGrpSpPr>
      <p:grpSpPr>
        <a:xfrm>
          <a:off x="0" y="0"/>
          <a:ext cx="0" cy="0"/>
          <a:chOff x="0" y="0"/>
          <a:chExt cx="0" cy="0"/>
        </a:xfrm>
      </p:grpSpPr>
      <p:pic>
        <p:nvPicPr>
          <p:cNvPr id="40" name="ppt活泼-内页.png" descr="ppt活泼-内页.png"/>
          <p:cNvPicPr>
            <a:picLocks noChangeAspect="1"/>
          </p:cNvPicPr>
          <p:nvPr/>
        </p:nvPicPr>
        <p:blipFill>
          <a:blip r:embed="rId2"/>
          <a:stretch>
            <a:fillRect/>
          </a:stretch>
        </p:blipFill>
        <p:spPr>
          <a:xfrm>
            <a:off x="0" y="0"/>
            <a:ext cx="12192000" cy="6858000"/>
          </a:xfrm>
          <a:prstGeom prst="rect">
            <a:avLst/>
          </a:prstGeom>
          <a:ln w="12700">
            <a:miter lim="400000"/>
            <a:headEnd/>
            <a:tailEnd/>
          </a:ln>
        </p:spPr>
      </p:pic>
      <p:sp>
        <p:nvSpPr>
          <p:cNvPr id="41" name="标题"/>
          <p:cNvSpPr txBox="1"/>
          <p:nvPr>
            <p:ph type="title" hasCustomPrompt="1"/>
          </p:nvPr>
        </p:nvSpPr>
        <p:spPr>
          <a:xfrm>
            <a:off x="877367" y="341579"/>
            <a:ext cx="9089580" cy="675001"/>
          </a:xfrm>
          <a:prstGeom prst="rect">
            <a:avLst/>
          </a:prstGeom>
        </p:spPr>
        <p:txBody>
          <a:bodyPr/>
          <a:lstStyle>
            <a:lvl1pPr>
              <a:defRPr sz="3000" b="1">
                <a:solidFill>
                  <a:srgbClr val="0564CD"/>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标题</a:t>
            </a:r>
          </a:p>
        </p:txBody>
      </p:sp>
      <p:sp>
        <p:nvSpPr>
          <p:cNvPr id="42" name="正文级别 1…"/>
          <p:cNvSpPr txBox="1"/>
          <p:nvPr>
            <p:ph type="body" idx="1" hasCustomPrompt="1"/>
          </p:nvPr>
        </p:nvSpPr>
        <p:spPr>
          <a:xfrm>
            <a:off x="877367" y="1403999"/>
            <a:ext cx="10437266" cy="4627417"/>
          </a:xfrm>
          <a:prstGeom prst="rect">
            <a:avLst/>
          </a:prstGeom>
        </p:spPr>
        <p:txBody>
          <a:bodyPr/>
          <a:lstStyle>
            <a:lvl1pPr marL="457200" indent="-457200">
              <a:lnSpc>
                <a:spcPct val="120000"/>
              </a:lnSpc>
              <a:defRPr>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857250" indent="-400050">
              <a:lnSpc>
                <a:spcPct val="120000"/>
              </a:lnSpc>
              <a:defRPr>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2pPr>
            <a:lvl3pPr marL="1394460" indent="-480060">
              <a:lnSpc>
                <a:spcPct val="120000"/>
              </a:lnSpc>
              <a:defRPr>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3pPr>
            <a:lvl4pPr marL="1816100" indent="-444500">
              <a:lnSpc>
                <a:spcPct val="120000"/>
              </a:lnSpc>
              <a:defRPr>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4pPr>
            <a:lvl5pPr marL="2273300" indent="-444500">
              <a:lnSpc>
                <a:spcPct val="120000"/>
              </a:lnSpc>
              <a:defRPr>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5pPr>
          </a:lstStyle>
          <a:p>
            <a:r>
              <a:t>正文级别 1</a:t>
            </a:r>
          </a:p>
          <a:p>
            <a:pPr lvl="1"/>
            <a:r>
              <a:t>正文级别 2</a:t>
            </a:r>
          </a:p>
          <a:p>
            <a:pPr lvl="2"/>
            <a:r>
              <a:t>正文级别 3</a:t>
            </a:r>
          </a:p>
          <a:p>
            <a:pPr lvl="3"/>
            <a:r>
              <a:t>正文级别 4</a:t>
            </a:r>
          </a:p>
          <a:p>
            <a:pPr lvl="4"/>
            <a:r>
              <a:t>正文级别 5</a:t>
            </a:r>
          </a:p>
        </p:txBody>
      </p:sp>
      <p:pic>
        <p:nvPicPr>
          <p:cNvPr id="43" name="图片 10" descr="图片 10"/>
          <p:cNvPicPr>
            <a:picLocks noChangeAspect="1"/>
          </p:cNvPicPr>
          <p:nvPr/>
        </p:nvPicPr>
        <p:blipFill>
          <a:blip r:embed="rId3"/>
          <a:stretch>
            <a:fillRect/>
          </a:stretch>
        </p:blipFill>
        <p:spPr>
          <a:xfrm>
            <a:off x="10595999" y="13879"/>
            <a:ext cx="1305001" cy="1305001"/>
          </a:xfrm>
          <a:prstGeom prst="rect">
            <a:avLst/>
          </a:prstGeom>
          <a:ln w="12700">
            <a:miter lim="400000"/>
            <a:headEnd/>
            <a:tailEnd/>
          </a:ln>
        </p:spPr>
      </p:pic>
      <p:sp>
        <p:nvSpPr>
          <p:cNvPr id="44" name="幻灯片编号"/>
          <p:cNvSpPr txBox="1"/>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showMasterSp="0">
  <p:cSld name="空白">
    <p:spTree>
      <p:nvGrpSpPr>
        <p:cNvPr id="1" name=""/>
        <p:cNvGrpSpPr/>
        <p:nvPr/>
      </p:nvGrpSpPr>
      <p:grpSpPr>
        <a:xfrm>
          <a:off x="0" y="0"/>
          <a:ext cx="0" cy="0"/>
          <a:chOff x="0" y="0"/>
          <a:chExt cx="0" cy="0"/>
        </a:xfrm>
      </p:grpSpPr>
      <p:pic>
        <p:nvPicPr>
          <p:cNvPr id="51" name="ppt活泼-内页.png" descr="ppt活泼-内页.png"/>
          <p:cNvPicPr>
            <a:picLocks noChangeAspect="1"/>
          </p:cNvPicPr>
          <p:nvPr/>
        </p:nvPicPr>
        <p:blipFill>
          <a:blip r:embed="rId2"/>
          <a:stretch>
            <a:fillRect/>
          </a:stretch>
        </p:blipFill>
        <p:spPr>
          <a:xfrm>
            <a:off x="0" y="0"/>
            <a:ext cx="12192000" cy="6858000"/>
          </a:xfrm>
          <a:prstGeom prst="rect">
            <a:avLst/>
          </a:prstGeom>
          <a:ln w="12700">
            <a:miter lim="400000"/>
            <a:headEnd/>
            <a:tailEnd/>
          </a:ln>
        </p:spPr>
      </p:pic>
      <p:pic>
        <p:nvPicPr>
          <p:cNvPr id="52" name="图片 10" descr="图片 10"/>
          <p:cNvPicPr>
            <a:picLocks noChangeAspect="1"/>
          </p:cNvPicPr>
          <p:nvPr/>
        </p:nvPicPr>
        <p:blipFill>
          <a:blip r:embed="rId3"/>
          <a:stretch>
            <a:fillRect/>
          </a:stretch>
        </p:blipFill>
        <p:spPr>
          <a:xfrm>
            <a:off x="10595999" y="13879"/>
            <a:ext cx="1305001" cy="1305001"/>
          </a:xfrm>
          <a:prstGeom prst="rect">
            <a:avLst/>
          </a:prstGeom>
          <a:ln w="12700">
            <a:miter lim="400000"/>
            <a:headEnd/>
            <a:tailEnd/>
          </a:ln>
        </p:spPr>
      </p:pic>
      <p:sp>
        <p:nvSpPr>
          <p:cNvPr id="53" name="幻灯片编号"/>
          <p:cNvSpPr txBox="1"/>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showMasterSp="0">
  <p:cSld name="结束">
    <p:spTree>
      <p:nvGrpSpPr>
        <p:cNvPr id="1" name=""/>
        <p:cNvGrpSpPr/>
        <p:nvPr/>
      </p:nvGrpSpPr>
      <p:grpSpPr>
        <a:xfrm>
          <a:off x="0" y="0"/>
          <a:ext cx="0" cy="0"/>
          <a:chOff x="0" y="0"/>
          <a:chExt cx="0" cy="0"/>
        </a:xfrm>
      </p:grpSpPr>
      <p:pic>
        <p:nvPicPr>
          <p:cNvPr id="60" name="ppt活泼-结束.png" descr="ppt活泼-结束.png"/>
          <p:cNvPicPr>
            <a:picLocks noChangeAspect="1"/>
          </p:cNvPicPr>
          <p:nvPr/>
        </p:nvPicPr>
        <p:blipFill>
          <a:blip r:embed="rId2"/>
          <a:srcRect l="17" r="17"/>
          <a:stretch>
            <a:fillRect/>
          </a:stretch>
        </p:blipFill>
        <p:spPr>
          <a:xfrm>
            <a:off x="0" y="0"/>
            <a:ext cx="12192000" cy="6860418"/>
          </a:xfrm>
          <a:prstGeom prst="rect">
            <a:avLst/>
          </a:prstGeom>
          <a:ln w="12700">
            <a:miter lim="400000"/>
            <a:headEnd/>
            <a:tailEnd/>
          </a:ln>
        </p:spPr>
      </p:pic>
      <p:pic>
        <p:nvPicPr>
          <p:cNvPr id="61" name="logo-05.png" descr="logo-05.png"/>
          <p:cNvPicPr>
            <a:picLocks noChangeAspect="1"/>
          </p:cNvPicPr>
          <p:nvPr/>
        </p:nvPicPr>
        <p:blipFill>
          <a:blip r:embed="rId3"/>
          <a:stretch>
            <a:fillRect/>
          </a:stretch>
        </p:blipFill>
        <p:spPr>
          <a:xfrm>
            <a:off x="719342" y="554809"/>
            <a:ext cx="2675407" cy="486805"/>
          </a:xfrm>
          <a:prstGeom prst="rect">
            <a:avLst/>
          </a:prstGeom>
          <a:ln w="12700">
            <a:miter lim="400000"/>
            <a:headEnd/>
            <a:tailEnd/>
          </a:ln>
        </p:spPr>
      </p:pic>
      <p:pic>
        <p:nvPicPr>
          <p:cNvPr id="62" name="THANK YOU_.png" descr="THANK YOU_.png"/>
          <p:cNvPicPr>
            <a:picLocks noChangeAspect="1"/>
          </p:cNvPicPr>
          <p:nvPr/>
        </p:nvPicPr>
        <p:blipFill>
          <a:blip r:embed="rId4"/>
          <a:stretch>
            <a:fillRect/>
          </a:stretch>
        </p:blipFill>
        <p:spPr>
          <a:xfrm>
            <a:off x="5929074" y="2548145"/>
            <a:ext cx="5021442" cy="677547"/>
          </a:xfrm>
          <a:prstGeom prst="rect">
            <a:avLst/>
          </a:prstGeom>
          <a:ln w="12700">
            <a:miter lim="400000"/>
            <a:headEnd/>
            <a:tailEnd/>
          </a:ln>
        </p:spPr>
      </p:pic>
      <p:pic>
        <p:nvPicPr>
          <p:cNvPr id="63" name="9用心传递保险善意-反白.png" descr="9用心传递保险善意-反白.png"/>
          <p:cNvPicPr>
            <a:picLocks noChangeAspect="1"/>
          </p:cNvPicPr>
          <p:nvPr/>
        </p:nvPicPr>
        <p:blipFill>
          <a:blip r:embed="rId5"/>
          <a:stretch>
            <a:fillRect/>
          </a:stretch>
        </p:blipFill>
        <p:spPr>
          <a:xfrm>
            <a:off x="6906553" y="3606194"/>
            <a:ext cx="3193484" cy="700207"/>
          </a:xfrm>
          <a:prstGeom prst="rect">
            <a:avLst/>
          </a:prstGeom>
          <a:ln w="12700">
            <a:miter lim="400000"/>
            <a:headEnd/>
            <a:tailEnd/>
          </a:ln>
        </p:spPr>
      </p:pic>
      <p:sp>
        <p:nvSpPr>
          <p:cNvPr id="64" name="幻灯片编号"/>
          <p:cNvSpPr txBox="1"/>
          <p:nvPr>
            <p:ph type="sldNum" sz="quarter" idx="2"/>
          </p:nvPr>
        </p:nvSpPr>
        <p:spPr>
          <a:xfrm>
            <a:off x="5892800" y="6172200"/>
            <a:ext cx="2844800" cy="368301"/>
          </a:xfrm>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cSld>
  <p:clrMapOvr>
    <a:masterClrMapping/>
  </p:clrMapOvr>
  <p:transition spd="med"/>
</p:sldLayout>
</file>

<file path=ppt/slideMasters/_rels/slideMaster1.xml.rels><?xml version="1.0" encoding="UTF-8" standalone="yes"?>
<Relationships xmlns="http://schemas.openxmlformats.org/package/2006/relationships"><Relationship Id="rId9" Type="http://schemas.openxmlformats.org/officeDocument/2006/relationships/image" Target="../media/image4.png"/><Relationship Id="rId8" Type="http://schemas.openxmlformats.org/officeDocument/2006/relationships/image" Target="../media/image10.png"/><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pt活泼-目录.png" descr="ppt活泼-目录.png"/>
          <p:cNvPicPr>
            <a:picLocks noChangeAspect="1"/>
          </p:cNvPicPr>
          <p:nvPr/>
        </p:nvPicPr>
        <p:blipFill>
          <a:blip r:embed="rId8"/>
          <a:stretch>
            <a:fillRect/>
          </a:stretch>
        </p:blipFill>
        <p:spPr>
          <a:xfrm>
            <a:off x="0" y="0"/>
            <a:ext cx="12192000" cy="6858000"/>
          </a:xfrm>
          <a:prstGeom prst="rect">
            <a:avLst/>
          </a:prstGeom>
          <a:ln w="12700">
            <a:miter lim="400000"/>
            <a:headEnd/>
            <a:tailEnd/>
          </a:ln>
        </p:spPr>
      </p:pic>
      <p:pic>
        <p:nvPicPr>
          <p:cNvPr id="3" name="1慧择logo-反白.png" descr="1慧择logo-反白.png"/>
          <p:cNvPicPr>
            <a:picLocks noChangeAspect="1"/>
          </p:cNvPicPr>
          <p:nvPr/>
        </p:nvPicPr>
        <p:blipFill>
          <a:blip r:embed="rId9"/>
          <a:stretch>
            <a:fillRect/>
          </a:stretch>
        </p:blipFill>
        <p:spPr>
          <a:xfrm>
            <a:off x="10678416" y="298378"/>
            <a:ext cx="1140168" cy="532803"/>
          </a:xfrm>
          <a:prstGeom prst="rect">
            <a:avLst/>
          </a:prstGeom>
          <a:ln w="12700">
            <a:miter lim="400000"/>
            <a:headEnd/>
            <a:tailEnd/>
          </a:ln>
        </p:spPr>
      </p:pic>
      <p:sp>
        <p:nvSpPr>
          <p:cNvPr id="4" name="标题文本"/>
          <p:cNvSpPr txBox="1"/>
          <p:nvPr>
            <p:ph type="title"/>
          </p:nvPr>
        </p:nvSpPr>
        <p:spPr>
          <a:xfrm>
            <a:off x="609600" y="92074"/>
            <a:ext cx="10972800" cy="1508126"/>
          </a:xfrm>
          <a:prstGeom prst="rect">
            <a:avLst/>
          </a:prstGeom>
          <a:ln w="12700">
            <a:miter lim="400000"/>
          </a:ln>
        </p:spPr>
        <p:txBody>
          <a:bodyPr lIns="45719" rIns="45719" anchor="ctr">
            <a:normAutofit/>
          </a:bodyPr>
          <a:lstStyle/>
          <a:p>
            <a:r>
              <a:t>标题文本</a:t>
            </a:r>
          </a:p>
        </p:txBody>
      </p:sp>
      <p:sp>
        <p:nvSpPr>
          <p:cNvPr id="5" name="正文级别 1…"/>
          <p:cNvSpPr txBox="1"/>
          <p:nvPr>
            <p:ph type="body" idx="1"/>
          </p:nvPr>
        </p:nvSpPr>
        <p:spPr>
          <a:xfrm>
            <a:off x="609600" y="1600200"/>
            <a:ext cx="10972800" cy="5257800"/>
          </a:xfrm>
          <a:prstGeom prst="rect">
            <a:avLst/>
          </a:prstGeom>
          <a:ln w="12700">
            <a:miter lim="400000"/>
          </a:ln>
        </p:spPr>
        <p:txBody>
          <a:bodyPr lIns="45719" rIns="45719">
            <a:normAutofit/>
          </a:bodyPr>
          <a:lstStyle/>
          <a:p>
            <a:r>
              <a:t>正文级别 1</a:t>
            </a:r>
          </a:p>
          <a:p>
            <a:pPr lvl="1"/>
            <a:r>
              <a:t>正文级别 2</a:t>
            </a:r>
          </a:p>
          <a:p>
            <a:pPr lvl="2"/>
            <a:r>
              <a:t>正文级别 3</a:t>
            </a:r>
          </a:p>
          <a:p>
            <a:pPr lvl="3"/>
            <a:r>
              <a:t>正文级别 4</a:t>
            </a:r>
          </a:p>
          <a:p>
            <a:pPr lvl="4"/>
            <a:r>
              <a:t>正文级别 5</a:t>
            </a:r>
          </a:p>
        </p:txBody>
      </p:sp>
      <p:sp>
        <p:nvSpPr>
          <p:cNvPr id="6" name="幻灯片编号"/>
          <p:cNvSpPr txBox="1"/>
          <p:nvPr>
            <p:ph type="sldNum" sz="quarter" idx="2"/>
          </p:nvPr>
        </p:nvSpPr>
        <p:spPr>
          <a:xfrm>
            <a:off x="11640576" y="6457410"/>
            <a:ext cx="258625" cy="248306"/>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ransition spd="med"/>
  <p:txStyles>
    <p:titleStyle>
      <a:lvl1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1pPr>
      <a:lvl2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2pPr>
      <a:lvl3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3pPr>
      <a:lvl4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4pPr>
      <a:lvl5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5pPr>
      <a:lvl6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6pPr>
      <a:lvl7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7pPr>
      <a:lvl8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8pPr>
      <a:lvl9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9pPr>
    </p:titleStyle>
    <p:bodyStyle>
      <a:lvl1pPr marL="228600" marR="0" indent="-228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uFillTx/>
          <a:latin typeface="+mj-lt"/>
          <a:ea typeface="+mj-ea"/>
          <a:cs typeface="+mj-cs"/>
          <a:sym typeface="Calibri" panose="020F0502020204030204"/>
        </a:defRPr>
      </a:lvl1pPr>
      <a:lvl2pPr marL="723900" marR="0" indent="-2667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uFillTx/>
          <a:latin typeface="+mj-lt"/>
          <a:ea typeface="+mj-ea"/>
          <a:cs typeface="+mj-cs"/>
          <a:sym typeface="Calibri" panose="020F0502020204030204"/>
        </a:defRPr>
      </a:lvl2pPr>
      <a:lvl3pPr marL="1234440" marR="0" indent="-32004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uFillTx/>
          <a:latin typeface="+mj-lt"/>
          <a:ea typeface="+mj-ea"/>
          <a:cs typeface="+mj-cs"/>
          <a:sym typeface="Calibri" panose="020F0502020204030204"/>
        </a:defRPr>
      </a:lvl3pPr>
      <a:lvl4pPr marL="17272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uFillTx/>
          <a:latin typeface="+mj-lt"/>
          <a:ea typeface="+mj-ea"/>
          <a:cs typeface="+mj-cs"/>
          <a:sym typeface="Calibri" panose="020F0502020204030204"/>
        </a:defRPr>
      </a:lvl4pPr>
      <a:lvl5pPr marL="21844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uFillTx/>
          <a:latin typeface="+mj-lt"/>
          <a:ea typeface="+mj-ea"/>
          <a:cs typeface="+mj-cs"/>
          <a:sym typeface="Calibri" panose="020F0502020204030204"/>
        </a:defRPr>
      </a:lvl5pPr>
      <a:lvl6pPr marL="26416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uFillTx/>
          <a:latin typeface="+mj-lt"/>
          <a:ea typeface="+mj-ea"/>
          <a:cs typeface="+mj-cs"/>
          <a:sym typeface="Calibri" panose="020F0502020204030204"/>
        </a:defRPr>
      </a:lvl6pPr>
      <a:lvl7pPr marL="30988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uFillTx/>
          <a:latin typeface="+mj-lt"/>
          <a:ea typeface="+mj-ea"/>
          <a:cs typeface="+mj-cs"/>
          <a:sym typeface="Calibri" panose="020F0502020204030204"/>
        </a:defRPr>
      </a:lvl7pPr>
      <a:lvl8pPr marL="35560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uFillTx/>
          <a:latin typeface="+mj-lt"/>
          <a:ea typeface="+mj-ea"/>
          <a:cs typeface="+mj-cs"/>
          <a:sym typeface="Calibri" panose="020F0502020204030204"/>
        </a:defRPr>
      </a:lvl8pPr>
      <a:lvl9pPr marL="40132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uFillTx/>
          <a:latin typeface="+mj-lt"/>
          <a:ea typeface="+mj-ea"/>
          <a:cs typeface="+mj-cs"/>
          <a:sym typeface="Calibri" panose="020F0502020204030204"/>
        </a:defRPr>
      </a:lvl9pPr>
    </p:bodyStyle>
    <p:otherStyle>
      <a:lvl1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2.emf"/></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3.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image" Target="../media/image15.emf"/></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emf"/></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0.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1.emf"/></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image" Target="../media/image22.emf"/></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image" Target="../media/image23.emf"/></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image" Target="../media/image24.emf"/></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image" Target="../media/image25.e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连按此项以编辑"/>
          <p:cNvSpPr txBox="1"/>
          <p:nvPr>
            <p:ph type="ctrTitle"/>
          </p:nvPr>
        </p:nvSpPr>
        <p:spPr>
          <a:prstGeom prst="rect">
            <a:avLst/>
          </a:prstGeom>
        </p:spPr>
        <p:txBody>
          <a:bodyPr>
            <a:normAutofit fontScale="90000"/>
          </a:bodyPr>
          <a:lstStyle/>
          <a:p>
            <a:pPr algn="ctr"/>
            <a:r>
              <a:rPr lang="zh-CN" altLang="en-US"/>
              <a:t>用户投保意向预测模型结果</a:t>
            </a:r>
            <a:br>
              <a:rPr lang="zh-CN" altLang="en-US"/>
            </a:br>
            <a:r>
              <a:rPr lang="zh-CN" altLang="en-US"/>
              <a:t>汇报（初版）</a:t>
            </a:r>
            <a:endParaRPr lang="zh-CN" altLang="en-US"/>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p:nvPr>
            <p:ph type="title"/>
          </p:nvPr>
        </p:nvSpPr>
        <p:spPr>
          <a:xfrm>
            <a:off x="877570" y="341630"/>
            <a:ext cx="9912985" cy="675005"/>
          </a:xfrm>
        </p:spPr>
        <p:txBody>
          <a:bodyPr>
            <a:normAutofit/>
          </a:bodyPr>
          <a:p>
            <a:r>
              <a:rPr lang="zh-CN" sz="3555"/>
              <a:t>目录</a:t>
            </a:r>
            <a:endParaRPr lang="zh-CN" sz="3555"/>
          </a:p>
        </p:txBody>
      </p:sp>
      <p:sp>
        <p:nvSpPr>
          <p:cNvPr id="10" name="矩形 9"/>
          <p:cNvSpPr/>
          <p:nvPr/>
        </p:nvSpPr>
        <p:spPr>
          <a:xfrm>
            <a:off x="3936365" y="1988820"/>
            <a:ext cx="4440555" cy="2676525"/>
          </a:xfrm>
          <a:prstGeom prst="rect">
            <a:avLst/>
          </a:prstGeom>
          <a:ln>
            <a:noFill/>
          </a:ln>
        </p:spPr>
        <p:txBody>
          <a:bodyPr wrap="square">
            <a:spAutoFit/>
            <a:scene3d>
              <a:camera prst="orthographicFront"/>
              <a:lightRig rig="threePt" dir="t"/>
            </a:scene3d>
            <a:sp3d contourW="12700"/>
          </a:bodyPr>
          <a:p>
            <a:pPr marL="457200" indent="-457200" algn="l" hangingPunct="1">
              <a:lnSpc>
                <a:spcPct val="150000"/>
              </a:lnSpc>
              <a:buFont typeface="Wingdings" panose="05000000000000000000" charset="0"/>
              <a:buChar char="Ø"/>
            </a:pPr>
            <a:r>
              <a:rPr lang="zh-CN" sz="2800" b="1">
                <a:solidFill>
                  <a:srgbClr val="0564CD"/>
                </a:solidFill>
                <a:latin typeface="微软雅黑" panose="020B0503020204020204" charset="-122"/>
                <a:ea typeface="微软雅黑" panose="020B0503020204020204" charset="-122"/>
                <a:cs typeface="微软雅黑" panose="020B0503020204020204" charset="-122"/>
                <a:sym typeface="+mn-ea"/>
              </a:rPr>
              <a:t>一、项目背景</a:t>
            </a:r>
            <a:endParaRPr lang="zh-CN" sz="2800" b="1">
              <a:solidFill>
                <a:srgbClr val="0564CD"/>
              </a:solidFill>
              <a:latin typeface="微软雅黑" panose="020B0503020204020204" charset="-122"/>
              <a:ea typeface="微软雅黑" panose="020B0503020204020204" charset="-122"/>
              <a:cs typeface="微软雅黑" panose="020B0503020204020204" charset="-122"/>
              <a:sym typeface="+mn-ea"/>
            </a:endParaRPr>
          </a:p>
          <a:p>
            <a:pPr marL="457200" indent="-457200" algn="l" hangingPunct="1">
              <a:lnSpc>
                <a:spcPct val="150000"/>
              </a:lnSpc>
              <a:buFont typeface="Wingdings" panose="05000000000000000000" charset="0"/>
              <a:buChar char="Ø"/>
            </a:pPr>
            <a:r>
              <a:rPr lang="zh-CN" sz="2800" b="1">
                <a:solidFill>
                  <a:srgbClr val="0564CD"/>
                </a:solidFill>
                <a:latin typeface="微软雅黑" panose="020B0503020204020204" charset="-122"/>
                <a:ea typeface="微软雅黑" panose="020B0503020204020204" charset="-122"/>
                <a:cs typeface="微软雅黑" panose="020B0503020204020204" charset="-122"/>
                <a:sym typeface="+mn-ea"/>
              </a:rPr>
              <a:t>二、模型设计</a:t>
            </a:r>
            <a:endParaRPr lang="zh-CN" sz="2800" b="1">
              <a:solidFill>
                <a:srgbClr val="0564CD"/>
              </a:solidFill>
              <a:latin typeface="微软雅黑" panose="020B0503020204020204" charset="-122"/>
              <a:ea typeface="微软雅黑" panose="020B0503020204020204" charset="-122"/>
              <a:cs typeface="微软雅黑" panose="020B0503020204020204" charset="-122"/>
              <a:sym typeface="+mn-ea"/>
            </a:endParaRPr>
          </a:p>
          <a:p>
            <a:pPr marL="457200" indent="-457200" algn="l" hangingPunct="1">
              <a:lnSpc>
                <a:spcPct val="150000"/>
              </a:lnSpc>
              <a:buFont typeface="Wingdings" panose="05000000000000000000" charset="0"/>
              <a:buChar char="Ø"/>
            </a:pPr>
            <a:r>
              <a:rPr lang="zh-CN" sz="2800" b="1">
                <a:solidFill>
                  <a:srgbClr val="0564CD"/>
                </a:solidFill>
                <a:latin typeface="微软雅黑" panose="020B0503020204020204" charset="-122"/>
                <a:ea typeface="微软雅黑" panose="020B0503020204020204" charset="-122"/>
                <a:cs typeface="微软雅黑" panose="020B0503020204020204" charset="-122"/>
                <a:sym typeface="+mn-ea"/>
              </a:rPr>
              <a:t>三、模型建立</a:t>
            </a:r>
            <a:endParaRPr lang="zh-CN" sz="2800" b="1">
              <a:solidFill>
                <a:srgbClr val="0564CD"/>
              </a:solidFill>
              <a:latin typeface="微软雅黑" panose="020B0503020204020204" charset="-122"/>
              <a:ea typeface="微软雅黑" panose="020B0503020204020204" charset="-122"/>
              <a:cs typeface="微软雅黑" panose="020B0503020204020204" charset="-122"/>
              <a:sym typeface="+mn-ea"/>
            </a:endParaRPr>
          </a:p>
          <a:p>
            <a:pPr marL="457200" indent="-457200" algn="l" hangingPunct="1">
              <a:lnSpc>
                <a:spcPct val="150000"/>
              </a:lnSpc>
              <a:buFont typeface="Wingdings" panose="05000000000000000000" charset="0"/>
              <a:buChar char="Ø"/>
            </a:pPr>
            <a:r>
              <a:rPr lang="zh-CN" sz="2800" b="1">
                <a:solidFill>
                  <a:srgbClr val="0564CD"/>
                </a:solidFill>
                <a:latin typeface="微软雅黑" panose="020B0503020204020204" charset="-122"/>
                <a:ea typeface="微软雅黑" panose="020B0503020204020204" charset="-122"/>
                <a:cs typeface="微软雅黑" panose="020B0503020204020204" charset="-122"/>
                <a:sym typeface="+mn-ea"/>
              </a:rPr>
              <a:t>四、下一计划</a:t>
            </a:r>
            <a:endParaRPr lang="zh-CN" altLang="en-US" sz="2800" b="1" dirty="0">
              <a:solidFill>
                <a:srgbClr val="0564CD"/>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p:nvPr>
            <p:ph type="title"/>
          </p:nvPr>
        </p:nvSpPr>
        <p:spPr>
          <a:xfrm>
            <a:off x="877570" y="341630"/>
            <a:ext cx="9912985" cy="675005"/>
          </a:xfrm>
        </p:spPr>
        <p:txBody>
          <a:bodyPr>
            <a:normAutofit/>
          </a:bodyPr>
          <a:p>
            <a:r>
              <a:rPr lang="en-US" altLang="zh-CN" sz="3555"/>
              <a:t>1. </a:t>
            </a:r>
            <a:r>
              <a:rPr lang="zh-CN" altLang="en-US" sz="3555"/>
              <a:t>项目背景与目标</a:t>
            </a:r>
            <a:endParaRPr lang="zh-CN" altLang="en-US" sz="3555"/>
          </a:p>
        </p:txBody>
      </p:sp>
      <p:sp>
        <p:nvSpPr>
          <p:cNvPr id="3" name="文本框 2"/>
          <p:cNvSpPr txBox="1"/>
          <p:nvPr/>
        </p:nvSpPr>
        <p:spPr>
          <a:xfrm>
            <a:off x="983615" y="2061210"/>
            <a:ext cx="9807575" cy="92075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0" marR="0" indent="0" algn="l" defTabSz="914400" rtl="0" fontAlgn="auto" latinLnBrk="0" hangingPunct="0">
              <a:lnSpc>
                <a:spcPct val="150000"/>
              </a:lnSpc>
              <a:spcBef>
                <a:spcPts val="0"/>
              </a:spcBef>
              <a:spcAft>
                <a:spcPts val="0"/>
              </a:spcAft>
              <a:buClrTx/>
              <a:buSzTx/>
              <a:buFontTx/>
              <a:buNone/>
            </a:pP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        </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目前想对开放平台老用户营销太平的</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e</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养天年等年金产品，需要找到目标用户进行营销运营。</a:t>
            </a: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
        <p:nvSpPr>
          <p:cNvPr id="4" name="文本框 3"/>
          <p:cNvSpPr txBox="1"/>
          <p:nvPr/>
        </p:nvSpPr>
        <p:spPr>
          <a:xfrm>
            <a:off x="1077595" y="1423670"/>
            <a:ext cx="2288540" cy="45910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0" marR="0" indent="0" algn="l" defTabSz="914400" rtl="0" fontAlgn="auto" latinLnBrk="0" hangingPunct="0">
              <a:lnSpc>
                <a:spcPct val="100000"/>
              </a:lnSpc>
              <a:spcBef>
                <a:spcPts val="0"/>
              </a:spcBef>
              <a:spcAft>
                <a:spcPts val="0"/>
              </a:spcAft>
              <a:buClrTx/>
              <a:buSzTx/>
              <a:buFontTx/>
              <a:buNone/>
            </a:pPr>
            <a:r>
              <a:rPr kumimoji="0" lang="zh-CN" altLang="en-US" sz="2400" b="1" i="0" u="none" strike="noStrike" cap="none" spc="0" normalizeH="0" baseline="0">
                <a:solidFill>
                  <a:srgbClr val="0564CD"/>
                </a:solidFill>
                <a:uFillTx/>
                <a:latin typeface="微软雅黑" panose="020B0503020204020204" charset="-122"/>
                <a:ea typeface="微软雅黑" panose="020B0503020204020204" charset="-122"/>
                <a:cs typeface="微软雅黑" panose="020B0503020204020204" charset="-122"/>
                <a:sym typeface="Calibri" panose="020F0502020204030204"/>
              </a:rPr>
              <a:t>项目背景</a:t>
            </a:r>
            <a:endPar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
        <p:nvSpPr>
          <p:cNvPr id="6" name="文本框 5"/>
          <p:cNvSpPr txBox="1"/>
          <p:nvPr/>
        </p:nvSpPr>
        <p:spPr>
          <a:xfrm>
            <a:off x="983615" y="3645535"/>
            <a:ext cx="9918065" cy="92075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fromWordArt="0" anchor="t" anchorCtr="0" forceAA="0" upright="0" compatLnSpc="1">
            <a:spAutoFit/>
          </a:bodyPr>
          <a:p>
            <a:pPr lvl="0" algn="l">
              <a:lnSpc>
                <a:spcPct val="150000"/>
              </a:lnSpc>
            </a:pPr>
            <a:r>
              <a:rPr lang="en-US" altLang="zh-CN">
                <a:latin typeface="微软雅黑" panose="020B0503020204020204" charset="-122"/>
                <a:ea typeface="微软雅黑" panose="020B0503020204020204" charset="-122"/>
                <a:cs typeface="微软雅黑" panose="020B0503020204020204" charset="-122"/>
                <a:sym typeface="Calibri" panose="020F0502020204030204"/>
              </a:rPr>
              <a:t>      通过机器学习算法对</a:t>
            </a:r>
            <a:r>
              <a:rPr lang="zh-CN" altLang="en-US">
                <a:latin typeface="微软雅黑" panose="020B0503020204020204" charset="-122"/>
                <a:ea typeface="微软雅黑" panose="020B0503020204020204" charset="-122"/>
                <a:cs typeface="微软雅黑" panose="020B0503020204020204" charset="-122"/>
                <a:sym typeface="Calibri" panose="020F0502020204030204"/>
              </a:rPr>
              <a:t>已成交的</a:t>
            </a:r>
            <a:r>
              <a:rPr lang="zh-CN">
                <a:latin typeface="微软雅黑" panose="020B0503020204020204" charset="-122"/>
                <a:ea typeface="微软雅黑" panose="020B0503020204020204" charset="-122"/>
                <a:cs typeface="微软雅黑" panose="020B0503020204020204" charset="-122"/>
                <a:sym typeface="Calibri" panose="020F0502020204030204"/>
              </a:rPr>
              <a:t>老用户复购年金或者储蓄险产品</a:t>
            </a:r>
            <a:r>
              <a:rPr lang="zh-CN" altLang="en-US">
                <a:latin typeface="微软雅黑" panose="020B0503020204020204" charset="-122"/>
                <a:ea typeface="微软雅黑" panose="020B0503020204020204" charset="-122"/>
                <a:cs typeface="微软雅黑" panose="020B0503020204020204" charset="-122"/>
                <a:sym typeface="Calibri" panose="020F0502020204030204"/>
              </a:rPr>
              <a:t>意向预测</a:t>
            </a:r>
            <a:r>
              <a:rPr lang="en-US" altLang="zh-CN">
                <a:latin typeface="微软雅黑" panose="020B0503020204020204" charset="-122"/>
                <a:ea typeface="微软雅黑" panose="020B0503020204020204" charset="-122"/>
                <a:cs typeface="微软雅黑" panose="020B0503020204020204" charset="-122"/>
                <a:sym typeface="Calibri" panose="020F0502020204030204"/>
              </a:rPr>
              <a:t>，</a:t>
            </a:r>
            <a:r>
              <a:rPr lang="zh-CN" altLang="en-US">
                <a:latin typeface="微软雅黑" panose="020B0503020204020204" charset="-122"/>
                <a:ea typeface="微软雅黑" panose="020B0503020204020204" charset="-122"/>
                <a:cs typeface="微软雅黑" panose="020B0503020204020204" charset="-122"/>
                <a:sym typeface="Calibri" panose="020F0502020204030204"/>
              </a:rPr>
              <a:t>然后配合投放部、</a:t>
            </a:r>
            <a:r>
              <a:rPr lang="en-US" altLang="zh-CN">
                <a:latin typeface="微软雅黑" panose="020B0503020204020204" charset="-122"/>
                <a:ea typeface="微软雅黑" panose="020B0503020204020204" charset="-122"/>
                <a:cs typeface="微软雅黑" panose="020B0503020204020204" charset="-122"/>
                <a:sym typeface="Calibri" panose="020F0502020204030204"/>
              </a:rPr>
              <a:t>运营部进行</a:t>
            </a:r>
            <a:r>
              <a:rPr lang="zh-CN" altLang="en-US">
                <a:latin typeface="微软雅黑" panose="020B0503020204020204" charset="-122"/>
                <a:ea typeface="微软雅黑" panose="020B0503020204020204" charset="-122"/>
                <a:cs typeface="微软雅黑" panose="020B0503020204020204" charset="-122"/>
                <a:sym typeface="Calibri" panose="020F0502020204030204"/>
              </a:rPr>
              <a:t>用户</a:t>
            </a:r>
            <a:r>
              <a:rPr lang="en-US" altLang="zh-CN">
                <a:latin typeface="微软雅黑" panose="020B0503020204020204" charset="-122"/>
                <a:ea typeface="微软雅黑" panose="020B0503020204020204" charset="-122"/>
                <a:cs typeface="微软雅黑" panose="020B0503020204020204" charset="-122"/>
                <a:sym typeface="Calibri" panose="020F0502020204030204"/>
              </a:rPr>
              <a:t>运营，提升</a:t>
            </a:r>
            <a:r>
              <a:rPr lang="zh-CN">
                <a:latin typeface="微软雅黑" panose="020B0503020204020204" charset="-122"/>
                <a:ea typeface="微软雅黑" panose="020B0503020204020204" charset="-122"/>
                <a:cs typeface="微软雅黑" panose="020B0503020204020204" charset="-122"/>
                <a:sym typeface="Calibri" panose="020F0502020204030204"/>
              </a:rPr>
              <a:t>年金或者储蓄险产品</a:t>
            </a:r>
            <a:r>
              <a:rPr lang="en-US" altLang="zh-CN">
                <a:latin typeface="微软雅黑" panose="020B0503020204020204" charset="-122"/>
                <a:ea typeface="微软雅黑" panose="020B0503020204020204" charset="-122"/>
                <a:cs typeface="微软雅黑" panose="020B0503020204020204" charset="-122"/>
                <a:sym typeface="Calibri" panose="020F0502020204030204"/>
              </a:rPr>
              <a:t>的转化率。</a:t>
            </a:r>
            <a:endParaRPr lang="en-US" altLang="zh-CN">
              <a:latin typeface="微软雅黑" panose="020B0503020204020204" charset="-122"/>
              <a:ea typeface="微软雅黑" panose="020B0503020204020204" charset="-122"/>
              <a:cs typeface="微软雅黑" panose="020B0503020204020204" charset="-122"/>
              <a:sym typeface="Calibri" panose="020F0502020204030204"/>
            </a:endParaRPr>
          </a:p>
        </p:txBody>
      </p:sp>
      <p:sp>
        <p:nvSpPr>
          <p:cNvPr id="8" name="文本框 7"/>
          <p:cNvSpPr txBox="1"/>
          <p:nvPr/>
        </p:nvSpPr>
        <p:spPr>
          <a:xfrm>
            <a:off x="1056005" y="3141345"/>
            <a:ext cx="2078990" cy="45910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fromWordArt="0" anchor="t" anchorCtr="0" forceAA="0" upright="0" compatLnSpc="1">
            <a:spAutoFit/>
          </a:bodyPr>
          <a:p>
            <a:pPr lvl="0" algn="l"/>
            <a:r>
              <a:rPr lang="zh-CN" altLang="en-US" sz="2400" b="1">
                <a:solidFill>
                  <a:srgbClr val="0564CD"/>
                </a:solidFill>
                <a:latin typeface="微软雅黑" panose="020B0503020204020204" charset="-122"/>
                <a:ea typeface="微软雅黑" panose="020B0503020204020204" charset="-122"/>
                <a:cs typeface="微软雅黑" panose="020B0503020204020204" charset="-122"/>
                <a:sym typeface="Calibri" panose="020F0502020204030204"/>
              </a:rPr>
              <a:t>项目</a:t>
            </a:r>
            <a:r>
              <a:rPr lang="zh-CN" altLang="en-US" sz="2400" b="1">
                <a:solidFill>
                  <a:srgbClr val="0564CD"/>
                </a:solidFill>
                <a:latin typeface="微软雅黑" panose="020B0503020204020204" charset="-122"/>
                <a:ea typeface="微软雅黑" panose="020B0503020204020204" charset="-122"/>
                <a:cs typeface="微软雅黑" panose="020B0503020204020204" charset="-122"/>
                <a:sym typeface="Calibri" panose="020F0502020204030204"/>
              </a:rPr>
              <a:t>目标</a:t>
            </a:r>
            <a:endParaRPr lang="zh-CN" altLang="en-US" sz="2400" b="1">
              <a:solidFill>
                <a:srgbClr val="0564CD"/>
              </a:solidFill>
              <a:latin typeface="微软雅黑" panose="020B0503020204020204" charset="-122"/>
              <a:ea typeface="微软雅黑" panose="020B0503020204020204" charset="-122"/>
              <a:cs typeface="微软雅黑" panose="020B0503020204020204" charset="-122"/>
              <a:sym typeface="Calibri" panose="020F0502020204030204"/>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p:nvPr>
            <p:ph type="title"/>
          </p:nvPr>
        </p:nvSpPr>
        <p:spPr>
          <a:xfrm>
            <a:off x="335915" y="260985"/>
            <a:ext cx="10714355" cy="675005"/>
          </a:xfrm>
        </p:spPr>
        <p:txBody>
          <a:bodyPr>
            <a:normAutofit/>
          </a:bodyPr>
          <a:p>
            <a:r>
              <a:rPr lang="en-US" altLang="zh-CN" sz="3555"/>
              <a:t>2. </a:t>
            </a:r>
            <a:r>
              <a:rPr lang="zh-CN" altLang="en-US" sz="3555"/>
              <a:t>模型设计</a:t>
            </a:r>
            <a:endParaRPr lang="zh-CN" altLang="en-US" sz="3555"/>
          </a:p>
        </p:txBody>
      </p:sp>
      <p:sp>
        <p:nvSpPr>
          <p:cNvPr id="6" name="文本框 5"/>
          <p:cNvSpPr txBox="1"/>
          <p:nvPr/>
        </p:nvSpPr>
        <p:spPr>
          <a:xfrm>
            <a:off x="695960" y="1485265"/>
            <a:ext cx="2288540" cy="45910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342900" marR="0" indent="-342900" algn="l" defTabSz="914400" rtl="0" fontAlgn="auto" latinLnBrk="0" hangingPunct="0">
              <a:lnSpc>
                <a:spcPct val="100000"/>
              </a:lnSpc>
              <a:spcBef>
                <a:spcPts val="0"/>
              </a:spcBef>
              <a:spcAft>
                <a:spcPts val="0"/>
              </a:spcAft>
              <a:buClrTx/>
              <a:buSzTx/>
              <a:buFont typeface="Wingdings" panose="05000000000000000000" charset="0"/>
              <a:buChar char="ü"/>
            </a:pPr>
            <a:r>
              <a:rPr kumimoji="0" lang="zh-CN" altLang="en-US" sz="2400" b="1" i="0" u="none" strike="noStrike" cap="none" spc="0" normalizeH="0" baseline="0">
                <a:solidFill>
                  <a:srgbClr val="0564CD"/>
                </a:solidFill>
                <a:uFillTx/>
                <a:latin typeface="微软雅黑" panose="020B0503020204020204" charset="-122"/>
                <a:ea typeface="微软雅黑" panose="020B0503020204020204" charset="-122"/>
                <a:cs typeface="微软雅黑" panose="020B0503020204020204" charset="-122"/>
                <a:sym typeface="Calibri" panose="020F0502020204030204"/>
              </a:rPr>
              <a:t>人群分析</a:t>
            </a:r>
            <a:endPar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
        <p:nvSpPr>
          <p:cNvPr id="10" name="文本框 9"/>
          <p:cNvSpPr txBox="1"/>
          <p:nvPr/>
        </p:nvSpPr>
        <p:spPr>
          <a:xfrm>
            <a:off x="839470" y="2493010"/>
            <a:ext cx="7798435" cy="133667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342900" marR="0" indent="-342900" algn="l" defTabSz="914400" rtl="0" fontAlgn="auto" latinLnBrk="0" hangingPunct="0">
              <a:lnSpc>
                <a:spcPct val="150000"/>
              </a:lnSpc>
              <a:spcBef>
                <a:spcPts val="0"/>
              </a:spcBef>
              <a:spcAft>
                <a:spcPts val="0"/>
              </a:spcAft>
              <a:buClrTx/>
              <a:buSzTx/>
              <a:buFont typeface="+mj-lt"/>
              <a:buAutoNum type="arabicPeriod"/>
            </a:pP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本次建模分析人群为</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2019-2021</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年的已成交的首笔下单用户，总体人群约</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33</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万，</a:t>
            </a: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a:p>
            <a:pPr marL="342900" marR="0" indent="-342900" algn="l" defTabSz="914400" rtl="0" fontAlgn="auto" latinLnBrk="0" hangingPunct="0">
              <a:lnSpc>
                <a:spcPct val="150000"/>
              </a:lnSpc>
              <a:spcBef>
                <a:spcPts val="0"/>
              </a:spcBef>
              <a:spcAft>
                <a:spcPts val="0"/>
              </a:spcAft>
              <a:buClrTx/>
              <a:buSzTx/>
              <a:buFont typeface="+mj-lt"/>
              <a:buAutoNum type="arabicPeriod"/>
            </a:pP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近两年老用户复购率约</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1.3%</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a:t>
            </a:r>
            <a:endPar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
        <p:nvSpPr>
          <p:cNvPr id="11" name="文本框 10"/>
          <p:cNvSpPr txBox="1"/>
          <p:nvPr/>
        </p:nvSpPr>
        <p:spPr>
          <a:xfrm>
            <a:off x="983615" y="4149090"/>
            <a:ext cx="4521835" cy="36703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0" marR="0" indent="0" algn="l" defTabSz="914400" rtl="0" fontAlgn="auto" latinLnBrk="0" hangingPunct="0">
              <a:lnSpc>
                <a:spcPct val="100000"/>
              </a:lnSpc>
              <a:spcBef>
                <a:spcPts val="0"/>
              </a:spcBef>
              <a:spcAft>
                <a:spcPts val="0"/>
              </a:spcAft>
              <a:buClrTx/>
              <a:buSzTx/>
              <a:buFontTx/>
              <a:buNone/>
            </a:pPr>
            <a:r>
              <a:rPr kumimoji="0" lang="zh-CN" altLang="en-US" sz="1800" b="1" i="0" u="none" strike="noStrike" cap="none" spc="0" normalizeH="0" baseline="0">
                <a:ln>
                  <a:noFill/>
                </a:ln>
                <a:solidFill>
                  <a:srgbClr val="FF0000"/>
                </a:solidFill>
                <a:effectLst/>
                <a:uFillTx/>
                <a:latin typeface="+mj-lt"/>
                <a:ea typeface="+mj-ea"/>
                <a:cs typeface="+mj-cs"/>
                <a:sym typeface="Calibri" panose="020F0502020204030204"/>
              </a:rPr>
              <a:t>数据统计截止时间：</a:t>
            </a:r>
            <a:r>
              <a:rPr kumimoji="0" lang="en-US" altLang="zh-CN" sz="1800" b="1" i="0" u="none" strike="noStrike" cap="none" spc="0" normalizeH="0" baseline="0">
                <a:ln>
                  <a:noFill/>
                </a:ln>
                <a:solidFill>
                  <a:srgbClr val="FF0000"/>
                </a:solidFill>
                <a:effectLst/>
                <a:uFillTx/>
                <a:latin typeface="+mj-lt"/>
                <a:ea typeface="+mj-ea"/>
                <a:cs typeface="+mj-cs"/>
                <a:sym typeface="Calibri" panose="020F0502020204030204"/>
              </a:rPr>
              <a:t>2022</a:t>
            </a:r>
            <a:r>
              <a:rPr kumimoji="0" lang="zh-CN" altLang="en-US" sz="1800" b="1" i="0" u="none" strike="noStrike" cap="none" spc="0" normalizeH="0" baseline="0">
                <a:ln>
                  <a:noFill/>
                </a:ln>
                <a:solidFill>
                  <a:srgbClr val="FF0000"/>
                </a:solidFill>
                <a:effectLst/>
                <a:uFillTx/>
                <a:latin typeface="+mj-lt"/>
                <a:ea typeface="宋体" panose="02010600030101010101" pitchFamily="2" charset="-122"/>
                <a:cs typeface="+mj-cs"/>
                <a:sym typeface="Calibri" panose="020F0502020204030204"/>
              </a:rPr>
              <a:t>年</a:t>
            </a:r>
            <a:r>
              <a:rPr kumimoji="0" lang="en-US" altLang="zh-CN" sz="1800" b="1" i="0" u="none" strike="noStrike" cap="none" spc="0" normalizeH="0" baseline="0">
                <a:ln>
                  <a:noFill/>
                </a:ln>
                <a:solidFill>
                  <a:srgbClr val="FF0000"/>
                </a:solidFill>
                <a:effectLst/>
                <a:uFillTx/>
                <a:latin typeface="+mj-lt"/>
                <a:ea typeface="宋体" panose="02010600030101010101" pitchFamily="2" charset="-122"/>
                <a:cs typeface="+mj-cs"/>
                <a:sym typeface="Calibri" panose="020F0502020204030204"/>
              </a:rPr>
              <a:t>02</a:t>
            </a:r>
            <a:r>
              <a:rPr kumimoji="0" lang="zh-CN" altLang="en-US" sz="1800" b="1" i="0" u="none" strike="noStrike" cap="none" spc="0" normalizeH="0" baseline="0">
                <a:ln>
                  <a:noFill/>
                </a:ln>
                <a:solidFill>
                  <a:srgbClr val="FF0000"/>
                </a:solidFill>
                <a:effectLst/>
                <a:uFillTx/>
                <a:latin typeface="+mj-lt"/>
                <a:ea typeface="宋体" panose="02010600030101010101" pitchFamily="2" charset="-122"/>
                <a:cs typeface="+mj-cs"/>
                <a:sym typeface="Calibri" panose="020F0502020204030204"/>
              </a:rPr>
              <a:t>月</a:t>
            </a:r>
            <a:r>
              <a:rPr kumimoji="0" lang="en-US" altLang="zh-CN" sz="1800" b="1" i="0" u="none" strike="noStrike" cap="none" spc="0" normalizeH="0" baseline="0">
                <a:ln>
                  <a:noFill/>
                </a:ln>
                <a:solidFill>
                  <a:srgbClr val="FF0000"/>
                </a:solidFill>
                <a:effectLst/>
                <a:uFillTx/>
                <a:latin typeface="+mj-lt"/>
                <a:ea typeface="宋体" panose="02010600030101010101" pitchFamily="2" charset="-122"/>
                <a:cs typeface="+mj-cs"/>
                <a:sym typeface="Calibri" panose="020F0502020204030204"/>
              </a:rPr>
              <a:t>28</a:t>
            </a:r>
            <a:r>
              <a:rPr kumimoji="0" lang="zh-CN" altLang="en-US" sz="1800" b="1" i="0" u="none" strike="noStrike" cap="none" spc="0" normalizeH="0" baseline="0">
                <a:ln>
                  <a:noFill/>
                </a:ln>
                <a:solidFill>
                  <a:srgbClr val="FF0000"/>
                </a:solidFill>
                <a:effectLst/>
                <a:uFillTx/>
                <a:latin typeface="+mj-lt"/>
                <a:ea typeface="宋体" panose="02010600030101010101" pitchFamily="2" charset="-122"/>
                <a:cs typeface="+mj-cs"/>
                <a:sym typeface="Calibri" panose="020F0502020204030204"/>
              </a:rPr>
              <a:t>日，下同</a:t>
            </a:r>
            <a:endParaRPr kumimoji="0" lang="zh-CN" altLang="en-US" sz="1800" b="1" i="0" u="none" strike="noStrike" cap="none" spc="0" normalizeH="0" baseline="0">
              <a:ln>
                <a:noFill/>
              </a:ln>
              <a:solidFill>
                <a:srgbClr val="FF0000"/>
              </a:solidFill>
              <a:effectLst/>
              <a:uFillTx/>
              <a:latin typeface="+mj-lt"/>
              <a:ea typeface="宋体" panose="02010600030101010101" pitchFamily="2" charset="-122"/>
              <a:cs typeface="+mj-cs"/>
              <a:sym typeface="Calibri" panose="020F0502020204030204"/>
            </a:endParaRPr>
          </a:p>
        </p:txBody>
      </p:sp>
      <p:pic>
        <p:nvPicPr>
          <p:cNvPr id="4" name="图片 3"/>
          <p:cNvPicPr>
            <a:picLocks noChangeAspect="1"/>
          </p:cNvPicPr>
          <p:nvPr/>
        </p:nvPicPr>
        <p:blipFill>
          <a:blip r:embed="rId1"/>
          <a:stretch>
            <a:fillRect/>
          </a:stretch>
        </p:blipFill>
        <p:spPr>
          <a:xfrm>
            <a:off x="6456045" y="4365625"/>
            <a:ext cx="5234940" cy="2119630"/>
          </a:xfrm>
          <a:prstGeom prst="rect">
            <a:avLst/>
          </a:prstGeom>
        </p:spPr>
      </p:pic>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p:nvPr>
            <p:ph type="title"/>
          </p:nvPr>
        </p:nvSpPr>
        <p:spPr>
          <a:xfrm>
            <a:off x="335915" y="260985"/>
            <a:ext cx="10714355" cy="675005"/>
          </a:xfrm>
        </p:spPr>
        <p:txBody>
          <a:bodyPr>
            <a:normAutofit/>
          </a:bodyPr>
          <a:p>
            <a:r>
              <a:rPr sz="3555"/>
              <a:t>2. 模型设计</a:t>
            </a:r>
            <a:endParaRPr sz="3555"/>
          </a:p>
        </p:txBody>
      </p:sp>
      <p:sp>
        <p:nvSpPr>
          <p:cNvPr id="5" name="文本框 4"/>
          <p:cNvSpPr txBox="1"/>
          <p:nvPr/>
        </p:nvSpPr>
        <p:spPr>
          <a:xfrm>
            <a:off x="695960" y="1268730"/>
            <a:ext cx="2288540" cy="45910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342900" marR="0" indent="-342900" algn="l" defTabSz="914400" rtl="0" fontAlgn="auto" latinLnBrk="0" hangingPunct="0">
              <a:lnSpc>
                <a:spcPct val="100000"/>
              </a:lnSpc>
              <a:spcBef>
                <a:spcPts val="0"/>
              </a:spcBef>
              <a:spcAft>
                <a:spcPts val="0"/>
              </a:spcAft>
              <a:buClrTx/>
              <a:buSzTx/>
              <a:buFont typeface="Wingdings" panose="05000000000000000000" charset="0"/>
              <a:buChar char="ü"/>
            </a:pPr>
            <a:r>
              <a:rPr kumimoji="0" lang="zh-CN" altLang="en-US" sz="2400" b="1" i="0" u="none" strike="noStrike" cap="none" spc="0" normalizeH="0" baseline="0">
                <a:solidFill>
                  <a:srgbClr val="0564CD"/>
                </a:solidFill>
                <a:uFillTx/>
                <a:latin typeface="微软雅黑" panose="020B0503020204020204" charset="-122"/>
                <a:ea typeface="微软雅黑" panose="020B0503020204020204" charset="-122"/>
                <a:cs typeface="微软雅黑" panose="020B0503020204020204" charset="-122"/>
                <a:sym typeface="Calibri" panose="020F0502020204030204"/>
              </a:rPr>
              <a:t>目标定义</a:t>
            </a:r>
            <a:endPar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
        <p:nvSpPr>
          <p:cNvPr id="7" name="文本框 6"/>
          <p:cNvSpPr txBox="1"/>
          <p:nvPr/>
        </p:nvSpPr>
        <p:spPr>
          <a:xfrm>
            <a:off x="555625" y="2061210"/>
            <a:ext cx="10096500" cy="175196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342900" marR="0" indent="-342900" algn="l" defTabSz="914400" rtl="0" fontAlgn="auto" latinLnBrk="0" hangingPunct="0">
              <a:lnSpc>
                <a:spcPct val="150000"/>
              </a:lnSpc>
              <a:spcBef>
                <a:spcPts val="0"/>
              </a:spcBef>
              <a:spcAft>
                <a:spcPts val="0"/>
              </a:spcAft>
              <a:buClrTx/>
              <a:buSzTx/>
              <a:buFont typeface="+mj-lt"/>
              <a:buAutoNum type="arabicPeriod"/>
            </a:pP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经合开放平台的业务场景，在给定转化表现期内老用户首笔成交后购买了</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年金保险</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和</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长期寿险</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则定为“复购”，否则定为“不复购”。</a:t>
            </a: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a:p>
            <a:pPr marL="342900" marR="0" indent="-342900" algn="l" defTabSz="914400" rtl="0" fontAlgn="auto" latinLnBrk="0" hangingPunct="0">
              <a:lnSpc>
                <a:spcPct val="150000"/>
              </a:lnSpc>
              <a:spcBef>
                <a:spcPts val="0"/>
              </a:spcBef>
              <a:spcAft>
                <a:spcPts val="0"/>
              </a:spcAft>
              <a:buClrTx/>
              <a:buSzTx/>
              <a:buFont typeface="+mj-lt"/>
              <a:buAutoNum type="arabicPeriod"/>
            </a:pP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通过分析全量的复购数据中首次成交到到首次复购年金或者长期寿险的间隔天数，约8</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0</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%商机在</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75</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天以内会进行转化，所以本次建模转化表现期定为</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75</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天。</a:t>
            </a: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p:nvPr>
            <p:ph type="title"/>
          </p:nvPr>
        </p:nvSpPr>
        <p:spPr>
          <a:xfrm>
            <a:off x="335915" y="260985"/>
            <a:ext cx="10714355" cy="675005"/>
          </a:xfrm>
        </p:spPr>
        <p:txBody>
          <a:bodyPr>
            <a:normAutofit/>
          </a:bodyPr>
          <a:p>
            <a:r>
              <a:rPr sz="3555"/>
              <a:t>2. 模型设计</a:t>
            </a:r>
            <a:endParaRPr sz="3555"/>
          </a:p>
        </p:txBody>
      </p:sp>
      <p:sp>
        <p:nvSpPr>
          <p:cNvPr id="5" name="文本框 4"/>
          <p:cNvSpPr txBox="1"/>
          <p:nvPr/>
        </p:nvSpPr>
        <p:spPr>
          <a:xfrm>
            <a:off x="695960" y="1125220"/>
            <a:ext cx="2288540" cy="45910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342900" marR="0" indent="-342900" algn="l" defTabSz="914400" rtl="0" fontAlgn="auto" latinLnBrk="0" hangingPunct="0">
              <a:lnSpc>
                <a:spcPct val="100000"/>
              </a:lnSpc>
              <a:spcBef>
                <a:spcPts val="0"/>
              </a:spcBef>
              <a:spcAft>
                <a:spcPts val="0"/>
              </a:spcAft>
              <a:buClrTx/>
              <a:buSzTx/>
              <a:buFont typeface="Wingdings" panose="05000000000000000000" charset="0"/>
              <a:buChar char="ü"/>
            </a:pPr>
            <a:r>
              <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样本划分</a:t>
            </a:r>
            <a:endPar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
        <p:nvSpPr>
          <p:cNvPr id="7" name="文本框 6"/>
          <p:cNvSpPr txBox="1"/>
          <p:nvPr/>
        </p:nvSpPr>
        <p:spPr>
          <a:xfrm>
            <a:off x="551815" y="1701165"/>
            <a:ext cx="7363460" cy="175196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342900" marR="0" indent="-342900" algn="l" defTabSz="914400" rtl="0" fontAlgn="auto" latinLnBrk="0" hangingPunct="0">
              <a:lnSpc>
                <a:spcPct val="150000"/>
              </a:lnSpc>
              <a:spcBef>
                <a:spcPts val="0"/>
              </a:spcBef>
              <a:spcAft>
                <a:spcPts val="0"/>
              </a:spcAft>
              <a:buClrTx/>
              <a:buSzTx/>
              <a:buFont typeface="+mj-lt"/>
              <a:buAutoNum type="arabicPeriod"/>
            </a:pP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通过对</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2021</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年老用户进行复购率率分析，</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2019</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年</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1</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月</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-2021</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年</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12</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月下单率在</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1.5%</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左右，较为稳定，从下单率稳定性、贴近当前业务及转化表现期角度考虑，</a:t>
            </a:r>
            <a:r>
              <a:rPr kumimoji="0" lang="zh-CN" altLang="en-US" sz="1800" b="0" i="0" u="none" strike="noStrike" cap="none" spc="0" normalizeH="0" baseline="0">
                <a:ln>
                  <a:noFill/>
                </a:ln>
                <a:solidFill>
                  <a:schemeClr val="tx1"/>
                </a:solidFill>
                <a:effectLst/>
                <a:uFillTx/>
                <a:latin typeface="微软雅黑" panose="020B0503020204020204" charset="-122"/>
                <a:ea typeface="微软雅黑" panose="020B0503020204020204" charset="-122"/>
                <a:cs typeface="微软雅黑" panose="020B0503020204020204" charset="-122"/>
                <a:sym typeface="Calibri" panose="020F0502020204030204"/>
              </a:rPr>
              <a:t>选取</a:t>
            </a:r>
            <a:r>
              <a:rPr kumimoji="0" lang="en-US" altLang="zh-CN" sz="1800" b="0" i="0" u="none" strike="noStrike" cap="none" spc="0" normalizeH="0" baseline="0">
                <a:ln>
                  <a:noFill/>
                </a:ln>
                <a:solidFill>
                  <a:schemeClr val="tx1"/>
                </a:solidFill>
                <a:effectLst/>
                <a:uFillTx/>
                <a:latin typeface="微软雅黑" panose="020B0503020204020204" charset="-122"/>
                <a:ea typeface="微软雅黑" panose="020B0503020204020204" charset="-122"/>
                <a:cs typeface="微软雅黑" panose="020B0503020204020204" charset="-122"/>
                <a:sym typeface="Calibri" panose="020F0502020204030204"/>
              </a:rPr>
              <a:t>2019</a:t>
            </a:r>
            <a:r>
              <a:rPr kumimoji="0" lang="zh-CN" altLang="en-US" sz="1800" b="0" i="0" u="none" strike="noStrike" cap="none" spc="0" normalizeH="0" baseline="0">
                <a:ln>
                  <a:noFill/>
                </a:ln>
                <a:solidFill>
                  <a:schemeClr val="tx1"/>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年</a:t>
            </a:r>
            <a:r>
              <a:rPr kumimoji="0" lang="en-US" altLang="zh-CN" sz="1800" b="0" i="0" u="none" strike="noStrike" cap="none" spc="0" normalizeH="0" baseline="0">
                <a:ln>
                  <a:noFill/>
                </a:ln>
                <a:solidFill>
                  <a:schemeClr val="tx1"/>
                </a:solidFill>
                <a:effectLst/>
                <a:uFillTx/>
                <a:latin typeface="微软雅黑" panose="020B0503020204020204" charset="-122"/>
                <a:ea typeface="微软雅黑" panose="020B0503020204020204" charset="-122"/>
                <a:cs typeface="微软雅黑" panose="020B0503020204020204" charset="-122"/>
                <a:sym typeface="Calibri" panose="020F0502020204030204"/>
              </a:rPr>
              <a:t>01</a:t>
            </a:r>
            <a:r>
              <a:rPr kumimoji="0" lang="zh-CN" altLang="en-US" sz="1800" b="0" i="0" u="none" strike="noStrike" cap="none" spc="0" normalizeH="0" baseline="0">
                <a:ln>
                  <a:noFill/>
                </a:ln>
                <a:solidFill>
                  <a:schemeClr val="tx1"/>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月</a:t>
            </a:r>
            <a:r>
              <a:rPr kumimoji="0" lang="en-US" altLang="zh-CN" sz="1800" b="0" i="0" u="none" strike="noStrike" cap="none" spc="0" normalizeH="0" baseline="0">
                <a:ln>
                  <a:noFill/>
                </a:ln>
                <a:solidFill>
                  <a:schemeClr val="tx1"/>
                </a:solidFill>
                <a:effectLst/>
                <a:uFillTx/>
                <a:latin typeface="微软雅黑" panose="020B0503020204020204" charset="-122"/>
                <a:ea typeface="微软雅黑" panose="020B0503020204020204" charset="-122"/>
                <a:cs typeface="微软雅黑" panose="020B0503020204020204" charset="-122"/>
                <a:sym typeface="Calibri" panose="020F0502020204030204"/>
              </a:rPr>
              <a:t>-2021</a:t>
            </a:r>
            <a:r>
              <a:rPr kumimoji="0" lang="zh-CN" altLang="en-US" sz="1800" b="0" i="0" u="none" strike="noStrike" cap="none" spc="0" normalizeH="0" baseline="0">
                <a:ln>
                  <a:noFill/>
                </a:ln>
                <a:solidFill>
                  <a:schemeClr val="tx1"/>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年</a:t>
            </a:r>
            <a:r>
              <a:rPr kumimoji="0" lang="en-US" altLang="zh-CN" sz="1800" b="0" i="0" u="none" strike="noStrike" cap="none" spc="0" normalizeH="0" baseline="0">
                <a:ln>
                  <a:noFill/>
                </a:ln>
                <a:solidFill>
                  <a:schemeClr val="tx1"/>
                </a:solidFill>
                <a:effectLst/>
                <a:uFillTx/>
                <a:latin typeface="微软雅黑" panose="020B0503020204020204" charset="-122"/>
                <a:ea typeface="微软雅黑" panose="020B0503020204020204" charset="-122"/>
                <a:cs typeface="微软雅黑" panose="020B0503020204020204" charset="-122"/>
                <a:sym typeface="Calibri" panose="020F0502020204030204"/>
              </a:rPr>
              <a:t>10</a:t>
            </a:r>
            <a:r>
              <a:rPr kumimoji="0" lang="zh-CN" altLang="en-US" sz="1800" b="0" i="0" u="none" strike="noStrike" cap="none" spc="0" normalizeH="0" baseline="0">
                <a:ln>
                  <a:noFill/>
                </a:ln>
                <a:solidFill>
                  <a:schemeClr val="tx1"/>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月作为</a:t>
            </a:r>
            <a:r>
              <a:rPr kumimoji="0" lang="zh-CN" altLang="en-US" sz="1800" b="0" i="0" u="none" strike="noStrike" cap="none" spc="0" normalizeH="0" baseline="0">
                <a:ln>
                  <a:noFill/>
                </a:ln>
                <a:solidFill>
                  <a:srgbClr val="C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训练集、验证集，测试集</a:t>
            </a:r>
            <a:r>
              <a:rPr kumimoji="0" lang="en-US" altLang="zh-CN" sz="1800" b="0" i="0" u="none" strike="noStrike" cap="none" spc="0" normalizeH="0" baseline="0">
                <a:ln>
                  <a:noFill/>
                </a:ln>
                <a:solidFill>
                  <a:srgbClr val="C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1</a:t>
            </a:r>
            <a:r>
              <a:rPr kumimoji="0" lang="zh-CN" altLang="en-US" sz="1800" b="0" i="0" u="none" strike="noStrike" cap="none" spc="0" normalizeH="0" baseline="0">
                <a:ln>
                  <a:noFill/>
                </a:ln>
                <a:solidFill>
                  <a:schemeClr val="tx1"/>
                </a:solidFill>
                <a:effectLst/>
                <a:uFillTx/>
                <a:latin typeface="微软雅黑" panose="020B0503020204020204" charset="-122"/>
                <a:ea typeface="微软雅黑" panose="020B0503020204020204" charset="-122"/>
                <a:cs typeface="微软雅黑" panose="020B0503020204020204" charset="-122"/>
                <a:sym typeface="Calibri" panose="020F0502020204030204"/>
              </a:rPr>
              <a:t>（</a:t>
            </a:r>
            <a:r>
              <a:rPr kumimoji="0" lang="en-US" altLang="zh-CN" sz="1800" b="0" i="0" u="none" strike="noStrike" cap="none" spc="0" normalizeH="0" baseline="0">
                <a:ln>
                  <a:noFill/>
                </a:ln>
                <a:solidFill>
                  <a:schemeClr val="tx1"/>
                </a:solidFill>
                <a:effectLst/>
                <a:uFillTx/>
                <a:latin typeface="微软雅黑" panose="020B0503020204020204" charset="-122"/>
                <a:ea typeface="微软雅黑" panose="020B0503020204020204" charset="-122"/>
                <a:cs typeface="微软雅黑" panose="020B0503020204020204" charset="-122"/>
                <a:sym typeface="Calibri" panose="020F0502020204030204"/>
              </a:rPr>
              <a:t>2021</a:t>
            </a:r>
            <a:r>
              <a:rPr kumimoji="0" lang="zh-CN" altLang="en-US" sz="1800" b="0" i="0" u="none" strike="noStrike" cap="none" spc="0" normalizeH="0" baseline="0">
                <a:ln>
                  <a:noFill/>
                </a:ln>
                <a:solidFill>
                  <a:schemeClr val="tx1"/>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年</a:t>
            </a:r>
            <a:r>
              <a:rPr kumimoji="0" lang="en-US" altLang="zh-CN" sz="1800" b="0" i="0" u="none" strike="noStrike" cap="none" spc="0" normalizeH="0" baseline="0">
                <a:ln>
                  <a:noFill/>
                </a:ln>
                <a:solidFill>
                  <a:schemeClr val="tx1"/>
                </a:solidFill>
                <a:effectLst/>
                <a:uFillTx/>
                <a:latin typeface="微软雅黑" panose="020B0503020204020204" charset="-122"/>
                <a:ea typeface="微软雅黑" panose="020B0503020204020204" charset="-122"/>
                <a:cs typeface="微软雅黑" panose="020B0503020204020204" charset="-122"/>
                <a:sym typeface="Calibri" panose="020F0502020204030204"/>
              </a:rPr>
              <a:t>11</a:t>
            </a:r>
            <a:r>
              <a:rPr kumimoji="0" lang="zh-CN" altLang="en-US" sz="1800" b="0" i="0" u="none" strike="noStrike" cap="none" spc="0" normalizeH="0" baseline="0">
                <a:ln>
                  <a:noFill/>
                </a:ln>
                <a:solidFill>
                  <a:schemeClr val="tx1"/>
                </a:solidFill>
                <a:effectLst/>
                <a:uFillTx/>
                <a:latin typeface="微软雅黑" panose="020B0503020204020204" charset="-122"/>
                <a:ea typeface="微软雅黑" panose="020B0503020204020204" charset="-122"/>
                <a:cs typeface="微软雅黑" panose="020B0503020204020204" charset="-122"/>
                <a:sym typeface="Calibri" panose="020F0502020204030204"/>
              </a:rPr>
              <a:t>、</a:t>
            </a:r>
            <a:r>
              <a:rPr kumimoji="0" lang="en-US" altLang="zh-CN" sz="1800" b="0" i="0" u="none" strike="noStrike" cap="none" spc="0" normalizeH="0" baseline="0">
                <a:ln>
                  <a:noFill/>
                </a:ln>
                <a:solidFill>
                  <a:schemeClr val="tx1"/>
                </a:solidFill>
                <a:effectLst/>
                <a:uFillTx/>
                <a:latin typeface="微软雅黑" panose="020B0503020204020204" charset="-122"/>
                <a:ea typeface="微软雅黑" panose="020B0503020204020204" charset="-122"/>
                <a:cs typeface="微软雅黑" panose="020B0503020204020204" charset="-122"/>
                <a:sym typeface="Calibri" panose="020F0502020204030204"/>
              </a:rPr>
              <a:t>12</a:t>
            </a:r>
            <a:r>
              <a:rPr kumimoji="0" lang="zh-CN" altLang="en-US" sz="1800" b="0" i="0" u="none" strike="noStrike" cap="none" spc="0" normalizeH="0" baseline="0">
                <a:ln>
                  <a:noFill/>
                </a:ln>
                <a:solidFill>
                  <a:schemeClr val="tx1"/>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月）用于模型效果测试；</a:t>
            </a: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pic>
        <p:nvPicPr>
          <p:cNvPr id="9" name="图片 8"/>
          <p:cNvPicPr>
            <a:picLocks noChangeAspect="1"/>
          </p:cNvPicPr>
          <p:nvPr/>
        </p:nvPicPr>
        <p:blipFill>
          <a:blip r:embed="rId1"/>
          <a:stretch>
            <a:fillRect/>
          </a:stretch>
        </p:blipFill>
        <p:spPr>
          <a:xfrm>
            <a:off x="8472805" y="268605"/>
            <a:ext cx="1859280" cy="6321425"/>
          </a:xfrm>
          <a:prstGeom prst="rect">
            <a:avLst/>
          </a:prstGeom>
        </p:spPr>
      </p:pic>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p:nvPr>
            <p:ph type="title"/>
          </p:nvPr>
        </p:nvSpPr>
        <p:spPr>
          <a:xfrm>
            <a:off x="335915" y="260985"/>
            <a:ext cx="10714355" cy="675005"/>
          </a:xfrm>
        </p:spPr>
        <p:txBody>
          <a:bodyPr>
            <a:normAutofit/>
          </a:bodyPr>
          <a:p>
            <a:r>
              <a:rPr sz="3555"/>
              <a:t>2. 模型设计</a:t>
            </a:r>
            <a:endParaRPr sz="3555"/>
          </a:p>
        </p:txBody>
      </p:sp>
      <p:sp>
        <p:nvSpPr>
          <p:cNvPr id="5" name="文本框 4"/>
          <p:cNvSpPr txBox="1"/>
          <p:nvPr/>
        </p:nvSpPr>
        <p:spPr>
          <a:xfrm>
            <a:off x="695960" y="1125220"/>
            <a:ext cx="2288540" cy="45910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342900" marR="0" indent="-342900" algn="l" defTabSz="914400" rtl="0" fontAlgn="auto" latinLnBrk="0" hangingPunct="0">
              <a:lnSpc>
                <a:spcPct val="100000"/>
              </a:lnSpc>
              <a:spcBef>
                <a:spcPts val="0"/>
              </a:spcBef>
              <a:spcAft>
                <a:spcPts val="0"/>
              </a:spcAft>
              <a:buClrTx/>
              <a:buSzTx/>
              <a:buFont typeface="Wingdings" panose="05000000000000000000" charset="0"/>
              <a:buChar char="ü"/>
            </a:pPr>
            <a:r>
              <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样本划分</a:t>
            </a:r>
            <a:endPar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
        <p:nvSpPr>
          <p:cNvPr id="7" name="文本框 6"/>
          <p:cNvSpPr txBox="1"/>
          <p:nvPr/>
        </p:nvSpPr>
        <p:spPr>
          <a:xfrm>
            <a:off x="839470" y="1628775"/>
            <a:ext cx="9371330" cy="50546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R="0" algn="l" defTabSz="914400" rtl="0" fontAlgn="auto" latinLnBrk="0" hangingPunct="0">
              <a:lnSpc>
                <a:spcPct val="150000"/>
              </a:lnSpc>
              <a:spcBef>
                <a:spcPts val="0"/>
              </a:spcBef>
              <a:spcAft>
                <a:spcPts val="0"/>
              </a:spcAft>
              <a:buClrTx/>
              <a:buSzTx/>
              <a:buFont typeface="+mj-lt"/>
            </a:pP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3. </a:t>
            </a:r>
            <a:r>
              <a:rPr kumimoji="0" 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训练集验证集按照</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7:3</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比例进行划分，下单率为</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1.3</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左右</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a:t>
            </a:r>
            <a:endPar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pic>
        <p:nvPicPr>
          <p:cNvPr id="8" name="图片 7"/>
          <p:cNvPicPr>
            <a:picLocks noChangeAspect="1"/>
          </p:cNvPicPr>
          <p:nvPr/>
        </p:nvPicPr>
        <p:blipFill>
          <a:blip r:embed="rId1"/>
          <a:stretch>
            <a:fillRect/>
          </a:stretch>
        </p:blipFill>
        <p:spPr>
          <a:xfrm>
            <a:off x="1919605" y="2997200"/>
            <a:ext cx="4361815" cy="1301115"/>
          </a:xfrm>
          <a:prstGeom prst="rect">
            <a:avLst/>
          </a:prstGeom>
          <a:noFill/>
          <a:ln w="9525">
            <a:noFill/>
          </a:ln>
        </p:spPr>
      </p:pic>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p:nvPr>
            <p:ph type="title"/>
          </p:nvPr>
        </p:nvSpPr>
        <p:spPr>
          <a:xfrm>
            <a:off x="335915" y="260985"/>
            <a:ext cx="10714355" cy="675005"/>
          </a:xfrm>
        </p:spPr>
        <p:txBody>
          <a:bodyPr>
            <a:normAutofit/>
          </a:bodyPr>
          <a:p>
            <a:r>
              <a:rPr sz="3555"/>
              <a:t>2. 模型设计</a:t>
            </a:r>
            <a:endParaRPr sz="3555"/>
          </a:p>
        </p:txBody>
      </p:sp>
      <p:sp>
        <p:nvSpPr>
          <p:cNvPr id="5" name="文本框 4"/>
          <p:cNvSpPr txBox="1"/>
          <p:nvPr/>
        </p:nvSpPr>
        <p:spPr>
          <a:xfrm>
            <a:off x="695960" y="1125220"/>
            <a:ext cx="2288540" cy="45910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342900" marR="0" indent="-342900" algn="l" defTabSz="914400" rtl="0" fontAlgn="auto" latinLnBrk="0" hangingPunct="0">
              <a:lnSpc>
                <a:spcPct val="100000"/>
              </a:lnSpc>
              <a:spcBef>
                <a:spcPts val="0"/>
              </a:spcBef>
              <a:spcAft>
                <a:spcPts val="0"/>
              </a:spcAft>
              <a:buClrTx/>
              <a:buSzTx/>
              <a:buFont typeface="Wingdings" panose="05000000000000000000" charset="0"/>
              <a:buChar char="ü"/>
            </a:pPr>
            <a:r>
              <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rPr>
              <a:t>算法确定</a:t>
            </a:r>
            <a:endPar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
        <p:nvSpPr>
          <p:cNvPr id="7" name="文本框 6"/>
          <p:cNvSpPr txBox="1"/>
          <p:nvPr/>
        </p:nvSpPr>
        <p:spPr>
          <a:xfrm>
            <a:off x="1315085" y="1772920"/>
            <a:ext cx="9735820" cy="175196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R="0" algn="l" defTabSz="914400" rtl="0" fontAlgn="auto" latinLnBrk="0" hangingPunct="0">
              <a:lnSpc>
                <a:spcPct val="150000"/>
              </a:lnSpc>
              <a:spcBef>
                <a:spcPts val="0"/>
              </a:spcBef>
              <a:spcAft>
                <a:spcPts val="0"/>
              </a:spcAft>
              <a:buClrTx/>
              <a:buSzTx/>
              <a:buFont typeface="+mj-lt"/>
            </a:pP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          </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结合开放平台当前业务及数据情况，本次使用</a:t>
            </a:r>
            <a:r>
              <a:rPr kumimoji="0" lang="en-US" altLang="zh-CN" sz="1800" b="1"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XGBOOST</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算法进行建模：</a:t>
            </a: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a:p>
            <a:pPr marL="285750" marR="0" indent="-285750" algn="l" defTabSz="914400" rtl="0" fontAlgn="auto" latinLnBrk="0" hangingPunct="0">
              <a:lnSpc>
                <a:spcPct val="150000"/>
              </a:lnSpc>
              <a:spcBef>
                <a:spcPts val="0"/>
              </a:spcBef>
              <a:spcAft>
                <a:spcPts val="0"/>
              </a:spcAft>
              <a:buClrTx/>
              <a:buSzTx/>
              <a:buFont typeface="Wingdings" panose="05000000000000000000" charset="0"/>
              <a:buChar char="Ø"/>
            </a:pPr>
            <a:r>
              <a:rPr lang="en-US" altLang="zh-CN" b="1">
                <a:latin typeface="微软雅黑" panose="020B0503020204020204" charset="-122"/>
                <a:ea typeface="微软雅黑" panose="020B0503020204020204" charset="-122"/>
                <a:cs typeface="微软雅黑" panose="020B0503020204020204" charset="-122"/>
                <a:sym typeface="Calibri" panose="020F0502020204030204"/>
              </a:rPr>
              <a:t>XGBOOST</a:t>
            </a:r>
            <a:endParaRPr lang="zh-CN" altLang="en-US" b="1">
              <a:latin typeface="微软雅黑" panose="020B0503020204020204" charset="-122"/>
              <a:ea typeface="微软雅黑" panose="020B0503020204020204" charset="-122"/>
              <a:cs typeface="微软雅黑" panose="020B0503020204020204" charset="-122"/>
              <a:sym typeface="Calibri" panose="020F0502020204030204"/>
            </a:endParaRPr>
          </a:p>
          <a:p>
            <a:pPr marL="342900" marR="0" indent="-342900" algn="l" defTabSz="914400" rtl="0" fontAlgn="auto" latinLnBrk="0" hangingPunct="0">
              <a:lnSpc>
                <a:spcPct val="150000"/>
              </a:lnSpc>
              <a:spcBef>
                <a:spcPts val="0"/>
              </a:spcBef>
              <a:spcAft>
                <a:spcPts val="0"/>
              </a:spcAft>
              <a:buClrTx/>
              <a:buSzTx/>
              <a:buFont typeface="+mj-lt"/>
              <a:buAutoNum type="arabicPeriod"/>
            </a:pPr>
            <a:r>
              <a:rPr lang="zh-CN" altLang="en-US">
                <a:latin typeface="微软雅黑" panose="020B0503020204020204" charset="-122"/>
                <a:ea typeface="微软雅黑" panose="020B0503020204020204" charset="-122"/>
                <a:cs typeface="微软雅黑" panose="020B0503020204020204" charset="-122"/>
                <a:sym typeface="Calibri" panose="020F0502020204030204"/>
              </a:rPr>
              <a:t>优点：精度高，训练快，不容易出现过拟合，有一定解释性。</a:t>
            </a:r>
            <a:endParaRPr kumimoji="0" lang="zh-CN" altLang="en-US"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a:p>
            <a:pPr marL="342900" marR="0" indent="-342900" algn="l" defTabSz="914400" rtl="0" fontAlgn="auto" latinLnBrk="0" hangingPunct="0">
              <a:lnSpc>
                <a:spcPct val="150000"/>
              </a:lnSpc>
              <a:spcBef>
                <a:spcPts val="0"/>
              </a:spcBef>
              <a:spcAft>
                <a:spcPts val="0"/>
              </a:spcAft>
              <a:buClrTx/>
              <a:buSzTx/>
              <a:buFont typeface="+mj-lt"/>
              <a:buAutoNum type="arabicPeriod"/>
            </a:pPr>
            <a:r>
              <a:rPr lang="zh-CN" altLang="en-US">
                <a:latin typeface="微软雅黑" panose="020B0503020204020204" charset="-122"/>
                <a:ea typeface="微软雅黑" panose="020B0503020204020204" charset="-122"/>
                <a:cs typeface="微软雅黑" panose="020B0503020204020204" charset="-122"/>
                <a:sym typeface="Calibri" panose="020F0502020204030204"/>
              </a:rPr>
              <a:t>缺点：上线难度较高，需考虑公司现有硬件资源；</a:t>
            </a: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p:nvPr>
            <p:ph type="title"/>
          </p:nvPr>
        </p:nvSpPr>
        <p:spPr>
          <a:xfrm>
            <a:off x="335915" y="260985"/>
            <a:ext cx="10714355" cy="675005"/>
          </a:xfrm>
        </p:spPr>
        <p:txBody>
          <a:bodyPr>
            <a:normAutofit/>
          </a:bodyPr>
          <a:p>
            <a:r>
              <a:rPr lang="en-US" altLang="zh-CN" sz="3555"/>
              <a:t>3. </a:t>
            </a:r>
            <a:r>
              <a:rPr lang="zh-CN" altLang="en-US" sz="3555"/>
              <a:t>模型建立</a:t>
            </a:r>
            <a:r>
              <a:rPr lang="en-US" altLang="zh-CN" sz="3555"/>
              <a:t>-</a:t>
            </a:r>
            <a:r>
              <a:rPr lang="zh-CN" altLang="en-US" sz="3555"/>
              <a:t>数据维度</a:t>
            </a:r>
            <a:endParaRPr lang="zh-CN" altLang="en-US" sz="3555"/>
          </a:p>
        </p:txBody>
      </p:sp>
      <p:sp>
        <p:nvSpPr>
          <p:cNvPr id="25" name="文本框 24"/>
          <p:cNvSpPr txBox="1"/>
          <p:nvPr/>
        </p:nvSpPr>
        <p:spPr>
          <a:xfrm>
            <a:off x="695960" y="1125220"/>
            <a:ext cx="2288540" cy="45910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342900" marR="0" indent="-342900" algn="l" defTabSz="914400" rtl="0" fontAlgn="auto" latinLnBrk="0" hangingPunct="0">
              <a:lnSpc>
                <a:spcPct val="100000"/>
              </a:lnSpc>
              <a:spcBef>
                <a:spcPts val="0"/>
              </a:spcBef>
              <a:spcAft>
                <a:spcPts val="0"/>
              </a:spcAft>
              <a:buClrTx/>
              <a:buSzTx/>
              <a:buFont typeface="Wingdings" panose="05000000000000000000" charset="0"/>
              <a:buChar char="ü"/>
            </a:pPr>
            <a:r>
              <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数据维度</a:t>
            </a:r>
            <a:endPar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
        <p:nvSpPr>
          <p:cNvPr id="33" name="文本框 32"/>
          <p:cNvSpPr txBox="1"/>
          <p:nvPr/>
        </p:nvSpPr>
        <p:spPr>
          <a:xfrm>
            <a:off x="983615" y="1917065"/>
            <a:ext cx="9479280" cy="92075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0" marR="0" indent="0" algn="l" defTabSz="914400" rtl="0" fontAlgn="auto" latinLnBrk="0" hangingPunct="0">
              <a:lnSpc>
                <a:spcPct val="150000"/>
              </a:lnSpc>
              <a:spcBef>
                <a:spcPts val="0"/>
              </a:spcBef>
              <a:spcAft>
                <a:spcPts val="0"/>
              </a:spcAft>
              <a:buClrTx/>
              <a:buSzTx/>
              <a:buFontTx/>
              <a:buNone/>
            </a:pP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1</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、数据大的维度包括少部分渠道数据、商机数据、顾问沟通信息、投保信息、用户基础信息、变量衍生数据；</a:t>
            </a:r>
            <a:endPar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
        <p:nvSpPr>
          <p:cNvPr id="38" name="文本框 37"/>
          <p:cNvSpPr txBox="1"/>
          <p:nvPr/>
        </p:nvSpPr>
        <p:spPr>
          <a:xfrm>
            <a:off x="4799965" y="5229225"/>
            <a:ext cx="1727835" cy="33591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0" marR="0" indent="0" algn="l" defTabSz="914400" rtl="0" fontAlgn="auto" latinLnBrk="0" hangingPunct="0">
              <a:lnSpc>
                <a:spcPct val="100000"/>
              </a:lnSpc>
              <a:spcBef>
                <a:spcPts val="0"/>
              </a:spcBef>
              <a:spcAft>
                <a:spcPts val="0"/>
              </a:spcAft>
              <a:buClrTx/>
              <a:buSzTx/>
              <a:buFontTx/>
              <a:buNone/>
            </a:pPr>
            <a:r>
              <a:rPr kumimoji="0" lang="zh-CN" altLang="en-US" sz="1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rPr>
              <a:t>数据源</a:t>
            </a:r>
            <a:endParaRPr kumimoji="0" lang="zh-CN" altLang="en-US" sz="1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endParaRPr>
          </a:p>
        </p:txBody>
      </p:sp>
      <p:pic>
        <p:nvPicPr>
          <p:cNvPr id="3" name="图片 2"/>
          <p:cNvPicPr>
            <a:picLocks noChangeAspect="1"/>
          </p:cNvPicPr>
          <p:nvPr/>
        </p:nvPicPr>
        <p:blipFill>
          <a:blip r:embed="rId1"/>
          <a:srcRect l="6299" r="7184"/>
          <a:stretch>
            <a:fillRect/>
          </a:stretch>
        </p:blipFill>
        <p:spPr>
          <a:xfrm>
            <a:off x="1703705" y="3496945"/>
            <a:ext cx="8564880" cy="1073150"/>
          </a:xfrm>
          <a:prstGeom prst="rect">
            <a:avLst/>
          </a:prstGeom>
        </p:spPr>
      </p:pic>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p:nvPr>
            <p:ph type="title"/>
          </p:nvPr>
        </p:nvSpPr>
        <p:spPr>
          <a:xfrm>
            <a:off x="335915" y="260985"/>
            <a:ext cx="10714355" cy="675005"/>
          </a:xfrm>
        </p:spPr>
        <p:txBody>
          <a:bodyPr>
            <a:normAutofit/>
          </a:bodyPr>
          <a:p>
            <a:r>
              <a:rPr lang="en-US" altLang="zh-CN" sz="3555"/>
              <a:t>3. </a:t>
            </a:r>
            <a:r>
              <a:rPr lang="zh-CN" altLang="en-US" sz="3555"/>
              <a:t>模型建立</a:t>
            </a:r>
            <a:r>
              <a:rPr lang="en-US" altLang="zh-CN" sz="3555"/>
              <a:t>-</a:t>
            </a:r>
            <a:r>
              <a:rPr lang="zh-CN" altLang="en-US" sz="3555"/>
              <a:t>数据维度</a:t>
            </a:r>
            <a:endParaRPr lang="zh-CN" altLang="en-US" sz="3555"/>
          </a:p>
        </p:txBody>
      </p:sp>
      <p:sp>
        <p:nvSpPr>
          <p:cNvPr id="25" name="文本框 24"/>
          <p:cNvSpPr txBox="1"/>
          <p:nvPr/>
        </p:nvSpPr>
        <p:spPr>
          <a:xfrm>
            <a:off x="695960" y="1125220"/>
            <a:ext cx="5725160" cy="45910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342900" marR="0" indent="-342900" algn="l" defTabSz="914400" rtl="0" fontAlgn="auto" latinLnBrk="0" hangingPunct="0">
              <a:lnSpc>
                <a:spcPct val="100000"/>
              </a:lnSpc>
              <a:spcBef>
                <a:spcPts val="0"/>
              </a:spcBef>
              <a:spcAft>
                <a:spcPts val="0"/>
              </a:spcAft>
              <a:buClrTx/>
              <a:buSzTx/>
              <a:buFont typeface="Wingdings" panose="05000000000000000000" charset="0"/>
              <a:buChar char="ü"/>
            </a:pPr>
            <a:r>
              <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建模宽表</a:t>
            </a:r>
            <a:endPar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
        <p:nvSpPr>
          <p:cNvPr id="7" name="文本框 6"/>
          <p:cNvSpPr txBox="1"/>
          <p:nvPr/>
        </p:nvSpPr>
        <p:spPr>
          <a:xfrm>
            <a:off x="1776095" y="5229225"/>
            <a:ext cx="8744585" cy="50546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fromWordArt="0" anchor="t" anchorCtr="0" forceAA="0" upright="0" compatLnSpc="1">
            <a:spAutoFit/>
          </a:bodyPr>
          <a:p>
            <a:pPr lvl="0" algn="l">
              <a:lnSpc>
                <a:spcPct val="150000"/>
              </a:lnSpc>
              <a:buFont typeface="Arial" panose="020B0604020202020204" pitchFamily="34" charset="0"/>
            </a:pPr>
            <a:r>
              <a:rPr lang="zh-CN" altLang="en-US">
                <a:latin typeface="微软雅黑" panose="020B0503020204020204" charset="-122"/>
                <a:ea typeface="微软雅黑" panose="020B0503020204020204" charset="-122"/>
                <a:cs typeface="微软雅黑" panose="020B0503020204020204" charset="-122"/>
                <a:sym typeface="Calibri" panose="020F0502020204030204"/>
              </a:rPr>
              <a:t>建模宽表的变量个数为</a:t>
            </a:r>
            <a:r>
              <a:rPr lang="en-US" altLang="zh-CN">
                <a:latin typeface="微软雅黑" panose="020B0503020204020204" charset="-122"/>
                <a:ea typeface="微软雅黑" panose="020B0503020204020204" charset="-122"/>
                <a:cs typeface="微软雅黑" panose="020B0503020204020204" charset="-122"/>
                <a:sym typeface="Calibri" panose="020F0502020204030204"/>
              </a:rPr>
              <a:t>76</a:t>
            </a:r>
            <a:r>
              <a:rPr lang="zh-CN" altLang="en-US">
                <a:latin typeface="微软雅黑" panose="020B0503020204020204" charset="-122"/>
                <a:ea typeface="微软雅黑" panose="020B0503020204020204" charset="-122"/>
                <a:cs typeface="微软雅黑" panose="020B0503020204020204" charset="-122"/>
                <a:sym typeface="Calibri" panose="020F0502020204030204"/>
              </a:rPr>
              <a:t>个</a:t>
            </a:r>
            <a:r>
              <a:rPr lang="en-US" altLang="zh-CN">
                <a:latin typeface="微软雅黑" panose="020B0503020204020204" charset="-122"/>
                <a:ea typeface="微软雅黑" panose="020B0503020204020204" charset="-122"/>
                <a:cs typeface="微软雅黑" panose="020B0503020204020204" charset="-122"/>
                <a:sym typeface="Calibri" panose="020F0502020204030204"/>
              </a:rPr>
              <a:t>,</a:t>
            </a:r>
            <a:r>
              <a:rPr lang="zh-CN" altLang="en-US">
                <a:latin typeface="微软雅黑" panose="020B0503020204020204" charset="-122"/>
                <a:ea typeface="微软雅黑" panose="020B0503020204020204" charset="-122"/>
                <a:cs typeface="微软雅黑" panose="020B0503020204020204" charset="-122"/>
                <a:sym typeface="Calibri" panose="020F0502020204030204"/>
              </a:rPr>
              <a:t>其中数值型</a:t>
            </a:r>
            <a:r>
              <a:rPr lang="en-US" altLang="zh-CN">
                <a:latin typeface="微软雅黑" panose="020B0503020204020204" charset="-122"/>
                <a:ea typeface="微软雅黑" panose="020B0503020204020204" charset="-122"/>
                <a:cs typeface="微软雅黑" panose="020B0503020204020204" charset="-122"/>
                <a:sym typeface="Calibri" panose="020F0502020204030204"/>
              </a:rPr>
              <a:t>37</a:t>
            </a:r>
            <a:r>
              <a:rPr lang="zh-CN" altLang="en-US">
                <a:latin typeface="微软雅黑" panose="020B0503020204020204" charset="-122"/>
                <a:ea typeface="微软雅黑" panose="020B0503020204020204" charset="-122"/>
                <a:cs typeface="微软雅黑" panose="020B0503020204020204" charset="-122"/>
                <a:sym typeface="Calibri" panose="020F0502020204030204"/>
              </a:rPr>
              <a:t>个，字符型为</a:t>
            </a:r>
            <a:r>
              <a:rPr lang="en-US" altLang="zh-CN">
                <a:latin typeface="微软雅黑" panose="020B0503020204020204" charset="-122"/>
                <a:ea typeface="微软雅黑" panose="020B0503020204020204" charset="-122"/>
                <a:cs typeface="微软雅黑" panose="020B0503020204020204" charset="-122"/>
                <a:sym typeface="Calibri" panose="020F0502020204030204"/>
              </a:rPr>
              <a:t>39</a:t>
            </a:r>
            <a:r>
              <a:rPr lang="zh-CN" altLang="en-US">
                <a:latin typeface="微软雅黑" panose="020B0503020204020204" charset="-122"/>
                <a:ea typeface="微软雅黑" panose="020B0503020204020204" charset="-122"/>
                <a:cs typeface="微软雅黑" panose="020B0503020204020204" charset="-122"/>
                <a:sym typeface="Calibri" panose="020F0502020204030204"/>
              </a:rPr>
              <a:t>个</a:t>
            </a:r>
            <a:r>
              <a:rPr lang="en-US" altLang="zh-CN">
                <a:latin typeface="微软雅黑" panose="020B0503020204020204" charset="-122"/>
                <a:ea typeface="微软雅黑" panose="020B0503020204020204" charset="-122"/>
                <a:cs typeface="微软雅黑" panose="020B0503020204020204" charset="-122"/>
                <a:sym typeface="Calibri" panose="020F0502020204030204"/>
              </a:rPr>
              <a:t>;</a:t>
            </a:r>
            <a:endParaRPr lang="en-US" altLang="zh-CN">
              <a:latin typeface="微软雅黑" panose="020B0503020204020204" charset="-122"/>
              <a:ea typeface="微软雅黑" panose="020B0503020204020204" charset="-122"/>
              <a:cs typeface="微软雅黑" panose="020B0503020204020204" charset="-122"/>
              <a:sym typeface="Calibri" panose="020F0502020204030204"/>
            </a:endParaRPr>
          </a:p>
        </p:txBody>
      </p:sp>
      <p:pic>
        <p:nvPicPr>
          <p:cNvPr id="4" name="图片 3"/>
          <p:cNvPicPr>
            <a:picLocks noChangeAspect="1"/>
          </p:cNvPicPr>
          <p:nvPr/>
        </p:nvPicPr>
        <p:blipFill>
          <a:blip r:embed="rId1"/>
          <a:stretch>
            <a:fillRect/>
          </a:stretch>
        </p:blipFill>
        <p:spPr>
          <a:xfrm>
            <a:off x="4439920" y="2277110"/>
            <a:ext cx="3205480" cy="1520190"/>
          </a:xfrm>
          <a:prstGeom prst="rect">
            <a:avLst/>
          </a:prstGeom>
        </p:spPr>
      </p:pic>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p:nvPr>
            <p:ph type="title"/>
          </p:nvPr>
        </p:nvSpPr>
        <p:spPr>
          <a:xfrm>
            <a:off x="335915" y="260985"/>
            <a:ext cx="10714355" cy="675005"/>
          </a:xfrm>
        </p:spPr>
        <p:txBody>
          <a:bodyPr>
            <a:normAutofit/>
          </a:bodyPr>
          <a:p>
            <a:r>
              <a:rPr lang="en-US" altLang="zh-CN" sz="3555"/>
              <a:t>3. </a:t>
            </a:r>
            <a:r>
              <a:rPr lang="zh-CN" altLang="en-US" sz="3555"/>
              <a:t>模型建立</a:t>
            </a:r>
            <a:r>
              <a:rPr lang="en-US" altLang="zh-CN" sz="3550">
                <a:sym typeface="+mn-ea"/>
              </a:rPr>
              <a:t>-XGBOOST</a:t>
            </a:r>
            <a:endParaRPr lang="en-US" altLang="zh-CN" sz="3550">
              <a:sym typeface="+mn-ea"/>
            </a:endParaRPr>
          </a:p>
        </p:txBody>
      </p:sp>
      <p:sp>
        <p:nvSpPr>
          <p:cNvPr id="25" name="文本框 24"/>
          <p:cNvSpPr txBox="1"/>
          <p:nvPr/>
        </p:nvSpPr>
        <p:spPr>
          <a:xfrm>
            <a:off x="695960" y="1125220"/>
            <a:ext cx="2288540" cy="45910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342900" marR="0" indent="-342900" algn="l" defTabSz="914400" rtl="0" fontAlgn="auto" latinLnBrk="0" hangingPunct="0">
              <a:lnSpc>
                <a:spcPct val="100000"/>
              </a:lnSpc>
              <a:spcBef>
                <a:spcPts val="0"/>
              </a:spcBef>
              <a:spcAft>
                <a:spcPts val="0"/>
              </a:spcAft>
              <a:buClrTx/>
              <a:buSzTx/>
              <a:buFont typeface="Wingdings" panose="05000000000000000000" charset="0"/>
              <a:buChar char="ü"/>
            </a:pPr>
            <a:r>
              <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总体效果</a:t>
            </a:r>
            <a:endPar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
        <p:nvSpPr>
          <p:cNvPr id="16" name="文本框 15"/>
          <p:cNvSpPr txBox="1"/>
          <p:nvPr/>
        </p:nvSpPr>
        <p:spPr>
          <a:xfrm>
            <a:off x="623570" y="5517515"/>
            <a:ext cx="3670300" cy="52070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0" marR="0" indent="0" algn="l" defTabSz="914400" rtl="0" fontAlgn="auto" latinLnBrk="0" hangingPunct="0">
              <a:lnSpc>
                <a:spcPct val="100000"/>
              </a:lnSpc>
              <a:spcBef>
                <a:spcPts val="0"/>
              </a:spcBef>
              <a:spcAft>
                <a:spcPts val="0"/>
              </a:spcAft>
              <a:buClrTx/>
              <a:buSzTx/>
              <a:buFontTx/>
              <a:buNone/>
            </a:pPr>
            <a:r>
              <a:rPr lang="en-US" altLang="zh-CN" sz="1400" b="1">
                <a:latin typeface="微软雅黑" panose="020B0503020204020204" charset="-122"/>
                <a:ea typeface="微软雅黑" panose="020B0503020204020204" charset="-122"/>
                <a:cs typeface="微软雅黑" panose="020B0503020204020204" charset="-122"/>
                <a:sym typeface="+mn-ea"/>
              </a:rPr>
              <a:t>AUC</a:t>
            </a:r>
            <a:r>
              <a:rPr lang="zh-CN" altLang="en-US" sz="1400">
                <a:latin typeface="微软雅黑" panose="020B0503020204020204" charset="-122"/>
                <a:ea typeface="微软雅黑" panose="020B0503020204020204" charset="-122"/>
                <a:cs typeface="微软雅黑" panose="020B0503020204020204" charset="-122"/>
                <a:sym typeface="+mn-ea"/>
              </a:rPr>
              <a:t>是</a:t>
            </a:r>
            <a:r>
              <a:rPr lang="en-US" altLang="zh-CN" sz="1400">
                <a:latin typeface="微软雅黑" panose="020B0503020204020204" charset="-122"/>
                <a:ea typeface="微软雅黑" panose="020B0503020204020204" charset="-122"/>
                <a:cs typeface="微软雅黑" panose="020B0503020204020204" charset="-122"/>
                <a:sym typeface="+mn-ea"/>
              </a:rPr>
              <a:t>ROC</a:t>
            </a:r>
            <a:r>
              <a:rPr lang="zh-CN" altLang="en-US" sz="1400">
                <a:latin typeface="微软雅黑" panose="020B0503020204020204" charset="-122"/>
                <a:ea typeface="微软雅黑" panose="020B0503020204020204" charset="-122"/>
                <a:cs typeface="微软雅黑" panose="020B0503020204020204" charset="-122"/>
                <a:sym typeface="+mn-ea"/>
              </a:rPr>
              <a:t>曲线下面的面积，数值介于</a:t>
            </a:r>
            <a:r>
              <a:rPr lang="en-US" altLang="zh-CN" sz="1400">
                <a:latin typeface="微软雅黑" panose="020B0503020204020204" charset="-122"/>
                <a:ea typeface="微软雅黑" panose="020B0503020204020204" charset="-122"/>
                <a:cs typeface="微软雅黑" panose="020B0503020204020204" charset="-122"/>
                <a:sym typeface="+mn-ea"/>
              </a:rPr>
              <a:t>0-1</a:t>
            </a:r>
            <a:r>
              <a:rPr lang="zh-CN" altLang="en-US" sz="1400">
                <a:latin typeface="微软雅黑" panose="020B0503020204020204" charset="-122"/>
                <a:ea typeface="微软雅黑" panose="020B0503020204020204" charset="-122"/>
                <a:cs typeface="微软雅黑" panose="020B0503020204020204" charset="-122"/>
                <a:sym typeface="+mn-ea"/>
              </a:rPr>
              <a:t>，越好的模型会有越高的</a:t>
            </a:r>
            <a:r>
              <a:rPr lang="en-US" altLang="zh-CN" sz="1400">
                <a:latin typeface="微软雅黑" panose="020B0503020204020204" charset="-122"/>
                <a:ea typeface="微软雅黑" panose="020B0503020204020204" charset="-122"/>
                <a:cs typeface="微软雅黑" panose="020B0503020204020204" charset="-122"/>
                <a:sym typeface="+mn-ea"/>
              </a:rPr>
              <a:t>AUC</a:t>
            </a:r>
            <a:r>
              <a:rPr lang="zh-CN" altLang="en-US" sz="1400">
                <a:latin typeface="微软雅黑" panose="020B0503020204020204" charset="-122"/>
                <a:ea typeface="微软雅黑" panose="020B0503020204020204" charset="-122"/>
                <a:cs typeface="微软雅黑" panose="020B0503020204020204" charset="-122"/>
                <a:sym typeface="+mn-ea"/>
              </a:rPr>
              <a:t>值。</a:t>
            </a:r>
            <a:endParaRPr kumimoji="0" lang="zh-CN" altLang="en-US" sz="14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mn-ea"/>
            </a:endParaRPr>
          </a:p>
        </p:txBody>
      </p:sp>
      <p:sp>
        <p:nvSpPr>
          <p:cNvPr id="17" name="文本框 16"/>
          <p:cNvSpPr txBox="1"/>
          <p:nvPr/>
        </p:nvSpPr>
        <p:spPr>
          <a:xfrm>
            <a:off x="623570" y="4221480"/>
            <a:ext cx="4050665" cy="92075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0" marR="0" indent="0" algn="l" defTabSz="914400" rtl="0" fontAlgn="auto" latinLnBrk="0" hangingPunct="0">
              <a:lnSpc>
                <a:spcPct val="150000"/>
              </a:lnSpc>
              <a:spcBef>
                <a:spcPts val="0"/>
              </a:spcBef>
              <a:spcAft>
                <a:spcPts val="0"/>
              </a:spcAft>
              <a:buClrTx/>
              <a:buSzTx/>
              <a:buFontTx/>
              <a:buNone/>
            </a:pP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xgboost</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模型整体效果较好，经过验证集进行验证，效果稳定。</a:t>
            </a: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pic>
        <p:nvPicPr>
          <p:cNvPr id="9" name="图片 8"/>
          <p:cNvPicPr>
            <a:picLocks noChangeAspect="1"/>
          </p:cNvPicPr>
          <p:nvPr/>
        </p:nvPicPr>
        <p:blipFill>
          <a:blip r:embed="rId1"/>
          <a:stretch>
            <a:fillRect/>
          </a:stretch>
        </p:blipFill>
        <p:spPr>
          <a:xfrm>
            <a:off x="1056005" y="1772920"/>
            <a:ext cx="3095625" cy="1772920"/>
          </a:xfrm>
          <a:prstGeom prst="rect">
            <a:avLst/>
          </a:prstGeom>
        </p:spPr>
      </p:pic>
      <p:pic>
        <p:nvPicPr>
          <p:cNvPr id="5" name="图片 4"/>
          <p:cNvPicPr>
            <a:picLocks noChangeAspect="1"/>
          </p:cNvPicPr>
          <p:nvPr/>
        </p:nvPicPr>
        <p:blipFill>
          <a:blip r:embed="rId2"/>
          <a:stretch>
            <a:fillRect/>
          </a:stretch>
        </p:blipFill>
        <p:spPr>
          <a:xfrm>
            <a:off x="6960235" y="981075"/>
            <a:ext cx="2501900" cy="2457450"/>
          </a:xfrm>
          <a:prstGeom prst="rect">
            <a:avLst/>
          </a:prstGeom>
        </p:spPr>
      </p:pic>
      <p:pic>
        <p:nvPicPr>
          <p:cNvPr id="6" name="图片 5"/>
          <p:cNvPicPr>
            <a:picLocks noChangeAspect="1"/>
          </p:cNvPicPr>
          <p:nvPr/>
        </p:nvPicPr>
        <p:blipFill>
          <a:blip r:embed="rId3"/>
          <a:stretch>
            <a:fillRect/>
          </a:stretch>
        </p:blipFill>
        <p:spPr>
          <a:xfrm>
            <a:off x="5448300" y="3501390"/>
            <a:ext cx="2501900" cy="2457450"/>
          </a:xfrm>
          <a:prstGeom prst="rect">
            <a:avLst/>
          </a:prstGeom>
        </p:spPr>
      </p:pic>
      <p:pic>
        <p:nvPicPr>
          <p:cNvPr id="7" name="图片 6"/>
          <p:cNvPicPr>
            <a:picLocks noChangeAspect="1"/>
          </p:cNvPicPr>
          <p:nvPr/>
        </p:nvPicPr>
        <p:blipFill>
          <a:blip r:embed="rId4"/>
          <a:stretch>
            <a:fillRect/>
          </a:stretch>
        </p:blipFill>
        <p:spPr>
          <a:xfrm>
            <a:off x="8832850" y="3545840"/>
            <a:ext cx="2501900" cy="2457450"/>
          </a:xfrm>
          <a:prstGeom prst="rect">
            <a:avLst/>
          </a:prstGeom>
        </p:spPr>
      </p:pic>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p:nvPr>
            <p:ph type="title"/>
          </p:nvPr>
        </p:nvSpPr>
        <p:spPr>
          <a:xfrm>
            <a:off x="335915" y="260985"/>
            <a:ext cx="10714355" cy="675005"/>
          </a:xfrm>
        </p:spPr>
        <p:txBody>
          <a:bodyPr>
            <a:normAutofit/>
          </a:bodyPr>
          <a:p>
            <a:r>
              <a:rPr lang="en-US" altLang="zh-CN" sz="3555"/>
              <a:t>3. </a:t>
            </a:r>
            <a:r>
              <a:rPr lang="zh-CN" altLang="en-US" sz="3555"/>
              <a:t>模型建立</a:t>
            </a:r>
            <a:r>
              <a:rPr lang="en-US" altLang="zh-CN" sz="3550">
                <a:sym typeface="+mn-ea"/>
              </a:rPr>
              <a:t>-XGBOOST</a:t>
            </a:r>
            <a:endParaRPr lang="en-US" altLang="zh-CN" sz="3550">
              <a:sym typeface="+mn-ea"/>
            </a:endParaRPr>
          </a:p>
        </p:txBody>
      </p:sp>
      <p:sp>
        <p:nvSpPr>
          <p:cNvPr id="25" name="文本框 24"/>
          <p:cNvSpPr txBox="1"/>
          <p:nvPr/>
        </p:nvSpPr>
        <p:spPr>
          <a:xfrm>
            <a:off x="695960" y="1125220"/>
            <a:ext cx="4465955" cy="45910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342900" marR="0" indent="-342900" algn="l" defTabSz="914400" rtl="0" fontAlgn="auto" latinLnBrk="0" hangingPunct="0">
              <a:lnSpc>
                <a:spcPct val="100000"/>
              </a:lnSpc>
              <a:spcBef>
                <a:spcPts val="0"/>
              </a:spcBef>
              <a:spcAft>
                <a:spcPts val="0"/>
              </a:spcAft>
              <a:buClrTx/>
              <a:buSzTx/>
              <a:buFont typeface="Wingdings" panose="05000000000000000000" charset="0"/>
              <a:buChar char="ü"/>
            </a:pPr>
            <a:r>
              <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入模变量及变量重要性</a:t>
            </a:r>
            <a:endPar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
        <p:nvSpPr>
          <p:cNvPr id="6" name="文本框 5"/>
          <p:cNvSpPr txBox="1"/>
          <p:nvPr/>
        </p:nvSpPr>
        <p:spPr>
          <a:xfrm>
            <a:off x="551815" y="2132965"/>
            <a:ext cx="5629910" cy="2861310"/>
          </a:xfrm>
          <a:prstGeom prst="rect">
            <a:avLst/>
          </a:prstGeom>
          <a:noFill/>
        </p:spPr>
        <p:txBody>
          <a:bodyPr wrap="square" rtlCol="0">
            <a:spAutoFit/>
          </a:bodyPr>
          <a:p>
            <a:pPr marL="285750" indent="-285750">
              <a:buFont typeface="Arial" panose="020B0604020202020204" pitchFamily="34" charset="0"/>
              <a:buChar char="•"/>
            </a:pPr>
            <a:r>
              <a:rPr lang="en-US" altLang="zh-CN">
                <a:latin typeface="微软雅黑" panose="020B0503020204020204" charset="-122"/>
                <a:ea typeface="微软雅黑" panose="020B0503020204020204" charset="-122"/>
                <a:cs typeface="微软雅黑" panose="020B0503020204020204" charset="-122"/>
              </a:rPr>
              <a:t>xgboost</a:t>
            </a:r>
            <a:r>
              <a:rPr lang="zh-CN" altLang="en-US">
                <a:latin typeface="微软雅黑" panose="020B0503020204020204" charset="-122"/>
                <a:ea typeface="微软雅黑" panose="020B0503020204020204" charset="-122"/>
                <a:cs typeface="微软雅黑" panose="020B0503020204020204" charset="-122"/>
              </a:rPr>
              <a:t>总共入模</a:t>
            </a:r>
            <a:r>
              <a:rPr lang="en-US" altLang="zh-CN">
                <a:solidFill>
                  <a:srgbClr val="FF0000"/>
                </a:solidFill>
                <a:latin typeface="微软雅黑" panose="020B0503020204020204" charset="-122"/>
                <a:ea typeface="微软雅黑" panose="020B0503020204020204" charset="-122"/>
                <a:cs typeface="微软雅黑" panose="020B0503020204020204" charset="-122"/>
              </a:rPr>
              <a:t>24</a:t>
            </a:r>
            <a:r>
              <a:rPr lang="zh-CN" altLang="en-US">
                <a:latin typeface="微软雅黑" panose="020B0503020204020204" charset="-122"/>
                <a:ea typeface="微软雅黑" panose="020B0503020204020204" charset="-122"/>
                <a:cs typeface="微软雅黑" panose="020B0503020204020204" charset="-122"/>
              </a:rPr>
              <a:t>个变量；</a:t>
            </a:r>
            <a:endParaRPr lang="zh-CN" altLang="en-US">
              <a:latin typeface="微软雅黑" panose="020B0503020204020204" charset="-122"/>
              <a:ea typeface="微软雅黑" panose="020B0503020204020204" charset="-122"/>
              <a:cs typeface="微软雅黑" panose="020B0503020204020204" charset="-122"/>
            </a:endParaRPr>
          </a:p>
          <a:p>
            <a:pPr marL="285750" indent="-285750">
              <a:buFont typeface="Arial" panose="020B0604020202020204" pitchFamily="34" charset="0"/>
              <a:buChar char="•"/>
            </a:pPr>
            <a:endParaRPr lang="zh-CN" altLang="en-US">
              <a:latin typeface="微软雅黑" panose="020B0503020204020204" charset="-122"/>
              <a:ea typeface="微软雅黑" panose="020B0503020204020204" charset="-122"/>
              <a:cs typeface="微软雅黑" panose="020B0503020204020204" charset="-122"/>
            </a:endParaRPr>
          </a:p>
          <a:p>
            <a:pPr marL="285750" indent="-285750">
              <a:buFont typeface="Arial" panose="020B0604020202020204" pitchFamily="34" charset="0"/>
              <a:buChar char="•"/>
            </a:pPr>
            <a:r>
              <a:rPr lang="zh-CN" altLang="en-US">
                <a:latin typeface="微软雅黑" panose="020B0503020204020204" charset="-122"/>
                <a:ea typeface="微软雅黑" panose="020B0503020204020204" charset="-122"/>
                <a:cs typeface="微软雅黑" panose="020B0503020204020204" charset="-122"/>
              </a:rPr>
              <a:t>此图表示不同特征在模型构建增强决策树时的价值，</a:t>
            </a:r>
            <a:r>
              <a:rPr lang="zh-CN" altLang="en-US">
                <a:solidFill>
                  <a:srgbClr val="FF0000"/>
                </a:solidFill>
                <a:latin typeface="微软雅黑" panose="020B0503020204020204" charset="-122"/>
                <a:ea typeface="微软雅黑" panose="020B0503020204020204" charset="-122"/>
                <a:cs typeface="微软雅黑" panose="020B0503020204020204" charset="-122"/>
              </a:rPr>
              <a:t>分数越高的特征代表其在模型中的权重越高，代表变量越重要；</a:t>
            </a:r>
            <a:endParaRPr lang="zh-CN" altLang="en-US">
              <a:solidFill>
                <a:srgbClr val="FF0000"/>
              </a:solidFill>
              <a:latin typeface="微软雅黑" panose="020B0503020204020204" charset="-122"/>
              <a:ea typeface="微软雅黑" panose="020B0503020204020204" charset="-122"/>
              <a:cs typeface="微软雅黑" panose="020B0503020204020204" charset="-122"/>
            </a:endParaRPr>
          </a:p>
          <a:p>
            <a:pPr marL="285750" indent="-285750">
              <a:buFont typeface="Arial" panose="020B0604020202020204" pitchFamily="34" charset="0"/>
              <a:buChar char="•"/>
            </a:pPr>
            <a:endParaRPr lang="zh-CN" altLang="en-US">
              <a:latin typeface="微软雅黑" panose="020B0503020204020204" charset="-122"/>
              <a:ea typeface="微软雅黑" panose="020B0503020204020204" charset="-122"/>
              <a:cs typeface="微软雅黑" panose="020B0503020204020204" charset="-122"/>
            </a:endParaRPr>
          </a:p>
          <a:p>
            <a:pPr marL="285750" indent="-285750">
              <a:buFont typeface="Arial" panose="020B0604020202020204" pitchFamily="34" charset="0"/>
              <a:buChar char="•"/>
            </a:pPr>
            <a:r>
              <a:rPr lang="zh-CN" altLang="en-US">
                <a:latin typeface="微软雅黑" panose="020B0503020204020204" charset="-122"/>
                <a:ea typeface="微软雅黑" panose="020B0503020204020204" charset="-122"/>
                <a:cs typeface="微软雅黑" panose="020B0503020204020204" charset="-122"/>
              </a:rPr>
              <a:t>筛选变量时，重要性</a:t>
            </a:r>
            <a:r>
              <a:rPr lang="zh-CN" altLang="en-US">
                <a:solidFill>
                  <a:srgbClr val="FF0000"/>
                </a:solidFill>
                <a:latin typeface="微软雅黑" panose="020B0503020204020204" charset="-122"/>
                <a:ea typeface="微软雅黑" panose="020B0503020204020204" charset="-122"/>
                <a:cs typeface="微软雅黑" panose="020B0503020204020204" charset="-122"/>
              </a:rPr>
              <a:t>高于</a:t>
            </a:r>
            <a:r>
              <a:rPr lang="en-US" altLang="zh-CN">
                <a:solidFill>
                  <a:srgbClr val="FF0000"/>
                </a:solidFill>
                <a:latin typeface="微软雅黑" panose="020B0503020204020204" charset="-122"/>
                <a:ea typeface="微软雅黑" panose="020B0503020204020204" charset="-122"/>
                <a:cs typeface="微软雅黑" panose="020B0503020204020204" charset="-122"/>
              </a:rPr>
              <a:t>200</a:t>
            </a:r>
            <a:r>
              <a:rPr lang="zh-CN" altLang="en-US">
                <a:latin typeface="微软雅黑" panose="020B0503020204020204" charset="-122"/>
                <a:ea typeface="微软雅黑" panose="020B0503020204020204" charset="-122"/>
                <a:cs typeface="微软雅黑" panose="020B0503020204020204" charset="-122"/>
              </a:rPr>
              <a:t>的特征被排除，以防模型过于依赖单一特征来进行学习。</a:t>
            </a:r>
            <a:r>
              <a:rPr lang="zh-CN" altLang="en-US">
                <a:latin typeface="微软雅黑" panose="020B0503020204020204" charset="-122"/>
                <a:ea typeface="微软雅黑" panose="020B0503020204020204" charset="-122"/>
                <a:cs typeface="微软雅黑" panose="020B0503020204020204" charset="-122"/>
                <a:sym typeface="+mn-ea"/>
              </a:rPr>
              <a:t>重要性</a:t>
            </a:r>
            <a:r>
              <a:rPr lang="zh-CN" altLang="en-US">
                <a:solidFill>
                  <a:srgbClr val="FF0000"/>
                </a:solidFill>
                <a:latin typeface="微软雅黑" panose="020B0503020204020204" charset="-122"/>
                <a:ea typeface="微软雅黑" panose="020B0503020204020204" charset="-122"/>
                <a:cs typeface="微软雅黑" panose="020B0503020204020204" charset="-122"/>
                <a:sym typeface="+mn-ea"/>
              </a:rPr>
              <a:t>低于</a:t>
            </a:r>
            <a:r>
              <a:rPr lang="en-US" altLang="zh-CN">
                <a:solidFill>
                  <a:srgbClr val="FF0000"/>
                </a:solidFill>
                <a:latin typeface="微软雅黑" panose="020B0503020204020204" charset="-122"/>
                <a:ea typeface="微软雅黑" panose="020B0503020204020204" charset="-122"/>
                <a:cs typeface="微软雅黑" panose="020B0503020204020204" charset="-122"/>
                <a:sym typeface="+mn-ea"/>
              </a:rPr>
              <a:t>10</a:t>
            </a:r>
            <a:r>
              <a:rPr lang="zh-CN" altLang="en-US">
                <a:latin typeface="微软雅黑" panose="020B0503020204020204" charset="-122"/>
                <a:ea typeface="微软雅黑" panose="020B0503020204020204" charset="-122"/>
                <a:cs typeface="微软雅黑" panose="020B0503020204020204" charset="-122"/>
                <a:sym typeface="+mn-ea"/>
              </a:rPr>
              <a:t>的特征也被排除掉，以减少模型的不稳定性。</a:t>
            </a:r>
            <a:endParaRPr lang="zh-CN" altLang="en-US">
              <a:latin typeface="微软雅黑" panose="020B0503020204020204" charset="-122"/>
              <a:ea typeface="微软雅黑" panose="020B0503020204020204" charset="-122"/>
              <a:cs typeface="微软雅黑" panose="020B0503020204020204" charset="-122"/>
            </a:endParaRPr>
          </a:p>
          <a:p>
            <a:pPr marL="285750" indent="-285750">
              <a:buFont typeface="Arial" panose="020B0604020202020204" pitchFamily="34" charset="0"/>
              <a:buChar char="•"/>
            </a:pPr>
            <a:endParaRPr lang="zh-CN" altLang="en-US">
              <a:latin typeface="微软雅黑" panose="020B0503020204020204" charset="-122"/>
              <a:ea typeface="微软雅黑" panose="020B0503020204020204" charset="-122"/>
              <a:cs typeface="微软雅黑" panose="020B0503020204020204" charset="-122"/>
            </a:endParaRPr>
          </a:p>
        </p:txBody>
      </p:sp>
      <p:pic>
        <p:nvPicPr>
          <p:cNvPr id="3" name="图片 2"/>
          <p:cNvPicPr>
            <a:picLocks noChangeAspect="1"/>
          </p:cNvPicPr>
          <p:nvPr/>
        </p:nvPicPr>
        <p:blipFill>
          <a:blip r:embed="rId1"/>
          <a:stretch>
            <a:fillRect/>
          </a:stretch>
        </p:blipFill>
        <p:spPr>
          <a:xfrm>
            <a:off x="6240145" y="1485265"/>
            <a:ext cx="5541645" cy="4747260"/>
          </a:xfrm>
          <a:prstGeom prst="rect">
            <a:avLst/>
          </a:prstGeom>
        </p:spPr>
      </p:pic>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p:nvPr>
            <p:ph type="title"/>
          </p:nvPr>
        </p:nvSpPr>
        <p:spPr>
          <a:xfrm>
            <a:off x="335915" y="260985"/>
            <a:ext cx="10714355" cy="675005"/>
          </a:xfrm>
        </p:spPr>
        <p:txBody>
          <a:bodyPr>
            <a:normAutofit/>
          </a:bodyPr>
          <a:p>
            <a:r>
              <a:rPr lang="en-US" altLang="zh-CN" sz="3555"/>
              <a:t>3. </a:t>
            </a:r>
            <a:r>
              <a:rPr lang="zh-CN" altLang="en-US" sz="3555"/>
              <a:t>模型建立</a:t>
            </a:r>
            <a:r>
              <a:rPr lang="en-US" altLang="zh-CN" sz="3550">
                <a:sym typeface="+mn-ea"/>
              </a:rPr>
              <a:t>-XGBOOST</a:t>
            </a:r>
            <a:endParaRPr lang="en-US" altLang="zh-CN" sz="3550">
              <a:sym typeface="+mn-ea"/>
            </a:endParaRPr>
          </a:p>
        </p:txBody>
      </p:sp>
      <p:sp>
        <p:nvSpPr>
          <p:cNvPr id="10" name="文本框 9"/>
          <p:cNvSpPr txBox="1"/>
          <p:nvPr/>
        </p:nvSpPr>
        <p:spPr>
          <a:xfrm>
            <a:off x="695960" y="1125220"/>
            <a:ext cx="4465955" cy="45910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342900" marR="0" indent="-342900" algn="l" defTabSz="914400" rtl="0" fontAlgn="auto" latinLnBrk="0" hangingPunct="0">
              <a:lnSpc>
                <a:spcPct val="100000"/>
              </a:lnSpc>
              <a:spcBef>
                <a:spcPts val="0"/>
              </a:spcBef>
              <a:spcAft>
                <a:spcPts val="0"/>
              </a:spcAft>
              <a:buClrTx/>
              <a:buSzTx/>
              <a:buFont typeface="Wingdings" panose="05000000000000000000" charset="0"/>
              <a:buChar char="ü"/>
            </a:pPr>
            <a:r>
              <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入模变量及变量重要性</a:t>
            </a:r>
            <a:endPar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pic>
        <p:nvPicPr>
          <p:cNvPr id="5" name="图片 4"/>
          <p:cNvPicPr>
            <a:picLocks noChangeAspect="1"/>
          </p:cNvPicPr>
          <p:nvPr/>
        </p:nvPicPr>
        <p:blipFill>
          <a:blip r:embed="rId1"/>
          <a:stretch>
            <a:fillRect/>
          </a:stretch>
        </p:blipFill>
        <p:spPr>
          <a:xfrm>
            <a:off x="1919605" y="1701165"/>
            <a:ext cx="7830820" cy="4872355"/>
          </a:xfrm>
          <a:prstGeom prst="rect">
            <a:avLst/>
          </a:prstGeom>
        </p:spPr>
      </p:pic>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p:nvPr>
            <p:ph type="title"/>
          </p:nvPr>
        </p:nvSpPr>
        <p:spPr>
          <a:xfrm>
            <a:off x="335915" y="260985"/>
            <a:ext cx="10714355" cy="675005"/>
          </a:xfrm>
        </p:spPr>
        <p:txBody>
          <a:bodyPr>
            <a:normAutofit/>
          </a:bodyPr>
          <a:p>
            <a:r>
              <a:rPr lang="en-US" altLang="zh-CN" sz="3555"/>
              <a:t>3. </a:t>
            </a:r>
            <a:r>
              <a:rPr lang="zh-CN" altLang="en-US" sz="3555"/>
              <a:t>模型建立</a:t>
            </a:r>
            <a:r>
              <a:rPr lang="en-US" altLang="zh-CN" sz="3550">
                <a:sym typeface="+mn-ea"/>
              </a:rPr>
              <a:t>-XGBOOST</a:t>
            </a:r>
            <a:endParaRPr lang="en-US" altLang="zh-CN" sz="3550">
              <a:sym typeface="+mn-ea"/>
            </a:endParaRPr>
          </a:p>
        </p:txBody>
      </p:sp>
      <p:sp>
        <p:nvSpPr>
          <p:cNvPr id="25" name="文本框 24"/>
          <p:cNvSpPr txBox="1"/>
          <p:nvPr/>
        </p:nvSpPr>
        <p:spPr>
          <a:xfrm>
            <a:off x="695960" y="1125220"/>
            <a:ext cx="2288540" cy="45910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342900" marR="0" indent="-342900" algn="l" defTabSz="914400" rtl="0" fontAlgn="auto" latinLnBrk="0" hangingPunct="0">
              <a:lnSpc>
                <a:spcPct val="100000"/>
              </a:lnSpc>
              <a:spcBef>
                <a:spcPts val="0"/>
              </a:spcBef>
              <a:spcAft>
                <a:spcPts val="0"/>
              </a:spcAft>
              <a:buClrTx/>
              <a:buSzTx/>
              <a:buFont typeface="Wingdings" panose="05000000000000000000" charset="0"/>
              <a:buChar char="ü"/>
            </a:pPr>
            <a:r>
              <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模型排序性</a:t>
            </a:r>
            <a:endPar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
        <p:nvSpPr>
          <p:cNvPr id="5" name="文本框 4"/>
          <p:cNvSpPr txBox="1"/>
          <p:nvPr/>
        </p:nvSpPr>
        <p:spPr>
          <a:xfrm>
            <a:off x="983615" y="1701165"/>
            <a:ext cx="10138410" cy="64389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0" marR="0" indent="0" algn="l" defTabSz="914400" rtl="0" fontAlgn="auto" latinLnBrk="0" hangingPunct="0">
              <a:lnSpc>
                <a:spcPct val="100000"/>
              </a:lnSpc>
              <a:spcBef>
                <a:spcPts val="0"/>
              </a:spcBef>
              <a:spcAft>
                <a:spcPts val="0"/>
              </a:spcAft>
              <a:buClrTx/>
              <a:buSzTx/>
              <a:buFontTx/>
              <a:buNone/>
            </a:pP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rPr>
              <a:t>      </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rPr>
              <a:t>分别用训练集、验证集预测的概率从高到低排序，等频分成</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rPr>
              <a:t>10</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rPr>
              <a:t>组，发现下单率的排序性十分好，第</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rPr>
              <a:t>0</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rPr>
              <a:t>箱的提升度（</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rPr>
              <a:t>lift</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rPr>
              <a:t>）超过</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rPr>
              <a:t>8</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rPr>
              <a:t>倍。</a:t>
            </a: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endParaRPr>
          </a:p>
        </p:txBody>
      </p:sp>
      <p:pic>
        <p:nvPicPr>
          <p:cNvPr id="8" name="图片 7"/>
          <p:cNvPicPr>
            <a:picLocks noChangeAspect="1"/>
          </p:cNvPicPr>
          <p:nvPr/>
        </p:nvPicPr>
        <p:blipFill>
          <a:blip r:embed="rId1"/>
          <a:stretch>
            <a:fillRect/>
          </a:stretch>
        </p:blipFill>
        <p:spPr>
          <a:xfrm>
            <a:off x="1631950" y="2565400"/>
            <a:ext cx="8756650" cy="3911600"/>
          </a:xfrm>
          <a:prstGeom prst="rect">
            <a:avLst/>
          </a:prstGeom>
        </p:spPr>
      </p:pic>
      <p:sp>
        <p:nvSpPr>
          <p:cNvPr id="3" name="文本框 2"/>
          <p:cNvSpPr txBox="1"/>
          <p:nvPr/>
        </p:nvSpPr>
        <p:spPr>
          <a:xfrm>
            <a:off x="10833100" y="3482340"/>
            <a:ext cx="1023620" cy="36703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0" marR="0" indent="0" algn="l" defTabSz="914400" rtl="0" fontAlgn="auto" latinLnBrk="0" hangingPunct="0">
              <a:lnSpc>
                <a:spcPct val="100000"/>
              </a:lnSpc>
              <a:spcBef>
                <a:spcPts val="0"/>
              </a:spcBef>
              <a:spcAft>
                <a:spcPts val="0"/>
              </a:spcAft>
              <a:buClrTx/>
              <a:buSzTx/>
              <a:buFontTx/>
              <a:buNone/>
            </a:pPr>
            <a:r>
              <a:rPr kumimoji="0" lang="zh-CN" altLang="en-US" sz="1800" b="1"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rPr>
              <a:t>训练集</a:t>
            </a:r>
            <a:endParaRPr kumimoji="0" lang="zh-CN" altLang="en-US" sz="1800" b="1"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endParaRP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p:nvPr>
            <p:ph type="title"/>
          </p:nvPr>
        </p:nvSpPr>
        <p:spPr>
          <a:xfrm>
            <a:off x="335915" y="260985"/>
            <a:ext cx="10714355" cy="675005"/>
          </a:xfrm>
        </p:spPr>
        <p:txBody>
          <a:bodyPr>
            <a:normAutofit/>
          </a:bodyPr>
          <a:p>
            <a:r>
              <a:rPr lang="en-US" altLang="zh-CN" sz="3555"/>
              <a:t>3. </a:t>
            </a:r>
            <a:r>
              <a:rPr lang="zh-CN" altLang="en-US" sz="3555"/>
              <a:t>模型建立</a:t>
            </a:r>
            <a:r>
              <a:rPr lang="en-US" altLang="zh-CN" sz="3550">
                <a:sym typeface="+mn-ea"/>
              </a:rPr>
              <a:t>-XGBOOST</a:t>
            </a:r>
            <a:endParaRPr lang="en-US" altLang="zh-CN" sz="3550">
              <a:sym typeface="+mn-ea"/>
            </a:endParaRPr>
          </a:p>
        </p:txBody>
      </p:sp>
      <p:sp>
        <p:nvSpPr>
          <p:cNvPr id="25" name="文本框 24"/>
          <p:cNvSpPr txBox="1"/>
          <p:nvPr/>
        </p:nvSpPr>
        <p:spPr>
          <a:xfrm>
            <a:off x="695960" y="1125220"/>
            <a:ext cx="2288540" cy="45910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342900" marR="0" indent="-342900" algn="l" defTabSz="914400" rtl="0" fontAlgn="auto" latinLnBrk="0" hangingPunct="0">
              <a:lnSpc>
                <a:spcPct val="100000"/>
              </a:lnSpc>
              <a:spcBef>
                <a:spcPts val="0"/>
              </a:spcBef>
              <a:spcAft>
                <a:spcPts val="0"/>
              </a:spcAft>
              <a:buClrTx/>
              <a:buSzTx/>
              <a:buFont typeface="Wingdings" panose="05000000000000000000" charset="0"/>
              <a:buChar char="ü"/>
            </a:pPr>
            <a:r>
              <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模型排序性</a:t>
            </a:r>
            <a:endPar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pic>
        <p:nvPicPr>
          <p:cNvPr id="4" name="图片 3"/>
          <p:cNvPicPr>
            <a:picLocks noChangeAspect="1"/>
          </p:cNvPicPr>
          <p:nvPr/>
        </p:nvPicPr>
        <p:blipFill>
          <a:blip r:embed="rId1"/>
          <a:stretch>
            <a:fillRect/>
          </a:stretch>
        </p:blipFill>
        <p:spPr>
          <a:xfrm>
            <a:off x="1991995" y="1845310"/>
            <a:ext cx="8686800" cy="3911600"/>
          </a:xfrm>
          <a:prstGeom prst="rect">
            <a:avLst/>
          </a:prstGeom>
        </p:spPr>
      </p:pic>
      <p:sp>
        <p:nvSpPr>
          <p:cNvPr id="3" name="文本框 2"/>
          <p:cNvSpPr txBox="1"/>
          <p:nvPr/>
        </p:nvSpPr>
        <p:spPr>
          <a:xfrm>
            <a:off x="10833100" y="3482340"/>
            <a:ext cx="1023620" cy="36703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0" marR="0" indent="0" algn="l" defTabSz="914400" rtl="0" fontAlgn="auto" latinLnBrk="0" hangingPunct="0">
              <a:lnSpc>
                <a:spcPct val="100000"/>
              </a:lnSpc>
              <a:spcBef>
                <a:spcPts val="0"/>
              </a:spcBef>
              <a:spcAft>
                <a:spcPts val="0"/>
              </a:spcAft>
              <a:buClrTx/>
              <a:buSzTx/>
              <a:buFontTx/>
              <a:buNone/>
            </a:pPr>
            <a:r>
              <a:rPr kumimoji="0" lang="zh-CN" altLang="en-US" sz="1800" b="1"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rPr>
              <a:t>验证集</a:t>
            </a:r>
            <a:endParaRPr kumimoji="0" lang="zh-CN" altLang="en-US" sz="1800" b="1"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endParaRP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p:nvPr>
            <p:ph type="title"/>
          </p:nvPr>
        </p:nvSpPr>
        <p:spPr>
          <a:xfrm>
            <a:off x="335915" y="260985"/>
            <a:ext cx="10714355" cy="675005"/>
          </a:xfrm>
        </p:spPr>
        <p:txBody>
          <a:bodyPr>
            <a:normAutofit/>
          </a:bodyPr>
          <a:p>
            <a:r>
              <a:rPr lang="en-US" altLang="zh-CN" sz="3555"/>
              <a:t>3. </a:t>
            </a:r>
            <a:r>
              <a:rPr lang="zh-CN" altLang="en-US" sz="3555"/>
              <a:t>模型建立</a:t>
            </a:r>
            <a:r>
              <a:rPr lang="en-US" altLang="zh-CN" sz="3550">
                <a:sym typeface="+mn-ea"/>
              </a:rPr>
              <a:t>-XGBOOST</a:t>
            </a:r>
            <a:endParaRPr lang="en-US" altLang="zh-CN" sz="3550">
              <a:sym typeface="+mn-ea"/>
            </a:endParaRPr>
          </a:p>
        </p:txBody>
      </p:sp>
      <p:sp>
        <p:nvSpPr>
          <p:cNvPr id="25" name="文本框 24"/>
          <p:cNvSpPr txBox="1"/>
          <p:nvPr/>
        </p:nvSpPr>
        <p:spPr>
          <a:xfrm>
            <a:off x="695960" y="1125220"/>
            <a:ext cx="2288540" cy="45910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342900" marR="0" indent="-342900" algn="l" defTabSz="914400" rtl="0" fontAlgn="auto" latinLnBrk="0" hangingPunct="0">
              <a:lnSpc>
                <a:spcPct val="100000"/>
              </a:lnSpc>
              <a:spcBef>
                <a:spcPts val="0"/>
              </a:spcBef>
              <a:spcAft>
                <a:spcPts val="0"/>
              </a:spcAft>
              <a:buClrTx/>
              <a:buSzTx/>
              <a:buFont typeface="Wingdings" panose="05000000000000000000" charset="0"/>
              <a:buChar char="ü"/>
            </a:pPr>
            <a:r>
              <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模型排序性</a:t>
            </a:r>
            <a:endPar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pic>
        <p:nvPicPr>
          <p:cNvPr id="6" name="图片 5"/>
          <p:cNvPicPr>
            <a:picLocks noChangeAspect="1"/>
          </p:cNvPicPr>
          <p:nvPr/>
        </p:nvPicPr>
        <p:blipFill>
          <a:blip r:embed="rId1"/>
          <a:stretch>
            <a:fillRect/>
          </a:stretch>
        </p:blipFill>
        <p:spPr>
          <a:xfrm>
            <a:off x="1873250" y="1772920"/>
            <a:ext cx="8445500" cy="3911600"/>
          </a:xfrm>
          <a:prstGeom prst="rect">
            <a:avLst/>
          </a:prstGeom>
        </p:spPr>
      </p:pic>
      <p:sp>
        <p:nvSpPr>
          <p:cNvPr id="3" name="文本框 2"/>
          <p:cNvSpPr txBox="1"/>
          <p:nvPr/>
        </p:nvSpPr>
        <p:spPr>
          <a:xfrm>
            <a:off x="10833100" y="3482340"/>
            <a:ext cx="1023620" cy="36703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0" marR="0" indent="0" algn="l" defTabSz="914400" rtl="0" fontAlgn="auto" latinLnBrk="0" hangingPunct="0">
              <a:lnSpc>
                <a:spcPct val="100000"/>
              </a:lnSpc>
              <a:spcBef>
                <a:spcPts val="0"/>
              </a:spcBef>
              <a:spcAft>
                <a:spcPts val="0"/>
              </a:spcAft>
              <a:buClrTx/>
              <a:buSzTx/>
              <a:buFontTx/>
              <a:buNone/>
            </a:pPr>
            <a:r>
              <a:rPr kumimoji="0" lang="zh-CN" altLang="en-US" sz="1800" b="1"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rPr>
              <a:t>测试集</a:t>
            </a:r>
            <a:endParaRPr kumimoji="0" lang="zh-CN" altLang="en-US" sz="1800" b="1"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endParaRP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p:nvPr>
            <p:ph type="title"/>
          </p:nvPr>
        </p:nvSpPr>
        <p:spPr>
          <a:xfrm>
            <a:off x="335915" y="260985"/>
            <a:ext cx="10714355" cy="675005"/>
          </a:xfrm>
        </p:spPr>
        <p:txBody>
          <a:bodyPr>
            <a:normAutofit/>
          </a:bodyPr>
          <a:p>
            <a:r>
              <a:rPr lang="en-US" altLang="zh-CN" sz="3555"/>
              <a:t>3. </a:t>
            </a:r>
            <a:r>
              <a:rPr lang="zh-CN" altLang="en-US" sz="3555"/>
              <a:t>模型建立</a:t>
            </a:r>
            <a:r>
              <a:rPr lang="en-US" altLang="zh-CN" sz="3550">
                <a:sym typeface="+mn-ea"/>
              </a:rPr>
              <a:t>-XGBOOST</a:t>
            </a:r>
            <a:endParaRPr lang="en-US" altLang="zh-CN" sz="3550">
              <a:sym typeface="+mn-ea"/>
            </a:endParaRPr>
          </a:p>
        </p:txBody>
      </p:sp>
      <p:sp>
        <p:nvSpPr>
          <p:cNvPr id="25" name="文本框 24"/>
          <p:cNvSpPr txBox="1"/>
          <p:nvPr/>
        </p:nvSpPr>
        <p:spPr>
          <a:xfrm>
            <a:off x="695960" y="1125220"/>
            <a:ext cx="2288540" cy="45910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342900" marR="0" indent="-342900" algn="l" defTabSz="914400" rtl="0" fontAlgn="auto" latinLnBrk="0" hangingPunct="0">
              <a:lnSpc>
                <a:spcPct val="100000"/>
              </a:lnSpc>
              <a:spcBef>
                <a:spcPts val="0"/>
              </a:spcBef>
              <a:spcAft>
                <a:spcPts val="0"/>
              </a:spcAft>
              <a:buClrTx/>
              <a:buSzTx/>
              <a:buFont typeface="Wingdings" panose="05000000000000000000" charset="0"/>
              <a:buChar char="ü"/>
            </a:pPr>
            <a:r>
              <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模型排序性</a:t>
            </a:r>
            <a:endPar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pic>
        <p:nvPicPr>
          <p:cNvPr id="7" name="图片 6"/>
          <p:cNvPicPr>
            <a:picLocks noChangeAspect="1"/>
          </p:cNvPicPr>
          <p:nvPr/>
        </p:nvPicPr>
        <p:blipFill>
          <a:blip r:embed="rId1"/>
          <a:stretch>
            <a:fillRect/>
          </a:stretch>
        </p:blipFill>
        <p:spPr>
          <a:xfrm>
            <a:off x="1487805" y="2277110"/>
            <a:ext cx="9074150" cy="3911600"/>
          </a:xfrm>
          <a:prstGeom prst="rect">
            <a:avLst/>
          </a:prstGeom>
        </p:spPr>
      </p:pic>
      <p:sp>
        <p:nvSpPr>
          <p:cNvPr id="3" name="文本框 2"/>
          <p:cNvSpPr txBox="1"/>
          <p:nvPr/>
        </p:nvSpPr>
        <p:spPr>
          <a:xfrm>
            <a:off x="1418590" y="1701165"/>
            <a:ext cx="8954135" cy="36703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0" marR="0" indent="0" algn="l" defTabSz="914400" rtl="0" fontAlgn="auto" latinLnBrk="0" hangingPunct="0">
              <a:lnSpc>
                <a:spcPct val="100000"/>
              </a:lnSpc>
              <a:spcBef>
                <a:spcPts val="0"/>
              </a:spcBef>
              <a:spcAft>
                <a:spcPts val="0"/>
              </a:spcAft>
              <a:buClrTx/>
              <a:buSzTx/>
              <a:buFontTx/>
              <a:buNone/>
            </a:pPr>
            <a:r>
              <a:rPr kumimoji="0" lang="zh-CN" altLang="en-US" sz="1800" b="0" i="0" u="none" strike="noStrike" cap="none" spc="0" normalizeH="0" baseline="0">
                <a:ln>
                  <a:noFill/>
                </a:ln>
                <a:solidFill>
                  <a:srgbClr val="000000"/>
                </a:solidFill>
                <a:effectLst/>
                <a:uFillTx/>
                <a:latin typeface="+mj-lt"/>
                <a:ea typeface="+mj-ea"/>
                <a:cs typeface="+mj-cs"/>
                <a:sym typeface="Calibri" panose="020F0502020204030204"/>
              </a:rPr>
              <a:t>剔除近</a:t>
            </a:r>
            <a:r>
              <a:rPr kumimoji="0" lang="en-US" altLang="zh-CN" sz="1800" b="0" i="0" u="none" strike="noStrike" cap="none" spc="0" normalizeH="0" baseline="0">
                <a:ln>
                  <a:noFill/>
                </a:ln>
                <a:solidFill>
                  <a:srgbClr val="000000"/>
                </a:solidFill>
                <a:effectLst/>
                <a:uFillTx/>
                <a:latin typeface="+mj-lt"/>
                <a:ea typeface="+mj-ea"/>
                <a:cs typeface="+mj-cs"/>
                <a:sym typeface="Calibri" panose="020F0502020204030204"/>
              </a:rPr>
              <a:t>30</a:t>
            </a:r>
            <a:r>
              <a:rPr kumimoji="0" lang="zh-CN" altLang="en-US" sz="1800" b="0" i="0" u="none" strike="noStrike" cap="none" spc="0" normalizeH="0" baseline="0">
                <a:ln>
                  <a:noFill/>
                </a:ln>
                <a:solidFill>
                  <a:srgbClr val="000000"/>
                </a:solidFill>
                <a:effectLst/>
                <a:uFillTx/>
                <a:latin typeface="+mj-lt"/>
                <a:ea typeface="宋体" panose="02010600030101010101" pitchFamily="2" charset="-122"/>
                <a:cs typeface="+mj-cs"/>
                <a:sym typeface="Calibri" panose="020F0502020204030204"/>
              </a:rPr>
              <a:t>天已经联系过的，客户的排序性也不错，预计能筛选出约</a:t>
            </a:r>
            <a:r>
              <a:rPr kumimoji="0" lang="en-US" altLang="zh-CN" sz="1800" b="0" i="0" u="none" strike="noStrike" cap="none" spc="0" normalizeH="0" baseline="0">
                <a:ln>
                  <a:noFill/>
                </a:ln>
                <a:solidFill>
                  <a:srgbClr val="000000"/>
                </a:solidFill>
                <a:effectLst/>
                <a:uFillTx/>
                <a:latin typeface="+mj-lt"/>
                <a:ea typeface="宋体" panose="02010600030101010101" pitchFamily="2" charset="-122"/>
                <a:cs typeface="+mj-cs"/>
                <a:sym typeface="Calibri" panose="020F0502020204030204"/>
              </a:rPr>
              <a:t>4</a:t>
            </a:r>
            <a:r>
              <a:rPr kumimoji="0" lang="zh-CN" altLang="en-US" sz="1800" b="0" i="0" u="none" strike="noStrike" cap="none" spc="0" normalizeH="0" baseline="0">
                <a:ln>
                  <a:noFill/>
                </a:ln>
                <a:solidFill>
                  <a:srgbClr val="000000"/>
                </a:solidFill>
                <a:effectLst/>
                <a:uFillTx/>
                <a:latin typeface="+mj-lt"/>
                <a:ea typeface="宋体" panose="02010600030101010101" pitchFamily="2" charset="-122"/>
                <a:cs typeface="+mj-cs"/>
                <a:sym typeface="Calibri" panose="020F0502020204030204"/>
              </a:rPr>
              <a:t>万老客户进行营销</a:t>
            </a:r>
            <a:endParaRPr kumimoji="0" lang="zh-CN" altLang="en-US" sz="1800" b="0" i="0" u="none" strike="noStrike" cap="none" spc="0" normalizeH="0" baseline="0">
              <a:ln>
                <a:noFill/>
              </a:ln>
              <a:solidFill>
                <a:srgbClr val="000000"/>
              </a:solidFill>
              <a:effectLst/>
              <a:uFillTx/>
              <a:latin typeface="+mj-lt"/>
              <a:ea typeface="宋体" panose="02010600030101010101" pitchFamily="2" charset="-122"/>
              <a:cs typeface="+mj-cs"/>
              <a:sym typeface="Calibri" panose="020F0502020204030204"/>
            </a:endParaRPr>
          </a:p>
        </p:txBody>
      </p:sp>
      <p:sp>
        <p:nvSpPr>
          <p:cNvPr id="4" name="文本框 3"/>
          <p:cNvSpPr txBox="1"/>
          <p:nvPr/>
        </p:nvSpPr>
        <p:spPr>
          <a:xfrm>
            <a:off x="10833100" y="3482340"/>
            <a:ext cx="1023620" cy="64389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0" marR="0" indent="0" algn="l" defTabSz="914400" rtl="0" fontAlgn="auto" latinLnBrk="0" hangingPunct="0">
              <a:lnSpc>
                <a:spcPct val="100000"/>
              </a:lnSpc>
              <a:spcBef>
                <a:spcPts val="0"/>
              </a:spcBef>
              <a:spcAft>
                <a:spcPts val="0"/>
              </a:spcAft>
              <a:buClrTx/>
              <a:buSzTx/>
              <a:buFontTx/>
              <a:buNone/>
            </a:pPr>
            <a:r>
              <a:rPr kumimoji="0" lang="zh-CN" altLang="en-US" sz="1800" b="1"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rPr>
              <a:t>模型总数据集</a:t>
            </a:r>
            <a:endParaRPr kumimoji="0" lang="zh-CN" altLang="en-US" sz="1800" b="1"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endParaRP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p:nvPr>
            <p:ph type="title"/>
          </p:nvPr>
        </p:nvSpPr>
        <p:spPr>
          <a:xfrm>
            <a:off x="335915" y="260985"/>
            <a:ext cx="10714355" cy="675005"/>
          </a:xfrm>
        </p:spPr>
        <p:txBody>
          <a:bodyPr>
            <a:normAutofit/>
          </a:bodyPr>
          <a:p>
            <a:r>
              <a:rPr lang="en-US" altLang="zh-CN" sz="3555"/>
              <a:t>4. </a:t>
            </a:r>
            <a:r>
              <a:rPr lang="zh-CN" sz="3555"/>
              <a:t>下一步计划</a:t>
            </a:r>
            <a:endParaRPr lang="zh-CN" sz="3550">
              <a:sym typeface="+mn-ea"/>
            </a:endParaRPr>
          </a:p>
        </p:txBody>
      </p:sp>
      <p:sp>
        <p:nvSpPr>
          <p:cNvPr id="25" name="文本框 24"/>
          <p:cNvSpPr txBox="1"/>
          <p:nvPr/>
        </p:nvSpPr>
        <p:spPr>
          <a:xfrm>
            <a:off x="983615" y="1917065"/>
            <a:ext cx="8232775" cy="120967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342900" marR="0" indent="-342900" algn="l" defTabSz="914400" rtl="0" fontAlgn="auto" latinLnBrk="0" hangingPunct="0">
              <a:lnSpc>
                <a:spcPct val="200000"/>
              </a:lnSpc>
              <a:spcBef>
                <a:spcPts val="0"/>
              </a:spcBef>
              <a:spcAft>
                <a:spcPts val="0"/>
              </a:spcAft>
              <a:buClrTx/>
              <a:buSzTx/>
              <a:buFont typeface="Wingdings" panose="05000000000000000000" charset="0"/>
              <a:buChar char="ü"/>
            </a:pPr>
            <a:r>
              <a:rPr kumimoji="0" lang="zh-CN" altLang="en-US" sz="2800" i="0" u="none" strike="noStrike" cap="none" spc="0" normalizeH="0" baseline="30000">
                <a:ln>
                  <a:noFill/>
                </a:ln>
                <a:solidFill>
                  <a:schemeClr val="tx1"/>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模型参数调优、模型进一步验证、测试</a:t>
            </a:r>
            <a:endParaRPr kumimoji="0" lang="zh-CN" altLang="en-US" sz="2800" i="0" u="none" strike="noStrike" cap="none" spc="0" normalizeH="0" baseline="30000">
              <a:ln>
                <a:noFill/>
              </a:ln>
              <a:solidFill>
                <a:schemeClr val="tx1"/>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a:p>
            <a:pPr marL="342900" marR="0" indent="-342900" algn="l" defTabSz="914400" rtl="0" fontAlgn="auto" latinLnBrk="0" hangingPunct="0">
              <a:lnSpc>
                <a:spcPct val="200000"/>
              </a:lnSpc>
              <a:spcBef>
                <a:spcPts val="0"/>
              </a:spcBef>
              <a:spcAft>
                <a:spcPts val="0"/>
              </a:spcAft>
              <a:buClrTx/>
              <a:buSzTx/>
              <a:buFont typeface="Wingdings" panose="05000000000000000000" charset="0"/>
              <a:buChar char="ü"/>
            </a:pPr>
            <a:r>
              <a:rPr kumimoji="0" lang="zh-CN" altLang="en-US" sz="2800" i="0" u="none" strike="noStrike" cap="none" spc="0" normalizeH="0" baseline="30000">
                <a:ln>
                  <a:noFill/>
                </a:ln>
                <a:solidFill>
                  <a:schemeClr val="tx1"/>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对全体应用人群进行打分，</a:t>
            </a:r>
            <a:r>
              <a:rPr kumimoji="0" lang="zh-CN" altLang="en-US" sz="2800" i="0" u="none" strike="noStrike" cap="none" spc="0" normalizeH="0" baseline="30000">
                <a:ln>
                  <a:noFill/>
                </a:ln>
                <a:solidFill>
                  <a:schemeClr val="tx1"/>
                </a:solidFill>
                <a:effectLst/>
                <a:uFillTx/>
                <a:latin typeface="微软雅黑" panose="020B0503020204020204" charset="-122"/>
                <a:ea typeface="微软雅黑" panose="020B0503020204020204" charset="-122"/>
                <a:cs typeface="微软雅黑" panose="020B0503020204020204" charset="-122"/>
                <a:sym typeface="Calibri" panose="020F0502020204030204"/>
              </a:rPr>
              <a:t>筛选出复购意向较高的老客户进行运营；</a:t>
            </a:r>
            <a:endParaRPr kumimoji="0" lang="zh-CN" altLang="en-US" sz="2800" i="0" u="none" strike="noStrike" cap="none" spc="0" normalizeH="0" baseline="30000">
              <a:ln>
                <a:noFill/>
              </a:ln>
              <a:solidFill>
                <a:schemeClr val="tx1"/>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 name="文本框 21"/>
          <p:cNvSpPr txBox="1"/>
          <p:nvPr/>
        </p:nvSpPr>
        <p:spPr>
          <a:xfrm>
            <a:off x="4872355" y="2636520"/>
            <a:ext cx="2225040" cy="101346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0" marR="0" indent="0" algn="l" defTabSz="914400" rtl="0" fontAlgn="auto" latinLnBrk="0" hangingPunct="0">
              <a:lnSpc>
                <a:spcPct val="100000"/>
              </a:lnSpc>
              <a:spcBef>
                <a:spcPts val="0"/>
              </a:spcBef>
              <a:spcAft>
                <a:spcPts val="0"/>
              </a:spcAft>
              <a:buClrTx/>
              <a:buSzTx/>
              <a:buFontTx/>
              <a:buNone/>
            </a:pPr>
            <a:r>
              <a:rPr kumimoji="0" lang="en-US" altLang="zh-CN" sz="6000" b="0" i="0" u="none" strike="noStrike" cap="none" spc="0" normalizeH="0" baseline="0">
                <a:ln>
                  <a:noFill/>
                </a:ln>
                <a:solidFill>
                  <a:srgbClr val="0564CD"/>
                </a:solidFill>
                <a:effectLst/>
                <a:uFillTx/>
                <a:latin typeface="微软雅黑" panose="020B0503020204020204" charset="-122"/>
                <a:ea typeface="微软雅黑" panose="020B0503020204020204" charset="-122"/>
                <a:cs typeface="+mj-cs"/>
                <a:sym typeface="Calibri" panose="020F0502020204030204"/>
              </a:rPr>
              <a:t>Q&amp;A</a:t>
            </a:r>
            <a:endParaRPr kumimoji="0" lang="en-US" altLang="zh-CN" sz="6000" b="0" i="0" u="none" strike="noStrike" cap="none" spc="0" normalizeH="0" baseline="0">
              <a:ln>
                <a:noFill/>
              </a:ln>
              <a:solidFill>
                <a:srgbClr val="0564CD"/>
              </a:solidFill>
              <a:effectLst/>
              <a:uFillTx/>
              <a:latin typeface="微软雅黑" panose="020B0503020204020204" charset="-122"/>
              <a:ea typeface="微软雅黑" panose="020B0503020204020204" charset="-122"/>
              <a:cs typeface="+mj-cs"/>
              <a:sym typeface="Calibri" panose="020F0502020204030204"/>
            </a:endParaRP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spd="med"/>
</p:sld>
</file>

<file path=ppt/theme/theme1.xml><?xml version="1.0" encoding="utf-8"?>
<a:theme xmlns:a="http://schemas.openxmlformats.org/drawingml/2006/main" name="Office 主题">
  <a:themeElements>
    <a:clrScheme name="Office 主题">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主题">
      <a:majorFont>
        <a:latin typeface="Calibri"/>
        <a:ea typeface="Calibri"/>
        <a:cs typeface="Calibri"/>
      </a:majorFont>
      <a:minorFont>
        <a:latin typeface="Helvetica"/>
        <a:ea typeface="Helvetica"/>
        <a:cs typeface="Helvetica"/>
      </a:minorFont>
    </a:fontScheme>
    <a:fmtScheme name="Office 主题">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Calibri" panose="020F050202020403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12700" cap="flat">
          <a:solidFill>
            <a:schemeClr val="accent1"/>
          </a:solidFill>
          <a:prstDash val="solid"/>
          <a:miter lim="800000"/>
        </a:ln>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Calibri" panose="020F050202020403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主题">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主题">
      <a:majorFont>
        <a:latin typeface="Calibri"/>
        <a:ea typeface="Calibri"/>
        <a:cs typeface="Calibri"/>
      </a:majorFont>
      <a:minorFont>
        <a:latin typeface="Helvetica"/>
        <a:ea typeface="Helvetica"/>
        <a:cs typeface="Helvetica"/>
      </a:minorFont>
    </a:fontScheme>
    <a:fmtScheme name="Office 主题">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Calibri" panose="020F050202020403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12700" cap="flat">
          <a:solidFill>
            <a:schemeClr val="accent1"/>
          </a:solidFill>
          <a:prstDash val="solid"/>
          <a:miter lim="800000"/>
        </a:ln>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Calibri" panose="020F050202020403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1360</Words>
  <Application>WPS 演示</Application>
  <PresentationFormat/>
  <Paragraphs>128</Paragraphs>
  <Slides>20</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20</vt:i4>
      </vt:variant>
    </vt:vector>
  </HeadingPairs>
  <TitlesOfParts>
    <vt:vector size="30" baseType="lpstr">
      <vt:lpstr>Arial</vt:lpstr>
      <vt:lpstr>宋体</vt:lpstr>
      <vt:lpstr>Wingdings</vt:lpstr>
      <vt:lpstr>Calibri</vt:lpstr>
      <vt:lpstr>Calibri Light</vt:lpstr>
      <vt:lpstr>Arial</vt:lpstr>
      <vt:lpstr>微软雅黑</vt:lpstr>
      <vt:lpstr>Wingdings</vt:lpstr>
      <vt:lpstr>Arial Unicode MS</vt:lpstr>
      <vt:lpstr>Office 主题</vt:lpstr>
      <vt:lpstr>用户投保意向预测模型结果 汇报（初版）</vt:lpstr>
      <vt:lpstr>目录</vt:lpstr>
      <vt:lpstr>1. 项目背景与目标</vt:lpstr>
      <vt:lpstr>2. 模型设计</vt:lpstr>
      <vt:lpstr>2. 模型设计</vt:lpstr>
      <vt:lpstr>2. 模型设计</vt:lpstr>
      <vt:lpstr>2. 模型设计</vt:lpstr>
      <vt:lpstr>2. 模型设计</vt:lpstr>
      <vt:lpstr>3. 模型建立-数据维度</vt:lpstr>
      <vt:lpstr>3. 模型建立-数据维度</vt:lpstr>
      <vt:lpstr>3. 模型建立-XGBOOST</vt:lpstr>
      <vt:lpstr>3. 模型建立-XGBOOST</vt:lpstr>
      <vt:lpstr>3. 模型建立-XGBOOST</vt:lpstr>
      <vt:lpstr>3. 模型建立-XGBOOST</vt:lpstr>
      <vt:lpstr>3. 模型建立-XGBOOST</vt:lpstr>
      <vt:lpstr>3. 模型建立-XGBOOST</vt:lpstr>
      <vt:lpstr>3. 模型建立-XGBOOST</vt:lpstr>
      <vt:lpstr>4. 下一步计划</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hz21076997</cp:lastModifiedBy>
  <cp:revision>53</cp:revision>
  <dcterms:created xsi:type="dcterms:W3CDTF">2021-11-23T09:51:00Z</dcterms:created>
  <dcterms:modified xsi:type="dcterms:W3CDTF">2022-08-08T08:02:26Z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2052-11.8.2.10393</vt:lpwstr>
  </property>
</Properties>
</file>