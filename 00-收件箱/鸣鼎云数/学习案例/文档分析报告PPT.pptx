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65" r:id="rId6"/>
    <p:sldId id="258" r:id="rId7"/>
    <p:sldId id="259" r:id="rId8"/>
    <p:sldId id="260" r:id="rId9"/>
    <p:sldId id="261" r:id="rId10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0" y="0"/>
            <a:ext cx="12192120" cy="762120"/>
          </a:xfrm>
          <a:custGeom>
            <a:avLst/>
            <a:gdLst/>
            <a:ahLst/>
            <a:cxnLst/>
            <a:rect l="0" t="0" r="r" b="b"/>
            <a:pathLst>
              <a:path w="33867" h="2117">
                <a:moveTo>
                  <a:pt x="0" y="0"/>
                </a:moveTo>
                <a:lnTo>
                  <a:pt x="33867" y="0"/>
                </a:lnTo>
                <a:lnTo>
                  <a:pt x="33867" y="2117"/>
                </a:lnTo>
                <a:lnTo>
                  <a:pt x="0" y="2117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0880" y="247680"/>
            <a:ext cx="128124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信⽤⻛险评估中⼼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95400" y="2562840"/>
            <a:ext cx="2881440" cy="93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630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⽂档分析报告</a:t>
            </a:r>
            <a:endParaRPr lang="en-US" sz="63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43560" y="4086360"/>
            <a:ext cx="32076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基于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76720" y="4092480"/>
            <a:ext cx="905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00" b="0" u="none" strike="noStrike">
                <a:solidFill>
                  <a:srgbClr val="6666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733560" y="5628960"/>
            <a:ext cx="4724640" cy="10080"/>
          </a:xfrm>
          <a:custGeom>
            <a:avLst/>
            <a:gdLst/>
            <a:ahLst/>
            <a:cxnLst/>
            <a:rect l="0" t="0" r="r" b="b"/>
            <a:pathLst>
              <a:path w="13124" h="28">
                <a:moveTo>
                  <a:pt x="0" y="0"/>
                </a:moveTo>
                <a:lnTo>
                  <a:pt x="13124" y="0"/>
                </a:lnTo>
                <a:lnTo>
                  <a:pt x="131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1040" y="4086360"/>
            <a:ext cx="208116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回归模型的客⼾信⽤⻛险分析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31360" y="5983200"/>
            <a:ext cx="4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888888"/>
                </a:solidFill>
                <a:effectLst/>
                <a:uFillTx/>
                <a:latin typeface="NotoSansCJKsc"/>
                <a:ea typeface="NotoSansCJKsc"/>
              </a:rPr>
              <a:t>报告部⻔：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93480" y="59868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35960" y="5983200"/>
            <a:ext cx="1146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888888"/>
                </a:solidFill>
                <a:effectLst/>
                <a:uFillTx/>
                <a:latin typeface="NotoSansCJKsc"/>
                <a:ea typeface="NotoSansCJKsc"/>
              </a:rPr>
              <a:t>信⽤⻛险分析部 数据周期：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34320" y="5986800"/>
            <a:ext cx="381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2024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15560" y="5983200"/>
            <a:ext cx="4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888888"/>
                </a:solidFill>
                <a:effectLst/>
                <a:uFillTx/>
                <a:latin typeface="NotoSansCJKsc"/>
                <a:ea typeface="NotoSansCJKsc"/>
              </a:rPr>
              <a:t>年第⼀季度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36280" y="636408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888888"/>
                </a:solidFill>
                <a:effectLst/>
                <a:uFillTx/>
                <a:latin typeface="NotoSansCJKsc"/>
                <a:ea typeface="NotoSansCJKsc"/>
              </a:rPr>
              <a:t>分析师：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45760" y="63676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88240" y="636408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888888"/>
                </a:solidFill>
                <a:effectLst/>
                <a:uFillTx/>
                <a:latin typeface="NotoSansCJKsc"/>
                <a:ea typeface="NotoSansCJKsc"/>
              </a:rPr>
              <a:t>分析团队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42920" y="6364080"/>
            <a:ext cx="4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888888"/>
                </a:solidFill>
                <a:effectLst/>
                <a:uFillTx/>
                <a:latin typeface="NotoSansCJKsc"/>
                <a:ea typeface="NotoSansCJKsc"/>
              </a:rPr>
              <a:t>报告⽇期：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05040" y="6367680"/>
            <a:ext cx="602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2024-04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0" y="0"/>
            <a:ext cx="12192120" cy="762120"/>
          </a:xfrm>
          <a:custGeom>
            <a:avLst/>
            <a:gdLst/>
            <a:ahLst/>
            <a:cxnLst/>
            <a:rect l="0" t="0" r="r" b="b"/>
            <a:pathLst>
              <a:path w="33867" h="2117">
                <a:moveTo>
                  <a:pt x="0" y="0"/>
                </a:moveTo>
                <a:lnTo>
                  <a:pt x="33867" y="0"/>
                </a:lnTo>
                <a:lnTo>
                  <a:pt x="33867" y="2117"/>
                </a:lnTo>
                <a:lnTo>
                  <a:pt x="0" y="2117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571320" y="2381040"/>
            <a:ext cx="5239080" cy="829080"/>
          </a:xfrm>
          <a:custGeom>
            <a:avLst/>
            <a:gdLst/>
            <a:ahLst/>
            <a:cxnLst/>
            <a:rect l="0" t="0" r="r" b="b"/>
            <a:pathLst>
              <a:path w="14553" h="2303">
                <a:moveTo>
                  <a:pt x="0" y="2091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4341" y="0"/>
                </a:lnTo>
                <a:cubicBezTo>
                  <a:pt x="14355" y="0"/>
                  <a:pt x="14369" y="1"/>
                  <a:pt x="14383" y="4"/>
                </a:cubicBezTo>
                <a:cubicBezTo>
                  <a:pt x="14396" y="7"/>
                  <a:pt x="14410" y="11"/>
                  <a:pt x="14422" y="16"/>
                </a:cubicBezTo>
                <a:cubicBezTo>
                  <a:pt x="14435" y="22"/>
                  <a:pt x="14447" y="28"/>
                  <a:pt x="14459" y="36"/>
                </a:cubicBezTo>
                <a:cubicBezTo>
                  <a:pt x="14471" y="43"/>
                  <a:pt x="14481" y="52"/>
                  <a:pt x="14491" y="62"/>
                </a:cubicBezTo>
                <a:cubicBezTo>
                  <a:pt x="14501" y="72"/>
                  <a:pt x="14510" y="83"/>
                  <a:pt x="14517" y="94"/>
                </a:cubicBezTo>
                <a:cubicBezTo>
                  <a:pt x="14525" y="106"/>
                  <a:pt x="14532" y="118"/>
                  <a:pt x="14537" y="131"/>
                </a:cubicBezTo>
                <a:cubicBezTo>
                  <a:pt x="14542" y="144"/>
                  <a:pt x="14546" y="157"/>
                  <a:pt x="14549" y="170"/>
                </a:cubicBezTo>
                <a:cubicBezTo>
                  <a:pt x="14552" y="184"/>
                  <a:pt x="14553" y="198"/>
                  <a:pt x="14553" y="212"/>
                </a:cubicBezTo>
                <a:lnTo>
                  <a:pt x="14553" y="2091"/>
                </a:lnTo>
                <a:cubicBezTo>
                  <a:pt x="14553" y="2105"/>
                  <a:pt x="14552" y="2119"/>
                  <a:pt x="14549" y="2133"/>
                </a:cubicBezTo>
                <a:cubicBezTo>
                  <a:pt x="14546" y="2146"/>
                  <a:pt x="14542" y="2159"/>
                  <a:pt x="14537" y="2172"/>
                </a:cubicBezTo>
                <a:cubicBezTo>
                  <a:pt x="14532" y="2185"/>
                  <a:pt x="14525" y="2197"/>
                  <a:pt x="14517" y="2209"/>
                </a:cubicBezTo>
                <a:cubicBezTo>
                  <a:pt x="14510" y="2220"/>
                  <a:pt x="14501" y="2231"/>
                  <a:pt x="14491" y="2241"/>
                </a:cubicBezTo>
                <a:cubicBezTo>
                  <a:pt x="14481" y="2251"/>
                  <a:pt x="14471" y="2260"/>
                  <a:pt x="14459" y="2267"/>
                </a:cubicBezTo>
                <a:cubicBezTo>
                  <a:pt x="14447" y="2275"/>
                  <a:pt x="14435" y="2282"/>
                  <a:pt x="14422" y="2287"/>
                </a:cubicBezTo>
                <a:cubicBezTo>
                  <a:pt x="14410" y="2292"/>
                  <a:pt x="14396" y="2296"/>
                  <a:pt x="14383" y="2299"/>
                </a:cubicBezTo>
                <a:cubicBezTo>
                  <a:pt x="14369" y="2302"/>
                  <a:pt x="14355" y="2303"/>
                  <a:pt x="14341" y="2303"/>
                </a:cubicBezTo>
                <a:lnTo>
                  <a:pt x="212" y="2303"/>
                </a:lnTo>
                <a:cubicBezTo>
                  <a:pt x="198" y="2303"/>
                  <a:pt x="184" y="2302"/>
                  <a:pt x="170" y="2299"/>
                </a:cubicBezTo>
                <a:cubicBezTo>
                  <a:pt x="157" y="2296"/>
                  <a:pt x="144" y="2292"/>
                  <a:pt x="131" y="2287"/>
                </a:cubicBezTo>
                <a:cubicBezTo>
                  <a:pt x="118" y="2282"/>
                  <a:pt x="106" y="2275"/>
                  <a:pt x="94" y="2267"/>
                </a:cubicBezTo>
                <a:cubicBezTo>
                  <a:pt x="83" y="2260"/>
                  <a:pt x="72" y="2251"/>
                  <a:pt x="62" y="2241"/>
                </a:cubicBezTo>
                <a:cubicBezTo>
                  <a:pt x="52" y="2231"/>
                  <a:pt x="43" y="2220"/>
                  <a:pt x="36" y="2209"/>
                </a:cubicBezTo>
                <a:cubicBezTo>
                  <a:pt x="28" y="2197"/>
                  <a:pt x="21" y="2185"/>
                  <a:pt x="16" y="2172"/>
                </a:cubicBezTo>
                <a:cubicBezTo>
                  <a:pt x="11" y="2159"/>
                  <a:pt x="7" y="2146"/>
                  <a:pt x="4" y="2133"/>
                </a:cubicBezTo>
                <a:cubicBezTo>
                  <a:pt x="1" y="2119"/>
                  <a:pt x="0" y="2105"/>
                  <a:pt x="0" y="209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723600" y="263808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5" y="479"/>
                  <a:pt x="840" y="506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1"/>
                  <a:pt x="792" y="636"/>
                  <a:pt x="777" y="659"/>
                </a:cubicBezTo>
                <a:cubicBezTo>
                  <a:pt x="761" y="682"/>
                  <a:pt x="744" y="703"/>
                  <a:pt x="724" y="724"/>
                </a:cubicBezTo>
                <a:cubicBezTo>
                  <a:pt x="704" y="744"/>
                  <a:pt x="683" y="761"/>
                  <a:pt x="660" y="777"/>
                </a:cubicBezTo>
                <a:cubicBezTo>
                  <a:pt x="637" y="792"/>
                  <a:pt x="612" y="805"/>
                  <a:pt x="587" y="816"/>
                </a:cubicBezTo>
                <a:cubicBezTo>
                  <a:pt x="561" y="827"/>
                  <a:pt x="535" y="835"/>
                  <a:pt x="507" y="840"/>
                </a:cubicBezTo>
                <a:cubicBezTo>
                  <a:pt x="480" y="845"/>
                  <a:pt x="452" y="848"/>
                  <a:pt x="425" y="848"/>
                </a:cubicBezTo>
                <a:cubicBezTo>
                  <a:pt x="397" y="848"/>
                  <a:pt x="369" y="845"/>
                  <a:pt x="342" y="840"/>
                </a:cubicBezTo>
                <a:cubicBezTo>
                  <a:pt x="315" y="835"/>
                  <a:pt x="288" y="827"/>
                  <a:pt x="263" y="816"/>
                </a:cubicBezTo>
                <a:cubicBezTo>
                  <a:pt x="237" y="805"/>
                  <a:pt x="213" y="792"/>
                  <a:pt x="189" y="777"/>
                </a:cubicBezTo>
                <a:cubicBezTo>
                  <a:pt x="166" y="761"/>
                  <a:pt x="145" y="744"/>
                  <a:pt x="125" y="724"/>
                </a:cubicBezTo>
                <a:cubicBezTo>
                  <a:pt x="106" y="703"/>
                  <a:pt x="87" y="682"/>
                  <a:pt x="72" y="659"/>
                </a:cubicBezTo>
                <a:cubicBezTo>
                  <a:pt x="56" y="636"/>
                  <a:pt x="43" y="611"/>
                  <a:pt x="33" y="586"/>
                </a:cubicBezTo>
                <a:cubicBezTo>
                  <a:pt x="22" y="560"/>
                  <a:pt x="14" y="534"/>
                  <a:pt x="8" y="506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8"/>
                  <a:pt x="8" y="341"/>
                </a:cubicBezTo>
                <a:cubicBezTo>
                  <a:pt x="14" y="314"/>
                  <a:pt x="22" y="287"/>
                  <a:pt x="33" y="262"/>
                </a:cubicBezTo>
                <a:cubicBezTo>
                  <a:pt x="43" y="236"/>
                  <a:pt x="56" y="212"/>
                  <a:pt x="72" y="189"/>
                </a:cubicBezTo>
                <a:cubicBezTo>
                  <a:pt x="87" y="165"/>
                  <a:pt x="106" y="144"/>
                  <a:pt x="125" y="124"/>
                </a:cubicBezTo>
                <a:cubicBezTo>
                  <a:pt x="145" y="105"/>
                  <a:pt x="166" y="87"/>
                  <a:pt x="189" y="72"/>
                </a:cubicBezTo>
                <a:cubicBezTo>
                  <a:pt x="213" y="56"/>
                  <a:pt x="237" y="43"/>
                  <a:pt x="263" y="33"/>
                </a:cubicBezTo>
                <a:cubicBezTo>
                  <a:pt x="288" y="22"/>
                  <a:pt x="315" y="14"/>
                  <a:pt x="342" y="9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9"/>
                </a:cubicBezTo>
                <a:cubicBezTo>
                  <a:pt x="535" y="14"/>
                  <a:pt x="561" y="22"/>
                  <a:pt x="587" y="33"/>
                </a:cubicBezTo>
                <a:cubicBezTo>
                  <a:pt x="612" y="43"/>
                  <a:pt x="637" y="56"/>
                  <a:pt x="660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4" y="144"/>
                  <a:pt x="761" y="165"/>
                  <a:pt x="777" y="189"/>
                </a:cubicBezTo>
                <a:cubicBezTo>
                  <a:pt x="792" y="212"/>
                  <a:pt x="805" y="236"/>
                  <a:pt x="816" y="262"/>
                </a:cubicBezTo>
                <a:cubicBezTo>
                  <a:pt x="826" y="287"/>
                  <a:pt x="834" y="314"/>
                  <a:pt x="840" y="341"/>
                </a:cubicBezTo>
                <a:cubicBezTo>
                  <a:pt x="845" y="368"/>
                  <a:pt x="848" y="396"/>
                  <a:pt x="848" y="4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0880" y="24768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报告⽬录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1640" y="270036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81160" y="2612520"/>
            <a:ext cx="20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引⾔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571320" y="3400200"/>
            <a:ext cx="5239080" cy="829080"/>
          </a:xfrm>
          <a:custGeom>
            <a:avLst/>
            <a:gdLst/>
            <a:ahLst/>
            <a:cxnLst/>
            <a:rect l="0" t="0" r="r" b="b"/>
            <a:pathLst>
              <a:path w="14553" h="2303">
                <a:moveTo>
                  <a:pt x="0" y="2091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4341" y="0"/>
                </a:lnTo>
                <a:cubicBezTo>
                  <a:pt x="14355" y="0"/>
                  <a:pt x="14369" y="1"/>
                  <a:pt x="14383" y="4"/>
                </a:cubicBezTo>
                <a:cubicBezTo>
                  <a:pt x="14396" y="7"/>
                  <a:pt x="14410" y="11"/>
                  <a:pt x="14422" y="16"/>
                </a:cubicBezTo>
                <a:cubicBezTo>
                  <a:pt x="14435" y="22"/>
                  <a:pt x="14447" y="28"/>
                  <a:pt x="14459" y="36"/>
                </a:cubicBezTo>
                <a:cubicBezTo>
                  <a:pt x="14471" y="44"/>
                  <a:pt x="14481" y="52"/>
                  <a:pt x="14491" y="62"/>
                </a:cubicBezTo>
                <a:cubicBezTo>
                  <a:pt x="14501" y="72"/>
                  <a:pt x="14510" y="83"/>
                  <a:pt x="14517" y="94"/>
                </a:cubicBezTo>
                <a:cubicBezTo>
                  <a:pt x="14525" y="106"/>
                  <a:pt x="14532" y="118"/>
                  <a:pt x="14537" y="131"/>
                </a:cubicBezTo>
                <a:cubicBezTo>
                  <a:pt x="14542" y="144"/>
                  <a:pt x="14546" y="157"/>
                  <a:pt x="14549" y="170"/>
                </a:cubicBezTo>
                <a:cubicBezTo>
                  <a:pt x="14552" y="184"/>
                  <a:pt x="14553" y="198"/>
                  <a:pt x="14553" y="212"/>
                </a:cubicBezTo>
                <a:lnTo>
                  <a:pt x="14553" y="2091"/>
                </a:lnTo>
                <a:cubicBezTo>
                  <a:pt x="14553" y="2105"/>
                  <a:pt x="14552" y="2119"/>
                  <a:pt x="14549" y="2133"/>
                </a:cubicBezTo>
                <a:cubicBezTo>
                  <a:pt x="14546" y="2146"/>
                  <a:pt x="14542" y="2159"/>
                  <a:pt x="14537" y="2172"/>
                </a:cubicBezTo>
                <a:cubicBezTo>
                  <a:pt x="14532" y="2185"/>
                  <a:pt x="14525" y="2197"/>
                  <a:pt x="14517" y="2209"/>
                </a:cubicBezTo>
                <a:cubicBezTo>
                  <a:pt x="14510" y="2220"/>
                  <a:pt x="14501" y="2231"/>
                  <a:pt x="14491" y="2241"/>
                </a:cubicBezTo>
                <a:cubicBezTo>
                  <a:pt x="14481" y="2251"/>
                  <a:pt x="14471" y="2260"/>
                  <a:pt x="14459" y="2267"/>
                </a:cubicBezTo>
                <a:cubicBezTo>
                  <a:pt x="14447" y="2275"/>
                  <a:pt x="14435" y="2282"/>
                  <a:pt x="14422" y="2287"/>
                </a:cubicBezTo>
                <a:cubicBezTo>
                  <a:pt x="14410" y="2292"/>
                  <a:pt x="14396" y="2296"/>
                  <a:pt x="14383" y="2299"/>
                </a:cubicBezTo>
                <a:cubicBezTo>
                  <a:pt x="14369" y="2302"/>
                  <a:pt x="14355" y="2303"/>
                  <a:pt x="14341" y="2303"/>
                </a:cubicBezTo>
                <a:lnTo>
                  <a:pt x="212" y="2303"/>
                </a:lnTo>
                <a:cubicBezTo>
                  <a:pt x="198" y="2303"/>
                  <a:pt x="184" y="2302"/>
                  <a:pt x="170" y="2299"/>
                </a:cubicBezTo>
                <a:cubicBezTo>
                  <a:pt x="157" y="2296"/>
                  <a:pt x="144" y="2292"/>
                  <a:pt x="131" y="2287"/>
                </a:cubicBezTo>
                <a:cubicBezTo>
                  <a:pt x="118" y="2282"/>
                  <a:pt x="106" y="2275"/>
                  <a:pt x="94" y="2267"/>
                </a:cubicBezTo>
                <a:cubicBezTo>
                  <a:pt x="83" y="2260"/>
                  <a:pt x="72" y="2251"/>
                  <a:pt x="62" y="2241"/>
                </a:cubicBezTo>
                <a:cubicBezTo>
                  <a:pt x="52" y="2231"/>
                  <a:pt x="43" y="2220"/>
                  <a:pt x="36" y="2209"/>
                </a:cubicBezTo>
                <a:cubicBezTo>
                  <a:pt x="28" y="2197"/>
                  <a:pt x="21" y="2185"/>
                  <a:pt x="16" y="2172"/>
                </a:cubicBezTo>
                <a:cubicBezTo>
                  <a:pt x="11" y="2159"/>
                  <a:pt x="7" y="2146"/>
                  <a:pt x="4" y="2133"/>
                </a:cubicBezTo>
                <a:cubicBezTo>
                  <a:pt x="1" y="2119"/>
                  <a:pt x="0" y="2105"/>
                  <a:pt x="0" y="209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723600" y="365724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5"/>
                </a:moveTo>
                <a:cubicBezTo>
                  <a:pt x="848" y="453"/>
                  <a:pt x="845" y="480"/>
                  <a:pt x="840" y="507"/>
                </a:cubicBezTo>
                <a:cubicBezTo>
                  <a:pt x="834" y="535"/>
                  <a:pt x="826" y="561"/>
                  <a:pt x="816" y="587"/>
                </a:cubicBezTo>
                <a:cubicBezTo>
                  <a:pt x="805" y="613"/>
                  <a:pt x="792" y="637"/>
                  <a:pt x="777" y="660"/>
                </a:cubicBezTo>
                <a:cubicBezTo>
                  <a:pt x="761" y="683"/>
                  <a:pt x="744" y="705"/>
                  <a:pt x="724" y="724"/>
                </a:cubicBezTo>
                <a:cubicBezTo>
                  <a:pt x="704" y="744"/>
                  <a:pt x="683" y="761"/>
                  <a:pt x="660" y="777"/>
                </a:cubicBezTo>
                <a:cubicBezTo>
                  <a:pt x="637" y="792"/>
                  <a:pt x="612" y="805"/>
                  <a:pt x="587" y="816"/>
                </a:cubicBezTo>
                <a:cubicBezTo>
                  <a:pt x="561" y="827"/>
                  <a:pt x="535" y="835"/>
                  <a:pt x="507" y="840"/>
                </a:cubicBezTo>
                <a:cubicBezTo>
                  <a:pt x="480" y="845"/>
                  <a:pt x="452" y="848"/>
                  <a:pt x="425" y="848"/>
                </a:cubicBezTo>
                <a:cubicBezTo>
                  <a:pt x="397" y="848"/>
                  <a:pt x="369" y="845"/>
                  <a:pt x="342" y="840"/>
                </a:cubicBezTo>
                <a:cubicBezTo>
                  <a:pt x="315" y="835"/>
                  <a:pt x="288" y="827"/>
                  <a:pt x="263" y="816"/>
                </a:cubicBezTo>
                <a:cubicBezTo>
                  <a:pt x="237" y="805"/>
                  <a:pt x="213" y="792"/>
                  <a:pt x="189" y="777"/>
                </a:cubicBezTo>
                <a:cubicBezTo>
                  <a:pt x="166" y="761"/>
                  <a:pt x="145" y="744"/>
                  <a:pt x="125" y="724"/>
                </a:cubicBezTo>
                <a:cubicBezTo>
                  <a:pt x="106" y="705"/>
                  <a:pt x="87" y="683"/>
                  <a:pt x="72" y="660"/>
                </a:cubicBezTo>
                <a:cubicBezTo>
                  <a:pt x="56" y="637"/>
                  <a:pt x="43" y="613"/>
                  <a:pt x="33" y="587"/>
                </a:cubicBezTo>
                <a:cubicBezTo>
                  <a:pt x="22" y="561"/>
                  <a:pt x="14" y="535"/>
                  <a:pt x="8" y="507"/>
                </a:cubicBezTo>
                <a:cubicBezTo>
                  <a:pt x="3" y="480"/>
                  <a:pt x="0" y="453"/>
                  <a:pt x="0" y="425"/>
                </a:cubicBezTo>
                <a:cubicBezTo>
                  <a:pt x="0" y="396"/>
                  <a:pt x="3" y="369"/>
                  <a:pt x="8" y="341"/>
                </a:cubicBezTo>
                <a:cubicBezTo>
                  <a:pt x="14" y="314"/>
                  <a:pt x="22" y="288"/>
                  <a:pt x="33" y="262"/>
                </a:cubicBezTo>
                <a:cubicBezTo>
                  <a:pt x="43" y="236"/>
                  <a:pt x="56" y="212"/>
                  <a:pt x="72" y="189"/>
                </a:cubicBezTo>
                <a:cubicBezTo>
                  <a:pt x="87" y="166"/>
                  <a:pt x="106" y="144"/>
                  <a:pt x="125" y="124"/>
                </a:cubicBezTo>
                <a:cubicBezTo>
                  <a:pt x="145" y="105"/>
                  <a:pt x="166" y="87"/>
                  <a:pt x="189" y="72"/>
                </a:cubicBezTo>
                <a:cubicBezTo>
                  <a:pt x="213" y="56"/>
                  <a:pt x="237" y="43"/>
                  <a:pt x="263" y="33"/>
                </a:cubicBezTo>
                <a:cubicBezTo>
                  <a:pt x="288" y="22"/>
                  <a:pt x="315" y="14"/>
                  <a:pt x="342" y="9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9"/>
                </a:cubicBezTo>
                <a:cubicBezTo>
                  <a:pt x="535" y="14"/>
                  <a:pt x="561" y="22"/>
                  <a:pt x="587" y="33"/>
                </a:cubicBezTo>
                <a:cubicBezTo>
                  <a:pt x="612" y="43"/>
                  <a:pt x="637" y="56"/>
                  <a:pt x="660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4" y="144"/>
                  <a:pt x="761" y="166"/>
                  <a:pt x="777" y="189"/>
                </a:cubicBezTo>
                <a:cubicBezTo>
                  <a:pt x="792" y="212"/>
                  <a:pt x="805" y="236"/>
                  <a:pt x="816" y="262"/>
                </a:cubicBezTo>
                <a:cubicBezTo>
                  <a:pt x="826" y="288"/>
                  <a:pt x="834" y="314"/>
                  <a:pt x="840" y="341"/>
                </a:cubicBezTo>
                <a:cubicBezTo>
                  <a:pt x="845" y="369"/>
                  <a:pt x="848" y="396"/>
                  <a:pt x="848" y="4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81160" y="2876760"/>
            <a:ext cx="716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模型原理与数据概况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1640" y="371988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81160" y="3631680"/>
            <a:ext cx="61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红⾊样本分析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任意多边形 35"/>
          <p:cNvSpPr/>
          <p:nvPr/>
        </p:nvSpPr>
        <p:spPr>
          <a:xfrm>
            <a:off x="571320" y="4419360"/>
            <a:ext cx="5239080" cy="829080"/>
          </a:xfrm>
          <a:custGeom>
            <a:avLst/>
            <a:gdLst/>
            <a:ahLst/>
            <a:cxnLst/>
            <a:rect l="0" t="0" r="r" b="b"/>
            <a:pathLst>
              <a:path w="14553" h="2303">
                <a:moveTo>
                  <a:pt x="0" y="2091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14341" y="0"/>
                </a:lnTo>
                <a:cubicBezTo>
                  <a:pt x="14355" y="0"/>
                  <a:pt x="14369" y="2"/>
                  <a:pt x="14383" y="4"/>
                </a:cubicBezTo>
                <a:cubicBezTo>
                  <a:pt x="14396" y="7"/>
                  <a:pt x="14410" y="11"/>
                  <a:pt x="14422" y="16"/>
                </a:cubicBezTo>
                <a:cubicBezTo>
                  <a:pt x="14435" y="22"/>
                  <a:pt x="14447" y="28"/>
                  <a:pt x="14459" y="36"/>
                </a:cubicBezTo>
                <a:cubicBezTo>
                  <a:pt x="14471" y="44"/>
                  <a:pt x="14481" y="52"/>
                  <a:pt x="14491" y="62"/>
                </a:cubicBezTo>
                <a:cubicBezTo>
                  <a:pt x="14501" y="72"/>
                  <a:pt x="14510" y="83"/>
                  <a:pt x="14517" y="94"/>
                </a:cubicBezTo>
                <a:cubicBezTo>
                  <a:pt x="14525" y="106"/>
                  <a:pt x="14532" y="118"/>
                  <a:pt x="14537" y="131"/>
                </a:cubicBezTo>
                <a:cubicBezTo>
                  <a:pt x="14542" y="144"/>
                  <a:pt x="14546" y="157"/>
                  <a:pt x="14549" y="171"/>
                </a:cubicBezTo>
                <a:cubicBezTo>
                  <a:pt x="14552" y="184"/>
                  <a:pt x="14553" y="198"/>
                  <a:pt x="14553" y="212"/>
                </a:cubicBezTo>
                <a:lnTo>
                  <a:pt x="14553" y="2091"/>
                </a:lnTo>
                <a:cubicBezTo>
                  <a:pt x="14553" y="2105"/>
                  <a:pt x="14552" y="2119"/>
                  <a:pt x="14549" y="2133"/>
                </a:cubicBezTo>
                <a:cubicBezTo>
                  <a:pt x="14546" y="2146"/>
                  <a:pt x="14542" y="2160"/>
                  <a:pt x="14537" y="2172"/>
                </a:cubicBezTo>
                <a:cubicBezTo>
                  <a:pt x="14532" y="2185"/>
                  <a:pt x="14525" y="2197"/>
                  <a:pt x="14517" y="2209"/>
                </a:cubicBezTo>
                <a:cubicBezTo>
                  <a:pt x="14510" y="2221"/>
                  <a:pt x="14501" y="2231"/>
                  <a:pt x="14491" y="2241"/>
                </a:cubicBezTo>
                <a:cubicBezTo>
                  <a:pt x="14481" y="2251"/>
                  <a:pt x="14471" y="2260"/>
                  <a:pt x="14459" y="2267"/>
                </a:cubicBezTo>
                <a:cubicBezTo>
                  <a:pt x="14447" y="2275"/>
                  <a:pt x="14435" y="2282"/>
                  <a:pt x="14422" y="2287"/>
                </a:cubicBezTo>
                <a:cubicBezTo>
                  <a:pt x="14410" y="2292"/>
                  <a:pt x="14396" y="2296"/>
                  <a:pt x="14383" y="2299"/>
                </a:cubicBezTo>
                <a:cubicBezTo>
                  <a:pt x="14369" y="2302"/>
                  <a:pt x="14355" y="2303"/>
                  <a:pt x="14341" y="2303"/>
                </a:cubicBezTo>
                <a:lnTo>
                  <a:pt x="212" y="2303"/>
                </a:lnTo>
                <a:cubicBezTo>
                  <a:pt x="198" y="2303"/>
                  <a:pt x="184" y="2302"/>
                  <a:pt x="170" y="2299"/>
                </a:cubicBezTo>
                <a:cubicBezTo>
                  <a:pt x="157" y="2296"/>
                  <a:pt x="144" y="2292"/>
                  <a:pt x="131" y="2287"/>
                </a:cubicBezTo>
                <a:cubicBezTo>
                  <a:pt x="118" y="2282"/>
                  <a:pt x="106" y="2275"/>
                  <a:pt x="94" y="2267"/>
                </a:cubicBezTo>
                <a:cubicBezTo>
                  <a:pt x="83" y="2260"/>
                  <a:pt x="72" y="2251"/>
                  <a:pt x="62" y="2241"/>
                </a:cubicBezTo>
                <a:cubicBezTo>
                  <a:pt x="52" y="2231"/>
                  <a:pt x="43" y="2221"/>
                  <a:pt x="36" y="2209"/>
                </a:cubicBezTo>
                <a:cubicBezTo>
                  <a:pt x="28" y="2197"/>
                  <a:pt x="21" y="2185"/>
                  <a:pt x="16" y="2172"/>
                </a:cubicBezTo>
                <a:cubicBezTo>
                  <a:pt x="11" y="2160"/>
                  <a:pt x="7" y="2146"/>
                  <a:pt x="4" y="2133"/>
                </a:cubicBezTo>
                <a:cubicBezTo>
                  <a:pt x="1" y="2119"/>
                  <a:pt x="0" y="2105"/>
                  <a:pt x="0" y="209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723600" y="4676760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848" y="424"/>
                </a:moveTo>
                <a:cubicBezTo>
                  <a:pt x="848" y="452"/>
                  <a:pt x="845" y="479"/>
                  <a:pt x="840" y="506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0"/>
                  <a:pt x="660" y="776"/>
                </a:cubicBezTo>
                <a:cubicBezTo>
                  <a:pt x="637" y="791"/>
                  <a:pt x="612" y="804"/>
                  <a:pt x="587" y="815"/>
                </a:cubicBezTo>
                <a:cubicBezTo>
                  <a:pt x="561" y="826"/>
                  <a:pt x="535" y="834"/>
                  <a:pt x="507" y="839"/>
                </a:cubicBezTo>
                <a:cubicBezTo>
                  <a:pt x="480" y="844"/>
                  <a:pt x="452" y="847"/>
                  <a:pt x="425" y="847"/>
                </a:cubicBezTo>
                <a:cubicBezTo>
                  <a:pt x="397" y="847"/>
                  <a:pt x="369" y="844"/>
                  <a:pt x="342" y="839"/>
                </a:cubicBezTo>
                <a:cubicBezTo>
                  <a:pt x="315" y="834"/>
                  <a:pt x="288" y="826"/>
                  <a:pt x="263" y="815"/>
                </a:cubicBezTo>
                <a:cubicBezTo>
                  <a:pt x="237" y="804"/>
                  <a:pt x="213" y="791"/>
                  <a:pt x="189" y="776"/>
                </a:cubicBezTo>
                <a:cubicBezTo>
                  <a:pt x="166" y="760"/>
                  <a:pt x="145" y="743"/>
                  <a:pt x="125" y="723"/>
                </a:cubicBezTo>
                <a:cubicBezTo>
                  <a:pt x="106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8" y="506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9"/>
                  <a:pt x="8" y="341"/>
                </a:cubicBezTo>
                <a:cubicBezTo>
                  <a:pt x="14" y="314"/>
                  <a:pt x="22" y="288"/>
                  <a:pt x="33" y="262"/>
                </a:cubicBezTo>
                <a:cubicBezTo>
                  <a:pt x="43" y="236"/>
                  <a:pt x="56" y="212"/>
                  <a:pt x="72" y="189"/>
                </a:cubicBezTo>
                <a:cubicBezTo>
                  <a:pt x="87" y="166"/>
                  <a:pt x="106" y="144"/>
                  <a:pt x="125" y="125"/>
                </a:cubicBezTo>
                <a:cubicBezTo>
                  <a:pt x="145" y="104"/>
                  <a:pt x="166" y="86"/>
                  <a:pt x="189" y="71"/>
                </a:cubicBezTo>
                <a:cubicBezTo>
                  <a:pt x="213" y="55"/>
                  <a:pt x="237" y="42"/>
                  <a:pt x="263" y="32"/>
                </a:cubicBezTo>
                <a:cubicBezTo>
                  <a:pt x="288" y="21"/>
                  <a:pt x="315" y="13"/>
                  <a:pt x="342" y="8"/>
                </a:cubicBezTo>
                <a:cubicBezTo>
                  <a:pt x="369" y="2"/>
                  <a:pt x="397" y="0"/>
                  <a:pt x="425" y="0"/>
                </a:cubicBezTo>
                <a:cubicBezTo>
                  <a:pt x="452" y="0"/>
                  <a:pt x="480" y="2"/>
                  <a:pt x="507" y="8"/>
                </a:cubicBezTo>
                <a:cubicBezTo>
                  <a:pt x="535" y="13"/>
                  <a:pt x="561" y="21"/>
                  <a:pt x="587" y="32"/>
                </a:cubicBezTo>
                <a:cubicBezTo>
                  <a:pt x="612" y="42"/>
                  <a:pt x="637" y="55"/>
                  <a:pt x="660" y="71"/>
                </a:cubicBezTo>
                <a:cubicBezTo>
                  <a:pt x="683" y="86"/>
                  <a:pt x="704" y="104"/>
                  <a:pt x="724" y="125"/>
                </a:cubicBezTo>
                <a:cubicBezTo>
                  <a:pt x="744" y="144"/>
                  <a:pt x="761" y="166"/>
                  <a:pt x="777" y="189"/>
                </a:cubicBezTo>
                <a:cubicBezTo>
                  <a:pt x="792" y="212"/>
                  <a:pt x="805" y="236"/>
                  <a:pt x="816" y="262"/>
                </a:cubicBezTo>
                <a:cubicBezTo>
                  <a:pt x="826" y="288"/>
                  <a:pt x="834" y="314"/>
                  <a:pt x="840" y="341"/>
                </a:cubicBezTo>
                <a:cubicBezTo>
                  <a:pt x="845" y="369"/>
                  <a:pt x="848" y="396"/>
                  <a:pt x="848" y="4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81160" y="3895920"/>
            <a:ext cx="1114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逾期催收后仍在逾期的客⼾特征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91640" y="473904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81160" y="4650840"/>
            <a:ext cx="61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⻩⾊样本分析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6381720" y="2381040"/>
            <a:ext cx="5239080" cy="829080"/>
          </a:xfrm>
          <a:custGeom>
            <a:avLst/>
            <a:gdLst/>
            <a:ahLst/>
            <a:cxnLst/>
            <a:rect l="0" t="0" r="r" b="b"/>
            <a:pathLst>
              <a:path w="14553" h="2303">
                <a:moveTo>
                  <a:pt x="0" y="2091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6" y="157"/>
                  <a:pt x="10" y="144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1" y="52"/>
                  <a:pt x="82" y="43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14341" y="0"/>
                </a:lnTo>
                <a:cubicBezTo>
                  <a:pt x="14355" y="0"/>
                  <a:pt x="14369" y="1"/>
                  <a:pt x="14382" y="4"/>
                </a:cubicBezTo>
                <a:cubicBezTo>
                  <a:pt x="14396" y="7"/>
                  <a:pt x="14409" y="11"/>
                  <a:pt x="14422" y="16"/>
                </a:cubicBezTo>
                <a:cubicBezTo>
                  <a:pt x="14435" y="22"/>
                  <a:pt x="14447" y="28"/>
                  <a:pt x="14459" y="36"/>
                </a:cubicBezTo>
                <a:cubicBezTo>
                  <a:pt x="14470" y="43"/>
                  <a:pt x="14481" y="52"/>
                  <a:pt x="14491" y="62"/>
                </a:cubicBezTo>
                <a:cubicBezTo>
                  <a:pt x="14500" y="72"/>
                  <a:pt x="14509" y="83"/>
                  <a:pt x="14517" y="94"/>
                </a:cubicBezTo>
                <a:cubicBezTo>
                  <a:pt x="14525" y="106"/>
                  <a:pt x="14531" y="118"/>
                  <a:pt x="14537" y="131"/>
                </a:cubicBezTo>
                <a:cubicBezTo>
                  <a:pt x="14542" y="144"/>
                  <a:pt x="14546" y="157"/>
                  <a:pt x="14549" y="170"/>
                </a:cubicBezTo>
                <a:cubicBezTo>
                  <a:pt x="14551" y="184"/>
                  <a:pt x="14553" y="198"/>
                  <a:pt x="14553" y="212"/>
                </a:cubicBezTo>
                <a:lnTo>
                  <a:pt x="14553" y="2091"/>
                </a:lnTo>
                <a:cubicBezTo>
                  <a:pt x="14553" y="2105"/>
                  <a:pt x="14551" y="2119"/>
                  <a:pt x="14549" y="2133"/>
                </a:cubicBezTo>
                <a:cubicBezTo>
                  <a:pt x="14546" y="2146"/>
                  <a:pt x="14542" y="2159"/>
                  <a:pt x="14537" y="2172"/>
                </a:cubicBezTo>
                <a:cubicBezTo>
                  <a:pt x="14531" y="2185"/>
                  <a:pt x="14525" y="2197"/>
                  <a:pt x="14517" y="2209"/>
                </a:cubicBezTo>
                <a:cubicBezTo>
                  <a:pt x="14509" y="2220"/>
                  <a:pt x="14500" y="2231"/>
                  <a:pt x="14491" y="2241"/>
                </a:cubicBezTo>
                <a:cubicBezTo>
                  <a:pt x="14481" y="2251"/>
                  <a:pt x="14470" y="2260"/>
                  <a:pt x="14459" y="2267"/>
                </a:cubicBezTo>
                <a:cubicBezTo>
                  <a:pt x="14447" y="2275"/>
                  <a:pt x="14435" y="2282"/>
                  <a:pt x="14422" y="2287"/>
                </a:cubicBezTo>
                <a:cubicBezTo>
                  <a:pt x="14409" y="2292"/>
                  <a:pt x="14396" y="2296"/>
                  <a:pt x="14382" y="2299"/>
                </a:cubicBezTo>
                <a:cubicBezTo>
                  <a:pt x="14369" y="2302"/>
                  <a:pt x="14355" y="2303"/>
                  <a:pt x="14341" y="2303"/>
                </a:cubicBezTo>
                <a:lnTo>
                  <a:pt x="211" y="2303"/>
                </a:lnTo>
                <a:cubicBezTo>
                  <a:pt x="197" y="2303"/>
                  <a:pt x="184" y="2302"/>
                  <a:pt x="170" y="2299"/>
                </a:cubicBezTo>
                <a:cubicBezTo>
                  <a:pt x="156" y="2296"/>
                  <a:pt x="143" y="2292"/>
                  <a:pt x="130" y="2287"/>
                </a:cubicBezTo>
                <a:cubicBezTo>
                  <a:pt x="117" y="2282"/>
                  <a:pt x="105" y="2275"/>
                  <a:pt x="94" y="2267"/>
                </a:cubicBezTo>
                <a:cubicBezTo>
                  <a:pt x="82" y="2260"/>
                  <a:pt x="71" y="2251"/>
                  <a:pt x="62" y="2241"/>
                </a:cubicBezTo>
                <a:cubicBezTo>
                  <a:pt x="52" y="2231"/>
                  <a:pt x="43" y="2220"/>
                  <a:pt x="35" y="2209"/>
                </a:cubicBezTo>
                <a:cubicBezTo>
                  <a:pt x="28" y="2197"/>
                  <a:pt x="21" y="2185"/>
                  <a:pt x="16" y="2172"/>
                </a:cubicBezTo>
                <a:cubicBezTo>
                  <a:pt x="10" y="2159"/>
                  <a:pt x="6" y="2146"/>
                  <a:pt x="4" y="2133"/>
                </a:cubicBezTo>
                <a:cubicBezTo>
                  <a:pt x="1" y="2119"/>
                  <a:pt x="0" y="2105"/>
                  <a:pt x="0" y="209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6534000" y="263808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5" y="479"/>
                  <a:pt x="839" y="506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5" y="611"/>
                  <a:pt x="792" y="636"/>
                  <a:pt x="776" y="659"/>
                </a:cubicBezTo>
                <a:cubicBezTo>
                  <a:pt x="761" y="682"/>
                  <a:pt x="743" y="703"/>
                  <a:pt x="724" y="724"/>
                </a:cubicBezTo>
                <a:cubicBezTo>
                  <a:pt x="704" y="744"/>
                  <a:pt x="683" y="761"/>
                  <a:pt x="659" y="777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61" y="827"/>
                  <a:pt x="534" y="835"/>
                  <a:pt x="507" y="840"/>
                </a:cubicBezTo>
                <a:cubicBezTo>
                  <a:pt x="480" y="845"/>
                  <a:pt x="452" y="848"/>
                  <a:pt x="424" y="848"/>
                </a:cubicBezTo>
                <a:cubicBezTo>
                  <a:pt x="396" y="848"/>
                  <a:pt x="369" y="845"/>
                  <a:pt x="342" y="840"/>
                </a:cubicBezTo>
                <a:cubicBezTo>
                  <a:pt x="314" y="835"/>
                  <a:pt x="288" y="827"/>
                  <a:pt x="262" y="816"/>
                </a:cubicBezTo>
                <a:cubicBezTo>
                  <a:pt x="237" y="805"/>
                  <a:pt x="212" y="792"/>
                  <a:pt x="189" y="777"/>
                </a:cubicBezTo>
                <a:cubicBezTo>
                  <a:pt x="166" y="761"/>
                  <a:pt x="145" y="744"/>
                  <a:pt x="125" y="724"/>
                </a:cubicBezTo>
                <a:cubicBezTo>
                  <a:pt x="105" y="703"/>
                  <a:pt x="88" y="682"/>
                  <a:pt x="72" y="659"/>
                </a:cubicBezTo>
                <a:cubicBezTo>
                  <a:pt x="57" y="636"/>
                  <a:pt x="44" y="611"/>
                  <a:pt x="32" y="586"/>
                </a:cubicBezTo>
                <a:cubicBezTo>
                  <a:pt x="22" y="560"/>
                  <a:pt x="13" y="534"/>
                  <a:pt x="8" y="506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8"/>
                  <a:pt x="8" y="341"/>
                </a:cubicBezTo>
                <a:cubicBezTo>
                  <a:pt x="13" y="314"/>
                  <a:pt x="22" y="287"/>
                  <a:pt x="32" y="262"/>
                </a:cubicBezTo>
                <a:cubicBezTo>
                  <a:pt x="44" y="236"/>
                  <a:pt x="57" y="212"/>
                  <a:pt x="72" y="189"/>
                </a:cubicBezTo>
                <a:cubicBezTo>
                  <a:pt x="88" y="165"/>
                  <a:pt x="105" y="144"/>
                  <a:pt x="125" y="124"/>
                </a:cubicBezTo>
                <a:cubicBezTo>
                  <a:pt x="145" y="105"/>
                  <a:pt x="166" y="87"/>
                  <a:pt x="189" y="72"/>
                </a:cubicBezTo>
                <a:cubicBezTo>
                  <a:pt x="212" y="56"/>
                  <a:pt x="237" y="43"/>
                  <a:pt x="262" y="33"/>
                </a:cubicBezTo>
                <a:cubicBezTo>
                  <a:pt x="288" y="22"/>
                  <a:pt x="314" y="14"/>
                  <a:pt x="342" y="9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80" y="3"/>
                  <a:pt x="507" y="9"/>
                </a:cubicBezTo>
                <a:cubicBezTo>
                  <a:pt x="534" y="14"/>
                  <a:pt x="561" y="22"/>
                  <a:pt x="586" y="33"/>
                </a:cubicBezTo>
                <a:cubicBezTo>
                  <a:pt x="612" y="43"/>
                  <a:pt x="636" y="56"/>
                  <a:pt x="659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3" y="144"/>
                  <a:pt x="761" y="165"/>
                  <a:pt x="776" y="189"/>
                </a:cubicBezTo>
                <a:cubicBezTo>
                  <a:pt x="792" y="212"/>
                  <a:pt x="805" y="236"/>
                  <a:pt x="815" y="262"/>
                </a:cubicBezTo>
                <a:cubicBezTo>
                  <a:pt x="826" y="287"/>
                  <a:pt x="834" y="314"/>
                  <a:pt x="839" y="341"/>
                </a:cubicBezTo>
                <a:cubicBezTo>
                  <a:pt x="845" y="368"/>
                  <a:pt x="848" y="396"/>
                  <a:pt x="848" y="42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181160" y="4915080"/>
            <a:ext cx="1114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逾期后催收正常还款的客⼾特征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601680" y="270036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991200" y="2612520"/>
            <a:ext cx="61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绿⾊样本分析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任意多边形 45"/>
          <p:cNvSpPr/>
          <p:nvPr/>
        </p:nvSpPr>
        <p:spPr>
          <a:xfrm>
            <a:off x="6381720" y="3400200"/>
            <a:ext cx="5239080" cy="829080"/>
          </a:xfrm>
          <a:custGeom>
            <a:avLst/>
            <a:gdLst/>
            <a:ahLst/>
            <a:cxnLst/>
            <a:rect l="0" t="0" r="r" b="b"/>
            <a:pathLst>
              <a:path w="14553" h="2303">
                <a:moveTo>
                  <a:pt x="0" y="2091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6" y="157"/>
                  <a:pt x="10" y="144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1" y="52"/>
                  <a:pt x="82" y="44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14341" y="0"/>
                </a:lnTo>
                <a:cubicBezTo>
                  <a:pt x="14355" y="0"/>
                  <a:pt x="14369" y="1"/>
                  <a:pt x="14382" y="4"/>
                </a:cubicBezTo>
                <a:cubicBezTo>
                  <a:pt x="14396" y="7"/>
                  <a:pt x="14409" y="11"/>
                  <a:pt x="14422" y="16"/>
                </a:cubicBezTo>
                <a:cubicBezTo>
                  <a:pt x="14435" y="22"/>
                  <a:pt x="14447" y="28"/>
                  <a:pt x="14459" y="36"/>
                </a:cubicBezTo>
                <a:cubicBezTo>
                  <a:pt x="14470" y="44"/>
                  <a:pt x="14481" y="52"/>
                  <a:pt x="14491" y="62"/>
                </a:cubicBezTo>
                <a:cubicBezTo>
                  <a:pt x="14500" y="72"/>
                  <a:pt x="14509" y="83"/>
                  <a:pt x="14517" y="94"/>
                </a:cubicBezTo>
                <a:cubicBezTo>
                  <a:pt x="14525" y="106"/>
                  <a:pt x="14531" y="118"/>
                  <a:pt x="14537" y="131"/>
                </a:cubicBezTo>
                <a:cubicBezTo>
                  <a:pt x="14542" y="144"/>
                  <a:pt x="14546" y="157"/>
                  <a:pt x="14549" y="170"/>
                </a:cubicBezTo>
                <a:cubicBezTo>
                  <a:pt x="14551" y="184"/>
                  <a:pt x="14553" y="198"/>
                  <a:pt x="14553" y="212"/>
                </a:cubicBezTo>
                <a:lnTo>
                  <a:pt x="14553" y="2091"/>
                </a:lnTo>
                <a:cubicBezTo>
                  <a:pt x="14553" y="2105"/>
                  <a:pt x="14551" y="2119"/>
                  <a:pt x="14549" y="2133"/>
                </a:cubicBezTo>
                <a:cubicBezTo>
                  <a:pt x="14546" y="2146"/>
                  <a:pt x="14542" y="2159"/>
                  <a:pt x="14537" y="2172"/>
                </a:cubicBezTo>
                <a:cubicBezTo>
                  <a:pt x="14531" y="2185"/>
                  <a:pt x="14525" y="2197"/>
                  <a:pt x="14517" y="2209"/>
                </a:cubicBezTo>
                <a:cubicBezTo>
                  <a:pt x="14509" y="2220"/>
                  <a:pt x="14500" y="2231"/>
                  <a:pt x="14491" y="2241"/>
                </a:cubicBezTo>
                <a:cubicBezTo>
                  <a:pt x="14481" y="2251"/>
                  <a:pt x="14470" y="2260"/>
                  <a:pt x="14459" y="2267"/>
                </a:cubicBezTo>
                <a:cubicBezTo>
                  <a:pt x="14447" y="2275"/>
                  <a:pt x="14435" y="2282"/>
                  <a:pt x="14422" y="2287"/>
                </a:cubicBezTo>
                <a:cubicBezTo>
                  <a:pt x="14409" y="2292"/>
                  <a:pt x="14396" y="2296"/>
                  <a:pt x="14382" y="2299"/>
                </a:cubicBezTo>
                <a:cubicBezTo>
                  <a:pt x="14369" y="2302"/>
                  <a:pt x="14355" y="2303"/>
                  <a:pt x="14341" y="2303"/>
                </a:cubicBezTo>
                <a:lnTo>
                  <a:pt x="211" y="2303"/>
                </a:lnTo>
                <a:cubicBezTo>
                  <a:pt x="197" y="2303"/>
                  <a:pt x="184" y="2302"/>
                  <a:pt x="170" y="2299"/>
                </a:cubicBezTo>
                <a:cubicBezTo>
                  <a:pt x="156" y="2296"/>
                  <a:pt x="143" y="2292"/>
                  <a:pt x="130" y="2287"/>
                </a:cubicBezTo>
                <a:cubicBezTo>
                  <a:pt x="117" y="2282"/>
                  <a:pt x="105" y="2275"/>
                  <a:pt x="94" y="2267"/>
                </a:cubicBezTo>
                <a:cubicBezTo>
                  <a:pt x="82" y="2260"/>
                  <a:pt x="71" y="2251"/>
                  <a:pt x="62" y="2241"/>
                </a:cubicBezTo>
                <a:cubicBezTo>
                  <a:pt x="52" y="2231"/>
                  <a:pt x="43" y="2220"/>
                  <a:pt x="35" y="2209"/>
                </a:cubicBezTo>
                <a:cubicBezTo>
                  <a:pt x="28" y="2197"/>
                  <a:pt x="21" y="2185"/>
                  <a:pt x="16" y="2172"/>
                </a:cubicBezTo>
                <a:cubicBezTo>
                  <a:pt x="10" y="2159"/>
                  <a:pt x="6" y="2146"/>
                  <a:pt x="4" y="2133"/>
                </a:cubicBezTo>
                <a:cubicBezTo>
                  <a:pt x="1" y="2119"/>
                  <a:pt x="0" y="2105"/>
                  <a:pt x="0" y="2091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6534000" y="365724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5"/>
                </a:moveTo>
                <a:cubicBezTo>
                  <a:pt x="848" y="453"/>
                  <a:pt x="845" y="480"/>
                  <a:pt x="839" y="507"/>
                </a:cubicBezTo>
                <a:cubicBezTo>
                  <a:pt x="834" y="535"/>
                  <a:pt x="826" y="561"/>
                  <a:pt x="815" y="587"/>
                </a:cubicBezTo>
                <a:cubicBezTo>
                  <a:pt x="805" y="613"/>
                  <a:pt x="792" y="637"/>
                  <a:pt x="776" y="660"/>
                </a:cubicBezTo>
                <a:cubicBezTo>
                  <a:pt x="761" y="683"/>
                  <a:pt x="743" y="705"/>
                  <a:pt x="724" y="724"/>
                </a:cubicBezTo>
                <a:cubicBezTo>
                  <a:pt x="704" y="744"/>
                  <a:pt x="683" y="761"/>
                  <a:pt x="659" y="777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61" y="827"/>
                  <a:pt x="534" y="835"/>
                  <a:pt x="507" y="840"/>
                </a:cubicBezTo>
                <a:cubicBezTo>
                  <a:pt x="480" y="845"/>
                  <a:pt x="452" y="848"/>
                  <a:pt x="424" y="848"/>
                </a:cubicBezTo>
                <a:cubicBezTo>
                  <a:pt x="396" y="848"/>
                  <a:pt x="369" y="845"/>
                  <a:pt x="342" y="840"/>
                </a:cubicBezTo>
                <a:cubicBezTo>
                  <a:pt x="314" y="835"/>
                  <a:pt x="288" y="827"/>
                  <a:pt x="262" y="816"/>
                </a:cubicBezTo>
                <a:cubicBezTo>
                  <a:pt x="237" y="805"/>
                  <a:pt x="212" y="792"/>
                  <a:pt x="189" y="777"/>
                </a:cubicBezTo>
                <a:cubicBezTo>
                  <a:pt x="166" y="761"/>
                  <a:pt x="145" y="744"/>
                  <a:pt x="125" y="724"/>
                </a:cubicBezTo>
                <a:cubicBezTo>
                  <a:pt x="105" y="705"/>
                  <a:pt x="88" y="683"/>
                  <a:pt x="72" y="660"/>
                </a:cubicBezTo>
                <a:cubicBezTo>
                  <a:pt x="57" y="637"/>
                  <a:pt x="44" y="613"/>
                  <a:pt x="32" y="587"/>
                </a:cubicBezTo>
                <a:cubicBezTo>
                  <a:pt x="22" y="561"/>
                  <a:pt x="13" y="535"/>
                  <a:pt x="8" y="507"/>
                </a:cubicBezTo>
                <a:cubicBezTo>
                  <a:pt x="3" y="480"/>
                  <a:pt x="0" y="453"/>
                  <a:pt x="0" y="425"/>
                </a:cubicBezTo>
                <a:cubicBezTo>
                  <a:pt x="0" y="396"/>
                  <a:pt x="3" y="369"/>
                  <a:pt x="8" y="341"/>
                </a:cubicBezTo>
                <a:cubicBezTo>
                  <a:pt x="13" y="314"/>
                  <a:pt x="22" y="288"/>
                  <a:pt x="32" y="262"/>
                </a:cubicBezTo>
                <a:cubicBezTo>
                  <a:pt x="44" y="236"/>
                  <a:pt x="57" y="212"/>
                  <a:pt x="72" y="189"/>
                </a:cubicBezTo>
                <a:cubicBezTo>
                  <a:pt x="88" y="166"/>
                  <a:pt x="105" y="144"/>
                  <a:pt x="125" y="124"/>
                </a:cubicBezTo>
                <a:cubicBezTo>
                  <a:pt x="145" y="105"/>
                  <a:pt x="166" y="87"/>
                  <a:pt x="189" y="72"/>
                </a:cubicBezTo>
                <a:cubicBezTo>
                  <a:pt x="212" y="56"/>
                  <a:pt x="237" y="43"/>
                  <a:pt x="262" y="33"/>
                </a:cubicBezTo>
                <a:cubicBezTo>
                  <a:pt x="288" y="22"/>
                  <a:pt x="314" y="14"/>
                  <a:pt x="342" y="9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80" y="3"/>
                  <a:pt x="507" y="9"/>
                </a:cubicBezTo>
                <a:cubicBezTo>
                  <a:pt x="534" y="14"/>
                  <a:pt x="561" y="22"/>
                  <a:pt x="586" y="33"/>
                </a:cubicBezTo>
                <a:cubicBezTo>
                  <a:pt x="612" y="43"/>
                  <a:pt x="636" y="56"/>
                  <a:pt x="659" y="72"/>
                </a:cubicBezTo>
                <a:cubicBezTo>
                  <a:pt x="683" y="87"/>
                  <a:pt x="704" y="105"/>
                  <a:pt x="724" y="124"/>
                </a:cubicBezTo>
                <a:cubicBezTo>
                  <a:pt x="743" y="144"/>
                  <a:pt x="761" y="166"/>
                  <a:pt x="776" y="189"/>
                </a:cubicBezTo>
                <a:cubicBezTo>
                  <a:pt x="792" y="212"/>
                  <a:pt x="805" y="236"/>
                  <a:pt x="815" y="262"/>
                </a:cubicBezTo>
                <a:cubicBezTo>
                  <a:pt x="826" y="288"/>
                  <a:pt x="834" y="314"/>
                  <a:pt x="839" y="341"/>
                </a:cubicBezTo>
                <a:cubicBezTo>
                  <a:pt x="845" y="369"/>
                  <a:pt x="848" y="396"/>
                  <a:pt x="848" y="42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991200" y="2876760"/>
            <a:ext cx="875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从未逾期客⼾的信⽤特征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601680" y="371988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991200" y="3631680"/>
            <a:ext cx="20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总结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991200" y="3895920"/>
            <a:ext cx="716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⻛险特征总结与建议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304560" y="304560"/>
            <a:ext cx="11582640" cy="6553440"/>
          </a:xfrm>
          <a:custGeom>
            <a:avLst/>
            <a:gdLst/>
            <a:ahLst/>
            <a:cxnLst/>
            <a:rect l="0" t="0" r="r" b="b"/>
            <a:pathLst>
              <a:path w="32174" h="18204">
                <a:moveTo>
                  <a:pt x="0" y="1820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31857" y="0"/>
                </a:lnTo>
                <a:cubicBezTo>
                  <a:pt x="31878" y="0"/>
                  <a:pt x="31898" y="2"/>
                  <a:pt x="31919" y="6"/>
                </a:cubicBezTo>
                <a:cubicBezTo>
                  <a:pt x="31939" y="10"/>
                  <a:pt x="31959" y="16"/>
                  <a:pt x="31978" y="24"/>
                </a:cubicBezTo>
                <a:cubicBezTo>
                  <a:pt x="31998" y="32"/>
                  <a:pt x="32016" y="42"/>
                  <a:pt x="32033" y="54"/>
                </a:cubicBezTo>
                <a:cubicBezTo>
                  <a:pt x="32051" y="65"/>
                  <a:pt x="32067" y="78"/>
                  <a:pt x="32082" y="93"/>
                </a:cubicBezTo>
                <a:cubicBezTo>
                  <a:pt x="32096" y="108"/>
                  <a:pt x="32109" y="124"/>
                  <a:pt x="32121" y="141"/>
                </a:cubicBezTo>
                <a:cubicBezTo>
                  <a:pt x="32133" y="159"/>
                  <a:pt x="32142" y="177"/>
                  <a:pt x="32150" y="196"/>
                </a:cubicBezTo>
                <a:cubicBezTo>
                  <a:pt x="32158" y="215"/>
                  <a:pt x="32164" y="235"/>
                  <a:pt x="32168" y="256"/>
                </a:cubicBezTo>
                <a:cubicBezTo>
                  <a:pt x="32172" y="276"/>
                  <a:pt x="32174" y="297"/>
                  <a:pt x="32174" y="318"/>
                </a:cubicBezTo>
                <a:lnTo>
                  <a:pt x="32174" y="18204"/>
                </a:lnTo>
                <a:lnTo>
                  <a:pt x="0" y="1820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304560" y="304560"/>
            <a:ext cx="11582640" cy="1067040"/>
          </a:xfrm>
          <a:custGeom>
            <a:avLst/>
            <a:gdLst/>
            <a:ahLst/>
            <a:cxnLst/>
            <a:rect l="0" t="0" r="r" b="b"/>
            <a:pathLst>
              <a:path w="32174" h="2964">
                <a:moveTo>
                  <a:pt x="24" y="196"/>
                </a:moveTo>
                <a:cubicBezTo>
                  <a:pt x="40" y="157"/>
                  <a:pt x="63" y="123"/>
                  <a:pt x="93" y="93"/>
                </a:cubicBezTo>
                <a:cubicBezTo>
                  <a:pt x="123" y="63"/>
                  <a:pt x="157" y="40"/>
                  <a:pt x="196" y="24"/>
                </a:cubicBezTo>
                <a:cubicBezTo>
                  <a:pt x="235" y="8"/>
                  <a:pt x="276" y="0"/>
                  <a:pt x="318" y="0"/>
                </a:cubicBezTo>
                <a:lnTo>
                  <a:pt x="31857" y="0"/>
                </a:lnTo>
                <a:cubicBezTo>
                  <a:pt x="31899" y="0"/>
                  <a:pt x="31940" y="8"/>
                  <a:pt x="31978" y="24"/>
                </a:cubicBezTo>
                <a:cubicBezTo>
                  <a:pt x="32017" y="40"/>
                  <a:pt x="32052" y="63"/>
                  <a:pt x="32082" y="93"/>
                </a:cubicBezTo>
                <a:cubicBezTo>
                  <a:pt x="32111" y="123"/>
                  <a:pt x="32134" y="157"/>
                  <a:pt x="32150" y="196"/>
                </a:cubicBezTo>
                <a:cubicBezTo>
                  <a:pt x="32166" y="235"/>
                  <a:pt x="32174" y="276"/>
                  <a:pt x="32174" y="318"/>
                </a:cubicBezTo>
                <a:lnTo>
                  <a:pt x="32174" y="2964"/>
                </a:lnTo>
                <a:lnTo>
                  <a:pt x="0" y="2964"/>
                </a:lnTo>
                <a:lnTo>
                  <a:pt x="0" y="318"/>
                </a:lnTo>
                <a:cubicBezTo>
                  <a:pt x="0" y="276"/>
                  <a:pt x="8" y="235"/>
                  <a:pt x="24" y="196"/>
                </a:cubicBezTo>
                <a:close/>
              </a:path>
            </a:pathLst>
          </a:custGeom>
          <a:solidFill>
            <a:srgbClr val="11182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5800" y="534960"/>
            <a:ext cx="15480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模型背景与应⽤场景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5800" y="938520"/>
            <a:ext cx="517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D1D5DB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086160" y="1371240"/>
            <a:ext cx="10080" cy="5363280"/>
          </a:xfrm>
          <a:custGeom>
            <a:avLst/>
            <a:gdLst/>
            <a:ahLst/>
            <a:cxnLst/>
            <a:rect l="0" t="0" r="r" b="b"/>
            <a:pathLst>
              <a:path w="28" h="14898">
                <a:moveTo>
                  <a:pt x="0" y="0"/>
                </a:moveTo>
                <a:lnTo>
                  <a:pt x="28" y="0"/>
                </a:lnTo>
                <a:lnTo>
                  <a:pt x="28" y="14898"/>
                </a:lnTo>
                <a:lnTo>
                  <a:pt x="0" y="1489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02400" y="934920"/>
            <a:ext cx="1189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D1D5DB"/>
                </a:solidFill>
                <a:effectLst/>
                <a:uFillTx/>
                <a:latin typeface="NotoSansCJKsc"/>
                <a:ea typeface="NotoSansCJKsc"/>
              </a:rPr>
              <a:t>回归的起源、发展及分类应⽤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9480" y="1703880"/>
            <a:ext cx="73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405480" y="4271760"/>
            <a:ext cx="5172480" cy="1381680"/>
          </a:xfrm>
          <a:custGeom>
            <a:avLst/>
            <a:gdLst/>
            <a:ahLst/>
            <a:cxnLst/>
            <a:rect l="0" t="0" r="r" b="b"/>
            <a:pathLst>
              <a:path w="14368" h="3838">
                <a:moveTo>
                  <a:pt x="0" y="363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4169" y="0"/>
                </a:lnTo>
                <a:cubicBezTo>
                  <a:pt x="14182" y="0"/>
                  <a:pt x="14195" y="1"/>
                  <a:pt x="14208" y="4"/>
                </a:cubicBezTo>
                <a:cubicBezTo>
                  <a:pt x="14221" y="6"/>
                  <a:pt x="14233" y="10"/>
                  <a:pt x="14245" y="15"/>
                </a:cubicBezTo>
                <a:cubicBezTo>
                  <a:pt x="14257" y="20"/>
                  <a:pt x="14269" y="26"/>
                  <a:pt x="14279" y="34"/>
                </a:cubicBezTo>
                <a:cubicBezTo>
                  <a:pt x="14290" y="41"/>
                  <a:pt x="14300" y="49"/>
                  <a:pt x="14309" y="58"/>
                </a:cubicBezTo>
                <a:cubicBezTo>
                  <a:pt x="14319" y="67"/>
                  <a:pt x="14327" y="77"/>
                  <a:pt x="14334" y="88"/>
                </a:cubicBezTo>
                <a:cubicBezTo>
                  <a:pt x="14341" y="99"/>
                  <a:pt x="14348" y="111"/>
                  <a:pt x="14352" y="123"/>
                </a:cubicBezTo>
                <a:cubicBezTo>
                  <a:pt x="14357" y="135"/>
                  <a:pt x="14361" y="147"/>
                  <a:pt x="14364" y="160"/>
                </a:cubicBezTo>
                <a:cubicBezTo>
                  <a:pt x="14366" y="173"/>
                  <a:pt x="14368" y="185"/>
                  <a:pt x="14368" y="198"/>
                </a:cubicBezTo>
                <a:lnTo>
                  <a:pt x="14368" y="3639"/>
                </a:lnTo>
                <a:cubicBezTo>
                  <a:pt x="14368" y="3652"/>
                  <a:pt x="14366" y="3665"/>
                  <a:pt x="14364" y="3678"/>
                </a:cubicBezTo>
                <a:cubicBezTo>
                  <a:pt x="14361" y="3691"/>
                  <a:pt x="14357" y="3703"/>
                  <a:pt x="14352" y="3715"/>
                </a:cubicBezTo>
                <a:cubicBezTo>
                  <a:pt x="14348" y="3727"/>
                  <a:pt x="14341" y="3738"/>
                  <a:pt x="14334" y="3749"/>
                </a:cubicBezTo>
                <a:cubicBezTo>
                  <a:pt x="14327" y="3760"/>
                  <a:pt x="14319" y="3770"/>
                  <a:pt x="14309" y="3779"/>
                </a:cubicBezTo>
                <a:cubicBezTo>
                  <a:pt x="14300" y="3789"/>
                  <a:pt x="14290" y="3797"/>
                  <a:pt x="14279" y="3804"/>
                </a:cubicBezTo>
                <a:cubicBezTo>
                  <a:pt x="14269" y="3811"/>
                  <a:pt x="14257" y="3817"/>
                  <a:pt x="14245" y="3822"/>
                </a:cubicBezTo>
                <a:cubicBezTo>
                  <a:pt x="14233" y="3827"/>
                  <a:pt x="14221" y="3831"/>
                  <a:pt x="14208" y="3834"/>
                </a:cubicBezTo>
                <a:cubicBezTo>
                  <a:pt x="14195" y="3836"/>
                  <a:pt x="14182" y="3838"/>
                  <a:pt x="14169" y="3838"/>
                </a:cubicBezTo>
                <a:lnTo>
                  <a:pt x="198" y="3838"/>
                </a:lnTo>
                <a:cubicBezTo>
                  <a:pt x="185" y="3838"/>
                  <a:pt x="172" y="3836"/>
                  <a:pt x="159" y="3834"/>
                </a:cubicBezTo>
                <a:cubicBezTo>
                  <a:pt x="147" y="3831"/>
                  <a:pt x="134" y="3827"/>
                  <a:pt x="122" y="3822"/>
                </a:cubicBezTo>
                <a:cubicBezTo>
                  <a:pt x="110" y="3817"/>
                  <a:pt x="99" y="3811"/>
                  <a:pt x="88" y="3804"/>
                </a:cubicBezTo>
                <a:cubicBezTo>
                  <a:pt x="77" y="3797"/>
                  <a:pt x="67" y="3789"/>
                  <a:pt x="58" y="3779"/>
                </a:cubicBezTo>
                <a:cubicBezTo>
                  <a:pt x="49" y="3770"/>
                  <a:pt x="40" y="3760"/>
                  <a:pt x="33" y="3749"/>
                </a:cubicBezTo>
                <a:cubicBezTo>
                  <a:pt x="26" y="3738"/>
                  <a:pt x="20" y="3727"/>
                  <a:pt x="15" y="3715"/>
                </a:cubicBezTo>
                <a:cubicBezTo>
                  <a:pt x="10" y="3703"/>
                  <a:pt x="6" y="3691"/>
                  <a:pt x="4" y="3678"/>
                </a:cubicBezTo>
                <a:cubicBezTo>
                  <a:pt x="1" y="3665"/>
                  <a:pt x="0" y="3652"/>
                  <a:pt x="0" y="3639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6405480" y="4271760"/>
            <a:ext cx="5172480" cy="1381680"/>
          </a:xfrm>
          <a:custGeom>
            <a:avLst/>
            <a:gdLst/>
            <a:ahLst/>
            <a:cxnLst/>
            <a:rect l="0" t="0" r="r" b="b"/>
            <a:pathLst>
              <a:path w="14368" h="3838" fill="none">
                <a:moveTo>
                  <a:pt x="0" y="363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4169" y="0"/>
                </a:lnTo>
                <a:cubicBezTo>
                  <a:pt x="14182" y="0"/>
                  <a:pt x="14195" y="1"/>
                  <a:pt x="14208" y="4"/>
                </a:cubicBezTo>
                <a:cubicBezTo>
                  <a:pt x="14221" y="6"/>
                  <a:pt x="14233" y="10"/>
                  <a:pt x="14245" y="15"/>
                </a:cubicBezTo>
                <a:cubicBezTo>
                  <a:pt x="14257" y="20"/>
                  <a:pt x="14269" y="26"/>
                  <a:pt x="14279" y="34"/>
                </a:cubicBezTo>
                <a:cubicBezTo>
                  <a:pt x="14290" y="41"/>
                  <a:pt x="14300" y="49"/>
                  <a:pt x="14309" y="58"/>
                </a:cubicBezTo>
                <a:cubicBezTo>
                  <a:pt x="14319" y="67"/>
                  <a:pt x="14327" y="77"/>
                  <a:pt x="14334" y="88"/>
                </a:cubicBezTo>
                <a:cubicBezTo>
                  <a:pt x="14341" y="99"/>
                  <a:pt x="14348" y="111"/>
                  <a:pt x="14352" y="123"/>
                </a:cubicBezTo>
                <a:cubicBezTo>
                  <a:pt x="14357" y="135"/>
                  <a:pt x="14361" y="147"/>
                  <a:pt x="14364" y="160"/>
                </a:cubicBezTo>
                <a:cubicBezTo>
                  <a:pt x="14366" y="173"/>
                  <a:pt x="14368" y="185"/>
                  <a:pt x="14368" y="198"/>
                </a:cubicBezTo>
                <a:lnTo>
                  <a:pt x="14368" y="3639"/>
                </a:lnTo>
                <a:cubicBezTo>
                  <a:pt x="14368" y="3652"/>
                  <a:pt x="14366" y="3665"/>
                  <a:pt x="14364" y="3678"/>
                </a:cubicBezTo>
                <a:cubicBezTo>
                  <a:pt x="14361" y="3691"/>
                  <a:pt x="14357" y="3703"/>
                  <a:pt x="14352" y="3715"/>
                </a:cubicBezTo>
                <a:cubicBezTo>
                  <a:pt x="14348" y="3727"/>
                  <a:pt x="14341" y="3738"/>
                  <a:pt x="14334" y="3749"/>
                </a:cubicBezTo>
                <a:cubicBezTo>
                  <a:pt x="14327" y="3760"/>
                  <a:pt x="14319" y="3770"/>
                  <a:pt x="14309" y="3779"/>
                </a:cubicBezTo>
                <a:cubicBezTo>
                  <a:pt x="14300" y="3789"/>
                  <a:pt x="14290" y="3797"/>
                  <a:pt x="14279" y="3804"/>
                </a:cubicBezTo>
                <a:cubicBezTo>
                  <a:pt x="14269" y="3811"/>
                  <a:pt x="14257" y="3817"/>
                  <a:pt x="14245" y="3822"/>
                </a:cubicBezTo>
                <a:cubicBezTo>
                  <a:pt x="14233" y="3827"/>
                  <a:pt x="14221" y="3831"/>
                  <a:pt x="14208" y="3834"/>
                </a:cubicBezTo>
                <a:cubicBezTo>
                  <a:pt x="14195" y="3836"/>
                  <a:pt x="14182" y="3838"/>
                  <a:pt x="14169" y="3838"/>
                </a:cubicBezTo>
                <a:lnTo>
                  <a:pt x="198" y="3838"/>
                </a:lnTo>
                <a:cubicBezTo>
                  <a:pt x="185" y="3838"/>
                  <a:pt x="172" y="3836"/>
                  <a:pt x="159" y="3834"/>
                </a:cubicBezTo>
                <a:cubicBezTo>
                  <a:pt x="147" y="3831"/>
                  <a:pt x="134" y="3827"/>
                  <a:pt x="122" y="3822"/>
                </a:cubicBezTo>
                <a:cubicBezTo>
                  <a:pt x="110" y="3817"/>
                  <a:pt x="99" y="3811"/>
                  <a:pt x="88" y="3804"/>
                </a:cubicBezTo>
                <a:cubicBezTo>
                  <a:pt x="77" y="3797"/>
                  <a:pt x="67" y="3789"/>
                  <a:pt x="58" y="3779"/>
                </a:cubicBezTo>
                <a:cubicBezTo>
                  <a:pt x="49" y="3770"/>
                  <a:pt x="40" y="3760"/>
                  <a:pt x="33" y="3749"/>
                </a:cubicBezTo>
                <a:cubicBezTo>
                  <a:pt x="26" y="3738"/>
                  <a:pt x="20" y="3727"/>
                  <a:pt x="15" y="3715"/>
                </a:cubicBezTo>
                <a:cubicBezTo>
                  <a:pt x="10" y="3703"/>
                  <a:pt x="6" y="3691"/>
                  <a:pt x="4" y="3678"/>
                </a:cubicBezTo>
                <a:cubicBezTo>
                  <a:pt x="1" y="3665"/>
                  <a:pt x="0" y="3652"/>
                  <a:pt x="0" y="363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562440" y="4733640"/>
            <a:ext cx="4858200" cy="495720"/>
          </a:xfrm>
          <a:custGeom>
            <a:avLst/>
            <a:gdLst/>
            <a:ahLst/>
            <a:cxnLst/>
            <a:rect l="0" t="0" r="r" b="b"/>
            <a:pathLst>
              <a:path w="13495" h="1377">
                <a:moveTo>
                  <a:pt x="0" y="127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3389" y="0"/>
                </a:lnTo>
                <a:cubicBezTo>
                  <a:pt x="13403" y="0"/>
                  <a:pt x="13417" y="3"/>
                  <a:pt x="13430" y="8"/>
                </a:cubicBezTo>
                <a:cubicBezTo>
                  <a:pt x="13443" y="14"/>
                  <a:pt x="13454" y="21"/>
                  <a:pt x="13464" y="31"/>
                </a:cubicBezTo>
                <a:cubicBezTo>
                  <a:pt x="13474" y="41"/>
                  <a:pt x="13482" y="53"/>
                  <a:pt x="13487" y="66"/>
                </a:cubicBezTo>
                <a:cubicBezTo>
                  <a:pt x="13492" y="79"/>
                  <a:pt x="13495" y="92"/>
                  <a:pt x="13495" y="106"/>
                </a:cubicBezTo>
                <a:lnTo>
                  <a:pt x="13495" y="1270"/>
                </a:lnTo>
                <a:cubicBezTo>
                  <a:pt x="13495" y="1284"/>
                  <a:pt x="13492" y="1299"/>
                  <a:pt x="13487" y="1312"/>
                </a:cubicBezTo>
                <a:cubicBezTo>
                  <a:pt x="13482" y="1325"/>
                  <a:pt x="13474" y="1336"/>
                  <a:pt x="13464" y="1346"/>
                </a:cubicBezTo>
                <a:cubicBezTo>
                  <a:pt x="13454" y="1356"/>
                  <a:pt x="13443" y="1364"/>
                  <a:pt x="13430" y="1369"/>
                </a:cubicBezTo>
                <a:cubicBezTo>
                  <a:pt x="13417" y="1374"/>
                  <a:pt x="13403" y="1377"/>
                  <a:pt x="13389" y="1377"/>
                </a:cubicBezTo>
                <a:lnTo>
                  <a:pt x="106" y="1377"/>
                </a:lnTo>
                <a:cubicBezTo>
                  <a:pt x="92" y="1377"/>
                  <a:pt x="79" y="1374"/>
                  <a:pt x="66" y="1369"/>
                </a:cubicBezTo>
                <a:cubicBezTo>
                  <a:pt x="53" y="1364"/>
                  <a:pt x="41" y="1356"/>
                  <a:pt x="31" y="1346"/>
                </a:cubicBezTo>
                <a:cubicBezTo>
                  <a:pt x="21" y="1336"/>
                  <a:pt x="14" y="1325"/>
                  <a:pt x="8" y="1312"/>
                </a:cubicBezTo>
                <a:cubicBezTo>
                  <a:pt x="3" y="1299"/>
                  <a:pt x="0" y="1284"/>
                  <a:pt x="0" y="12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339920" y="169956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回归发展历程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400800" y="169956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典型应⽤场景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562800" y="4453200"/>
            <a:ext cx="585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147080" y="444960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回归模型公式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895080" y="4886280"/>
            <a:ext cx="2151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P(y=1|x) = 1 / (1 + 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985040" y="4886280"/>
            <a:ext cx="171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562800" y="5327640"/>
            <a:ext cx="140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y: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703560" y="5324400"/>
            <a:ext cx="4780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⼆元结果变量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503480" y="5327640"/>
            <a:ext cx="310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(0/1)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938440" y="5327640"/>
            <a:ext cx="140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x: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079200" y="5324400"/>
            <a:ext cx="318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预测变量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736280" y="5327640"/>
            <a:ext cx="150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β: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304560" y="6734160"/>
            <a:ext cx="11582640" cy="123840"/>
          </a:xfrm>
          <a:custGeom>
            <a:avLst/>
            <a:gdLst/>
            <a:ahLst/>
            <a:cxnLst/>
            <a:rect l="0" t="0" r="r" b="b"/>
            <a:pathLst>
              <a:path w="32174" h="344">
                <a:moveTo>
                  <a:pt x="32174" y="344"/>
                </a:moveTo>
                <a:lnTo>
                  <a:pt x="0" y="344"/>
                </a:lnTo>
                <a:lnTo>
                  <a:pt x="0" y="0"/>
                </a:lnTo>
                <a:lnTo>
                  <a:pt x="32174" y="0"/>
                </a:lnTo>
                <a:lnTo>
                  <a:pt x="32174" y="344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304560" y="6734160"/>
            <a:ext cx="11582640" cy="9720"/>
          </a:xfrm>
          <a:custGeom>
            <a:avLst/>
            <a:gdLst/>
            <a:ahLst/>
            <a:cxnLst/>
            <a:rect l="0" t="0" r="r" b="b"/>
            <a:pathLst>
              <a:path w="32174" h="27">
                <a:moveTo>
                  <a:pt x="32174" y="27"/>
                </a:moveTo>
                <a:lnTo>
                  <a:pt x="0" y="27"/>
                </a:lnTo>
                <a:lnTo>
                  <a:pt x="0" y="0"/>
                </a:lnTo>
                <a:lnTo>
                  <a:pt x="32174" y="0"/>
                </a:lnTo>
                <a:lnTo>
                  <a:pt x="32174" y="2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609480" y="20952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609480" y="21258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3C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609480" y="21564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3C8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任意多边形 51"/>
          <p:cNvSpPr/>
          <p:nvPr/>
        </p:nvSpPr>
        <p:spPr>
          <a:xfrm>
            <a:off x="609480" y="218700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3D8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609480" y="22172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3E8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609480" y="22478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3E8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任意多边形 54"/>
          <p:cNvSpPr/>
          <p:nvPr/>
        </p:nvSpPr>
        <p:spPr>
          <a:xfrm>
            <a:off x="609480" y="22784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3F8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609480" y="230904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408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任意多边形 56"/>
          <p:cNvSpPr/>
          <p:nvPr/>
        </p:nvSpPr>
        <p:spPr>
          <a:xfrm>
            <a:off x="609480" y="23392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08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609480" y="23698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17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任意多边形 58"/>
          <p:cNvSpPr/>
          <p:nvPr/>
        </p:nvSpPr>
        <p:spPr>
          <a:xfrm>
            <a:off x="609480" y="24004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17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任意多边形 59"/>
          <p:cNvSpPr/>
          <p:nvPr/>
        </p:nvSpPr>
        <p:spPr>
          <a:xfrm>
            <a:off x="609480" y="243108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427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" name="任意多边形 60"/>
          <p:cNvSpPr/>
          <p:nvPr/>
        </p:nvSpPr>
        <p:spPr>
          <a:xfrm>
            <a:off x="609480" y="24613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37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任意多边形 61"/>
          <p:cNvSpPr/>
          <p:nvPr/>
        </p:nvSpPr>
        <p:spPr>
          <a:xfrm>
            <a:off x="609480" y="24919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37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609480" y="25225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47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609480" y="255312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457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609480" y="25833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57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609480" y="26139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67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任意多边形 66"/>
          <p:cNvSpPr/>
          <p:nvPr/>
        </p:nvSpPr>
        <p:spPr>
          <a:xfrm>
            <a:off x="609480" y="26445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67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任意多边形 67"/>
          <p:cNvSpPr/>
          <p:nvPr/>
        </p:nvSpPr>
        <p:spPr>
          <a:xfrm>
            <a:off x="609480" y="267516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477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任意多边形 68"/>
          <p:cNvSpPr/>
          <p:nvPr/>
        </p:nvSpPr>
        <p:spPr>
          <a:xfrm>
            <a:off x="609480" y="27054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87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任意多边形 69"/>
          <p:cNvSpPr/>
          <p:nvPr/>
        </p:nvSpPr>
        <p:spPr>
          <a:xfrm>
            <a:off x="609480" y="27360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87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609480" y="2766600"/>
            <a:ext cx="19440" cy="31320"/>
          </a:xfrm>
          <a:custGeom>
            <a:avLst/>
            <a:gdLst/>
            <a:ahLst/>
            <a:cxnLst/>
            <a:rect l="0" t="0" r="r" b="b"/>
            <a:pathLst>
              <a:path w="54" h="87">
                <a:moveTo>
                  <a:pt x="0" y="0"/>
                </a:moveTo>
                <a:lnTo>
                  <a:pt x="54" y="0"/>
                </a:lnTo>
                <a:lnTo>
                  <a:pt x="54" y="87"/>
                </a:lnTo>
                <a:lnTo>
                  <a:pt x="0" y="87"/>
                </a:lnTo>
                <a:lnTo>
                  <a:pt x="0" y="0"/>
                </a:lnTo>
                <a:close/>
              </a:path>
            </a:pathLst>
          </a:custGeom>
          <a:solidFill>
            <a:srgbClr val="497B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任意多边形 71"/>
          <p:cNvSpPr/>
          <p:nvPr/>
        </p:nvSpPr>
        <p:spPr>
          <a:xfrm>
            <a:off x="609480" y="279720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4A7B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609480" y="28274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A7B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任意多边形 73"/>
          <p:cNvSpPr/>
          <p:nvPr/>
        </p:nvSpPr>
        <p:spPr>
          <a:xfrm>
            <a:off x="609480" y="28580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B7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609480" y="28886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B7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609480" y="291924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4C7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任意多边形 76"/>
          <p:cNvSpPr/>
          <p:nvPr/>
        </p:nvSpPr>
        <p:spPr>
          <a:xfrm>
            <a:off x="609480" y="29494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D7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任意多边形 77"/>
          <p:cNvSpPr/>
          <p:nvPr/>
        </p:nvSpPr>
        <p:spPr>
          <a:xfrm>
            <a:off x="609480" y="29800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D7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任意多边形 78"/>
          <p:cNvSpPr/>
          <p:nvPr/>
        </p:nvSpPr>
        <p:spPr>
          <a:xfrm>
            <a:off x="609480" y="30106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E7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任意多边形 79"/>
          <p:cNvSpPr/>
          <p:nvPr/>
        </p:nvSpPr>
        <p:spPr>
          <a:xfrm>
            <a:off x="609480" y="304128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4F7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任意多边形 80"/>
          <p:cNvSpPr/>
          <p:nvPr/>
        </p:nvSpPr>
        <p:spPr>
          <a:xfrm>
            <a:off x="609480" y="30715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4F78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任意多边形 81"/>
          <p:cNvSpPr/>
          <p:nvPr/>
        </p:nvSpPr>
        <p:spPr>
          <a:xfrm>
            <a:off x="609480" y="31021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078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任意多边形 82"/>
          <p:cNvSpPr/>
          <p:nvPr/>
        </p:nvSpPr>
        <p:spPr>
          <a:xfrm>
            <a:off x="609480" y="31327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078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任意多边形 83"/>
          <p:cNvSpPr/>
          <p:nvPr/>
        </p:nvSpPr>
        <p:spPr>
          <a:xfrm>
            <a:off x="609480" y="316332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5178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" name="任意多边形 84"/>
          <p:cNvSpPr/>
          <p:nvPr/>
        </p:nvSpPr>
        <p:spPr>
          <a:xfrm>
            <a:off x="609480" y="31935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277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任意多边形 85"/>
          <p:cNvSpPr/>
          <p:nvPr/>
        </p:nvSpPr>
        <p:spPr>
          <a:xfrm>
            <a:off x="609480" y="32241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277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" name="任意多边形 86"/>
          <p:cNvSpPr/>
          <p:nvPr/>
        </p:nvSpPr>
        <p:spPr>
          <a:xfrm>
            <a:off x="609480" y="32547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377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" name="任意多边形 87"/>
          <p:cNvSpPr/>
          <p:nvPr/>
        </p:nvSpPr>
        <p:spPr>
          <a:xfrm>
            <a:off x="609480" y="328536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5476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任意多边形 88"/>
          <p:cNvSpPr/>
          <p:nvPr/>
        </p:nvSpPr>
        <p:spPr>
          <a:xfrm>
            <a:off x="609480" y="33156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476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任意多边形 89"/>
          <p:cNvSpPr/>
          <p:nvPr/>
        </p:nvSpPr>
        <p:spPr>
          <a:xfrm>
            <a:off x="609480" y="33462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576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" name="任意多边形 90"/>
          <p:cNvSpPr/>
          <p:nvPr/>
        </p:nvSpPr>
        <p:spPr>
          <a:xfrm>
            <a:off x="609480" y="33768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57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" name="任意多边形 91"/>
          <p:cNvSpPr/>
          <p:nvPr/>
        </p:nvSpPr>
        <p:spPr>
          <a:xfrm>
            <a:off x="609480" y="340740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567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" name="任意多边形 92"/>
          <p:cNvSpPr/>
          <p:nvPr/>
        </p:nvSpPr>
        <p:spPr>
          <a:xfrm>
            <a:off x="609480" y="34376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77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" name="任意多边形 93"/>
          <p:cNvSpPr/>
          <p:nvPr/>
        </p:nvSpPr>
        <p:spPr>
          <a:xfrm>
            <a:off x="609480" y="34682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77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任意多边形 94"/>
          <p:cNvSpPr/>
          <p:nvPr/>
        </p:nvSpPr>
        <p:spPr>
          <a:xfrm>
            <a:off x="609480" y="34988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87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任意多边形 95"/>
          <p:cNvSpPr/>
          <p:nvPr/>
        </p:nvSpPr>
        <p:spPr>
          <a:xfrm>
            <a:off x="609480" y="352944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597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609480" y="35596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97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" name="任意多边形 97"/>
          <p:cNvSpPr/>
          <p:nvPr/>
        </p:nvSpPr>
        <p:spPr>
          <a:xfrm>
            <a:off x="609480" y="35902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A73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任意多边形 98"/>
          <p:cNvSpPr/>
          <p:nvPr/>
        </p:nvSpPr>
        <p:spPr>
          <a:xfrm>
            <a:off x="609480" y="36208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A73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任意多边形 99"/>
          <p:cNvSpPr/>
          <p:nvPr/>
        </p:nvSpPr>
        <p:spPr>
          <a:xfrm>
            <a:off x="609480" y="365148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5B73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609480" y="36817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C7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任意多边形 101"/>
          <p:cNvSpPr/>
          <p:nvPr/>
        </p:nvSpPr>
        <p:spPr>
          <a:xfrm>
            <a:off x="609480" y="37123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C7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609480" y="37429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D7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任意多边形 103"/>
          <p:cNvSpPr/>
          <p:nvPr/>
        </p:nvSpPr>
        <p:spPr>
          <a:xfrm>
            <a:off x="609480" y="377352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5E7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任意多边形 104"/>
          <p:cNvSpPr/>
          <p:nvPr/>
        </p:nvSpPr>
        <p:spPr>
          <a:xfrm>
            <a:off x="609480" y="38037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E7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任意多边形 105"/>
          <p:cNvSpPr/>
          <p:nvPr/>
        </p:nvSpPr>
        <p:spPr>
          <a:xfrm>
            <a:off x="609480" y="38343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F7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609480" y="38649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5F7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" name="任意多边形 107"/>
          <p:cNvSpPr/>
          <p:nvPr/>
        </p:nvSpPr>
        <p:spPr>
          <a:xfrm>
            <a:off x="609480" y="389556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607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任意多边形 108"/>
          <p:cNvSpPr/>
          <p:nvPr/>
        </p:nvSpPr>
        <p:spPr>
          <a:xfrm>
            <a:off x="609480" y="39258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17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" name="任意多边形 109"/>
          <p:cNvSpPr/>
          <p:nvPr/>
        </p:nvSpPr>
        <p:spPr>
          <a:xfrm>
            <a:off x="609480" y="39564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17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" name="任意多边形 110"/>
          <p:cNvSpPr/>
          <p:nvPr/>
        </p:nvSpPr>
        <p:spPr>
          <a:xfrm>
            <a:off x="609480" y="39870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26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任意多边形 111"/>
          <p:cNvSpPr/>
          <p:nvPr/>
        </p:nvSpPr>
        <p:spPr>
          <a:xfrm>
            <a:off x="609480" y="401760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636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任意多边形 112"/>
          <p:cNvSpPr/>
          <p:nvPr/>
        </p:nvSpPr>
        <p:spPr>
          <a:xfrm>
            <a:off x="609480" y="40478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36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任意多边形 113"/>
          <p:cNvSpPr/>
          <p:nvPr/>
        </p:nvSpPr>
        <p:spPr>
          <a:xfrm>
            <a:off x="609480" y="40784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46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任意多边形 114"/>
          <p:cNvSpPr/>
          <p:nvPr/>
        </p:nvSpPr>
        <p:spPr>
          <a:xfrm>
            <a:off x="609480" y="41090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56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任意多边形 115"/>
          <p:cNvSpPr/>
          <p:nvPr/>
        </p:nvSpPr>
        <p:spPr>
          <a:xfrm>
            <a:off x="609480" y="413964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656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" name="任意多边形 116"/>
          <p:cNvSpPr/>
          <p:nvPr/>
        </p:nvSpPr>
        <p:spPr>
          <a:xfrm>
            <a:off x="609480" y="41698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66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" name="任意多边形 117"/>
          <p:cNvSpPr/>
          <p:nvPr/>
        </p:nvSpPr>
        <p:spPr>
          <a:xfrm>
            <a:off x="609480" y="42004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66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" name="任意多边形 118"/>
          <p:cNvSpPr/>
          <p:nvPr/>
        </p:nvSpPr>
        <p:spPr>
          <a:xfrm>
            <a:off x="609480" y="42310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76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任意多边形 119"/>
          <p:cNvSpPr/>
          <p:nvPr/>
        </p:nvSpPr>
        <p:spPr>
          <a:xfrm>
            <a:off x="609480" y="426168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686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任意多边形 120"/>
          <p:cNvSpPr/>
          <p:nvPr/>
        </p:nvSpPr>
        <p:spPr>
          <a:xfrm>
            <a:off x="609480" y="42919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86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任意多边形 121"/>
          <p:cNvSpPr/>
          <p:nvPr/>
        </p:nvSpPr>
        <p:spPr>
          <a:xfrm>
            <a:off x="609480" y="43225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96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任意多边形 122"/>
          <p:cNvSpPr/>
          <p:nvPr/>
        </p:nvSpPr>
        <p:spPr>
          <a:xfrm>
            <a:off x="609480" y="43531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A6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任意多边形 123"/>
          <p:cNvSpPr/>
          <p:nvPr/>
        </p:nvSpPr>
        <p:spPr>
          <a:xfrm>
            <a:off x="609480" y="438372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6A6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609480" y="44139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B6B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609480" y="44445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B6B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609480" y="44751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C6B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任意多边形 127"/>
          <p:cNvSpPr/>
          <p:nvPr/>
        </p:nvSpPr>
        <p:spPr>
          <a:xfrm>
            <a:off x="609480" y="450576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6D6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609480" y="45360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D6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任意多边形 129"/>
          <p:cNvSpPr/>
          <p:nvPr/>
        </p:nvSpPr>
        <p:spPr>
          <a:xfrm>
            <a:off x="609480" y="45666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E6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任意多边形 130"/>
          <p:cNvSpPr/>
          <p:nvPr/>
        </p:nvSpPr>
        <p:spPr>
          <a:xfrm>
            <a:off x="609480" y="45972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6F6A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任意多边形 131"/>
          <p:cNvSpPr/>
          <p:nvPr/>
        </p:nvSpPr>
        <p:spPr>
          <a:xfrm>
            <a:off x="609480" y="462780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6F6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任意多边形 132"/>
          <p:cNvSpPr/>
          <p:nvPr/>
        </p:nvSpPr>
        <p:spPr>
          <a:xfrm>
            <a:off x="609480" y="46580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06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" name="任意多边形 133"/>
          <p:cNvSpPr/>
          <p:nvPr/>
        </p:nvSpPr>
        <p:spPr>
          <a:xfrm>
            <a:off x="609480" y="46886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06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" name="任意多边形 134"/>
          <p:cNvSpPr/>
          <p:nvPr/>
        </p:nvSpPr>
        <p:spPr>
          <a:xfrm>
            <a:off x="609480" y="47192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168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" name="任意多边形 135"/>
          <p:cNvSpPr/>
          <p:nvPr/>
        </p:nvSpPr>
        <p:spPr>
          <a:xfrm>
            <a:off x="609480" y="474984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7268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任意多边形 136"/>
          <p:cNvSpPr/>
          <p:nvPr/>
        </p:nvSpPr>
        <p:spPr>
          <a:xfrm>
            <a:off x="609480" y="47800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268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" name="任意多边形 137"/>
          <p:cNvSpPr/>
          <p:nvPr/>
        </p:nvSpPr>
        <p:spPr>
          <a:xfrm>
            <a:off x="609480" y="48106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367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" name="任意多边形 138"/>
          <p:cNvSpPr/>
          <p:nvPr/>
        </p:nvSpPr>
        <p:spPr>
          <a:xfrm>
            <a:off x="609480" y="48412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467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任意多边形 139"/>
          <p:cNvSpPr/>
          <p:nvPr/>
        </p:nvSpPr>
        <p:spPr>
          <a:xfrm>
            <a:off x="609480" y="487188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7467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" name="任意多边形 140"/>
          <p:cNvSpPr/>
          <p:nvPr/>
        </p:nvSpPr>
        <p:spPr>
          <a:xfrm>
            <a:off x="609480" y="49021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567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" name="任意多边形 141"/>
          <p:cNvSpPr/>
          <p:nvPr/>
        </p:nvSpPr>
        <p:spPr>
          <a:xfrm>
            <a:off x="609480" y="49327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566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任意多边形 142"/>
          <p:cNvSpPr/>
          <p:nvPr/>
        </p:nvSpPr>
        <p:spPr>
          <a:xfrm>
            <a:off x="609480" y="49633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666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任意多边形 143"/>
          <p:cNvSpPr/>
          <p:nvPr/>
        </p:nvSpPr>
        <p:spPr>
          <a:xfrm>
            <a:off x="609480" y="499392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7766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" name="任意多边形 144"/>
          <p:cNvSpPr/>
          <p:nvPr/>
        </p:nvSpPr>
        <p:spPr>
          <a:xfrm>
            <a:off x="609480" y="50241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76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任意多边形 145"/>
          <p:cNvSpPr/>
          <p:nvPr/>
        </p:nvSpPr>
        <p:spPr>
          <a:xfrm>
            <a:off x="609480" y="50547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86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任意多边形 146"/>
          <p:cNvSpPr/>
          <p:nvPr/>
        </p:nvSpPr>
        <p:spPr>
          <a:xfrm>
            <a:off x="609480" y="50853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96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任意多边形 147"/>
          <p:cNvSpPr/>
          <p:nvPr/>
        </p:nvSpPr>
        <p:spPr>
          <a:xfrm>
            <a:off x="609480" y="511596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7965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" name="任意多边形 148"/>
          <p:cNvSpPr/>
          <p:nvPr/>
        </p:nvSpPr>
        <p:spPr>
          <a:xfrm>
            <a:off x="609480" y="51462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A6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" name="任意多边形 149"/>
          <p:cNvSpPr/>
          <p:nvPr/>
        </p:nvSpPr>
        <p:spPr>
          <a:xfrm>
            <a:off x="609480" y="51768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A6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" name="任意多边形 150"/>
          <p:cNvSpPr/>
          <p:nvPr/>
        </p:nvSpPr>
        <p:spPr>
          <a:xfrm>
            <a:off x="609480" y="52074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B6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" name="任意多边形 151"/>
          <p:cNvSpPr/>
          <p:nvPr/>
        </p:nvSpPr>
        <p:spPr>
          <a:xfrm>
            <a:off x="609480" y="523800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7C63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" name="任意多边形 152"/>
          <p:cNvSpPr/>
          <p:nvPr/>
        </p:nvSpPr>
        <p:spPr>
          <a:xfrm>
            <a:off x="609480" y="52682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C63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" name="任意多边形 153"/>
          <p:cNvSpPr/>
          <p:nvPr/>
        </p:nvSpPr>
        <p:spPr>
          <a:xfrm>
            <a:off x="609480" y="52988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D63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任意多边形 154"/>
          <p:cNvSpPr/>
          <p:nvPr/>
        </p:nvSpPr>
        <p:spPr>
          <a:xfrm>
            <a:off x="609480" y="53294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E6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任意多边形 155"/>
          <p:cNvSpPr/>
          <p:nvPr/>
        </p:nvSpPr>
        <p:spPr>
          <a:xfrm>
            <a:off x="609480" y="536004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7E6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任意多边形 156"/>
          <p:cNvSpPr/>
          <p:nvPr/>
        </p:nvSpPr>
        <p:spPr>
          <a:xfrm>
            <a:off x="609480" y="53902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F6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任意多边形 157"/>
          <p:cNvSpPr/>
          <p:nvPr/>
        </p:nvSpPr>
        <p:spPr>
          <a:xfrm>
            <a:off x="609480" y="54208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7F6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任意多边形 158"/>
          <p:cNvSpPr/>
          <p:nvPr/>
        </p:nvSpPr>
        <p:spPr>
          <a:xfrm>
            <a:off x="609480" y="54514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06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任意多边形 159"/>
          <p:cNvSpPr/>
          <p:nvPr/>
        </p:nvSpPr>
        <p:spPr>
          <a:xfrm>
            <a:off x="609480" y="548208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816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任意多边形 160"/>
          <p:cNvSpPr/>
          <p:nvPr/>
        </p:nvSpPr>
        <p:spPr>
          <a:xfrm>
            <a:off x="609480" y="55123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161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09480" y="55429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26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任意多边形 162"/>
          <p:cNvSpPr/>
          <p:nvPr/>
        </p:nvSpPr>
        <p:spPr>
          <a:xfrm>
            <a:off x="609480" y="557352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36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任意多边形 163"/>
          <p:cNvSpPr/>
          <p:nvPr/>
        </p:nvSpPr>
        <p:spPr>
          <a:xfrm>
            <a:off x="609480" y="560412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8360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任意多边形 164"/>
          <p:cNvSpPr/>
          <p:nvPr/>
        </p:nvSpPr>
        <p:spPr>
          <a:xfrm>
            <a:off x="609480" y="56343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45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任意多边形 165"/>
          <p:cNvSpPr/>
          <p:nvPr/>
        </p:nvSpPr>
        <p:spPr>
          <a:xfrm>
            <a:off x="609480" y="56649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45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任意多边形 166"/>
          <p:cNvSpPr/>
          <p:nvPr/>
        </p:nvSpPr>
        <p:spPr>
          <a:xfrm>
            <a:off x="609480" y="569556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55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" name="任意多边形 167"/>
          <p:cNvSpPr/>
          <p:nvPr/>
        </p:nvSpPr>
        <p:spPr>
          <a:xfrm>
            <a:off x="609480" y="572616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865F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任意多边形 168"/>
          <p:cNvSpPr/>
          <p:nvPr/>
        </p:nvSpPr>
        <p:spPr>
          <a:xfrm>
            <a:off x="609480" y="57564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65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任意多边形 169"/>
          <p:cNvSpPr/>
          <p:nvPr/>
        </p:nvSpPr>
        <p:spPr>
          <a:xfrm>
            <a:off x="609480" y="57870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75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任意多边形 170"/>
          <p:cNvSpPr/>
          <p:nvPr/>
        </p:nvSpPr>
        <p:spPr>
          <a:xfrm>
            <a:off x="609480" y="581760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85E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任意多边形 171"/>
          <p:cNvSpPr/>
          <p:nvPr/>
        </p:nvSpPr>
        <p:spPr>
          <a:xfrm>
            <a:off x="609480" y="584820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885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任意多边形 172"/>
          <p:cNvSpPr/>
          <p:nvPr/>
        </p:nvSpPr>
        <p:spPr>
          <a:xfrm>
            <a:off x="609480" y="58784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95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任意多边形 173"/>
          <p:cNvSpPr/>
          <p:nvPr/>
        </p:nvSpPr>
        <p:spPr>
          <a:xfrm>
            <a:off x="609480" y="590904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95D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任意多边形 174"/>
          <p:cNvSpPr/>
          <p:nvPr/>
        </p:nvSpPr>
        <p:spPr>
          <a:xfrm>
            <a:off x="609480" y="5939640"/>
            <a:ext cx="19440" cy="30600"/>
          </a:xfrm>
          <a:custGeom>
            <a:avLst/>
            <a:gdLst/>
            <a:ahLst/>
            <a:cxnLst/>
            <a:rect l="0" t="0" r="r" b="b"/>
            <a:pathLst>
              <a:path w="54" h="85">
                <a:moveTo>
                  <a:pt x="0" y="0"/>
                </a:moveTo>
                <a:lnTo>
                  <a:pt x="54" y="0"/>
                </a:lnTo>
                <a:lnTo>
                  <a:pt x="54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rgbClr val="8A5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任意多边形 175"/>
          <p:cNvSpPr/>
          <p:nvPr/>
        </p:nvSpPr>
        <p:spPr>
          <a:xfrm>
            <a:off x="609480" y="5969880"/>
            <a:ext cx="19440" cy="30960"/>
          </a:xfrm>
          <a:custGeom>
            <a:avLst/>
            <a:gdLst/>
            <a:ahLst/>
            <a:cxnLst/>
            <a:rect l="0" t="0" r="r" b="b"/>
            <a:pathLst>
              <a:path w="54" h="86">
                <a:moveTo>
                  <a:pt x="0" y="0"/>
                </a:moveTo>
                <a:lnTo>
                  <a:pt x="54" y="0"/>
                </a:lnTo>
                <a:lnTo>
                  <a:pt x="54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任意多边形 176"/>
          <p:cNvSpPr/>
          <p:nvPr/>
        </p:nvSpPr>
        <p:spPr>
          <a:xfrm>
            <a:off x="799920" y="2095200"/>
            <a:ext cx="4982040" cy="762480"/>
          </a:xfrm>
          <a:custGeom>
            <a:avLst/>
            <a:gdLst/>
            <a:ahLst/>
            <a:cxnLst/>
            <a:rect l="0" t="0" r="r" b="b"/>
            <a:pathLst>
              <a:path w="13839" h="2118">
                <a:moveTo>
                  <a:pt x="0" y="1906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13627" y="0"/>
                </a:lnTo>
                <a:cubicBezTo>
                  <a:pt x="13641" y="0"/>
                  <a:pt x="13655" y="2"/>
                  <a:pt x="13668" y="4"/>
                </a:cubicBezTo>
                <a:cubicBezTo>
                  <a:pt x="13682" y="7"/>
                  <a:pt x="13695" y="11"/>
                  <a:pt x="13708" y="16"/>
                </a:cubicBezTo>
                <a:cubicBezTo>
                  <a:pt x="13721" y="22"/>
                  <a:pt x="13733" y="28"/>
                  <a:pt x="13745" y="36"/>
                </a:cubicBezTo>
                <a:cubicBezTo>
                  <a:pt x="13756" y="44"/>
                  <a:pt x="13767" y="53"/>
                  <a:pt x="13777" y="62"/>
                </a:cubicBezTo>
                <a:cubicBezTo>
                  <a:pt x="13787" y="72"/>
                  <a:pt x="13795" y="83"/>
                  <a:pt x="13803" y="94"/>
                </a:cubicBezTo>
                <a:cubicBezTo>
                  <a:pt x="13811" y="106"/>
                  <a:pt x="13817" y="118"/>
                  <a:pt x="13823" y="131"/>
                </a:cubicBezTo>
                <a:cubicBezTo>
                  <a:pt x="13828" y="144"/>
                  <a:pt x="13832" y="157"/>
                  <a:pt x="13835" y="171"/>
                </a:cubicBezTo>
                <a:cubicBezTo>
                  <a:pt x="13837" y="184"/>
                  <a:pt x="13839" y="198"/>
                  <a:pt x="13839" y="212"/>
                </a:cubicBezTo>
                <a:lnTo>
                  <a:pt x="13839" y="1906"/>
                </a:lnTo>
                <a:cubicBezTo>
                  <a:pt x="13839" y="1920"/>
                  <a:pt x="13837" y="1934"/>
                  <a:pt x="13835" y="1948"/>
                </a:cubicBezTo>
                <a:cubicBezTo>
                  <a:pt x="13832" y="1961"/>
                  <a:pt x="13828" y="1974"/>
                  <a:pt x="13823" y="1987"/>
                </a:cubicBezTo>
                <a:cubicBezTo>
                  <a:pt x="13817" y="2000"/>
                  <a:pt x="13811" y="2012"/>
                  <a:pt x="13803" y="2024"/>
                </a:cubicBezTo>
                <a:cubicBezTo>
                  <a:pt x="13795" y="2035"/>
                  <a:pt x="13787" y="2046"/>
                  <a:pt x="13777" y="2056"/>
                </a:cubicBezTo>
                <a:cubicBezTo>
                  <a:pt x="13767" y="2066"/>
                  <a:pt x="13756" y="2075"/>
                  <a:pt x="13745" y="2082"/>
                </a:cubicBezTo>
                <a:cubicBezTo>
                  <a:pt x="13733" y="2090"/>
                  <a:pt x="13721" y="2097"/>
                  <a:pt x="13708" y="2102"/>
                </a:cubicBezTo>
                <a:cubicBezTo>
                  <a:pt x="13695" y="2107"/>
                  <a:pt x="13682" y="2111"/>
                  <a:pt x="13668" y="2114"/>
                </a:cubicBezTo>
                <a:cubicBezTo>
                  <a:pt x="13655" y="2117"/>
                  <a:pt x="13641" y="2118"/>
                  <a:pt x="13627" y="2118"/>
                </a:cubicBezTo>
                <a:lnTo>
                  <a:pt x="212" y="2118"/>
                </a:lnTo>
                <a:cubicBezTo>
                  <a:pt x="198" y="2118"/>
                  <a:pt x="184" y="2117"/>
                  <a:pt x="170" y="2114"/>
                </a:cubicBezTo>
                <a:cubicBezTo>
                  <a:pt x="157" y="2111"/>
                  <a:pt x="144" y="2107"/>
                  <a:pt x="131" y="2102"/>
                </a:cubicBezTo>
                <a:cubicBezTo>
                  <a:pt x="118" y="2097"/>
                  <a:pt x="106" y="2090"/>
                  <a:pt x="94" y="2082"/>
                </a:cubicBezTo>
                <a:cubicBezTo>
                  <a:pt x="83" y="2075"/>
                  <a:pt x="72" y="2066"/>
                  <a:pt x="62" y="2056"/>
                </a:cubicBezTo>
                <a:cubicBezTo>
                  <a:pt x="52" y="2046"/>
                  <a:pt x="43" y="2035"/>
                  <a:pt x="36" y="2024"/>
                </a:cubicBezTo>
                <a:cubicBezTo>
                  <a:pt x="28" y="2012"/>
                  <a:pt x="21" y="2000"/>
                  <a:pt x="16" y="1987"/>
                </a:cubicBezTo>
                <a:cubicBezTo>
                  <a:pt x="11" y="1974"/>
                  <a:pt x="7" y="1961"/>
                  <a:pt x="4" y="1948"/>
                </a:cubicBezTo>
                <a:cubicBezTo>
                  <a:pt x="1" y="1934"/>
                  <a:pt x="0" y="1920"/>
                  <a:pt x="0" y="190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10887120" y="5324400"/>
            <a:ext cx="318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模型系数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952560" y="2271960"/>
            <a:ext cx="339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1D4ED8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1838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291680" y="226836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4ED8"/>
                </a:solidFill>
                <a:effectLst/>
                <a:uFillTx/>
                <a:latin typeface="NotoSansCJKsc"/>
                <a:ea typeface="NotoSansCJKsc"/>
              </a:rPr>
              <a:t>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952560" y="249696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⽐利时数学家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1866960" y="2500560"/>
            <a:ext cx="55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Verhulst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2417400" y="249696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⾸次提出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3027240" y="2500560"/>
            <a:ext cx="517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任意多边形 184"/>
          <p:cNvSpPr/>
          <p:nvPr/>
        </p:nvSpPr>
        <p:spPr>
          <a:xfrm>
            <a:off x="580680" y="2180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106" y="0"/>
                </a:moveTo>
                <a:cubicBezTo>
                  <a:pt x="136" y="0"/>
                  <a:pt x="160" y="11"/>
                  <a:pt x="182" y="31"/>
                </a:cubicBezTo>
                <a:cubicBezTo>
                  <a:pt x="203" y="52"/>
                  <a:pt x="213" y="77"/>
                  <a:pt x="213" y="106"/>
                </a:cubicBezTo>
                <a:cubicBezTo>
                  <a:pt x="213" y="136"/>
                  <a:pt x="203" y="160"/>
                  <a:pt x="182" y="182"/>
                </a:cubicBezTo>
                <a:cubicBezTo>
                  <a:pt x="160" y="203"/>
                  <a:pt x="136" y="213"/>
                  <a:pt x="106" y="213"/>
                </a:cubicBezTo>
                <a:cubicBezTo>
                  <a:pt x="77" y="213"/>
                  <a:pt x="52" y="203"/>
                  <a:pt x="31" y="182"/>
                </a:cubicBezTo>
                <a:cubicBezTo>
                  <a:pt x="11" y="160"/>
                  <a:pt x="0" y="136"/>
                  <a:pt x="0" y="106"/>
                </a:cubicBezTo>
                <a:cubicBezTo>
                  <a:pt x="0" y="77"/>
                  <a:pt x="11" y="52"/>
                  <a:pt x="31" y="31"/>
                </a:cubicBezTo>
                <a:cubicBezTo>
                  <a:pt x="52" y="11"/>
                  <a:pt x="77" y="0"/>
                  <a:pt x="106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任意多边形 185"/>
          <p:cNvSpPr/>
          <p:nvPr/>
        </p:nvSpPr>
        <p:spPr>
          <a:xfrm>
            <a:off x="580680" y="2180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任意多边形 186"/>
          <p:cNvSpPr/>
          <p:nvPr/>
        </p:nvSpPr>
        <p:spPr>
          <a:xfrm>
            <a:off x="580680" y="2180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 fill="none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</a:path>
            </a:pathLst>
          </a:custGeom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任意多边形 187"/>
          <p:cNvSpPr/>
          <p:nvPr/>
        </p:nvSpPr>
        <p:spPr>
          <a:xfrm>
            <a:off x="799920" y="3143160"/>
            <a:ext cx="4982040" cy="762120"/>
          </a:xfrm>
          <a:custGeom>
            <a:avLst/>
            <a:gdLst/>
            <a:ahLst/>
            <a:cxnLst/>
            <a:rect l="0" t="0" r="r" b="b"/>
            <a:pathLst>
              <a:path w="13839" h="2117">
                <a:moveTo>
                  <a:pt x="0" y="1906"/>
                </a:moveTo>
                <a:lnTo>
                  <a:pt x="0" y="211"/>
                </a:lnTo>
                <a:cubicBezTo>
                  <a:pt x="0" y="198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3627" y="0"/>
                </a:lnTo>
                <a:cubicBezTo>
                  <a:pt x="13641" y="0"/>
                  <a:pt x="13655" y="1"/>
                  <a:pt x="13668" y="4"/>
                </a:cubicBezTo>
                <a:cubicBezTo>
                  <a:pt x="13682" y="7"/>
                  <a:pt x="13695" y="11"/>
                  <a:pt x="13708" y="16"/>
                </a:cubicBezTo>
                <a:cubicBezTo>
                  <a:pt x="13721" y="21"/>
                  <a:pt x="13733" y="28"/>
                  <a:pt x="13745" y="35"/>
                </a:cubicBezTo>
                <a:cubicBezTo>
                  <a:pt x="13756" y="43"/>
                  <a:pt x="13767" y="52"/>
                  <a:pt x="13777" y="62"/>
                </a:cubicBezTo>
                <a:cubicBezTo>
                  <a:pt x="13787" y="72"/>
                  <a:pt x="13795" y="82"/>
                  <a:pt x="13803" y="94"/>
                </a:cubicBezTo>
                <a:cubicBezTo>
                  <a:pt x="13811" y="105"/>
                  <a:pt x="13817" y="118"/>
                  <a:pt x="13823" y="130"/>
                </a:cubicBezTo>
                <a:cubicBezTo>
                  <a:pt x="13828" y="143"/>
                  <a:pt x="13832" y="156"/>
                  <a:pt x="13835" y="170"/>
                </a:cubicBezTo>
                <a:cubicBezTo>
                  <a:pt x="13837" y="184"/>
                  <a:pt x="13839" y="198"/>
                  <a:pt x="13839" y="211"/>
                </a:cubicBezTo>
                <a:lnTo>
                  <a:pt x="13839" y="1906"/>
                </a:lnTo>
                <a:cubicBezTo>
                  <a:pt x="13839" y="1920"/>
                  <a:pt x="13837" y="1933"/>
                  <a:pt x="13835" y="1947"/>
                </a:cubicBezTo>
                <a:cubicBezTo>
                  <a:pt x="13832" y="1961"/>
                  <a:pt x="13828" y="1974"/>
                  <a:pt x="13823" y="1987"/>
                </a:cubicBezTo>
                <a:cubicBezTo>
                  <a:pt x="13817" y="2000"/>
                  <a:pt x="13811" y="2012"/>
                  <a:pt x="13803" y="2023"/>
                </a:cubicBezTo>
                <a:cubicBezTo>
                  <a:pt x="13795" y="2035"/>
                  <a:pt x="13787" y="2046"/>
                  <a:pt x="13777" y="2055"/>
                </a:cubicBezTo>
                <a:cubicBezTo>
                  <a:pt x="13767" y="2065"/>
                  <a:pt x="13756" y="2074"/>
                  <a:pt x="13745" y="2082"/>
                </a:cubicBezTo>
                <a:cubicBezTo>
                  <a:pt x="13733" y="2089"/>
                  <a:pt x="13721" y="2096"/>
                  <a:pt x="13708" y="2101"/>
                </a:cubicBezTo>
                <a:cubicBezTo>
                  <a:pt x="13695" y="2107"/>
                  <a:pt x="13682" y="2111"/>
                  <a:pt x="13668" y="2113"/>
                </a:cubicBezTo>
                <a:cubicBezTo>
                  <a:pt x="13655" y="2116"/>
                  <a:pt x="13641" y="2117"/>
                  <a:pt x="13627" y="2117"/>
                </a:cubicBezTo>
                <a:lnTo>
                  <a:pt x="212" y="2117"/>
                </a:lnTo>
                <a:cubicBezTo>
                  <a:pt x="198" y="2117"/>
                  <a:pt x="184" y="2116"/>
                  <a:pt x="170" y="2113"/>
                </a:cubicBezTo>
                <a:cubicBezTo>
                  <a:pt x="157" y="2111"/>
                  <a:pt x="144" y="2107"/>
                  <a:pt x="131" y="2101"/>
                </a:cubicBezTo>
                <a:cubicBezTo>
                  <a:pt x="118" y="2096"/>
                  <a:pt x="106" y="2089"/>
                  <a:pt x="94" y="2082"/>
                </a:cubicBezTo>
                <a:cubicBezTo>
                  <a:pt x="83" y="2074"/>
                  <a:pt x="72" y="2065"/>
                  <a:pt x="62" y="2055"/>
                </a:cubicBezTo>
                <a:cubicBezTo>
                  <a:pt x="52" y="2046"/>
                  <a:pt x="43" y="2035"/>
                  <a:pt x="36" y="2023"/>
                </a:cubicBezTo>
                <a:cubicBezTo>
                  <a:pt x="28" y="2012"/>
                  <a:pt x="21" y="2000"/>
                  <a:pt x="16" y="1987"/>
                </a:cubicBezTo>
                <a:cubicBezTo>
                  <a:pt x="11" y="1974"/>
                  <a:pt x="7" y="1961"/>
                  <a:pt x="4" y="1947"/>
                </a:cubicBezTo>
                <a:cubicBezTo>
                  <a:pt x="1" y="1933"/>
                  <a:pt x="0" y="1920"/>
                  <a:pt x="0" y="1906"/>
                </a:cubicBez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3543840" y="2496960"/>
            <a:ext cx="1189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函数，⽤于描述⼈⼝增⻓模型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952560" y="3319560"/>
            <a:ext cx="339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7E22CE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1944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1291680" y="33163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7E22CE"/>
                </a:solidFill>
                <a:effectLst/>
                <a:uFillTx/>
                <a:latin typeface="NotoSansCJKsc"/>
                <a:ea typeface="NotoSansCJKsc"/>
              </a:rPr>
              <a:t>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952560" y="3548160"/>
            <a:ext cx="1093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Joseph Berkson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2045520" y="3544920"/>
            <a:ext cx="275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⾸次将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2502720" y="3548160"/>
            <a:ext cx="517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任意多边形 194"/>
          <p:cNvSpPr/>
          <p:nvPr/>
        </p:nvSpPr>
        <p:spPr>
          <a:xfrm>
            <a:off x="580680" y="3228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106" y="0"/>
                </a:moveTo>
                <a:cubicBezTo>
                  <a:pt x="136" y="0"/>
                  <a:pt x="160" y="10"/>
                  <a:pt x="182" y="31"/>
                </a:cubicBezTo>
                <a:cubicBezTo>
                  <a:pt x="203" y="52"/>
                  <a:pt x="213" y="76"/>
                  <a:pt x="213" y="106"/>
                </a:cubicBezTo>
                <a:cubicBezTo>
                  <a:pt x="213" y="135"/>
                  <a:pt x="203" y="160"/>
                  <a:pt x="182" y="181"/>
                </a:cubicBezTo>
                <a:cubicBezTo>
                  <a:pt x="160" y="201"/>
                  <a:pt x="136" y="213"/>
                  <a:pt x="106" y="213"/>
                </a:cubicBezTo>
                <a:cubicBezTo>
                  <a:pt x="77" y="213"/>
                  <a:pt x="52" y="201"/>
                  <a:pt x="31" y="181"/>
                </a:cubicBezTo>
                <a:cubicBezTo>
                  <a:pt x="11" y="160"/>
                  <a:pt x="0" y="135"/>
                  <a:pt x="0" y="106"/>
                </a:cubicBezTo>
                <a:cubicBezTo>
                  <a:pt x="0" y="76"/>
                  <a:pt x="11" y="52"/>
                  <a:pt x="31" y="31"/>
                </a:cubicBezTo>
                <a:cubicBezTo>
                  <a:pt x="52" y="10"/>
                  <a:pt x="77" y="0"/>
                  <a:pt x="106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6" name="任意多边形 195"/>
          <p:cNvSpPr/>
          <p:nvPr/>
        </p:nvSpPr>
        <p:spPr>
          <a:xfrm>
            <a:off x="580680" y="3228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09"/>
                  <a:pt x="120" y="213"/>
                  <a:pt x="106" y="213"/>
                </a:cubicBezTo>
                <a:cubicBezTo>
                  <a:pt x="92" y="213"/>
                  <a:pt x="79" y="209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7" name="任意多边形 196"/>
          <p:cNvSpPr/>
          <p:nvPr/>
        </p:nvSpPr>
        <p:spPr>
          <a:xfrm>
            <a:off x="580680" y="3228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 fill="none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09"/>
                  <a:pt x="120" y="213"/>
                  <a:pt x="106" y="213"/>
                </a:cubicBezTo>
                <a:cubicBezTo>
                  <a:pt x="92" y="213"/>
                  <a:pt x="79" y="209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</a:path>
            </a:pathLst>
          </a:custGeom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8" name="任意多边形 197"/>
          <p:cNvSpPr/>
          <p:nvPr/>
        </p:nvSpPr>
        <p:spPr>
          <a:xfrm>
            <a:off x="799920" y="4190760"/>
            <a:ext cx="4982040" cy="762480"/>
          </a:xfrm>
          <a:custGeom>
            <a:avLst/>
            <a:gdLst/>
            <a:ahLst/>
            <a:cxnLst/>
            <a:rect l="0" t="0" r="r" b="b"/>
            <a:pathLst>
              <a:path w="13839" h="2118">
                <a:moveTo>
                  <a:pt x="0" y="1905"/>
                </a:moveTo>
                <a:lnTo>
                  <a:pt x="0" y="212"/>
                </a:lnTo>
                <a:cubicBezTo>
                  <a:pt x="0" y="198"/>
                  <a:pt x="1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2"/>
                  <a:pt x="198" y="0"/>
                  <a:pt x="212" y="0"/>
                </a:cubicBezTo>
                <a:lnTo>
                  <a:pt x="13627" y="0"/>
                </a:lnTo>
                <a:cubicBezTo>
                  <a:pt x="13641" y="0"/>
                  <a:pt x="13655" y="2"/>
                  <a:pt x="13668" y="4"/>
                </a:cubicBezTo>
                <a:cubicBezTo>
                  <a:pt x="13682" y="7"/>
                  <a:pt x="13695" y="11"/>
                  <a:pt x="13708" y="16"/>
                </a:cubicBezTo>
                <a:cubicBezTo>
                  <a:pt x="13721" y="22"/>
                  <a:pt x="13733" y="28"/>
                  <a:pt x="13745" y="36"/>
                </a:cubicBezTo>
                <a:cubicBezTo>
                  <a:pt x="13756" y="44"/>
                  <a:pt x="13767" y="52"/>
                  <a:pt x="13777" y="62"/>
                </a:cubicBezTo>
                <a:cubicBezTo>
                  <a:pt x="13787" y="72"/>
                  <a:pt x="13795" y="83"/>
                  <a:pt x="13803" y="94"/>
                </a:cubicBezTo>
                <a:cubicBezTo>
                  <a:pt x="13811" y="106"/>
                  <a:pt x="13817" y="118"/>
                  <a:pt x="13823" y="131"/>
                </a:cubicBezTo>
                <a:cubicBezTo>
                  <a:pt x="13828" y="144"/>
                  <a:pt x="13832" y="157"/>
                  <a:pt x="13835" y="171"/>
                </a:cubicBezTo>
                <a:cubicBezTo>
                  <a:pt x="13837" y="184"/>
                  <a:pt x="13839" y="198"/>
                  <a:pt x="13839" y="212"/>
                </a:cubicBezTo>
                <a:lnTo>
                  <a:pt x="13839" y="1905"/>
                </a:lnTo>
                <a:cubicBezTo>
                  <a:pt x="13839" y="1919"/>
                  <a:pt x="13837" y="1933"/>
                  <a:pt x="13835" y="1946"/>
                </a:cubicBezTo>
                <a:cubicBezTo>
                  <a:pt x="13832" y="1960"/>
                  <a:pt x="13828" y="1973"/>
                  <a:pt x="13823" y="1986"/>
                </a:cubicBezTo>
                <a:cubicBezTo>
                  <a:pt x="13817" y="1999"/>
                  <a:pt x="13811" y="2011"/>
                  <a:pt x="13803" y="2023"/>
                </a:cubicBezTo>
                <a:cubicBezTo>
                  <a:pt x="13795" y="2034"/>
                  <a:pt x="13787" y="2045"/>
                  <a:pt x="13777" y="2055"/>
                </a:cubicBezTo>
                <a:cubicBezTo>
                  <a:pt x="13767" y="2065"/>
                  <a:pt x="13756" y="2073"/>
                  <a:pt x="13745" y="2081"/>
                </a:cubicBezTo>
                <a:cubicBezTo>
                  <a:pt x="13733" y="2089"/>
                  <a:pt x="13721" y="2095"/>
                  <a:pt x="13708" y="2101"/>
                </a:cubicBezTo>
                <a:cubicBezTo>
                  <a:pt x="13695" y="2106"/>
                  <a:pt x="13682" y="2110"/>
                  <a:pt x="13668" y="2114"/>
                </a:cubicBezTo>
                <a:cubicBezTo>
                  <a:pt x="13655" y="2116"/>
                  <a:pt x="13641" y="2118"/>
                  <a:pt x="13627" y="2118"/>
                </a:cubicBezTo>
                <a:lnTo>
                  <a:pt x="212" y="2118"/>
                </a:lnTo>
                <a:cubicBezTo>
                  <a:pt x="198" y="2118"/>
                  <a:pt x="184" y="2116"/>
                  <a:pt x="170" y="2114"/>
                </a:cubicBezTo>
                <a:cubicBezTo>
                  <a:pt x="157" y="2110"/>
                  <a:pt x="144" y="2106"/>
                  <a:pt x="131" y="2101"/>
                </a:cubicBezTo>
                <a:cubicBezTo>
                  <a:pt x="118" y="2095"/>
                  <a:pt x="106" y="2089"/>
                  <a:pt x="94" y="2081"/>
                </a:cubicBezTo>
                <a:cubicBezTo>
                  <a:pt x="83" y="2073"/>
                  <a:pt x="72" y="2065"/>
                  <a:pt x="62" y="2055"/>
                </a:cubicBezTo>
                <a:cubicBezTo>
                  <a:pt x="52" y="2045"/>
                  <a:pt x="43" y="2034"/>
                  <a:pt x="36" y="2023"/>
                </a:cubicBezTo>
                <a:cubicBezTo>
                  <a:pt x="28" y="2011"/>
                  <a:pt x="21" y="1999"/>
                  <a:pt x="16" y="1986"/>
                </a:cubicBezTo>
                <a:cubicBezTo>
                  <a:pt x="11" y="1973"/>
                  <a:pt x="7" y="1960"/>
                  <a:pt x="4" y="1946"/>
                </a:cubicBezTo>
                <a:cubicBezTo>
                  <a:pt x="1" y="1933"/>
                  <a:pt x="0" y="1919"/>
                  <a:pt x="0" y="1905"/>
                </a:cubicBez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019320" y="3544920"/>
            <a:ext cx="1006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函数应⽤于⽣物统计领域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952560" y="4367520"/>
            <a:ext cx="339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4338CA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1970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1291680" y="436392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4338CA"/>
                </a:solidFill>
                <a:effectLst/>
                <a:uFillTx/>
                <a:latin typeface="NotoSansCJKsc"/>
                <a:ea typeface="NotoSansCJKsc"/>
              </a:rPr>
              <a:t>年代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952560" y="4596120"/>
            <a:ext cx="703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David Cox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1655640" y="4592520"/>
            <a:ext cx="1006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提出⽐例⻛险模型，推动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3331800" y="4596120"/>
            <a:ext cx="517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5" name="任意多边形 204"/>
          <p:cNvSpPr/>
          <p:nvPr/>
        </p:nvSpPr>
        <p:spPr>
          <a:xfrm>
            <a:off x="580680" y="4276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106" y="0"/>
                </a:moveTo>
                <a:cubicBezTo>
                  <a:pt x="136" y="0"/>
                  <a:pt x="160" y="11"/>
                  <a:pt x="182" y="31"/>
                </a:cubicBezTo>
                <a:cubicBezTo>
                  <a:pt x="203" y="53"/>
                  <a:pt x="213" y="78"/>
                  <a:pt x="213" y="107"/>
                </a:cubicBezTo>
                <a:cubicBezTo>
                  <a:pt x="213" y="136"/>
                  <a:pt x="203" y="161"/>
                  <a:pt x="182" y="182"/>
                </a:cubicBezTo>
                <a:cubicBezTo>
                  <a:pt x="160" y="203"/>
                  <a:pt x="136" y="213"/>
                  <a:pt x="106" y="213"/>
                </a:cubicBezTo>
                <a:cubicBezTo>
                  <a:pt x="77" y="213"/>
                  <a:pt x="52" y="203"/>
                  <a:pt x="31" y="182"/>
                </a:cubicBezTo>
                <a:cubicBezTo>
                  <a:pt x="11" y="161"/>
                  <a:pt x="0" y="136"/>
                  <a:pt x="0" y="107"/>
                </a:cubicBezTo>
                <a:cubicBezTo>
                  <a:pt x="0" y="78"/>
                  <a:pt x="11" y="53"/>
                  <a:pt x="31" y="31"/>
                </a:cubicBezTo>
                <a:cubicBezTo>
                  <a:pt x="52" y="11"/>
                  <a:pt x="77" y="0"/>
                  <a:pt x="106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6" name="任意多边形 205"/>
          <p:cNvSpPr/>
          <p:nvPr/>
        </p:nvSpPr>
        <p:spPr>
          <a:xfrm>
            <a:off x="580680" y="4276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580680" y="4276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 fill="none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</a:path>
            </a:pathLst>
          </a:custGeom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799920" y="5238720"/>
            <a:ext cx="4982040" cy="762120"/>
          </a:xfrm>
          <a:custGeom>
            <a:avLst/>
            <a:gdLst/>
            <a:ahLst/>
            <a:cxnLst/>
            <a:rect l="0" t="0" r="r" b="b"/>
            <a:pathLst>
              <a:path w="13839" h="2117">
                <a:moveTo>
                  <a:pt x="0" y="1906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1" y="117"/>
                  <a:pt x="28" y="105"/>
                  <a:pt x="36" y="94"/>
                </a:cubicBezTo>
                <a:cubicBezTo>
                  <a:pt x="43" y="82"/>
                  <a:pt x="52" y="71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3627" y="0"/>
                </a:lnTo>
                <a:cubicBezTo>
                  <a:pt x="13641" y="0"/>
                  <a:pt x="13655" y="1"/>
                  <a:pt x="13668" y="4"/>
                </a:cubicBezTo>
                <a:cubicBezTo>
                  <a:pt x="13682" y="6"/>
                  <a:pt x="13695" y="10"/>
                  <a:pt x="13708" y="16"/>
                </a:cubicBezTo>
                <a:cubicBezTo>
                  <a:pt x="13721" y="21"/>
                  <a:pt x="13733" y="28"/>
                  <a:pt x="13745" y="35"/>
                </a:cubicBezTo>
                <a:cubicBezTo>
                  <a:pt x="13756" y="43"/>
                  <a:pt x="13767" y="52"/>
                  <a:pt x="13777" y="62"/>
                </a:cubicBezTo>
                <a:cubicBezTo>
                  <a:pt x="13787" y="71"/>
                  <a:pt x="13795" y="82"/>
                  <a:pt x="13803" y="94"/>
                </a:cubicBezTo>
                <a:cubicBezTo>
                  <a:pt x="13811" y="105"/>
                  <a:pt x="13817" y="117"/>
                  <a:pt x="13823" y="130"/>
                </a:cubicBezTo>
                <a:cubicBezTo>
                  <a:pt x="13828" y="143"/>
                  <a:pt x="13832" y="156"/>
                  <a:pt x="13835" y="170"/>
                </a:cubicBezTo>
                <a:cubicBezTo>
                  <a:pt x="13837" y="184"/>
                  <a:pt x="13839" y="197"/>
                  <a:pt x="13839" y="211"/>
                </a:cubicBezTo>
                <a:lnTo>
                  <a:pt x="13839" y="1906"/>
                </a:lnTo>
                <a:cubicBezTo>
                  <a:pt x="13839" y="1919"/>
                  <a:pt x="13837" y="1933"/>
                  <a:pt x="13835" y="1947"/>
                </a:cubicBezTo>
                <a:cubicBezTo>
                  <a:pt x="13832" y="1961"/>
                  <a:pt x="13828" y="1974"/>
                  <a:pt x="13823" y="1987"/>
                </a:cubicBezTo>
                <a:cubicBezTo>
                  <a:pt x="13817" y="1999"/>
                  <a:pt x="13811" y="2012"/>
                  <a:pt x="13803" y="2023"/>
                </a:cubicBezTo>
                <a:cubicBezTo>
                  <a:pt x="13795" y="2035"/>
                  <a:pt x="13787" y="2045"/>
                  <a:pt x="13777" y="2055"/>
                </a:cubicBezTo>
                <a:cubicBezTo>
                  <a:pt x="13767" y="2065"/>
                  <a:pt x="13756" y="2074"/>
                  <a:pt x="13745" y="2082"/>
                </a:cubicBezTo>
                <a:cubicBezTo>
                  <a:pt x="13733" y="2089"/>
                  <a:pt x="13721" y="2096"/>
                  <a:pt x="13708" y="2101"/>
                </a:cubicBezTo>
                <a:cubicBezTo>
                  <a:pt x="13695" y="2106"/>
                  <a:pt x="13682" y="2110"/>
                  <a:pt x="13668" y="2113"/>
                </a:cubicBezTo>
                <a:cubicBezTo>
                  <a:pt x="13655" y="2116"/>
                  <a:pt x="13641" y="2117"/>
                  <a:pt x="13627" y="2117"/>
                </a:cubicBezTo>
                <a:lnTo>
                  <a:pt x="212" y="2117"/>
                </a:lnTo>
                <a:cubicBezTo>
                  <a:pt x="198" y="2117"/>
                  <a:pt x="184" y="2116"/>
                  <a:pt x="170" y="2113"/>
                </a:cubicBezTo>
                <a:cubicBezTo>
                  <a:pt x="157" y="2110"/>
                  <a:pt x="144" y="2106"/>
                  <a:pt x="131" y="2101"/>
                </a:cubicBezTo>
                <a:cubicBezTo>
                  <a:pt x="118" y="2096"/>
                  <a:pt x="106" y="2089"/>
                  <a:pt x="94" y="2082"/>
                </a:cubicBezTo>
                <a:cubicBezTo>
                  <a:pt x="83" y="2074"/>
                  <a:pt x="72" y="2065"/>
                  <a:pt x="62" y="2055"/>
                </a:cubicBezTo>
                <a:cubicBezTo>
                  <a:pt x="52" y="2045"/>
                  <a:pt x="43" y="2035"/>
                  <a:pt x="36" y="2023"/>
                </a:cubicBezTo>
                <a:cubicBezTo>
                  <a:pt x="28" y="2012"/>
                  <a:pt x="21" y="1999"/>
                  <a:pt x="16" y="1987"/>
                </a:cubicBezTo>
                <a:cubicBezTo>
                  <a:pt x="11" y="1974"/>
                  <a:pt x="7" y="1961"/>
                  <a:pt x="4" y="1947"/>
                </a:cubicBezTo>
                <a:cubicBezTo>
                  <a:pt x="1" y="1933"/>
                  <a:pt x="0" y="1919"/>
                  <a:pt x="0" y="190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848760" y="4592520"/>
            <a:ext cx="1006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回归在医学研究中的应⽤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952560" y="5415120"/>
            <a:ext cx="339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1" u="none" strike="noStrike">
                <a:solidFill>
                  <a:srgbClr val="1D4ED8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1980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1291680" y="541152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D4ED8"/>
                </a:solidFill>
                <a:effectLst/>
                <a:uFillTx/>
                <a:latin typeface="NotoSansCJKsc"/>
                <a:ea typeface="NotoSansCJKsc"/>
              </a:rPr>
              <a:t>年代⾄今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2" name="任意多边形 211"/>
          <p:cNvSpPr/>
          <p:nvPr/>
        </p:nvSpPr>
        <p:spPr>
          <a:xfrm>
            <a:off x="580680" y="53244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106" y="0"/>
                </a:moveTo>
                <a:cubicBezTo>
                  <a:pt x="136" y="0"/>
                  <a:pt x="160" y="10"/>
                  <a:pt x="182" y="31"/>
                </a:cubicBezTo>
                <a:cubicBezTo>
                  <a:pt x="203" y="51"/>
                  <a:pt x="213" y="76"/>
                  <a:pt x="213" y="107"/>
                </a:cubicBezTo>
                <a:cubicBezTo>
                  <a:pt x="213" y="136"/>
                  <a:pt x="203" y="161"/>
                  <a:pt x="182" y="181"/>
                </a:cubicBezTo>
                <a:cubicBezTo>
                  <a:pt x="160" y="202"/>
                  <a:pt x="136" y="212"/>
                  <a:pt x="106" y="212"/>
                </a:cubicBezTo>
                <a:cubicBezTo>
                  <a:pt x="77" y="212"/>
                  <a:pt x="52" y="202"/>
                  <a:pt x="31" y="181"/>
                </a:cubicBezTo>
                <a:cubicBezTo>
                  <a:pt x="11" y="161"/>
                  <a:pt x="0" y="136"/>
                  <a:pt x="0" y="107"/>
                </a:cubicBezTo>
                <a:cubicBezTo>
                  <a:pt x="0" y="76"/>
                  <a:pt x="11" y="51"/>
                  <a:pt x="31" y="31"/>
                </a:cubicBezTo>
                <a:cubicBezTo>
                  <a:pt x="52" y="10"/>
                  <a:pt x="77" y="0"/>
                  <a:pt x="106" y="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580680" y="53244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4" name="任意多边形 213"/>
          <p:cNvSpPr/>
          <p:nvPr/>
        </p:nvSpPr>
        <p:spPr>
          <a:xfrm>
            <a:off x="580680" y="53244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 fill="none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</a:path>
            </a:pathLst>
          </a:custGeom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6405480" y="2100240"/>
            <a:ext cx="2505240" cy="885960"/>
          </a:xfrm>
          <a:custGeom>
            <a:avLst/>
            <a:gdLst/>
            <a:ahLst/>
            <a:cxnLst/>
            <a:rect l="0" t="0" r="r" b="b"/>
            <a:pathLst>
              <a:path w="6959" h="2461" fill="none">
                <a:moveTo>
                  <a:pt x="0" y="226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6761" y="0"/>
                </a:lnTo>
                <a:cubicBezTo>
                  <a:pt x="6774" y="0"/>
                  <a:pt x="6787" y="1"/>
                  <a:pt x="6800" y="3"/>
                </a:cubicBezTo>
                <a:cubicBezTo>
                  <a:pt x="6812" y="6"/>
                  <a:pt x="6825" y="10"/>
                  <a:pt x="6837" y="15"/>
                </a:cubicBezTo>
                <a:cubicBezTo>
                  <a:pt x="6849" y="20"/>
                  <a:pt x="6860" y="26"/>
                  <a:pt x="6871" y="33"/>
                </a:cubicBezTo>
                <a:cubicBezTo>
                  <a:pt x="6882" y="40"/>
                  <a:pt x="6892" y="48"/>
                  <a:pt x="6901" y="58"/>
                </a:cubicBezTo>
                <a:cubicBezTo>
                  <a:pt x="6910" y="67"/>
                  <a:pt x="6919" y="77"/>
                  <a:pt x="6926" y="88"/>
                </a:cubicBezTo>
                <a:cubicBezTo>
                  <a:pt x="6933" y="99"/>
                  <a:pt x="6939" y="110"/>
                  <a:pt x="6944" y="122"/>
                </a:cubicBezTo>
                <a:cubicBezTo>
                  <a:pt x="6949" y="134"/>
                  <a:pt x="6953" y="147"/>
                  <a:pt x="6955" y="159"/>
                </a:cubicBezTo>
                <a:cubicBezTo>
                  <a:pt x="6958" y="172"/>
                  <a:pt x="6959" y="185"/>
                  <a:pt x="6959" y="198"/>
                </a:cubicBezTo>
                <a:lnTo>
                  <a:pt x="6959" y="2263"/>
                </a:lnTo>
                <a:cubicBezTo>
                  <a:pt x="6959" y="2276"/>
                  <a:pt x="6958" y="2289"/>
                  <a:pt x="6955" y="2301"/>
                </a:cubicBezTo>
                <a:cubicBezTo>
                  <a:pt x="6953" y="2314"/>
                  <a:pt x="6949" y="2327"/>
                  <a:pt x="6944" y="2339"/>
                </a:cubicBezTo>
                <a:cubicBezTo>
                  <a:pt x="6939" y="2351"/>
                  <a:pt x="6933" y="2362"/>
                  <a:pt x="6926" y="2373"/>
                </a:cubicBezTo>
                <a:cubicBezTo>
                  <a:pt x="6919" y="2384"/>
                  <a:pt x="6910" y="2394"/>
                  <a:pt x="6901" y="2403"/>
                </a:cubicBezTo>
                <a:cubicBezTo>
                  <a:pt x="6892" y="2412"/>
                  <a:pt x="6882" y="2421"/>
                  <a:pt x="6871" y="2428"/>
                </a:cubicBezTo>
                <a:cubicBezTo>
                  <a:pt x="6860" y="2435"/>
                  <a:pt x="6849" y="2441"/>
                  <a:pt x="6837" y="2446"/>
                </a:cubicBezTo>
                <a:cubicBezTo>
                  <a:pt x="6825" y="2451"/>
                  <a:pt x="6812" y="2455"/>
                  <a:pt x="6800" y="2457"/>
                </a:cubicBezTo>
                <a:cubicBezTo>
                  <a:pt x="6787" y="2460"/>
                  <a:pt x="6774" y="2461"/>
                  <a:pt x="6761" y="2461"/>
                </a:cubicBezTo>
                <a:lnTo>
                  <a:pt x="198" y="2461"/>
                </a:lnTo>
                <a:cubicBezTo>
                  <a:pt x="185" y="2461"/>
                  <a:pt x="172" y="2460"/>
                  <a:pt x="159" y="2457"/>
                </a:cubicBezTo>
                <a:cubicBezTo>
                  <a:pt x="147" y="2455"/>
                  <a:pt x="134" y="2451"/>
                  <a:pt x="122" y="2446"/>
                </a:cubicBezTo>
                <a:cubicBezTo>
                  <a:pt x="110" y="2441"/>
                  <a:pt x="99" y="2435"/>
                  <a:pt x="88" y="2428"/>
                </a:cubicBezTo>
                <a:cubicBezTo>
                  <a:pt x="77" y="2421"/>
                  <a:pt x="67" y="2412"/>
                  <a:pt x="58" y="2403"/>
                </a:cubicBezTo>
                <a:cubicBezTo>
                  <a:pt x="49" y="2394"/>
                  <a:pt x="40" y="2384"/>
                  <a:pt x="33" y="2373"/>
                </a:cubicBezTo>
                <a:cubicBezTo>
                  <a:pt x="26" y="2362"/>
                  <a:pt x="20" y="2351"/>
                  <a:pt x="15" y="2339"/>
                </a:cubicBezTo>
                <a:cubicBezTo>
                  <a:pt x="10" y="2327"/>
                  <a:pt x="6" y="2314"/>
                  <a:pt x="4" y="2301"/>
                </a:cubicBezTo>
                <a:cubicBezTo>
                  <a:pt x="1" y="2289"/>
                  <a:pt x="0" y="2276"/>
                  <a:pt x="0" y="2263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16" name="图片 2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10160" y="2104920"/>
            <a:ext cx="2495160" cy="8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任意多边形 216"/>
          <p:cNvSpPr/>
          <p:nvPr/>
        </p:nvSpPr>
        <p:spPr>
          <a:xfrm>
            <a:off x="6562440" y="2257200"/>
            <a:ext cx="305280" cy="305280"/>
          </a:xfrm>
          <a:custGeom>
            <a:avLst/>
            <a:gdLst/>
            <a:ahLst/>
            <a:cxn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5" y="480"/>
                  <a:pt x="840" y="507"/>
                </a:cubicBezTo>
                <a:cubicBezTo>
                  <a:pt x="834" y="534"/>
                  <a:pt x="826" y="561"/>
                  <a:pt x="816" y="586"/>
                </a:cubicBezTo>
                <a:cubicBezTo>
                  <a:pt x="804" y="612"/>
                  <a:pt x="791" y="637"/>
                  <a:pt x="776" y="660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3" y="743"/>
                  <a:pt x="682" y="761"/>
                  <a:pt x="659" y="776"/>
                </a:cubicBezTo>
                <a:cubicBezTo>
                  <a:pt x="636" y="792"/>
                  <a:pt x="611" y="805"/>
                  <a:pt x="586" y="816"/>
                </a:cubicBezTo>
                <a:cubicBezTo>
                  <a:pt x="560" y="826"/>
                  <a:pt x="533" y="834"/>
                  <a:pt x="506" y="840"/>
                </a:cubicBezTo>
                <a:cubicBezTo>
                  <a:pt x="479" y="845"/>
                  <a:pt x="451" y="848"/>
                  <a:pt x="424" y="848"/>
                </a:cubicBezTo>
                <a:cubicBezTo>
                  <a:pt x="396" y="848"/>
                  <a:pt x="368" y="845"/>
                  <a:pt x="341" y="840"/>
                </a:cubicBezTo>
                <a:cubicBezTo>
                  <a:pt x="314" y="834"/>
                  <a:pt x="287" y="826"/>
                  <a:pt x="262" y="816"/>
                </a:cubicBezTo>
                <a:cubicBezTo>
                  <a:pt x="236" y="805"/>
                  <a:pt x="212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7"/>
                  <a:pt x="43" y="612"/>
                  <a:pt x="33" y="586"/>
                </a:cubicBezTo>
                <a:cubicBezTo>
                  <a:pt x="22" y="561"/>
                  <a:pt x="14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ubicBezTo>
                  <a:pt x="0" y="397"/>
                  <a:pt x="3" y="369"/>
                  <a:pt x="8" y="342"/>
                </a:cubicBezTo>
                <a:cubicBezTo>
                  <a:pt x="14" y="315"/>
                  <a:pt x="22" y="288"/>
                  <a:pt x="33" y="262"/>
                </a:cubicBezTo>
                <a:cubicBezTo>
                  <a:pt x="43" y="237"/>
                  <a:pt x="56" y="212"/>
                  <a:pt x="72" y="189"/>
                </a:cubicBezTo>
                <a:cubicBezTo>
                  <a:pt x="87" y="166"/>
                  <a:pt x="105" y="145"/>
                  <a:pt x="124" y="125"/>
                </a:cubicBezTo>
                <a:cubicBezTo>
                  <a:pt x="144" y="105"/>
                  <a:pt x="165" y="88"/>
                  <a:pt x="188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2"/>
                  <a:pt x="314" y="14"/>
                  <a:pt x="341" y="8"/>
                </a:cubicBezTo>
                <a:cubicBezTo>
                  <a:pt x="368" y="3"/>
                  <a:pt x="396" y="0"/>
                  <a:pt x="424" y="0"/>
                </a:cubicBezTo>
                <a:cubicBezTo>
                  <a:pt x="451" y="0"/>
                  <a:pt x="479" y="3"/>
                  <a:pt x="506" y="8"/>
                </a:cubicBezTo>
                <a:cubicBezTo>
                  <a:pt x="533" y="14"/>
                  <a:pt x="560" y="22"/>
                  <a:pt x="586" y="32"/>
                </a:cubicBezTo>
                <a:cubicBezTo>
                  <a:pt x="611" y="43"/>
                  <a:pt x="636" y="56"/>
                  <a:pt x="659" y="71"/>
                </a:cubicBezTo>
                <a:cubicBezTo>
                  <a:pt x="682" y="88"/>
                  <a:pt x="703" y="105"/>
                  <a:pt x="723" y="125"/>
                </a:cubicBezTo>
                <a:cubicBezTo>
                  <a:pt x="743" y="145"/>
                  <a:pt x="760" y="166"/>
                  <a:pt x="776" y="189"/>
                </a:cubicBezTo>
                <a:cubicBezTo>
                  <a:pt x="791" y="212"/>
                  <a:pt x="804" y="237"/>
                  <a:pt x="816" y="262"/>
                </a:cubicBezTo>
                <a:cubicBezTo>
                  <a:pt x="826" y="288"/>
                  <a:pt x="834" y="315"/>
                  <a:pt x="840" y="342"/>
                </a:cubicBezTo>
                <a:cubicBezTo>
                  <a:pt x="845" y="369"/>
                  <a:pt x="848" y="397"/>
                  <a:pt x="848" y="42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8" name="任意多边形 217"/>
          <p:cNvSpPr/>
          <p:nvPr/>
        </p:nvSpPr>
        <p:spPr>
          <a:xfrm>
            <a:off x="6638760" y="2352600"/>
            <a:ext cx="152640" cy="28800"/>
          </a:xfrm>
          <a:custGeom>
            <a:avLst/>
            <a:gdLst/>
            <a:ahLst/>
            <a:cxnLst/>
            <a:rect l="0" t="0" r="r" b="b"/>
            <a:pathLst>
              <a:path w="424" h="80">
                <a:moveTo>
                  <a:pt x="53" y="0"/>
                </a:moveTo>
                <a:cubicBezTo>
                  <a:pt x="46" y="0"/>
                  <a:pt x="39" y="1"/>
                  <a:pt x="33" y="4"/>
                </a:cubicBezTo>
                <a:cubicBezTo>
                  <a:pt x="26" y="6"/>
                  <a:pt x="20" y="10"/>
                  <a:pt x="15" y="15"/>
                </a:cubicBezTo>
                <a:cubicBezTo>
                  <a:pt x="10" y="20"/>
                  <a:pt x="7" y="26"/>
                  <a:pt x="4" y="32"/>
                </a:cubicBezTo>
                <a:cubicBezTo>
                  <a:pt x="1" y="39"/>
                  <a:pt x="0" y="46"/>
                  <a:pt x="0" y="53"/>
                </a:cubicBezTo>
                <a:lnTo>
                  <a:pt x="0" y="80"/>
                </a:lnTo>
                <a:lnTo>
                  <a:pt x="424" y="80"/>
                </a:lnTo>
                <a:lnTo>
                  <a:pt x="424" y="53"/>
                </a:lnTo>
                <a:cubicBezTo>
                  <a:pt x="424" y="46"/>
                  <a:pt x="423" y="39"/>
                  <a:pt x="420" y="32"/>
                </a:cubicBezTo>
                <a:cubicBezTo>
                  <a:pt x="418" y="26"/>
                  <a:pt x="414" y="20"/>
                  <a:pt x="409" y="15"/>
                </a:cubicBezTo>
                <a:cubicBezTo>
                  <a:pt x="404" y="10"/>
                  <a:pt x="398" y="6"/>
                  <a:pt x="392" y="4"/>
                </a:cubicBezTo>
                <a:cubicBezTo>
                  <a:pt x="385" y="1"/>
                  <a:pt x="377" y="0"/>
                  <a:pt x="370" y="0"/>
                </a:cubicBezTo>
                <a:lnTo>
                  <a:pt x="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9" name="任意多边形 218"/>
          <p:cNvSpPr/>
          <p:nvPr/>
        </p:nvSpPr>
        <p:spPr>
          <a:xfrm>
            <a:off x="6638760" y="2400120"/>
            <a:ext cx="152640" cy="66960"/>
          </a:xfrm>
          <a:custGeom>
            <a:avLst/>
            <a:gdLst/>
            <a:ahLst/>
            <a:cxnLst/>
            <a:rect l="0" t="0" r="r" b="b"/>
            <a:pathLst>
              <a:path w="424" h="186">
                <a:moveTo>
                  <a:pt x="424" y="0"/>
                </a:moveTo>
                <a:lnTo>
                  <a:pt x="0" y="0"/>
                </a:lnTo>
                <a:lnTo>
                  <a:pt x="0" y="133"/>
                </a:lnTo>
                <a:cubicBezTo>
                  <a:pt x="0" y="140"/>
                  <a:pt x="1" y="147"/>
                  <a:pt x="4" y="154"/>
                </a:cubicBezTo>
                <a:cubicBezTo>
                  <a:pt x="7" y="160"/>
                  <a:pt x="10" y="166"/>
                  <a:pt x="15" y="171"/>
                </a:cubicBezTo>
                <a:cubicBezTo>
                  <a:pt x="20" y="176"/>
                  <a:pt x="26" y="179"/>
                  <a:pt x="33" y="182"/>
                </a:cubicBezTo>
                <a:cubicBezTo>
                  <a:pt x="39" y="185"/>
                  <a:pt x="46" y="186"/>
                  <a:pt x="53" y="186"/>
                </a:cubicBezTo>
                <a:lnTo>
                  <a:pt x="370" y="186"/>
                </a:lnTo>
                <a:cubicBezTo>
                  <a:pt x="377" y="186"/>
                  <a:pt x="385" y="185"/>
                  <a:pt x="392" y="182"/>
                </a:cubicBezTo>
                <a:cubicBezTo>
                  <a:pt x="398" y="179"/>
                  <a:pt x="404" y="176"/>
                  <a:pt x="409" y="171"/>
                </a:cubicBezTo>
                <a:cubicBezTo>
                  <a:pt x="414" y="166"/>
                  <a:pt x="418" y="160"/>
                  <a:pt x="420" y="154"/>
                </a:cubicBezTo>
                <a:cubicBezTo>
                  <a:pt x="423" y="147"/>
                  <a:pt x="424" y="140"/>
                  <a:pt x="424" y="133"/>
                </a:cubicBezTo>
                <a:lnTo>
                  <a:pt x="424" y="0"/>
                </a:lnTo>
                <a:moveTo>
                  <a:pt x="53" y="107"/>
                </a:moveTo>
                <a:cubicBezTo>
                  <a:pt x="53" y="100"/>
                  <a:pt x="55" y="93"/>
                  <a:pt x="61" y="88"/>
                </a:cubicBezTo>
                <a:cubicBezTo>
                  <a:pt x="66" y="82"/>
                  <a:pt x="72" y="79"/>
                  <a:pt x="79" y="79"/>
                </a:cubicBezTo>
                <a:lnTo>
                  <a:pt x="106" y="79"/>
                </a:lnTo>
                <a:cubicBezTo>
                  <a:pt x="113" y="79"/>
                  <a:pt x="119" y="82"/>
                  <a:pt x="124" y="88"/>
                </a:cubicBezTo>
                <a:cubicBezTo>
                  <a:pt x="130" y="93"/>
                  <a:pt x="132" y="100"/>
                  <a:pt x="132" y="107"/>
                </a:cubicBezTo>
                <a:cubicBezTo>
                  <a:pt x="132" y="114"/>
                  <a:pt x="130" y="120"/>
                  <a:pt x="124" y="126"/>
                </a:cubicBezTo>
                <a:cubicBezTo>
                  <a:pt x="119" y="131"/>
                  <a:pt x="113" y="133"/>
                  <a:pt x="106" y="133"/>
                </a:cubicBezTo>
                <a:lnTo>
                  <a:pt x="79" y="133"/>
                </a:lnTo>
                <a:cubicBezTo>
                  <a:pt x="72" y="133"/>
                  <a:pt x="66" y="131"/>
                  <a:pt x="61" y="126"/>
                </a:cubicBezTo>
                <a:cubicBezTo>
                  <a:pt x="55" y="120"/>
                  <a:pt x="53" y="114"/>
                  <a:pt x="53" y="107"/>
                </a:cubicBezTo>
                <a:moveTo>
                  <a:pt x="185" y="79"/>
                </a:moveTo>
                <a:cubicBezTo>
                  <a:pt x="178" y="79"/>
                  <a:pt x="172" y="82"/>
                  <a:pt x="166" y="88"/>
                </a:cubicBezTo>
                <a:cubicBezTo>
                  <a:pt x="161" y="93"/>
                  <a:pt x="159" y="100"/>
                  <a:pt x="159" y="107"/>
                </a:cubicBezTo>
                <a:cubicBezTo>
                  <a:pt x="159" y="114"/>
                  <a:pt x="161" y="120"/>
                  <a:pt x="166" y="126"/>
                </a:cubicBezTo>
                <a:cubicBezTo>
                  <a:pt x="172" y="131"/>
                  <a:pt x="178" y="133"/>
                  <a:pt x="185" y="133"/>
                </a:cubicBezTo>
                <a:lnTo>
                  <a:pt x="212" y="133"/>
                </a:lnTo>
                <a:cubicBezTo>
                  <a:pt x="219" y="133"/>
                  <a:pt x="225" y="131"/>
                  <a:pt x="230" y="126"/>
                </a:cubicBezTo>
                <a:cubicBezTo>
                  <a:pt x="235" y="120"/>
                  <a:pt x="238" y="114"/>
                  <a:pt x="238" y="107"/>
                </a:cubicBezTo>
                <a:cubicBezTo>
                  <a:pt x="238" y="100"/>
                  <a:pt x="235" y="93"/>
                  <a:pt x="230" y="88"/>
                </a:cubicBezTo>
                <a:cubicBezTo>
                  <a:pt x="225" y="82"/>
                  <a:pt x="219" y="79"/>
                  <a:pt x="212" y="79"/>
                </a:cubicBezTo>
                <a:lnTo>
                  <a:pt x="185" y="7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952560" y="5640120"/>
            <a:ext cx="23785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成为⾦融⻛控、医疗诊断、市场营销等领域的核⼼分类⼯具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6943680" y="231588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⾦融⻛控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任意多边形 221"/>
          <p:cNvSpPr/>
          <p:nvPr/>
        </p:nvSpPr>
        <p:spPr>
          <a:xfrm>
            <a:off x="9072360" y="2100240"/>
            <a:ext cx="2505600" cy="885960"/>
          </a:xfrm>
          <a:custGeom>
            <a:avLst/>
            <a:gdLst/>
            <a:ahLst/>
            <a:cxnLst/>
            <a:rect l="0" t="0" r="r" b="b"/>
            <a:pathLst>
              <a:path w="6960" h="2461" fill="none">
                <a:moveTo>
                  <a:pt x="0" y="226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6761" y="0"/>
                </a:lnTo>
                <a:cubicBezTo>
                  <a:pt x="6774" y="0"/>
                  <a:pt x="6787" y="1"/>
                  <a:pt x="6800" y="3"/>
                </a:cubicBezTo>
                <a:cubicBezTo>
                  <a:pt x="6813" y="6"/>
                  <a:pt x="6825" y="10"/>
                  <a:pt x="6837" y="15"/>
                </a:cubicBezTo>
                <a:cubicBezTo>
                  <a:pt x="6849" y="20"/>
                  <a:pt x="6861" y="26"/>
                  <a:pt x="6871" y="33"/>
                </a:cubicBezTo>
                <a:cubicBezTo>
                  <a:pt x="6882" y="40"/>
                  <a:pt x="6892" y="48"/>
                  <a:pt x="6901" y="58"/>
                </a:cubicBezTo>
                <a:cubicBezTo>
                  <a:pt x="6911" y="67"/>
                  <a:pt x="6919" y="77"/>
                  <a:pt x="6926" y="88"/>
                </a:cubicBezTo>
                <a:cubicBezTo>
                  <a:pt x="6933" y="99"/>
                  <a:pt x="6940" y="110"/>
                  <a:pt x="6944" y="122"/>
                </a:cubicBezTo>
                <a:cubicBezTo>
                  <a:pt x="6949" y="134"/>
                  <a:pt x="6953" y="147"/>
                  <a:pt x="6956" y="159"/>
                </a:cubicBezTo>
                <a:cubicBezTo>
                  <a:pt x="6958" y="172"/>
                  <a:pt x="6960" y="185"/>
                  <a:pt x="6960" y="198"/>
                </a:cubicBezTo>
                <a:lnTo>
                  <a:pt x="6960" y="2263"/>
                </a:lnTo>
                <a:cubicBezTo>
                  <a:pt x="6960" y="2276"/>
                  <a:pt x="6958" y="2289"/>
                  <a:pt x="6956" y="2301"/>
                </a:cubicBezTo>
                <a:cubicBezTo>
                  <a:pt x="6953" y="2314"/>
                  <a:pt x="6949" y="2327"/>
                  <a:pt x="6944" y="2339"/>
                </a:cubicBezTo>
                <a:cubicBezTo>
                  <a:pt x="6940" y="2351"/>
                  <a:pt x="6933" y="2362"/>
                  <a:pt x="6926" y="2373"/>
                </a:cubicBezTo>
                <a:cubicBezTo>
                  <a:pt x="6919" y="2384"/>
                  <a:pt x="6911" y="2394"/>
                  <a:pt x="6901" y="2403"/>
                </a:cubicBezTo>
                <a:cubicBezTo>
                  <a:pt x="6892" y="2412"/>
                  <a:pt x="6882" y="2421"/>
                  <a:pt x="6871" y="2428"/>
                </a:cubicBezTo>
                <a:cubicBezTo>
                  <a:pt x="6861" y="2435"/>
                  <a:pt x="6849" y="2441"/>
                  <a:pt x="6837" y="2446"/>
                </a:cubicBezTo>
                <a:cubicBezTo>
                  <a:pt x="6825" y="2451"/>
                  <a:pt x="6813" y="2455"/>
                  <a:pt x="6800" y="2457"/>
                </a:cubicBezTo>
                <a:cubicBezTo>
                  <a:pt x="6787" y="2460"/>
                  <a:pt x="6774" y="2461"/>
                  <a:pt x="6761" y="2461"/>
                </a:cubicBezTo>
                <a:lnTo>
                  <a:pt x="198" y="2461"/>
                </a:lnTo>
                <a:cubicBezTo>
                  <a:pt x="185" y="2461"/>
                  <a:pt x="173" y="2460"/>
                  <a:pt x="160" y="2457"/>
                </a:cubicBezTo>
                <a:cubicBezTo>
                  <a:pt x="147" y="2455"/>
                  <a:pt x="135" y="2451"/>
                  <a:pt x="123" y="2446"/>
                </a:cubicBezTo>
                <a:cubicBezTo>
                  <a:pt x="111" y="2441"/>
                  <a:pt x="99" y="2435"/>
                  <a:pt x="88" y="2428"/>
                </a:cubicBezTo>
                <a:cubicBezTo>
                  <a:pt x="77" y="2421"/>
                  <a:pt x="67" y="2412"/>
                  <a:pt x="58" y="2403"/>
                </a:cubicBezTo>
                <a:cubicBezTo>
                  <a:pt x="49" y="2394"/>
                  <a:pt x="41" y="2384"/>
                  <a:pt x="34" y="2373"/>
                </a:cubicBezTo>
                <a:cubicBezTo>
                  <a:pt x="26" y="2362"/>
                  <a:pt x="20" y="2351"/>
                  <a:pt x="15" y="2339"/>
                </a:cubicBezTo>
                <a:cubicBezTo>
                  <a:pt x="10" y="2327"/>
                  <a:pt x="6" y="2314"/>
                  <a:pt x="4" y="2301"/>
                </a:cubicBezTo>
                <a:cubicBezTo>
                  <a:pt x="1" y="2289"/>
                  <a:pt x="0" y="2276"/>
                  <a:pt x="0" y="2263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23" name="图片 222"/>
          <p:cNvPicPr/>
          <p:nvPr/>
        </p:nvPicPr>
        <p:blipFill>
          <a:blip r:embed="rId2"/>
          <a:stretch>
            <a:fillRect/>
          </a:stretch>
        </p:blipFill>
        <p:spPr>
          <a:xfrm>
            <a:off x="9077400" y="2104920"/>
            <a:ext cx="2495160" cy="8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任意多边形 223"/>
          <p:cNvSpPr/>
          <p:nvPr/>
        </p:nvSpPr>
        <p:spPr>
          <a:xfrm>
            <a:off x="9229680" y="2257200"/>
            <a:ext cx="304920" cy="305280"/>
          </a:xfrm>
          <a:custGeom>
            <a:avLst/>
            <a:gdLst/>
            <a:ahLst/>
            <a:cxnLst/>
            <a:rect l="0" t="0" r="r" b="b"/>
            <a:pathLst>
              <a:path w="847" h="848">
                <a:moveTo>
                  <a:pt x="847" y="424"/>
                </a:moveTo>
                <a:cubicBezTo>
                  <a:pt x="847" y="452"/>
                  <a:pt x="845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7"/>
                  <a:pt x="776" y="660"/>
                </a:cubicBezTo>
                <a:cubicBezTo>
                  <a:pt x="761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6"/>
                </a:cubicBezTo>
                <a:cubicBezTo>
                  <a:pt x="560" y="826"/>
                  <a:pt x="534" y="834"/>
                  <a:pt x="507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6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3" y="743"/>
                  <a:pt x="124" y="724"/>
                </a:cubicBezTo>
                <a:cubicBezTo>
                  <a:pt x="104" y="704"/>
                  <a:pt x="86" y="683"/>
                  <a:pt x="71" y="660"/>
                </a:cubicBezTo>
                <a:cubicBezTo>
                  <a:pt x="56" y="637"/>
                  <a:pt x="42" y="612"/>
                  <a:pt x="32" y="586"/>
                </a:cubicBezTo>
                <a:cubicBezTo>
                  <a:pt x="21" y="561"/>
                  <a:pt x="13" y="534"/>
                  <a:pt x="8" y="507"/>
                </a:cubicBezTo>
                <a:cubicBezTo>
                  <a:pt x="2" y="480"/>
                  <a:pt x="0" y="452"/>
                  <a:pt x="0" y="424"/>
                </a:cubicBezTo>
                <a:cubicBezTo>
                  <a:pt x="0" y="397"/>
                  <a:pt x="2" y="369"/>
                  <a:pt x="8" y="342"/>
                </a:cubicBezTo>
                <a:cubicBezTo>
                  <a:pt x="13" y="315"/>
                  <a:pt x="21" y="288"/>
                  <a:pt x="32" y="262"/>
                </a:cubicBezTo>
                <a:cubicBezTo>
                  <a:pt x="42" y="237"/>
                  <a:pt x="56" y="212"/>
                  <a:pt x="71" y="189"/>
                </a:cubicBezTo>
                <a:cubicBezTo>
                  <a:pt x="86" y="166"/>
                  <a:pt x="104" y="145"/>
                  <a:pt x="124" y="125"/>
                </a:cubicBezTo>
                <a:cubicBezTo>
                  <a:pt x="143" y="105"/>
                  <a:pt x="166" y="88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7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8"/>
                  <a:pt x="704" y="105"/>
                  <a:pt x="723" y="125"/>
                </a:cubicBezTo>
                <a:cubicBezTo>
                  <a:pt x="743" y="145"/>
                  <a:pt x="761" y="166"/>
                  <a:pt x="776" y="189"/>
                </a:cubicBezTo>
                <a:cubicBezTo>
                  <a:pt x="791" y="212"/>
                  <a:pt x="804" y="237"/>
                  <a:pt x="815" y="262"/>
                </a:cubicBezTo>
                <a:cubicBezTo>
                  <a:pt x="826" y="288"/>
                  <a:pt x="834" y="315"/>
                  <a:pt x="839" y="342"/>
                </a:cubicBezTo>
                <a:cubicBezTo>
                  <a:pt x="845" y="369"/>
                  <a:pt x="847" y="397"/>
                  <a:pt x="847" y="424"/>
                </a:cubicBezTo>
                <a:close/>
              </a:path>
            </a:pathLst>
          </a:custGeom>
          <a:solidFill>
            <a:srgbClr val="22C5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5" name="任意多边形 224"/>
          <p:cNvSpPr/>
          <p:nvPr/>
        </p:nvSpPr>
        <p:spPr>
          <a:xfrm>
            <a:off x="9304200" y="2333520"/>
            <a:ext cx="156240" cy="152640"/>
          </a:xfrm>
          <a:custGeom>
            <a:avLst/>
            <a:gdLst/>
            <a:ahLst/>
            <a:cxnLst/>
            <a:rect l="0" t="0" r="r" b="b"/>
            <a:pathLst>
              <a:path w="434" h="424">
                <a:moveTo>
                  <a:pt x="137" y="0"/>
                </a:moveTo>
                <a:cubicBezTo>
                  <a:pt x="125" y="0"/>
                  <a:pt x="117" y="5"/>
                  <a:pt x="112" y="16"/>
                </a:cubicBezTo>
                <a:cubicBezTo>
                  <a:pt x="108" y="27"/>
                  <a:pt x="110" y="37"/>
                  <a:pt x="118" y="45"/>
                </a:cubicBezTo>
                <a:lnTo>
                  <a:pt x="137" y="64"/>
                </a:lnTo>
                <a:lnTo>
                  <a:pt x="137" y="164"/>
                </a:lnTo>
                <a:cubicBezTo>
                  <a:pt x="137" y="171"/>
                  <a:pt x="134" y="178"/>
                  <a:pt x="129" y="183"/>
                </a:cubicBezTo>
                <a:lnTo>
                  <a:pt x="23" y="289"/>
                </a:lnTo>
                <a:cubicBezTo>
                  <a:pt x="-27" y="339"/>
                  <a:pt x="8" y="424"/>
                  <a:pt x="79" y="424"/>
                </a:cubicBezTo>
                <a:lnTo>
                  <a:pt x="354" y="424"/>
                </a:lnTo>
                <a:cubicBezTo>
                  <a:pt x="424" y="424"/>
                  <a:pt x="460" y="339"/>
                  <a:pt x="410" y="289"/>
                </a:cubicBezTo>
                <a:lnTo>
                  <a:pt x="304" y="183"/>
                </a:lnTo>
                <a:cubicBezTo>
                  <a:pt x="299" y="178"/>
                  <a:pt x="296" y="171"/>
                  <a:pt x="296" y="164"/>
                </a:cubicBezTo>
                <a:lnTo>
                  <a:pt x="296" y="64"/>
                </a:lnTo>
                <a:lnTo>
                  <a:pt x="315" y="45"/>
                </a:lnTo>
                <a:cubicBezTo>
                  <a:pt x="323" y="37"/>
                  <a:pt x="325" y="27"/>
                  <a:pt x="321" y="16"/>
                </a:cubicBezTo>
                <a:cubicBezTo>
                  <a:pt x="316" y="5"/>
                  <a:pt x="308" y="0"/>
                  <a:pt x="296" y="0"/>
                </a:cubicBezTo>
                <a:lnTo>
                  <a:pt x="137" y="0"/>
                </a:lnTo>
                <a:moveTo>
                  <a:pt x="189" y="164"/>
                </a:moveTo>
                <a:lnTo>
                  <a:pt x="189" y="53"/>
                </a:lnTo>
                <a:lnTo>
                  <a:pt x="242" y="53"/>
                </a:lnTo>
                <a:lnTo>
                  <a:pt x="242" y="164"/>
                </a:lnTo>
                <a:cubicBezTo>
                  <a:pt x="242" y="186"/>
                  <a:pt x="250" y="205"/>
                  <a:pt x="266" y="220"/>
                </a:cubicBezTo>
                <a:lnTo>
                  <a:pt x="294" y="247"/>
                </a:lnTo>
                <a:cubicBezTo>
                  <a:pt x="273" y="243"/>
                  <a:pt x="254" y="244"/>
                  <a:pt x="235" y="250"/>
                </a:cubicBezTo>
                <a:lnTo>
                  <a:pt x="223" y="254"/>
                </a:lnTo>
                <a:cubicBezTo>
                  <a:pt x="201" y="262"/>
                  <a:pt x="178" y="262"/>
                  <a:pt x="156" y="254"/>
                </a:cubicBezTo>
                <a:lnTo>
                  <a:pt x="141" y="249"/>
                </a:lnTo>
                <a:cubicBezTo>
                  <a:pt x="140" y="249"/>
                  <a:pt x="139" y="249"/>
                  <a:pt x="138" y="248"/>
                </a:cubicBezTo>
                <a:lnTo>
                  <a:pt x="166" y="220"/>
                </a:lnTo>
                <a:cubicBezTo>
                  <a:pt x="182" y="205"/>
                  <a:pt x="189" y="186"/>
                  <a:pt x="189" y="1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562800" y="2657520"/>
            <a:ext cx="1273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预测贷款违约概率，识别⾼⻛险客⼾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9610560" y="231588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医疗诊断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6405480" y="3147840"/>
            <a:ext cx="2505240" cy="886320"/>
          </a:xfrm>
          <a:custGeom>
            <a:avLst/>
            <a:gdLst/>
            <a:ahLst/>
            <a:cxnLst/>
            <a:rect l="0" t="0" r="r" b="b"/>
            <a:pathLst>
              <a:path w="6959" h="2462" fill="none">
                <a:moveTo>
                  <a:pt x="0" y="226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6761" y="0"/>
                </a:lnTo>
                <a:cubicBezTo>
                  <a:pt x="6774" y="0"/>
                  <a:pt x="6787" y="1"/>
                  <a:pt x="6800" y="4"/>
                </a:cubicBezTo>
                <a:cubicBezTo>
                  <a:pt x="6812" y="6"/>
                  <a:pt x="6825" y="10"/>
                  <a:pt x="6837" y="15"/>
                </a:cubicBezTo>
                <a:cubicBezTo>
                  <a:pt x="6849" y="20"/>
                  <a:pt x="6860" y="26"/>
                  <a:pt x="6871" y="33"/>
                </a:cubicBezTo>
                <a:cubicBezTo>
                  <a:pt x="6882" y="41"/>
                  <a:pt x="6892" y="49"/>
                  <a:pt x="6901" y="58"/>
                </a:cubicBezTo>
                <a:cubicBezTo>
                  <a:pt x="6910" y="67"/>
                  <a:pt x="6919" y="77"/>
                  <a:pt x="6926" y="88"/>
                </a:cubicBezTo>
                <a:cubicBezTo>
                  <a:pt x="6933" y="99"/>
                  <a:pt x="6939" y="110"/>
                  <a:pt x="6944" y="122"/>
                </a:cubicBezTo>
                <a:cubicBezTo>
                  <a:pt x="6949" y="135"/>
                  <a:pt x="6953" y="147"/>
                  <a:pt x="6955" y="160"/>
                </a:cubicBezTo>
                <a:cubicBezTo>
                  <a:pt x="6958" y="172"/>
                  <a:pt x="6959" y="185"/>
                  <a:pt x="6959" y="198"/>
                </a:cubicBezTo>
                <a:lnTo>
                  <a:pt x="6959" y="2262"/>
                </a:lnTo>
                <a:cubicBezTo>
                  <a:pt x="6959" y="2275"/>
                  <a:pt x="6958" y="2288"/>
                  <a:pt x="6955" y="2301"/>
                </a:cubicBezTo>
                <a:cubicBezTo>
                  <a:pt x="6953" y="2314"/>
                  <a:pt x="6949" y="2327"/>
                  <a:pt x="6944" y="2339"/>
                </a:cubicBezTo>
                <a:cubicBezTo>
                  <a:pt x="6939" y="2351"/>
                  <a:pt x="6933" y="2363"/>
                  <a:pt x="6926" y="2373"/>
                </a:cubicBezTo>
                <a:cubicBezTo>
                  <a:pt x="6919" y="2384"/>
                  <a:pt x="6910" y="2394"/>
                  <a:pt x="6901" y="2403"/>
                </a:cubicBezTo>
                <a:cubicBezTo>
                  <a:pt x="6892" y="2413"/>
                  <a:pt x="6882" y="2421"/>
                  <a:pt x="6871" y="2428"/>
                </a:cubicBezTo>
                <a:cubicBezTo>
                  <a:pt x="6860" y="2435"/>
                  <a:pt x="6849" y="2442"/>
                  <a:pt x="6837" y="2446"/>
                </a:cubicBezTo>
                <a:cubicBezTo>
                  <a:pt x="6825" y="2451"/>
                  <a:pt x="6812" y="2455"/>
                  <a:pt x="6800" y="2458"/>
                </a:cubicBezTo>
                <a:cubicBezTo>
                  <a:pt x="6787" y="2460"/>
                  <a:pt x="6774" y="2462"/>
                  <a:pt x="6761" y="2462"/>
                </a:cubicBezTo>
                <a:lnTo>
                  <a:pt x="198" y="2462"/>
                </a:lnTo>
                <a:cubicBezTo>
                  <a:pt x="185" y="2462"/>
                  <a:pt x="172" y="2460"/>
                  <a:pt x="159" y="2458"/>
                </a:cubicBezTo>
                <a:cubicBezTo>
                  <a:pt x="147" y="2455"/>
                  <a:pt x="134" y="2451"/>
                  <a:pt x="122" y="2446"/>
                </a:cubicBezTo>
                <a:cubicBezTo>
                  <a:pt x="110" y="2442"/>
                  <a:pt x="99" y="2435"/>
                  <a:pt x="88" y="2428"/>
                </a:cubicBezTo>
                <a:cubicBezTo>
                  <a:pt x="77" y="2421"/>
                  <a:pt x="67" y="2413"/>
                  <a:pt x="58" y="2403"/>
                </a:cubicBezTo>
                <a:cubicBezTo>
                  <a:pt x="49" y="2394"/>
                  <a:pt x="40" y="2384"/>
                  <a:pt x="33" y="2373"/>
                </a:cubicBezTo>
                <a:cubicBezTo>
                  <a:pt x="26" y="2363"/>
                  <a:pt x="20" y="2351"/>
                  <a:pt x="15" y="2339"/>
                </a:cubicBezTo>
                <a:cubicBezTo>
                  <a:pt x="10" y="2327"/>
                  <a:pt x="6" y="2314"/>
                  <a:pt x="4" y="2301"/>
                </a:cubicBezTo>
                <a:cubicBezTo>
                  <a:pt x="1" y="2288"/>
                  <a:pt x="0" y="2275"/>
                  <a:pt x="0" y="226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29" name="图片 228"/>
          <p:cNvPicPr/>
          <p:nvPr/>
        </p:nvPicPr>
        <p:blipFill>
          <a:blip r:embed="rId3"/>
          <a:stretch>
            <a:fillRect/>
          </a:stretch>
        </p:blipFill>
        <p:spPr>
          <a:xfrm>
            <a:off x="6410160" y="3152880"/>
            <a:ext cx="2495160" cy="8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任意多边形 229"/>
          <p:cNvSpPr/>
          <p:nvPr/>
        </p:nvSpPr>
        <p:spPr>
          <a:xfrm>
            <a:off x="6562440" y="3305160"/>
            <a:ext cx="305280" cy="304920"/>
          </a:xfrm>
          <a:custGeom>
            <a:avLst/>
            <a:gdLst/>
            <a:ahLst/>
            <a:cxn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1"/>
                  <a:pt x="845" y="478"/>
                  <a:pt x="840" y="505"/>
                </a:cubicBezTo>
                <a:cubicBezTo>
                  <a:pt x="834" y="533"/>
                  <a:pt x="826" y="560"/>
                  <a:pt x="816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3" y="743"/>
                  <a:pt x="682" y="760"/>
                  <a:pt x="659" y="776"/>
                </a:cubicBezTo>
                <a:cubicBezTo>
                  <a:pt x="636" y="791"/>
                  <a:pt x="611" y="804"/>
                  <a:pt x="586" y="815"/>
                </a:cubicBezTo>
                <a:cubicBezTo>
                  <a:pt x="560" y="826"/>
                  <a:pt x="533" y="834"/>
                  <a:pt x="506" y="839"/>
                </a:cubicBezTo>
                <a:cubicBezTo>
                  <a:pt x="479" y="844"/>
                  <a:pt x="451" y="847"/>
                  <a:pt x="424" y="847"/>
                </a:cubicBezTo>
                <a:cubicBezTo>
                  <a:pt x="396" y="847"/>
                  <a:pt x="368" y="844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4"/>
                  <a:pt x="212" y="791"/>
                  <a:pt x="188" y="776"/>
                </a:cubicBezTo>
                <a:cubicBezTo>
                  <a:pt x="165" y="760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3"/>
                  <a:pt x="8" y="505"/>
                </a:cubicBezTo>
                <a:cubicBezTo>
                  <a:pt x="3" y="478"/>
                  <a:pt x="0" y="451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6"/>
                  <a:pt x="188" y="71"/>
                </a:cubicBezTo>
                <a:cubicBezTo>
                  <a:pt x="212" y="55"/>
                  <a:pt x="236" y="42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6" y="0"/>
                  <a:pt x="424" y="0"/>
                </a:cubicBezTo>
                <a:cubicBezTo>
                  <a:pt x="451" y="0"/>
                  <a:pt x="479" y="2"/>
                  <a:pt x="506" y="8"/>
                </a:cubicBezTo>
                <a:cubicBezTo>
                  <a:pt x="533" y="13"/>
                  <a:pt x="560" y="21"/>
                  <a:pt x="586" y="32"/>
                </a:cubicBezTo>
                <a:cubicBezTo>
                  <a:pt x="611" y="42"/>
                  <a:pt x="636" y="55"/>
                  <a:pt x="659" y="71"/>
                </a:cubicBezTo>
                <a:cubicBezTo>
                  <a:pt x="682" y="86"/>
                  <a:pt x="703" y="104"/>
                  <a:pt x="723" y="124"/>
                </a:cubicBezTo>
                <a:cubicBezTo>
                  <a:pt x="743" y="143"/>
                  <a:pt x="760" y="165"/>
                  <a:pt x="776" y="188"/>
                </a:cubicBezTo>
                <a:cubicBezTo>
                  <a:pt x="791" y="211"/>
                  <a:pt x="804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EAB3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1" name="任意多边形 230"/>
          <p:cNvSpPr/>
          <p:nvPr/>
        </p:nvSpPr>
        <p:spPr>
          <a:xfrm>
            <a:off x="6696000" y="3438360"/>
            <a:ext cx="38520" cy="38520"/>
          </a:xfrm>
          <a:custGeom>
            <a:avLst/>
            <a:gdLst/>
            <a:ahLst/>
            <a:cxnLst/>
            <a:rect l="0" t="0" r="r" b="b"/>
            <a:pathLst>
              <a:path w="107" h="107">
                <a:moveTo>
                  <a:pt x="54" y="107"/>
                </a:moveTo>
                <a:cubicBezTo>
                  <a:pt x="61" y="107"/>
                  <a:pt x="67" y="105"/>
                  <a:pt x="74" y="103"/>
                </a:cubicBezTo>
                <a:cubicBezTo>
                  <a:pt x="80" y="100"/>
                  <a:pt x="86" y="96"/>
                  <a:pt x="91" y="91"/>
                </a:cubicBezTo>
                <a:cubicBezTo>
                  <a:pt x="96" y="86"/>
                  <a:pt x="100" y="81"/>
                  <a:pt x="103" y="74"/>
                </a:cubicBezTo>
                <a:cubicBezTo>
                  <a:pt x="105" y="68"/>
                  <a:pt x="107" y="61"/>
                  <a:pt x="107" y="53"/>
                </a:cubicBezTo>
                <a:cubicBezTo>
                  <a:pt x="107" y="46"/>
                  <a:pt x="105" y="39"/>
                  <a:pt x="103" y="33"/>
                </a:cubicBezTo>
                <a:cubicBezTo>
                  <a:pt x="100" y="26"/>
                  <a:pt x="96" y="20"/>
                  <a:pt x="91" y="15"/>
                </a:cubicBezTo>
                <a:cubicBezTo>
                  <a:pt x="86" y="10"/>
                  <a:pt x="80" y="7"/>
                  <a:pt x="74" y="4"/>
                </a:cubicBezTo>
                <a:cubicBezTo>
                  <a:pt x="67" y="1"/>
                  <a:pt x="61" y="0"/>
                  <a:pt x="54" y="0"/>
                </a:cubicBezTo>
                <a:cubicBezTo>
                  <a:pt x="47" y="0"/>
                  <a:pt x="40" y="1"/>
                  <a:pt x="32" y="4"/>
                </a:cubicBezTo>
                <a:cubicBezTo>
                  <a:pt x="26" y="7"/>
                  <a:pt x="20" y="10"/>
                  <a:pt x="15" y="15"/>
                </a:cubicBezTo>
                <a:cubicBezTo>
                  <a:pt x="10" y="20"/>
                  <a:pt x="6" y="26"/>
                  <a:pt x="4" y="33"/>
                </a:cubicBezTo>
                <a:cubicBezTo>
                  <a:pt x="1" y="39"/>
                  <a:pt x="0" y="46"/>
                  <a:pt x="0" y="53"/>
                </a:cubicBezTo>
                <a:cubicBezTo>
                  <a:pt x="0" y="61"/>
                  <a:pt x="1" y="68"/>
                  <a:pt x="4" y="74"/>
                </a:cubicBezTo>
                <a:cubicBezTo>
                  <a:pt x="6" y="81"/>
                  <a:pt x="10" y="86"/>
                  <a:pt x="15" y="91"/>
                </a:cubicBezTo>
                <a:cubicBezTo>
                  <a:pt x="20" y="96"/>
                  <a:pt x="26" y="100"/>
                  <a:pt x="32" y="103"/>
                </a:cubicBezTo>
                <a:cubicBezTo>
                  <a:pt x="40" y="105"/>
                  <a:pt x="47" y="107"/>
                  <a:pt x="54" y="1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2" name="任意多边形 231"/>
          <p:cNvSpPr/>
          <p:nvPr/>
        </p:nvSpPr>
        <p:spPr>
          <a:xfrm>
            <a:off x="6624000" y="3390840"/>
            <a:ext cx="182160" cy="133560"/>
          </a:xfrm>
          <a:custGeom>
            <a:avLst/>
            <a:gdLst/>
            <a:ahLst/>
            <a:cxnLst/>
            <a:rect l="0" t="0" r="r" b="b"/>
            <a:pathLst>
              <a:path w="506" h="371">
                <a:moveTo>
                  <a:pt x="0" y="186"/>
                </a:moveTo>
                <a:cubicBezTo>
                  <a:pt x="34" y="79"/>
                  <a:pt x="134" y="0"/>
                  <a:pt x="253" y="0"/>
                </a:cubicBezTo>
                <a:cubicBezTo>
                  <a:pt x="371" y="0"/>
                  <a:pt x="471" y="79"/>
                  <a:pt x="506" y="186"/>
                </a:cubicBezTo>
                <a:cubicBezTo>
                  <a:pt x="471" y="293"/>
                  <a:pt x="371" y="371"/>
                  <a:pt x="253" y="371"/>
                </a:cubicBezTo>
                <a:cubicBezTo>
                  <a:pt x="134" y="371"/>
                  <a:pt x="34" y="293"/>
                  <a:pt x="0" y="186"/>
                </a:cubicBezTo>
                <a:moveTo>
                  <a:pt x="358" y="186"/>
                </a:moveTo>
                <a:cubicBezTo>
                  <a:pt x="358" y="200"/>
                  <a:pt x="356" y="213"/>
                  <a:pt x="350" y="226"/>
                </a:cubicBezTo>
                <a:cubicBezTo>
                  <a:pt x="345" y="239"/>
                  <a:pt x="337" y="251"/>
                  <a:pt x="327" y="261"/>
                </a:cubicBezTo>
                <a:cubicBezTo>
                  <a:pt x="318" y="271"/>
                  <a:pt x="306" y="278"/>
                  <a:pt x="293" y="284"/>
                </a:cubicBezTo>
                <a:cubicBezTo>
                  <a:pt x="280" y="289"/>
                  <a:pt x="267" y="292"/>
                  <a:pt x="253" y="292"/>
                </a:cubicBezTo>
                <a:cubicBezTo>
                  <a:pt x="239" y="292"/>
                  <a:pt x="225" y="289"/>
                  <a:pt x="212" y="284"/>
                </a:cubicBezTo>
                <a:cubicBezTo>
                  <a:pt x="199" y="278"/>
                  <a:pt x="188" y="271"/>
                  <a:pt x="178" y="261"/>
                </a:cubicBezTo>
                <a:cubicBezTo>
                  <a:pt x="168" y="251"/>
                  <a:pt x="160" y="239"/>
                  <a:pt x="155" y="226"/>
                </a:cubicBezTo>
                <a:cubicBezTo>
                  <a:pt x="149" y="213"/>
                  <a:pt x="147" y="200"/>
                  <a:pt x="147" y="186"/>
                </a:cubicBezTo>
                <a:cubicBezTo>
                  <a:pt x="147" y="172"/>
                  <a:pt x="149" y="158"/>
                  <a:pt x="155" y="145"/>
                </a:cubicBezTo>
                <a:cubicBezTo>
                  <a:pt x="160" y="132"/>
                  <a:pt x="168" y="121"/>
                  <a:pt x="178" y="111"/>
                </a:cubicBezTo>
                <a:cubicBezTo>
                  <a:pt x="188" y="101"/>
                  <a:pt x="199" y="93"/>
                  <a:pt x="212" y="88"/>
                </a:cubicBezTo>
                <a:cubicBezTo>
                  <a:pt x="225" y="83"/>
                  <a:pt x="239" y="80"/>
                  <a:pt x="253" y="80"/>
                </a:cubicBezTo>
                <a:cubicBezTo>
                  <a:pt x="267" y="80"/>
                  <a:pt x="280" y="83"/>
                  <a:pt x="293" y="88"/>
                </a:cubicBezTo>
                <a:cubicBezTo>
                  <a:pt x="306" y="93"/>
                  <a:pt x="318" y="101"/>
                  <a:pt x="327" y="111"/>
                </a:cubicBezTo>
                <a:cubicBezTo>
                  <a:pt x="337" y="121"/>
                  <a:pt x="345" y="132"/>
                  <a:pt x="350" y="145"/>
                </a:cubicBezTo>
                <a:cubicBezTo>
                  <a:pt x="356" y="158"/>
                  <a:pt x="358" y="172"/>
                  <a:pt x="358" y="1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9229680" y="2657520"/>
            <a:ext cx="1273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疾病预测与早期筛查，评估患病⻛险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6943680" y="336384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市场营销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9072360" y="3147840"/>
            <a:ext cx="2505600" cy="886320"/>
          </a:xfrm>
          <a:custGeom>
            <a:avLst/>
            <a:gdLst/>
            <a:ahLst/>
            <a:cxnLst/>
            <a:rect l="0" t="0" r="r" b="b"/>
            <a:pathLst>
              <a:path w="6960" h="2462" fill="none">
                <a:moveTo>
                  <a:pt x="0" y="226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5" y="0"/>
                  <a:pt x="198" y="0"/>
                </a:cubicBezTo>
                <a:lnTo>
                  <a:pt x="6761" y="0"/>
                </a:lnTo>
                <a:cubicBezTo>
                  <a:pt x="6774" y="0"/>
                  <a:pt x="6787" y="1"/>
                  <a:pt x="6800" y="4"/>
                </a:cubicBezTo>
                <a:cubicBezTo>
                  <a:pt x="6813" y="6"/>
                  <a:pt x="6825" y="10"/>
                  <a:pt x="6837" y="15"/>
                </a:cubicBezTo>
                <a:cubicBezTo>
                  <a:pt x="6849" y="20"/>
                  <a:pt x="6861" y="26"/>
                  <a:pt x="6871" y="33"/>
                </a:cubicBezTo>
                <a:cubicBezTo>
                  <a:pt x="6882" y="41"/>
                  <a:pt x="6892" y="49"/>
                  <a:pt x="6901" y="58"/>
                </a:cubicBezTo>
                <a:cubicBezTo>
                  <a:pt x="6911" y="67"/>
                  <a:pt x="6919" y="77"/>
                  <a:pt x="6926" y="88"/>
                </a:cubicBezTo>
                <a:cubicBezTo>
                  <a:pt x="6933" y="99"/>
                  <a:pt x="6940" y="110"/>
                  <a:pt x="6944" y="122"/>
                </a:cubicBezTo>
                <a:cubicBezTo>
                  <a:pt x="6949" y="135"/>
                  <a:pt x="6953" y="147"/>
                  <a:pt x="6956" y="160"/>
                </a:cubicBezTo>
                <a:cubicBezTo>
                  <a:pt x="6958" y="172"/>
                  <a:pt x="6960" y="185"/>
                  <a:pt x="6960" y="198"/>
                </a:cubicBezTo>
                <a:lnTo>
                  <a:pt x="6960" y="2262"/>
                </a:lnTo>
                <a:cubicBezTo>
                  <a:pt x="6960" y="2275"/>
                  <a:pt x="6958" y="2288"/>
                  <a:pt x="6956" y="2301"/>
                </a:cubicBezTo>
                <a:cubicBezTo>
                  <a:pt x="6953" y="2314"/>
                  <a:pt x="6949" y="2327"/>
                  <a:pt x="6944" y="2339"/>
                </a:cubicBezTo>
                <a:cubicBezTo>
                  <a:pt x="6940" y="2351"/>
                  <a:pt x="6933" y="2363"/>
                  <a:pt x="6926" y="2373"/>
                </a:cubicBezTo>
                <a:cubicBezTo>
                  <a:pt x="6919" y="2384"/>
                  <a:pt x="6911" y="2394"/>
                  <a:pt x="6901" y="2403"/>
                </a:cubicBezTo>
                <a:cubicBezTo>
                  <a:pt x="6892" y="2413"/>
                  <a:pt x="6882" y="2421"/>
                  <a:pt x="6871" y="2428"/>
                </a:cubicBezTo>
                <a:cubicBezTo>
                  <a:pt x="6861" y="2435"/>
                  <a:pt x="6849" y="2442"/>
                  <a:pt x="6837" y="2446"/>
                </a:cubicBezTo>
                <a:cubicBezTo>
                  <a:pt x="6825" y="2451"/>
                  <a:pt x="6813" y="2455"/>
                  <a:pt x="6800" y="2458"/>
                </a:cubicBezTo>
                <a:cubicBezTo>
                  <a:pt x="6787" y="2460"/>
                  <a:pt x="6774" y="2462"/>
                  <a:pt x="6761" y="2462"/>
                </a:cubicBezTo>
                <a:lnTo>
                  <a:pt x="198" y="2462"/>
                </a:lnTo>
                <a:cubicBezTo>
                  <a:pt x="185" y="2462"/>
                  <a:pt x="173" y="2460"/>
                  <a:pt x="160" y="2458"/>
                </a:cubicBezTo>
                <a:cubicBezTo>
                  <a:pt x="147" y="2455"/>
                  <a:pt x="135" y="2451"/>
                  <a:pt x="123" y="2446"/>
                </a:cubicBezTo>
                <a:cubicBezTo>
                  <a:pt x="111" y="2442"/>
                  <a:pt x="99" y="2435"/>
                  <a:pt x="88" y="2428"/>
                </a:cubicBezTo>
                <a:cubicBezTo>
                  <a:pt x="77" y="2421"/>
                  <a:pt x="67" y="2413"/>
                  <a:pt x="58" y="2403"/>
                </a:cubicBezTo>
                <a:cubicBezTo>
                  <a:pt x="49" y="2394"/>
                  <a:pt x="41" y="2384"/>
                  <a:pt x="34" y="2373"/>
                </a:cubicBezTo>
                <a:cubicBezTo>
                  <a:pt x="26" y="2363"/>
                  <a:pt x="20" y="2351"/>
                  <a:pt x="15" y="2339"/>
                </a:cubicBezTo>
                <a:cubicBezTo>
                  <a:pt x="10" y="2327"/>
                  <a:pt x="6" y="2314"/>
                  <a:pt x="4" y="2301"/>
                </a:cubicBezTo>
                <a:cubicBezTo>
                  <a:pt x="1" y="2288"/>
                  <a:pt x="0" y="2275"/>
                  <a:pt x="0" y="226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36" name="图片 235"/>
          <p:cNvPicPr/>
          <p:nvPr/>
        </p:nvPicPr>
        <p:blipFill>
          <a:blip r:embed="rId4"/>
          <a:stretch>
            <a:fillRect/>
          </a:stretch>
        </p:blipFill>
        <p:spPr>
          <a:xfrm>
            <a:off x="9077400" y="3152880"/>
            <a:ext cx="2495160" cy="8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任意多边形 236"/>
          <p:cNvSpPr/>
          <p:nvPr/>
        </p:nvSpPr>
        <p:spPr>
          <a:xfrm>
            <a:off x="9229680" y="3305160"/>
            <a:ext cx="304920" cy="304920"/>
          </a:xfrm>
          <a:custGeom>
            <a:avLst/>
            <a:gdLst/>
            <a:ahLst/>
            <a:cxnLst/>
            <a:rect l="0" t="0" r="r" b="b"/>
            <a:pathLst>
              <a:path w="847" h="847">
                <a:moveTo>
                  <a:pt x="847" y="423"/>
                </a:moveTo>
                <a:cubicBezTo>
                  <a:pt x="847" y="451"/>
                  <a:pt x="845" y="478"/>
                  <a:pt x="839" y="505"/>
                </a:cubicBezTo>
                <a:cubicBezTo>
                  <a:pt x="834" y="533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1" y="682"/>
                  <a:pt x="743" y="704"/>
                  <a:pt x="723" y="723"/>
                </a:cubicBezTo>
                <a:cubicBezTo>
                  <a:pt x="704" y="743"/>
                  <a:pt x="682" y="760"/>
                  <a:pt x="659" y="776"/>
                </a:cubicBezTo>
                <a:cubicBezTo>
                  <a:pt x="636" y="791"/>
                  <a:pt x="612" y="804"/>
                  <a:pt x="586" y="815"/>
                </a:cubicBezTo>
                <a:cubicBezTo>
                  <a:pt x="560" y="826"/>
                  <a:pt x="534" y="834"/>
                  <a:pt x="507" y="839"/>
                </a:cubicBezTo>
                <a:cubicBezTo>
                  <a:pt x="479" y="844"/>
                  <a:pt x="452" y="847"/>
                  <a:pt x="424" y="847"/>
                </a:cubicBezTo>
                <a:cubicBezTo>
                  <a:pt x="396" y="847"/>
                  <a:pt x="369" y="844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4"/>
                  <a:pt x="212" y="791"/>
                  <a:pt x="189" y="776"/>
                </a:cubicBezTo>
                <a:cubicBezTo>
                  <a:pt x="166" y="760"/>
                  <a:pt x="143" y="743"/>
                  <a:pt x="124" y="723"/>
                </a:cubicBezTo>
                <a:cubicBezTo>
                  <a:pt x="104" y="704"/>
                  <a:pt x="86" y="682"/>
                  <a:pt x="71" y="659"/>
                </a:cubicBezTo>
                <a:cubicBezTo>
                  <a:pt x="56" y="636"/>
                  <a:pt x="42" y="612"/>
                  <a:pt x="32" y="586"/>
                </a:cubicBezTo>
                <a:cubicBezTo>
                  <a:pt x="21" y="560"/>
                  <a:pt x="13" y="533"/>
                  <a:pt x="8" y="505"/>
                </a:cubicBezTo>
                <a:cubicBezTo>
                  <a:pt x="2" y="478"/>
                  <a:pt x="0" y="451"/>
                  <a:pt x="0" y="423"/>
                </a:cubicBezTo>
                <a:cubicBezTo>
                  <a:pt x="0" y="395"/>
                  <a:pt x="2" y="368"/>
                  <a:pt x="8" y="340"/>
                </a:cubicBezTo>
                <a:cubicBezTo>
                  <a:pt x="13" y="313"/>
                  <a:pt x="21" y="287"/>
                  <a:pt x="32" y="261"/>
                </a:cubicBezTo>
                <a:cubicBezTo>
                  <a:pt x="42" y="235"/>
                  <a:pt x="56" y="211"/>
                  <a:pt x="71" y="188"/>
                </a:cubicBezTo>
                <a:cubicBezTo>
                  <a:pt x="86" y="165"/>
                  <a:pt x="104" y="143"/>
                  <a:pt x="124" y="124"/>
                </a:cubicBezTo>
                <a:cubicBezTo>
                  <a:pt x="143" y="104"/>
                  <a:pt x="166" y="86"/>
                  <a:pt x="189" y="71"/>
                </a:cubicBezTo>
                <a:cubicBezTo>
                  <a:pt x="212" y="55"/>
                  <a:pt x="236" y="42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7" y="8"/>
                </a:cubicBezTo>
                <a:cubicBezTo>
                  <a:pt x="534" y="13"/>
                  <a:pt x="560" y="21"/>
                  <a:pt x="586" y="32"/>
                </a:cubicBezTo>
                <a:cubicBezTo>
                  <a:pt x="612" y="42"/>
                  <a:pt x="636" y="55"/>
                  <a:pt x="659" y="71"/>
                </a:cubicBezTo>
                <a:cubicBezTo>
                  <a:pt x="682" y="86"/>
                  <a:pt x="704" y="104"/>
                  <a:pt x="723" y="124"/>
                </a:cubicBezTo>
                <a:cubicBezTo>
                  <a:pt x="743" y="143"/>
                  <a:pt x="761" y="165"/>
                  <a:pt x="776" y="188"/>
                </a:cubicBezTo>
                <a:cubicBezTo>
                  <a:pt x="791" y="211"/>
                  <a:pt x="804" y="235"/>
                  <a:pt x="815" y="261"/>
                </a:cubicBezTo>
                <a:cubicBezTo>
                  <a:pt x="826" y="287"/>
                  <a:pt x="834" y="313"/>
                  <a:pt x="839" y="340"/>
                </a:cubicBezTo>
                <a:cubicBezTo>
                  <a:pt x="845" y="368"/>
                  <a:pt x="847" y="395"/>
                  <a:pt x="847" y="423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8" name="任意多边形 237"/>
          <p:cNvSpPr/>
          <p:nvPr/>
        </p:nvSpPr>
        <p:spPr>
          <a:xfrm>
            <a:off x="9305640" y="3381120"/>
            <a:ext cx="116280" cy="153000"/>
          </a:xfrm>
          <a:custGeom>
            <a:avLst/>
            <a:gdLst/>
            <a:ahLst/>
            <a:cxnLst/>
            <a:rect l="0" t="0" r="r" b="b"/>
            <a:pathLst>
              <a:path w="323" h="425">
                <a:moveTo>
                  <a:pt x="80" y="0"/>
                </a:moveTo>
                <a:cubicBezTo>
                  <a:pt x="87" y="0"/>
                  <a:pt x="93" y="3"/>
                  <a:pt x="98" y="8"/>
                </a:cubicBezTo>
                <a:cubicBezTo>
                  <a:pt x="104" y="13"/>
                  <a:pt x="106" y="19"/>
                  <a:pt x="106" y="27"/>
                </a:cubicBezTo>
                <a:lnTo>
                  <a:pt x="106" y="53"/>
                </a:lnTo>
                <a:lnTo>
                  <a:pt x="133" y="53"/>
                </a:lnTo>
                <a:cubicBezTo>
                  <a:pt x="140" y="53"/>
                  <a:pt x="146" y="56"/>
                  <a:pt x="151" y="61"/>
                </a:cubicBezTo>
                <a:cubicBezTo>
                  <a:pt x="156" y="66"/>
                  <a:pt x="159" y="72"/>
                  <a:pt x="159" y="80"/>
                </a:cubicBezTo>
                <a:cubicBezTo>
                  <a:pt x="159" y="87"/>
                  <a:pt x="156" y="93"/>
                  <a:pt x="151" y="98"/>
                </a:cubicBezTo>
                <a:cubicBezTo>
                  <a:pt x="146" y="103"/>
                  <a:pt x="140" y="106"/>
                  <a:pt x="133" y="106"/>
                </a:cubicBezTo>
                <a:lnTo>
                  <a:pt x="106" y="106"/>
                </a:lnTo>
                <a:lnTo>
                  <a:pt x="106" y="133"/>
                </a:lnTo>
                <a:cubicBezTo>
                  <a:pt x="106" y="141"/>
                  <a:pt x="104" y="147"/>
                  <a:pt x="98" y="152"/>
                </a:cubicBezTo>
                <a:cubicBezTo>
                  <a:pt x="93" y="157"/>
                  <a:pt x="87" y="160"/>
                  <a:pt x="80" y="160"/>
                </a:cubicBezTo>
                <a:cubicBezTo>
                  <a:pt x="72" y="160"/>
                  <a:pt x="66" y="157"/>
                  <a:pt x="61" y="152"/>
                </a:cubicBezTo>
                <a:cubicBezTo>
                  <a:pt x="56" y="147"/>
                  <a:pt x="53" y="141"/>
                  <a:pt x="53" y="133"/>
                </a:cubicBezTo>
                <a:lnTo>
                  <a:pt x="53" y="106"/>
                </a:lnTo>
                <a:lnTo>
                  <a:pt x="27" y="106"/>
                </a:lnTo>
                <a:cubicBezTo>
                  <a:pt x="19" y="106"/>
                  <a:pt x="13" y="103"/>
                  <a:pt x="8" y="98"/>
                </a:cubicBezTo>
                <a:cubicBezTo>
                  <a:pt x="3" y="93"/>
                  <a:pt x="0" y="87"/>
                  <a:pt x="0" y="80"/>
                </a:cubicBezTo>
                <a:cubicBezTo>
                  <a:pt x="0" y="72"/>
                  <a:pt x="3" y="66"/>
                  <a:pt x="8" y="61"/>
                </a:cubicBezTo>
                <a:cubicBezTo>
                  <a:pt x="13" y="56"/>
                  <a:pt x="19" y="53"/>
                  <a:pt x="27" y="53"/>
                </a:cubicBezTo>
                <a:lnTo>
                  <a:pt x="53" y="53"/>
                </a:lnTo>
                <a:lnTo>
                  <a:pt x="53" y="27"/>
                </a:lnTo>
                <a:cubicBezTo>
                  <a:pt x="53" y="19"/>
                  <a:pt x="56" y="13"/>
                  <a:pt x="61" y="8"/>
                </a:cubicBezTo>
                <a:cubicBezTo>
                  <a:pt x="66" y="3"/>
                  <a:pt x="72" y="0"/>
                  <a:pt x="80" y="0"/>
                </a:cubicBezTo>
                <a:moveTo>
                  <a:pt x="80" y="266"/>
                </a:moveTo>
                <a:cubicBezTo>
                  <a:pt x="87" y="266"/>
                  <a:pt x="93" y="268"/>
                  <a:pt x="98" y="274"/>
                </a:cubicBezTo>
                <a:cubicBezTo>
                  <a:pt x="104" y="279"/>
                  <a:pt x="106" y="285"/>
                  <a:pt x="106" y="292"/>
                </a:cubicBezTo>
                <a:lnTo>
                  <a:pt x="106" y="319"/>
                </a:lnTo>
                <a:lnTo>
                  <a:pt x="133" y="319"/>
                </a:lnTo>
                <a:cubicBezTo>
                  <a:pt x="140" y="319"/>
                  <a:pt x="146" y="321"/>
                  <a:pt x="151" y="326"/>
                </a:cubicBezTo>
                <a:cubicBezTo>
                  <a:pt x="156" y="332"/>
                  <a:pt x="159" y="338"/>
                  <a:pt x="159" y="345"/>
                </a:cubicBezTo>
                <a:cubicBezTo>
                  <a:pt x="159" y="352"/>
                  <a:pt x="156" y="359"/>
                  <a:pt x="151" y="364"/>
                </a:cubicBezTo>
                <a:cubicBezTo>
                  <a:pt x="146" y="369"/>
                  <a:pt x="140" y="372"/>
                  <a:pt x="133" y="372"/>
                </a:cubicBezTo>
                <a:lnTo>
                  <a:pt x="106" y="372"/>
                </a:lnTo>
                <a:lnTo>
                  <a:pt x="106" y="398"/>
                </a:lnTo>
                <a:cubicBezTo>
                  <a:pt x="106" y="405"/>
                  <a:pt x="104" y="412"/>
                  <a:pt x="98" y="417"/>
                </a:cubicBezTo>
                <a:cubicBezTo>
                  <a:pt x="93" y="422"/>
                  <a:pt x="87" y="425"/>
                  <a:pt x="80" y="425"/>
                </a:cubicBezTo>
                <a:cubicBezTo>
                  <a:pt x="72" y="425"/>
                  <a:pt x="66" y="422"/>
                  <a:pt x="61" y="417"/>
                </a:cubicBezTo>
                <a:cubicBezTo>
                  <a:pt x="56" y="412"/>
                  <a:pt x="53" y="405"/>
                  <a:pt x="53" y="398"/>
                </a:cubicBezTo>
                <a:lnTo>
                  <a:pt x="53" y="372"/>
                </a:lnTo>
                <a:lnTo>
                  <a:pt x="27" y="372"/>
                </a:lnTo>
                <a:cubicBezTo>
                  <a:pt x="19" y="372"/>
                  <a:pt x="13" y="369"/>
                  <a:pt x="8" y="364"/>
                </a:cubicBezTo>
                <a:cubicBezTo>
                  <a:pt x="3" y="359"/>
                  <a:pt x="0" y="352"/>
                  <a:pt x="0" y="345"/>
                </a:cubicBezTo>
                <a:cubicBezTo>
                  <a:pt x="0" y="338"/>
                  <a:pt x="3" y="332"/>
                  <a:pt x="8" y="326"/>
                </a:cubicBezTo>
                <a:cubicBezTo>
                  <a:pt x="13" y="321"/>
                  <a:pt x="19" y="319"/>
                  <a:pt x="27" y="319"/>
                </a:cubicBezTo>
                <a:lnTo>
                  <a:pt x="53" y="319"/>
                </a:lnTo>
                <a:lnTo>
                  <a:pt x="53" y="292"/>
                </a:lnTo>
                <a:cubicBezTo>
                  <a:pt x="53" y="285"/>
                  <a:pt x="56" y="279"/>
                  <a:pt x="61" y="274"/>
                </a:cubicBezTo>
                <a:cubicBezTo>
                  <a:pt x="66" y="268"/>
                  <a:pt x="72" y="266"/>
                  <a:pt x="80" y="266"/>
                </a:cubicBezTo>
                <a:moveTo>
                  <a:pt x="265" y="0"/>
                </a:moveTo>
                <a:cubicBezTo>
                  <a:pt x="271" y="0"/>
                  <a:pt x="276" y="2"/>
                  <a:pt x="281" y="6"/>
                </a:cubicBezTo>
                <a:cubicBezTo>
                  <a:pt x="286" y="9"/>
                  <a:pt x="289" y="14"/>
                  <a:pt x="290" y="20"/>
                </a:cubicBezTo>
                <a:lnTo>
                  <a:pt x="323" y="139"/>
                </a:lnTo>
                <a:lnTo>
                  <a:pt x="293" y="319"/>
                </a:lnTo>
                <a:cubicBezTo>
                  <a:pt x="292" y="326"/>
                  <a:pt x="286" y="331"/>
                  <a:pt x="279" y="331"/>
                </a:cubicBezTo>
                <a:lnTo>
                  <a:pt x="253" y="331"/>
                </a:lnTo>
                <a:cubicBezTo>
                  <a:pt x="249" y="331"/>
                  <a:pt x="246" y="330"/>
                  <a:pt x="244" y="328"/>
                </a:cubicBezTo>
                <a:cubicBezTo>
                  <a:pt x="241" y="325"/>
                  <a:pt x="240" y="322"/>
                  <a:pt x="240" y="318"/>
                </a:cubicBezTo>
                <a:lnTo>
                  <a:pt x="240" y="278"/>
                </a:lnTo>
                <a:lnTo>
                  <a:pt x="185" y="278"/>
                </a:lnTo>
                <a:lnTo>
                  <a:pt x="185" y="318"/>
                </a:lnTo>
                <a:cubicBezTo>
                  <a:pt x="185" y="322"/>
                  <a:pt x="184" y="325"/>
                  <a:pt x="182" y="328"/>
                </a:cubicBezTo>
                <a:cubicBezTo>
                  <a:pt x="179" y="330"/>
                  <a:pt x="176" y="331"/>
                  <a:pt x="172" y="331"/>
                </a:cubicBezTo>
                <a:lnTo>
                  <a:pt x="146" y="331"/>
                </a:lnTo>
                <a:cubicBezTo>
                  <a:pt x="142" y="331"/>
                  <a:pt x="139" y="330"/>
                  <a:pt x="137" y="328"/>
                </a:cubicBezTo>
                <a:cubicBezTo>
                  <a:pt x="134" y="325"/>
                  <a:pt x="133" y="322"/>
                  <a:pt x="133" y="319"/>
                </a:cubicBezTo>
                <a:lnTo>
                  <a:pt x="102" y="139"/>
                </a:lnTo>
                <a:lnTo>
                  <a:pt x="133" y="20"/>
                </a:lnTo>
                <a:cubicBezTo>
                  <a:pt x="135" y="14"/>
                  <a:pt x="138" y="9"/>
                  <a:pt x="143" y="6"/>
                </a:cubicBezTo>
                <a:cubicBezTo>
                  <a:pt x="148" y="2"/>
                  <a:pt x="153" y="0"/>
                  <a:pt x="159" y="0"/>
                </a:cubicBezTo>
                <a:lnTo>
                  <a:pt x="265" y="0"/>
                </a:lnTo>
                <a:moveTo>
                  <a:pt x="212" y="133"/>
                </a:moveTo>
                <a:cubicBezTo>
                  <a:pt x="212" y="125"/>
                  <a:pt x="209" y="119"/>
                  <a:pt x="204" y="114"/>
                </a:cubicBezTo>
                <a:cubicBezTo>
                  <a:pt x="199" y="109"/>
                  <a:pt x="193" y="106"/>
                  <a:pt x="185" y="106"/>
                </a:cubicBezTo>
                <a:cubicBezTo>
                  <a:pt x="178" y="106"/>
                  <a:pt x="172" y="109"/>
                  <a:pt x="167" y="114"/>
                </a:cubicBezTo>
                <a:cubicBezTo>
                  <a:pt x="162" y="119"/>
                  <a:pt x="159" y="125"/>
                  <a:pt x="159" y="133"/>
                </a:cubicBezTo>
                <a:cubicBezTo>
                  <a:pt x="159" y="141"/>
                  <a:pt x="162" y="147"/>
                  <a:pt x="167" y="152"/>
                </a:cubicBezTo>
                <a:cubicBezTo>
                  <a:pt x="172" y="157"/>
                  <a:pt x="178" y="160"/>
                  <a:pt x="185" y="160"/>
                </a:cubicBezTo>
                <a:cubicBezTo>
                  <a:pt x="193" y="160"/>
                  <a:pt x="199" y="157"/>
                  <a:pt x="204" y="152"/>
                </a:cubicBezTo>
                <a:cubicBezTo>
                  <a:pt x="209" y="147"/>
                  <a:pt x="212" y="141"/>
                  <a:pt x="212" y="133"/>
                </a:cubicBezTo>
                <a:moveTo>
                  <a:pt x="212" y="213"/>
                </a:moveTo>
                <a:cubicBezTo>
                  <a:pt x="212" y="206"/>
                  <a:pt x="209" y="199"/>
                  <a:pt x="204" y="194"/>
                </a:cubicBezTo>
                <a:cubicBezTo>
                  <a:pt x="199" y="189"/>
                  <a:pt x="193" y="186"/>
                  <a:pt x="185" y="186"/>
                </a:cubicBezTo>
                <a:cubicBezTo>
                  <a:pt x="178" y="186"/>
                  <a:pt x="172" y="189"/>
                  <a:pt x="167" y="194"/>
                </a:cubicBezTo>
                <a:cubicBezTo>
                  <a:pt x="162" y="199"/>
                  <a:pt x="159" y="206"/>
                  <a:pt x="159" y="213"/>
                </a:cubicBezTo>
                <a:cubicBezTo>
                  <a:pt x="159" y="220"/>
                  <a:pt x="162" y="226"/>
                  <a:pt x="167" y="232"/>
                </a:cubicBezTo>
                <a:cubicBezTo>
                  <a:pt x="172" y="237"/>
                  <a:pt x="178" y="239"/>
                  <a:pt x="185" y="239"/>
                </a:cubicBezTo>
                <a:cubicBezTo>
                  <a:pt x="193" y="239"/>
                  <a:pt x="199" y="237"/>
                  <a:pt x="204" y="232"/>
                </a:cubicBezTo>
                <a:cubicBezTo>
                  <a:pt x="209" y="226"/>
                  <a:pt x="212" y="220"/>
                  <a:pt x="212" y="213"/>
                </a:cubicBezTo>
                <a:moveTo>
                  <a:pt x="238" y="266"/>
                </a:moveTo>
                <a:cubicBezTo>
                  <a:pt x="246" y="266"/>
                  <a:pt x="252" y="263"/>
                  <a:pt x="257" y="258"/>
                </a:cubicBezTo>
                <a:cubicBezTo>
                  <a:pt x="262" y="253"/>
                  <a:pt x="265" y="247"/>
                  <a:pt x="265" y="239"/>
                </a:cubicBezTo>
                <a:cubicBezTo>
                  <a:pt x="265" y="232"/>
                  <a:pt x="262" y="226"/>
                  <a:pt x="257" y="221"/>
                </a:cubicBezTo>
                <a:cubicBezTo>
                  <a:pt x="252" y="215"/>
                  <a:pt x="246" y="213"/>
                  <a:pt x="238" y="213"/>
                </a:cubicBezTo>
                <a:cubicBezTo>
                  <a:pt x="231" y="213"/>
                  <a:pt x="225" y="215"/>
                  <a:pt x="220" y="221"/>
                </a:cubicBezTo>
                <a:cubicBezTo>
                  <a:pt x="215" y="226"/>
                  <a:pt x="212" y="232"/>
                  <a:pt x="212" y="239"/>
                </a:cubicBezTo>
                <a:cubicBezTo>
                  <a:pt x="212" y="247"/>
                  <a:pt x="215" y="253"/>
                  <a:pt x="220" y="258"/>
                </a:cubicBezTo>
                <a:cubicBezTo>
                  <a:pt x="225" y="263"/>
                  <a:pt x="231" y="266"/>
                  <a:pt x="238" y="266"/>
                </a:cubicBezTo>
                <a:moveTo>
                  <a:pt x="319" y="186"/>
                </a:moveTo>
                <a:cubicBezTo>
                  <a:pt x="319" y="179"/>
                  <a:pt x="316" y="173"/>
                  <a:pt x="310" y="168"/>
                </a:cubicBezTo>
                <a:cubicBezTo>
                  <a:pt x="305" y="163"/>
                  <a:pt x="299" y="160"/>
                  <a:pt x="291" y="160"/>
                </a:cubicBezTo>
                <a:cubicBezTo>
                  <a:pt x="284" y="160"/>
                  <a:pt x="278" y="163"/>
                  <a:pt x="273" y="168"/>
                </a:cubicBezTo>
                <a:cubicBezTo>
                  <a:pt x="267" y="173"/>
                  <a:pt x="265" y="179"/>
                  <a:pt x="265" y="186"/>
                </a:cubicBezTo>
                <a:cubicBezTo>
                  <a:pt x="265" y="194"/>
                  <a:pt x="267" y="200"/>
                  <a:pt x="273" y="205"/>
                </a:cubicBezTo>
                <a:cubicBezTo>
                  <a:pt x="278" y="210"/>
                  <a:pt x="284" y="213"/>
                  <a:pt x="291" y="213"/>
                </a:cubicBezTo>
                <a:cubicBezTo>
                  <a:pt x="299" y="213"/>
                  <a:pt x="305" y="210"/>
                  <a:pt x="310" y="205"/>
                </a:cubicBezTo>
                <a:cubicBezTo>
                  <a:pt x="316" y="200"/>
                  <a:pt x="319" y="194"/>
                  <a:pt x="319" y="1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6562800" y="3705480"/>
            <a:ext cx="1194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客⼾响应预测，精准营销活动投放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9610560" y="336384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CJKsc"/>
                <a:ea typeface="NotoSansCJKsc"/>
              </a:rPr>
              <a:t>信⽤评分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9229680" y="3705480"/>
            <a:ext cx="1273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4B5563"/>
                </a:solidFill>
                <a:effectLst/>
                <a:uFillTx/>
                <a:latin typeface="NotoSansCJKsc"/>
                <a:ea typeface="NotoSansCJKsc"/>
              </a:rPr>
              <a:t>构建信⽤评分卡，评估客⼾信⽤等级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9055800" y="4855320"/>
            <a:ext cx="23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-(β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9287280" y="4843080"/>
            <a:ext cx="1281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NotoSansMono"/>
                <a:ea typeface="NotoSansMono"/>
              </a:rPr>
              <a:t>₀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9364680" y="4855320"/>
            <a:ext cx="311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 + β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9673200" y="4843080"/>
            <a:ext cx="1281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NotoSansMono"/>
                <a:ea typeface="NotoSansMono"/>
              </a:rPr>
              <a:t>₁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9750240" y="4855320"/>
            <a:ext cx="128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x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9827640" y="4843080"/>
            <a:ext cx="1281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NotoSansMono"/>
                <a:ea typeface="NotoSansMono"/>
              </a:rPr>
              <a:t>₁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9904680" y="4855320"/>
            <a:ext cx="777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 + ... + β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10676160" y="4843080"/>
            <a:ext cx="1281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NotoSansMono"/>
                <a:ea typeface="NotoSansMono"/>
              </a:rPr>
              <a:t>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10753560" y="4855320"/>
            <a:ext cx="128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x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10830600" y="4843080"/>
            <a:ext cx="1281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NotoSansMono"/>
                <a:ea typeface="NotoSansMono"/>
              </a:rPr>
              <a:t>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10907640" y="4855320"/>
            <a:ext cx="128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10" b="0" u="none" strike="noStrike">
                <a:solidFill>
                  <a:srgbClr val="000000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)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任意多边形 2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4" name="任意多边形 2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5" name="任意多边形 254"/>
          <p:cNvSpPr/>
          <p:nvPr/>
        </p:nvSpPr>
        <p:spPr>
          <a:xfrm>
            <a:off x="0" y="0"/>
            <a:ext cx="12192120" cy="762120"/>
          </a:xfrm>
          <a:custGeom>
            <a:avLst/>
            <a:gdLst/>
            <a:ahLst/>
            <a:cxnLst/>
            <a:rect l="0" t="0" r="r" b="b"/>
            <a:pathLst>
              <a:path w="33867" h="2117">
                <a:moveTo>
                  <a:pt x="0" y="0"/>
                </a:moveTo>
                <a:lnTo>
                  <a:pt x="33867" y="0"/>
                </a:lnTo>
                <a:lnTo>
                  <a:pt x="33867" y="2117"/>
                </a:lnTo>
                <a:lnTo>
                  <a:pt x="0" y="2117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380880" y="247680"/>
            <a:ext cx="144108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模型背景与应⽤场景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10074960" y="309600"/>
            <a:ext cx="517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CCCCCC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10591560" y="306360"/>
            <a:ext cx="732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CCCCCC"/>
                </a:solidFill>
                <a:effectLst/>
                <a:uFillTx/>
                <a:latin typeface="NotoSansCJKsc"/>
                <a:ea typeface="NotoSansCJKsc"/>
              </a:rPr>
              <a:t>回归的起源与发展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2053800" y="6337440"/>
            <a:ext cx="479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99999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Sigmoid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2535840" y="6334200"/>
            <a:ext cx="318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函数图像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3069000" y="63374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99999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-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3187800" y="6334200"/>
            <a:ext cx="239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来源：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3587760" y="6337440"/>
            <a:ext cx="376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99999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CSDN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任意多边形 263"/>
          <p:cNvSpPr/>
          <p:nvPr/>
        </p:nvSpPr>
        <p:spPr>
          <a:xfrm>
            <a:off x="6286320" y="2266920"/>
            <a:ext cx="38520" cy="1447920"/>
          </a:xfrm>
          <a:custGeom>
            <a:avLst/>
            <a:gdLst/>
            <a:ahLst/>
            <a:cxnLst/>
            <a:rect l="0" t="0" r="r" b="b"/>
            <a:pathLst>
              <a:path w="107" h="4022">
                <a:moveTo>
                  <a:pt x="0" y="0"/>
                </a:moveTo>
                <a:lnTo>
                  <a:pt x="107" y="0"/>
                </a:lnTo>
                <a:lnTo>
                  <a:pt x="107" y="4022"/>
                </a:lnTo>
                <a:lnTo>
                  <a:pt x="0" y="4022"/>
                </a:lnTo>
                <a:lnTo>
                  <a:pt x="0" y="0"/>
                </a:lnTo>
                <a:close/>
              </a:path>
            </a:pathLst>
          </a:custGeom>
          <a:solidFill>
            <a:srgbClr val="409E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3965400" y="6334200"/>
            <a:ext cx="159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博客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6514920" y="2471040"/>
            <a:ext cx="572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起源与发展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6514920" y="2890080"/>
            <a:ext cx="486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3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Logistic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6999480" y="2886840"/>
            <a:ext cx="6026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回归模型起源于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7999560" y="2890080"/>
            <a:ext cx="1602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3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19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8158680" y="2886840"/>
            <a:ext cx="9464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世纪⽣物统计学领域，由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9730080" y="2890080"/>
            <a:ext cx="15372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3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Pierre François Verhulst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11254680" y="2886840"/>
            <a:ext cx="2584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⾸次提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6514920" y="3124800"/>
            <a:ext cx="10324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出⽤于描述⼈⼝增⻓规律。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8229600" y="3128400"/>
            <a:ext cx="1602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3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8388360" y="3124800"/>
            <a:ext cx="4305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世纪中期，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9102960" y="3128400"/>
            <a:ext cx="6616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3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David Cox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9762120" y="3124800"/>
            <a:ext cx="12042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将其发展为⼴义线性模型，成为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8" name="任意多边形 277"/>
          <p:cNvSpPr/>
          <p:nvPr/>
        </p:nvSpPr>
        <p:spPr>
          <a:xfrm>
            <a:off x="6286320" y="3904920"/>
            <a:ext cx="38520" cy="1448280"/>
          </a:xfrm>
          <a:custGeom>
            <a:avLst/>
            <a:gdLst/>
            <a:ahLst/>
            <a:cxnLst/>
            <a:rect l="0" t="0" r="r" b="b"/>
            <a:pathLst>
              <a:path w="107" h="4023">
                <a:moveTo>
                  <a:pt x="0" y="0"/>
                </a:moveTo>
                <a:lnTo>
                  <a:pt x="107" y="0"/>
                </a:lnTo>
                <a:lnTo>
                  <a:pt x="107" y="4023"/>
                </a:lnTo>
                <a:lnTo>
                  <a:pt x="0" y="4023"/>
                </a:lnTo>
                <a:lnTo>
                  <a:pt x="0" y="0"/>
                </a:lnTo>
                <a:close/>
              </a:path>
            </a:pathLst>
          </a:custGeom>
          <a:solidFill>
            <a:srgbClr val="409E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6514920" y="3372480"/>
            <a:ext cx="10324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处理分类问题的核⼼⽅法。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6514920" y="410940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典型应⽤场景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6514920" y="4525200"/>
            <a:ext cx="31816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⼴泛应⽤于⾦融⻛控（信⽤评分）、医疗诊断（疾病预测）、市场营销（客⼾响应预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6514920" y="4763160"/>
            <a:ext cx="31816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测）等领域。特别适合处理⼆分类问题，如贷款违约预测、客⼾流失分析、医学检测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3" name="任意多边形 282"/>
          <p:cNvSpPr/>
          <p:nvPr/>
        </p:nvSpPr>
        <p:spPr>
          <a:xfrm>
            <a:off x="380880" y="990360"/>
            <a:ext cx="5524920" cy="5067720"/>
          </a:xfrm>
          <a:custGeom>
            <a:avLst/>
            <a:gdLst/>
            <a:ahLst/>
            <a:cxnLst/>
            <a:rect l="0" t="0" r="r" b="b"/>
            <a:pathLst>
              <a:path w="15347" h="14077">
                <a:moveTo>
                  <a:pt x="0" y="0"/>
                </a:moveTo>
                <a:lnTo>
                  <a:pt x="15347" y="0"/>
                </a:lnTo>
                <a:lnTo>
                  <a:pt x="15347" y="14077"/>
                </a:lnTo>
                <a:lnTo>
                  <a:pt x="0" y="14077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84" name="图片 283"/>
          <p:cNvPicPr/>
          <p:nvPr/>
        </p:nvPicPr>
        <p:blipFill>
          <a:blip r:embed="rId1"/>
          <a:stretch>
            <a:fillRect/>
          </a:stretch>
        </p:blipFill>
        <p:spPr>
          <a:xfrm>
            <a:off x="380880" y="1695600"/>
            <a:ext cx="552420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文本框 284"/>
          <p:cNvSpPr txBox="1"/>
          <p:nvPr/>
        </p:nvSpPr>
        <p:spPr>
          <a:xfrm>
            <a:off x="6514920" y="5010840"/>
            <a:ext cx="6883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3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结果判断等场景。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0" y="0"/>
            <a:ext cx="12192120" cy="733680"/>
          </a:xfrm>
          <a:custGeom>
            <a:avLst/>
            <a:gdLst/>
            <a:ahLst/>
            <a:cxnLst/>
            <a:rect l="0" t="0" r="r" b="b"/>
            <a:pathLst>
              <a:path w="33867" h="2038">
                <a:moveTo>
                  <a:pt x="0" y="0"/>
                </a:moveTo>
                <a:lnTo>
                  <a:pt x="33867" y="0"/>
                </a:lnTo>
                <a:lnTo>
                  <a:pt x="3386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任意多边形 54"/>
          <p:cNvSpPr/>
          <p:nvPr/>
        </p:nvSpPr>
        <p:spPr>
          <a:xfrm>
            <a:off x="380880" y="105696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742" y="371"/>
                </a:moveTo>
                <a:cubicBezTo>
                  <a:pt x="742" y="396"/>
                  <a:pt x="739" y="420"/>
                  <a:pt x="735" y="444"/>
                </a:cubicBezTo>
                <a:cubicBezTo>
                  <a:pt x="730" y="468"/>
                  <a:pt x="723" y="491"/>
                  <a:pt x="713" y="514"/>
                </a:cubicBezTo>
                <a:cubicBezTo>
                  <a:pt x="704" y="536"/>
                  <a:pt x="693" y="557"/>
                  <a:pt x="679" y="578"/>
                </a:cubicBezTo>
                <a:cubicBezTo>
                  <a:pt x="666" y="598"/>
                  <a:pt x="650" y="617"/>
                  <a:pt x="633" y="634"/>
                </a:cubicBezTo>
                <a:cubicBezTo>
                  <a:pt x="616" y="651"/>
                  <a:pt x="597" y="666"/>
                  <a:pt x="577" y="680"/>
                </a:cubicBezTo>
                <a:cubicBezTo>
                  <a:pt x="557" y="693"/>
                  <a:pt x="535" y="705"/>
                  <a:pt x="513" y="714"/>
                </a:cubicBezTo>
                <a:cubicBezTo>
                  <a:pt x="491" y="723"/>
                  <a:pt x="467" y="730"/>
                  <a:pt x="444" y="735"/>
                </a:cubicBezTo>
                <a:cubicBezTo>
                  <a:pt x="420" y="740"/>
                  <a:pt x="396" y="742"/>
                  <a:pt x="371" y="742"/>
                </a:cubicBezTo>
                <a:cubicBezTo>
                  <a:pt x="347" y="742"/>
                  <a:pt x="323" y="740"/>
                  <a:pt x="299" y="735"/>
                </a:cubicBezTo>
                <a:cubicBezTo>
                  <a:pt x="275" y="730"/>
                  <a:pt x="252" y="723"/>
                  <a:pt x="229" y="714"/>
                </a:cubicBezTo>
                <a:cubicBezTo>
                  <a:pt x="207" y="705"/>
                  <a:pt x="186" y="693"/>
                  <a:pt x="165" y="680"/>
                </a:cubicBezTo>
                <a:cubicBezTo>
                  <a:pt x="145" y="666"/>
                  <a:pt x="127" y="651"/>
                  <a:pt x="109" y="634"/>
                </a:cubicBezTo>
                <a:cubicBezTo>
                  <a:pt x="92" y="617"/>
                  <a:pt x="77" y="598"/>
                  <a:pt x="63" y="578"/>
                </a:cubicBezTo>
                <a:cubicBezTo>
                  <a:pt x="49" y="557"/>
                  <a:pt x="37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2" y="420"/>
                  <a:pt x="0" y="396"/>
                  <a:pt x="0" y="371"/>
                </a:cubicBezTo>
                <a:cubicBezTo>
                  <a:pt x="0" y="346"/>
                  <a:pt x="2" y="322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7" y="207"/>
                  <a:pt x="49" y="185"/>
                  <a:pt x="63" y="165"/>
                </a:cubicBezTo>
                <a:cubicBezTo>
                  <a:pt x="77" y="145"/>
                  <a:pt x="92" y="126"/>
                  <a:pt x="109" y="109"/>
                </a:cubicBezTo>
                <a:cubicBezTo>
                  <a:pt x="127" y="92"/>
                  <a:pt x="145" y="76"/>
                  <a:pt x="165" y="63"/>
                </a:cubicBezTo>
                <a:cubicBezTo>
                  <a:pt x="186" y="49"/>
                  <a:pt x="207" y="38"/>
                  <a:pt x="229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1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7" y="12"/>
                  <a:pt x="491" y="19"/>
                  <a:pt x="513" y="29"/>
                </a:cubicBezTo>
                <a:cubicBezTo>
                  <a:pt x="535" y="38"/>
                  <a:pt x="557" y="49"/>
                  <a:pt x="577" y="63"/>
                </a:cubicBezTo>
                <a:cubicBezTo>
                  <a:pt x="597" y="76"/>
                  <a:pt x="616" y="92"/>
                  <a:pt x="633" y="109"/>
                </a:cubicBezTo>
                <a:cubicBezTo>
                  <a:pt x="650" y="126"/>
                  <a:pt x="666" y="145"/>
                  <a:pt x="679" y="165"/>
                </a:cubicBezTo>
                <a:cubicBezTo>
                  <a:pt x="693" y="185"/>
                  <a:pt x="704" y="207"/>
                  <a:pt x="713" y="229"/>
                </a:cubicBezTo>
                <a:cubicBezTo>
                  <a:pt x="723" y="252"/>
                  <a:pt x="730" y="275"/>
                  <a:pt x="735" y="299"/>
                </a:cubicBezTo>
                <a:cubicBezTo>
                  <a:pt x="739" y="322"/>
                  <a:pt x="742" y="346"/>
                  <a:pt x="742" y="371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80880" y="246600"/>
            <a:ext cx="23857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红⾊样本分析：逾期催收后仍在逾期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77000" y="11174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62120" y="1107720"/>
            <a:ext cx="820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主要影响因素权重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62120" y="1647360"/>
            <a:ext cx="371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红⾊样本前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380960" y="165024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99999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1" name="图片 60"/>
          <p:cNvPicPr/>
          <p:nvPr/>
        </p:nvPicPr>
        <p:blipFill>
          <a:blip r:embed="rId1"/>
          <a:stretch>
            <a:fillRect/>
          </a:stretch>
        </p:blipFill>
        <p:spPr>
          <a:xfrm>
            <a:off x="380880" y="1876320"/>
            <a:ext cx="5562360" cy="43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任意多边形 61"/>
          <p:cNvSpPr/>
          <p:nvPr/>
        </p:nvSpPr>
        <p:spPr>
          <a:xfrm>
            <a:off x="380880" y="6276960"/>
            <a:ext cx="5562720" cy="9720"/>
          </a:xfrm>
          <a:custGeom>
            <a:avLst/>
            <a:gdLst/>
            <a:ahLst/>
            <a:cxnLst/>
            <a:rect l="0" t="0" r="r" b="b"/>
            <a:pathLst>
              <a:path w="15452" h="27">
                <a:moveTo>
                  <a:pt x="0" y="0"/>
                </a:moveTo>
                <a:lnTo>
                  <a:pt x="15452" y="0"/>
                </a:lnTo>
                <a:lnTo>
                  <a:pt x="1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518840" y="1647360"/>
            <a:ext cx="667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位影响因素系数排序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80880" y="6381000"/>
            <a:ext cx="2223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结论：历史最⼤逾期天数是红⾊样本最显著的影响因素，权重系数达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6248160" y="105696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742" y="371"/>
                </a:moveTo>
                <a:cubicBezTo>
                  <a:pt x="742" y="396"/>
                  <a:pt x="740" y="420"/>
                  <a:pt x="735" y="444"/>
                </a:cubicBezTo>
                <a:cubicBezTo>
                  <a:pt x="730" y="468"/>
                  <a:pt x="723" y="491"/>
                  <a:pt x="714" y="514"/>
                </a:cubicBezTo>
                <a:cubicBezTo>
                  <a:pt x="704" y="536"/>
                  <a:pt x="693" y="557"/>
                  <a:pt x="680" y="578"/>
                </a:cubicBezTo>
                <a:cubicBezTo>
                  <a:pt x="666" y="598"/>
                  <a:pt x="651" y="617"/>
                  <a:pt x="634" y="634"/>
                </a:cubicBezTo>
                <a:cubicBezTo>
                  <a:pt x="616" y="651"/>
                  <a:pt x="598" y="666"/>
                  <a:pt x="577" y="680"/>
                </a:cubicBezTo>
                <a:cubicBezTo>
                  <a:pt x="557" y="693"/>
                  <a:pt x="536" y="705"/>
                  <a:pt x="513" y="714"/>
                </a:cubicBezTo>
                <a:cubicBezTo>
                  <a:pt x="491" y="723"/>
                  <a:pt x="468" y="730"/>
                  <a:pt x="444" y="735"/>
                </a:cubicBezTo>
                <a:cubicBezTo>
                  <a:pt x="420" y="740"/>
                  <a:pt x="396" y="742"/>
                  <a:pt x="372" y="742"/>
                </a:cubicBezTo>
                <a:cubicBezTo>
                  <a:pt x="347" y="742"/>
                  <a:pt x="323" y="740"/>
                  <a:pt x="299" y="735"/>
                </a:cubicBezTo>
                <a:cubicBezTo>
                  <a:pt x="275" y="730"/>
                  <a:pt x="252" y="723"/>
                  <a:pt x="230" y="714"/>
                </a:cubicBezTo>
                <a:cubicBezTo>
                  <a:pt x="207" y="705"/>
                  <a:pt x="186" y="693"/>
                  <a:pt x="166" y="680"/>
                </a:cubicBezTo>
                <a:cubicBezTo>
                  <a:pt x="146" y="666"/>
                  <a:pt x="127" y="651"/>
                  <a:pt x="110" y="634"/>
                </a:cubicBezTo>
                <a:cubicBezTo>
                  <a:pt x="92" y="617"/>
                  <a:pt x="77" y="598"/>
                  <a:pt x="64" y="578"/>
                </a:cubicBezTo>
                <a:cubicBezTo>
                  <a:pt x="50" y="557"/>
                  <a:pt x="39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3" y="420"/>
                  <a:pt x="0" y="396"/>
                  <a:pt x="0" y="371"/>
                </a:cubicBezTo>
                <a:cubicBezTo>
                  <a:pt x="0" y="346"/>
                  <a:pt x="3" y="322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9" y="207"/>
                  <a:pt x="50" y="185"/>
                  <a:pt x="64" y="165"/>
                </a:cubicBezTo>
                <a:cubicBezTo>
                  <a:pt x="77" y="145"/>
                  <a:pt x="92" y="126"/>
                  <a:pt x="110" y="109"/>
                </a:cubicBezTo>
                <a:cubicBezTo>
                  <a:pt x="127" y="92"/>
                  <a:pt x="146" y="76"/>
                  <a:pt x="166" y="63"/>
                </a:cubicBezTo>
                <a:cubicBezTo>
                  <a:pt x="186" y="49"/>
                  <a:pt x="207" y="38"/>
                  <a:pt x="230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2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8" y="12"/>
                  <a:pt x="491" y="19"/>
                  <a:pt x="513" y="29"/>
                </a:cubicBezTo>
                <a:cubicBezTo>
                  <a:pt x="536" y="38"/>
                  <a:pt x="557" y="49"/>
                  <a:pt x="577" y="63"/>
                </a:cubicBezTo>
                <a:cubicBezTo>
                  <a:pt x="598" y="76"/>
                  <a:pt x="616" y="92"/>
                  <a:pt x="634" y="109"/>
                </a:cubicBezTo>
                <a:cubicBezTo>
                  <a:pt x="651" y="126"/>
                  <a:pt x="666" y="145"/>
                  <a:pt x="680" y="165"/>
                </a:cubicBezTo>
                <a:cubicBezTo>
                  <a:pt x="693" y="185"/>
                  <a:pt x="704" y="207"/>
                  <a:pt x="714" y="229"/>
                </a:cubicBezTo>
                <a:cubicBezTo>
                  <a:pt x="723" y="252"/>
                  <a:pt x="730" y="275"/>
                  <a:pt x="735" y="299"/>
                </a:cubicBezTo>
                <a:cubicBezTo>
                  <a:pt x="740" y="322"/>
                  <a:pt x="742" y="346"/>
                  <a:pt x="742" y="371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095720" y="6383880"/>
            <a:ext cx="240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6666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0.71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344640" y="11174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629400" y="1107720"/>
            <a:ext cx="820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关键指标统计特征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任意多边形 68"/>
          <p:cNvSpPr/>
          <p:nvPr/>
        </p:nvSpPr>
        <p:spPr>
          <a:xfrm>
            <a:off x="6248160" y="1876320"/>
            <a:ext cx="724320" cy="333720"/>
          </a:xfrm>
          <a:custGeom>
            <a:avLst/>
            <a:gdLst/>
            <a:ahLst/>
            <a:cxn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任意多边形 69"/>
          <p:cNvSpPr/>
          <p:nvPr/>
        </p:nvSpPr>
        <p:spPr>
          <a:xfrm>
            <a:off x="6972120" y="1876320"/>
            <a:ext cx="1962360" cy="333720"/>
          </a:xfrm>
          <a:custGeom>
            <a:avLst/>
            <a:gdLst/>
            <a:ahLst/>
            <a:cxnLst/>
            <a:rect l="0" t="0" r="r" b="b"/>
            <a:pathLst>
              <a:path w="5451" h="927">
                <a:moveTo>
                  <a:pt x="0" y="0"/>
                </a:moveTo>
                <a:lnTo>
                  <a:pt x="5451" y="0"/>
                </a:lnTo>
                <a:lnTo>
                  <a:pt x="545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8934120" y="1876320"/>
            <a:ext cx="1296000" cy="333720"/>
          </a:xfrm>
          <a:custGeom>
            <a:avLst/>
            <a:gdLst/>
            <a:ahLst/>
            <a:cxnLst/>
            <a:rect l="0" t="0" r="r" b="b"/>
            <a:pathLst>
              <a:path w="3600" h="927">
                <a:moveTo>
                  <a:pt x="0" y="0"/>
                </a:moveTo>
                <a:lnTo>
                  <a:pt x="3600" y="0"/>
                </a:lnTo>
                <a:lnTo>
                  <a:pt x="3600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任意多边形 71"/>
          <p:cNvSpPr/>
          <p:nvPr/>
        </p:nvSpPr>
        <p:spPr>
          <a:xfrm>
            <a:off x="10229760" y="1876320"/>
            <a:ext cx="1581480" cy="333720"/>
          </a:xfrm>
          <a:custGeom>
            <a:avLst/>
            <a:gdLst/>
            <a:ahLst/>
            <a:cxnLst/>
            <a:rect l="0" t="0" r="r" b="b"/>
            <a:pathLst>
              <a:path w="4393" h="927">
                <a:moveTo>
                  <a:pt x="0" y="0"/>
                </a:moveTo>
                <a:lnTo>
                  <a:pt x="4393" y="0"/>
                </a:lnTo>
                <a:lnTo>
                  <a:pt x="43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6248160" y="22096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任意多边形 73"/>
          <p:cNvSpPr/>
          <p:nvPr/>
        </p:nvSpPr>
        <p:spPr>
          <a:xfrm>
            <a:off x="6972120" y="22096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8934120" y="22096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10229760" y="22096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任意多边形 76"/>
          <p:cNvSpPr/>
          <p:nvPr/>
        </p:nvSpPr>
        <p:spPr>
          <a:xfrm>
            <a:off x="6248160" y="25524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任意多边形 77"/>
          <p:cNvSpPr/>
          <p:nvPr/>
        </p:nvSpPr>
        <p:spPr>
          <a:xfrm>
            <a:off x="6972120" y="25524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任意多边形 78"/>
          <p:cNvSpPr/>
          <p:nvPr/>
        </p:nvSpPr>
        <p:spPr>
          <a:xfrm>
            <a:off x="8934120" y="25524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任意多边形 79"/>
          <p:cNvSpPr/>
          <p:nvPr/>
        </p:nvSpPr>
        <p:spPr>
          <a:xfrm>
            <a:off x="10229760" y="25524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任意多边形 80"/>
          <p:cNvSpPr/>
          <p:nvPr/>
        </p:nvSpPr>
        <p:spPr>
          <a:xfrm>
            <a:off x="6248160" y="28954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任意多边形 81"/>
          <p:cNvSpPr/>
          <p:nvPr/>
        </p:nvSpPr>
        <p:spPr>
          <a:xfrm>
            <a:off x="6972120" y="28954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任意多边形 82"/>
          <p:cNvSpPr/>
          <p:nvPr/>
        </p:nvSpPr>
        <p:spPr>
          <a:xfrm>
            <a:off x="8934120" y="28954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任意多边形 83"/>
          <p:cNvSpPr/>
          <p:nvPr/>
        </p:nvSpPr>
        <p:spPr>
          <a:xfrm>
            <a:off x="10229760" y="28954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" name="任意多边形 84"/>
          <p:cNvSpPr/>
          <p:nvPr/>
        </p:nvSpPr>
        <p:spPr>
          <a:xfrm>
            <a:off x="6248160" y="32382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任意多边形 85"/>
          <p:cNvSpPr/>
          <p:nvPr/>
        </p:nvSpPr>
        <p:spPr>
          <a:xfrm>
            <a:off x="6972120" y="32382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" name="任意多边形 86"/>
          <p:cNvSpPr/>
          <p:nvPr/>
        </p:nvSpPr>
        <p:spPr>
          <a:xfrm>
            <a:off x="8934120" y="32382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" name="任意多边形 87"/>
          <p:cNvSpPr/>
          <p:nvPr/>
        </p:nvSpPr>
        <p:spPr>
          <a:xfrm>
            <a:off x="10229760" y="32382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任意多边形 88"/>
          <p:cNvSpPr/>
          <p:nvPr/>
        </p:nvSpPr>
        <p:spPr>
          <a:xfrm>
            <a:off x="6248160" y="35812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任意多边形 89"/>
          <p:cNvSpPr/>
          <p:nvPr/>
        </p:nvSpPr>
        <p:spPr>
          <a:xfrm>
            <a:off x="6972120" y="35812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" name="任意多边形 90"/>
          <p:cNvSpPr/>
          <p:nvPr/>
        </p:nvSpPr>
        <p:spPr>
          <a:xfrm>
            <a:off x="8934120" y="35812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" name="任意多边形 91"/>
          <p:cNvSpPr/>
          <p:nvPr/>
        </p:nvSpPr>
        <p:spPr>
          <a:xfrm>
            <a:off x="10229760" y="35812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" name="任意多边形 92"/>
          <p:cNvSpPr/>
          <p:nvPr/>
        </p:nvSpPr>
        <p:spPr>
          <a:xfrm>
            <a:off x="6248160" y="39240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" name="任意多边形 93"/>
          <p:cNvSpPr/>
          <p:nvPr/>
        </p:nvSpPr>
        <p:spPr>
          <a:xfrm>
            <a:off x="6972120" y="39240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任意多边形 94"/>
          <p:cNvSpPr/>
          <p:nvPr/>
        </p:nvSpPr>
        <p:spPr>
          <a:xfrm>
            <a:off x="8934120" y="39240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任意多边形 95"/>
          <p:cNvSpPr/>
          <p:nvPr/>
        </p:nvSpPr>
        <p:spPr>
          <a:xfrm>
            <a:off x="10229760" y="39240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6248160" y="42670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" name="任意多边形 97"/>
          <p:cNvSpPr/>
          <p:nvPr/>
        </p:nvSpPr>
        <p:spPr>
          <a:xfrm>
            <a:off x="6972120" y="42670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任意多边形 98"/>
          <p:cNvSpPr/>
          <p:nvPr/>
        </p:nvSpPr>
        <p:spPr>
          <a:xfrm>
            <a:off x="8934120" y="42670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任意多边形 99"/>
          <p:cNvSpPr/>
          <p:nvPr/>
        </p:nvSpPr>
        <p:spPr>
          <a:xfrm>
            <a:off x="10229760" y="42670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6248160" y="46098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任意多边形 101"/>
          <p:cNvSpPr/>
          <p:nvPr/>
        </p:nvSpPr>
        <p:spPr>
          <a:xfrm>
            <a:off x="6972120" y="46098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8934120" y="46098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任意多边形 103"/>
          <p:cNvSpPr/>
          <p:nvPr/>
        </p:nvSpPr>
        <p:spPr>
          <a:xfrm>
            <a:off x="10229760" y="46098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任意多边形 104"/>
          <p:cNvSpPr/>
          <p:nvPr/>
        </p:nvSpPr>
        <p:spPr>
          <a:xfrm>
            <a:off x="6248160" y="49528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任意多边形 105"/>
          <p:cNvSpPr/>
          <p:nvPr/>
        </p:nvSpPr>
        <p:spPr>
          <a:xfrm>
            <a:off x="6972120" y="49528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8934120" y="49528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" name="任意多边形 107"/>
          <p:cNvSpPr/>
          <p:nvPr/>
        </p:nvSpPr>
        <p:spPr>
          <a:xfrm>
            <a:off x="10229760" y="49528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任意多边形 108"/>
          <p:cNvSpPr/>
          <p:nvPr/>
        </p:nvSpPr>
        <p:spPr>
          <a:xfrm>
            <a:off x="6248160" y="52956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" name="任意多边形 109"/>
          <p:cNvSpPr/>
          <p:nvPr/>
        </p:nvSpPr>
        <p:spPr>
          <a:xfrm>
            <a:off x="6972120" y="52956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" name="任意多边形 110"/>
          <p:cNvSpPr/>
          <p:nvPr/>
        </p:nvSpPr>
        <p:spPr>
          <a:xfrm>
            <a:off x="8934120" y="52956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任意多边形 111"/>
          <p:cNvSpPr/>
          <p:nvPr/>
        </p:nvSpPr>
        <p:spPr>
          <a:xfrm>
            <a:off x="10229760" y="52956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任意多边形 112"/>
          <p:cNvSpPr/>
          <p:nvPr/>
        </p:nvSpPr>
        <p:spPr>
          <a:xfrm>
            <a:off x="6248160" y="56386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任意多边形 113"/>
          <p:cNvSpPr/>
          <p:nvPr/>
        </p:nvSpPr>
        <p:spPr>
          <a:xfrm>
            <a:off x="6972120" y="56386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任意多边形 114"/>
          <p:cNvSpPr/>
          <p:nvPr/>
        </p:nvSpPr>
        <p:spPr>
          <a:xfrm>
            <a:off x="8934120" y="56386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任意多边形 115"/>
          <p:cNvSpPr/>
          <p:nvPr/>
        </p:nvSpPr>
        <p:spPr>
          <a:xfrm>
            <a:off x="10229760" y="56386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6629400" y="1647360"/>
            <a:ext cx="815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红⾊样本主要因⼦统计值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6324480" y="198072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排名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048440" y="19807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影响因素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010800" y="198072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均值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任意多边形 120"/>
          <p:cNvSpPr/>
          <p:nvPr/>
        </p:nvSpPr>
        <p:spPr>
          <a:xfrm>
            <a:off x="6324480" y="23144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0306080" y="1980720"/>
            <a:ext cx="222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中位数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6477120" y="23169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7048440" y="2323440"/>
            <a:ext cx="593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历史最⼤逾期天数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8039160" y="23263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9010800" y="2326320"/>
            <a:ext cx="3096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28.82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9320400" y="23234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10306080" y="232632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6324480" y="26571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0443960" y="23234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6477120" y="26596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7048440" y="2666520"/>
            <a:ext cx="519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理财⽀出总⾦额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7915320" y="26694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9010800" y="265968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50,902.93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" name="任意多边形 134"/>
          <p:cNvSpPr/>
          <p:nvPr/>
        </p:nvSpPr>
        <p:spPr>
          <a:xfrm>
            <a:off x="6324480" y="30002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0306080" y="26596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4,532.82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6477120" y="30027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7048440" y="3009240"/>
            <a:ext cx="667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联系⼈认证失败次数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8163000" y="30121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9010800" y="3012120"/>
            <a:ext cx="240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4.76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9251640" y="30092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次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10306080" y="301212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任意多边形 142"/>
          <p:cNvSpPr/>
          <p:nvPr/>
        </p:nvSpPr>
        <p:spPr>
          <a:xfrm>
            <a:off x="6324480" y="33429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10374840" y="30092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次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6477120" y="33454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7048440" y="33523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模型收⼊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543800" y="33552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9010800" y="33454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9,232.94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" name="任意多边形 148"/>
          <p:cNvSpPr/>
          <p:nvPr/>
        </p:nvSpPr>
        <p:spPr>
          <a:xfrm>
            <a:off x="6324480" y="36860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0306080" y="33454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9,985.00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6477120" y="36885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7048440" y="3695040"/>
            <a:ext cx="593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本⽉理财赎回⾦额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8039160" y="36979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9010800" y="3688560"/>
            <a:ext cx="3783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374.81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任意多边形 154"/>
          <p:cNvSpPr/>
          <p:nvPr/>
        </p:nvSpPr>
        <p:spPr>
          <a:xfrm>
            <a:off x="6324480" y="40287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0306080" y="36885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6477120" y="40312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048440" y="40381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同名转出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7543800" y="4041000"/>
            <a:ext cx="1792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1-5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7722720" y="40381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，最⼩值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8218080" y="40410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9010800" y="4031280"/>
            <a:ext cx="3783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301.08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任意多边形 162"/>
          <p:cNvSpPr/>
          <p:nvPr/>
        </p:nvSpPr>
        <p:spPr>
          <a:xfrm>
            <a:off x="6324480" y="43718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10306080" y="4031280"/>
            <a:ext cx="3096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99.63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6477120" y="43743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7048440" y="438084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同名转出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7543800" y="4383720"/>
            <a:ext cx="1792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1-5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7722720" y="438084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，最⼤值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8218080" y="43837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9010800" y="437436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4,799.20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任意多边形 170"/>
          <p:cNvSpPr/>
          <p:nvPr/>
        </p:nvSpPr>
        <p:spPr>
          <a:xfrm>
            <a:off x="6324480" y="47145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0306080" y="437436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2,900.00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6477120" y="47170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7048440" y="47239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同名转出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7543800" y="4726800"/>
            <a:ext cx="2476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6-10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7791480" y="47239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，最⼤值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8286840" y="47268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9010800" y="47170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4,497.80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9" name="任意多边形 178"/>
          <p:cNvSpPr/>
          <p:nvPr/>
        </p:nvSpPr>
        <p:spPr>
          <a:xfrm>
            <a:off x="6324480" y="50576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0306080" y="47170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2,000.00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6477120" y="50601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7048440" y="506664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性别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9010800" y="50666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男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任意多边形 183"/>
          <p:cNvSpPr/>
          <p:nvPr/>
        </p:nvSpPr>
        <p:spPr>
          <a:xfrm>
            <a:off x="6324480" y="54003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10306080" y="50666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男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477120" y="540288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7048440" y="5409720"/>
            <a:ext cx="593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银⾏账⼾期末余额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039160" y="54126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9010800" y="54028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1,082.89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任意多边形 189"/>
          <p:cNvSpPr/>
          <p:nvPr/>
        </p:nvSpPr>
        <p:spPr>
          <a:xfrm>
            <a:off x="6248160" y="6276960"/>
            <a:ext cx="5563080" cy="9720"/>
          </a:xfrm>
          <a:custGeom>
            <a:avLst/>
            <a:gdLst/>
            <a:ahLst/>
            <a:cxnLst/>
            <a:rect l="0" t="0" r="r" b="b"/>
            <a:pathLst>
              <a:path w="15453" h="27">
                <a:moveTo>
                  <a:pt x="0" y="0"/>
                </a:moveTo>
                <a:lnTo>
                  <a:pt x="15453" y="0"/>
                </a:lnTo>
                <a:lnTo>
                  <a:pt x="154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10306080" y="5402880"/>
            <a:ext cx="3783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321.30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6248520" y="6381000"/>
            <a:ext cx="5372100" cy="215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00" b="1" u="none" strike="noStrike">
                <a:solidFill>
                  <a:schemeClr val="tx1"/>
                </a:solidFill>
                <a:effectLst/>
                <a:uFillTx/>
                <a:latin typeface="NotoSansCJKsc"/>
                <a:ea typeface="NotoSansCJKsc"/>
              </a:rPr>
              <a:t>结论：红⾊样本普遍存在⾼逾期天数、低账⼾余额、频繁转账等特征</a:t>
            </a:r>
            <a:endParaRPr lang="zh-CN" sz="1400" b="1" u="none" strike="noStrike">
              <a:solidFill>
                <a:schemeClr val="tx1"/>
              </a:solidFill>
              <a:effectLst/>
              <a:uFillTx/>
              <a:latin typeface="NotoSansCJKsc"/>
              <a:ea typeface="NotoSansCJK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任意多边形 1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任意多边形 1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任意多边形 194"/>
          <p:cNvSpPr/>
          <p:nvPr/>
        </p:nvSpPr>
        <p:spPr>
          <a:xfrm>
            <a:off x="0" y="0"/>
            <a:ext cx="12192120" cy="733680"/>
          </a:xfrm>
          <a:custGeom>
            <a:avLst/>
            <a:gdLst/>
            <a:ahLst/>
            <a:cxnLst/>
            <a:rect l="0" t="0" r="r" b="b"/>
            <a:pathLst>
              <a:path w="33867" h="2038">
                <a:moveTo>
                  <a:pt x="0" y="0"/>
                </a:moveTo>
                <a:lnTo>
                  <a:pt x="33867" y="0"/>
                </a:lnTo>
                <a:lnTo>
                  <a:pt x="3386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6" name="任意多边形 195"/>
          <p:cNvSpPr/>
          <p:nvPr/>
        </p:nvSpPr>
        <p:spPr>
          <a:xfrm>
            <a:off x="380880" y="105696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742" y="371"/>
                </a:moveTo>
                <a:cubicBezTo>
                  <a:pt x="742" y="396"/>
                  <a:pt x="739" y="420"/>
                  <a:pt x="735" y="444"/>
                </a:cubicBezTo>
                <a:cubicBezTo>
                  <a:pt x="730" y="468"/>
                  <a:pt x="723" y="491"/>
                  <a:pt x="713" y="514"/>
                </a:cubicBezTo>
                <a:cubicBezTo>
                  <a:pt x="704" y="536"/>
                  <a:pt x="693" y="557"/>
                  <a:pt x="679" y="578"/>
                </a:cubicBezTo>
                <a:cubicBezTo>
                  <a:pt x="666" y="598"/>
                  <a:pt x="650" y="617"/>
                  <a:pt x="633" y="634"/>
                </a:cubicBezTo>
                <a:cubicBezTo>
                  <a:pt x="616" y="651"/>
                  <a:pt x="597" y="666"/>
                  <a:pt x="577" y="680"/>
                </a:cubicBezTo>
                <a:cubicBezTo>
                  <a:pt x="557" y="693"/>
                  <a:pt x="535" y="705"/>
                  <a:pt x="513" y="714"/>
                </a:cubicBezTo>
                <a:cubicBezTo>
                  <a:pt x="491" y="723"/>
                  <a:pt x="467" y="730"/>
                  <a:pt x="444" y="735"/>
                </a:cubicBezTo>
                <a:cubicBezTo>
                  <a:pt x="420" y="740"/>
                  <a:pt x="396" y="742"/>
                  <a:pt x="371" y="742"/>
                </a:cubicBezTo>
                <a:cubicBezTo>
                  <a:pt x="347" y="742"/>
                  <a:pt x="323" y="740"/>
                  <a:pt x="299" y="735"/>
                </a:cubicBezTo>
                <a:cubicBezTo>
                  <a:pt x="275" y="730"/>
                  <a:pt x="252" y="723"/>
                  <a:pt x="229" y="714"/>
                </a:cubicBezTo>
                <a:cubicBezTo>
                  <a:pt x="207" y="705"/>
                  <a:pt x="186" y="693"/>
                  <a:pt x="165" y="680"/>
                </a:cubicBezTo>
                <a:cubicBezTo>
                  <a:pt x="145" y="666"/>
                  <a:pt x="127" y="651"/>
                  <a:pt x="109" y="634"/>
                </a:cubicBezTo>
                <a:cubicBezTo>
                  <a:pt x="92" y="617"/>
                  <a:pt x="77" y="598"/>
                  <a:pt x="63" y="578"/>
                </a:cubicBezTo>
                <a:cubicBezTo>
                  <a:pt x="49" y="557"/>
                  <a:pt x="37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2" y="420"/>
                  <a:pt x="0" y="396"/>
                  <a:pt x="0" y="371"/>
                </a:cubicBezTo>
                <a:cubicBezTo>
                  <a:pt x="0" y="346"/>
                  <a:pt x="2" y="322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7" y="207"/>
                  <a:pt x="49" y="185"/>
                  <a:pt x="63" y="165"/>
                </a:cubicBezTo>
                <a:cubicBezTo>
                  <a:pt x="77" y="145"/>
                  <a:pt x="92" y="126"/>
                  <a:pt x="109" y="109"/>
                </a:cubicBezTo>
                <a:cubicBezTo>
                  <a:pt x="127" y="92"/>
                  <a:pt x="145" y="76"/>
                  <a:pt x="165" y="63"/>
                </a:cubicBezTo>
                <a:cubicBezTo>
                  <a:pt x="186" y="49"/>
                  <a:pt x="207" y="38"/>
                  <a:pt x="229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1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7" y="12"/>
                  <a:pt x="491" y="19"/>
                  <a:pt x="513" y="29"/>
                </a:cubicBezTo>
                <a:cubicBezTo>
                  <a:pt x="535" y="38"/>
                  <a:pt x="557" y="49"/>
                  <a:pt x="577" y="63"/>
                </a:cubicBezTo>
                <a:cubicBezTo>
                  <a:pt x="597" y="76"/>
                  <a:pt x="616" y="92"/>
                  <a:pt x="633" y="109"/>
                </a:cubicBezTo>
                <a:cubicBezTo>
                  <a:pt x="650" y="126"/>
                  <a:pt x="666" y="145"/>
                  <a:pt x="679" y="165"/>
                </a:cubicBezTo>
                <a:cubicBezTo>
                  <a:pt x="693" y="185"/>
                  <a:pt x="704" y="207"/>
                  <a:pt x="713" y="229"/>
                </a:cubicBezTo>
                <a:cubicBezTo>
                  <a:pt x="723" y="252"/>
                  <a:pt x="730" y="275"/>
                  <a:pt x="735" y="299"/>
                </a:cubicBezTo>
                <a:cubicBezTo>
                  <a:pt x="739" y="322"/>
                  <a:pt x="742" y="346"/>
                  <a:pt x="742" y="371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380880" y="246600"/>
            <a:ext cx="23857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⻩⾊样本分析：逾期后催收正常还款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477000" y="11174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762120" y="1107720"/>
            <a:ext cx="820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主要影响因素权重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762120" y="1647360"/>
            <a:ext cx="371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⻩⾊样本前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1380960" y="165024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99999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2" name="图片 201"/>
          <p:cNvPicPr/>
          <p:nvPr/>
        </p:nvPicPr>
        <p:blipFill>
          <a:blip r:embed="rId1"/>
          <a:stretch>
            <a:fillRect/>
          </a:stretch>
        </p:blipFill>
        <p:spPr>
          <a:xfrm>
            <a:off x="380880" y="1876320"/>
            <a:ext cx="5562360" cy="43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任意多边形 202"/>
          <p:cNvSpPr/>
          <p:nvPr/>
        </p:nvSpPr>
        <p:spPr>
          <a:xfrm>
            <a:off x="380880" y="6276960"/>
            <a:ext cx="5562720" cy="9720"/>
          </a:xfrm>
          <a:custGeom>
            <a:avLst/>
            <a:gdLst/>
            <a:ahLst/>
            <a:cxnLst/>
            <a:rect l="0" t="0" r="r" b="b"/>
            <a:pathLst>
              <a:path w="15452" h="27">
                <a:moveTo>
                  <a:pt x="0" y="0"/>
                </a:moveTo>
                <a:lnTo>
                  <a:pt x="15452" y="0"/>
                </a:lnTo>
                <a:lnTo>
                  <a:pt x="1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1518840" y="1647360"/>
            <a:ext cx="667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位影响因素系数排序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380880" y="6381000"/>
            <a:ext cx="2075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结论：是否⾸次逾期是⻩⾊样本最显著的影响因素，权重系数达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6" name="任意多边形 205"/>
          <p:cNvSpPr/>
          <p:nvPr/>
        </p:nvSpPr>
        <p:spPr>
          <a:xfrm>
            <a:off x="6248160" y="105696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742" y="371"/>
                </a:moveTo>
                <a:cubicBezTo>
                  <a:pt x="742" y="396"/>
                  <a:pt x="740" y="420"/>
                  <a:pt x="735" y="444"/>
                </a:cubicBezTo>
                <a:cubicBezTo>
                  <a:pt x="730" y="468"/>
                  <a:pt x="723" y="491"/>
                  <a:pt x="714" y="514"/>
                </a:cubicBezTo>
                <a:cubicBezTo>
                  <a:pt x="704" y="536"/>
                  <a:pt x="693" y="557"/>
                  <a:pt x="680" y="578"/>
                </a:cubicBezTo>
                <a:cubicBezTo>
                  <a:pt x="666" y="598"/>
                  <a:pt x="651" y="617"/>
                  <a:pt x="634" y="634"/>
                </a:cubicBezTo>
                <a:cubicBezTo>
                  <a:pt x="616" y="651"/>
                  <a:pt x="598" y="666"/>
                  <a:pt x="577" y="680"/>
                </a:cubicBezTo>
                <a:cubicBezTo>
                  <a:pt x="557" y="693"/>
                  <a:pt x="536" y="705"/>
                  <a:pt x="513" y="714"/>
                </a:cubicBezTo>
                <a:cubicBezTo>
                  <a:pt x="491" y="723"/>
                  <a:pt x="468" y="730"/>
                  <a:pt x="444" y="735"/>
                </a:cubicBezTo>
                <a:cubicBezTo>
                  <a:pt x="420" y="740"/>
                  <a:pt x="396" y="742"/>
                  <a:pt x="372" y="742"/>
                </a:cubicBezTo>
                <a:cubicBezTo>
                  <a:pt x="347" y="742"/>
                  <a:pt x="323" y="740"/>
                  <a:pt x="299" y="735"/>
                </a:cubicBezTo>
                <a:cubicBezTo>
                  <a:pt x="275" y="730"/>
                  <a:pt x="252" y="723"/>
                  <a:pt x="230" y="714"/>
                </a:cubicBezTo>
                <a:cubicBezTo>
                  <a:pt x="207" y="705"/>
                  <a:pt x="186" y="693"/>
                  <a:pt x="166" y="680"/>
                </a:cubicBezTo>
                <a:cubicBezTo>
                  <a:pt x="146" y="666"/>
                  <a:pt x="127" y="651"/>
                  <a:pt x="110" y="634"/>
                </a:cubicBezTo>
                <a:cubicBezTo>
                  <a:pt x="92" y="617"/>
                  <a:pt x="77" y="598"/>
                  <a:pt x="64" y="578"/>
                </a:cubicBezTo>
                <a:cubicBezTo>
                  <a:pt x="50" y="557"/>
                  <a:pt x="39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3" y="420"/>
                  <a:pt x="0" y="396"/>
                  <a:pt x="0" y="371"/>
                </a:cubicBezTo>
                <a:cubicBezTo>
                  <a:pt x="0" y="346"/>
                  <a:pt x="3" y="322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9" y="207"/>
                  <a:pt x="50" y="185"/>
                  <a:pt x="64" y="165"/>
                </a:cubicBezTo>
                <a:cubicBezTo>
                  <a:pt x="77" y="145"/>
                  <a:pt x="92" y="126"/>
                  <a:pt x="110" y="109"/>
                </a:cubicBezTo>
                <a:cubicBezTo>
                  <a:pt x="127" y="92"/>
                  <a:pt x="146" y="76"/>
                  <a:pt x="166" y="63"/>
                </a:cubicBezTo>
                <a:cubicBezTo>
                  <a:pt x="186" y="49"/>
                  <a:pt x="207" y="38"/>
                  <a:pt x="230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2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8" y="12"/>
                  <a:pt x="491" y="19"/>
                  <a:pt x="513" y="29"/>
                </a:cubicBezTo>
                <a:cubicBezTo>
                  <a:pt x="536" y="38"/>
                  <a:pt x="557" y="49"/>
                  <a:pt x="577" y="63"/>
                </a:cubicBezTo>
                <a:cubicBezTo>
                  <a:pt x="598" y="76"/>
                  <a:pt x="616" y="92"/>
                  <a:pt x="634" y="109"/>
                </a:cubicBezTo>
                <a:cubicBezTo>
                  <a:pt x="651" y="126"/>
                  <a:pt x="666" y="145"/>
                  <a:pt x="680" y="165"/>
                </a:cubicBezTo>
                <a:cubicBezTo>
                  <a:pt x="693" y="185"/>
                  <a:pt x="704" y="207"/>
                  <a:pt x="714" y="229"/>
                </a:cubicBezTo>
                <a:cubicBezTo>
                  <a:pt x="723" y="252"/>
                  <a:pt x="730" y="275"/>
                  <a:pt x="735" y="299"/>
                </a:cubicBezTo>
                <a:cubicBezTo>
                  <a:pt x="740" y="322"/>
                  <a:pt x="742" y="346"/>
                  <a:pt x="742" y="371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848040" y="6383880"/>
            <a:ext cx="240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6666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0.48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6344640" y="11174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6629400" y="1107720"/>
            <a:ext cx="820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关键指标统计特征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0" name="任意多边形 209"/>
          <p:cNvSpPr/>
          <p:nvPr/>
        </p:nvSpPr>
        <p:spPr>
          <a:xfrm>
            <a:off x="6248160" y="1876320"/>
            <a:ext cx="724320" cy="333720"/>
          </a:xfrm>
          <a:custGeom>
            <a:avLst/>
            <a:gdLst/>
            <a:ahLst/>
            <a:cxn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1" name="任意多边形 210"/>
          <p:cNvSpPr/>
          <p:nvPr/>
        </p:nvSpPr>
        <p:spPr>
          <a:xfrm>
            <a:off x="6972120" y="1876320"/>
            <a:ext cx="1962360" cy="333720"/>
          </a:xfrm>
          <a:custGeom>
            <a:avLst/>
            <a:gdLst/>
            <a:ahLst/>
            <a:cxnLst/>
            <a:rect l="0" t="0" r="r" b="b"/>
            <a:pathLst>
              <a:path w="5451" h="927">
                <a:moveTo>
                  <a:pt x="0" y="0"/>
                </a:moveTo>
                <a:lnTo>
                  <a:pt x="5451" y="0"/>
                </a:lnTo>
                <a:lnTo>
                  <a:pt x="545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2" name="任意多边形 211"/>
          <p:cNvSpPr/>
          <p:nvPr/>
        </p:nvSpPr>
        <p:spPr>
          <a:xfrm>
            <a:off x="8934120" y="1876320"/>
            <a:ext cx="1296000" cy="333720"/>
          </a:xfrm>
          <a:custGeom>
            <a:avLst/>
            <a:gdLst/>
            <a:ahLst/>
            <a:cxnLst/>
            <a:rect l="0" t="0" r="r" b="b"/>
            <a:pathLst>
              <a:path w="3600" h="927">
                <a:moveTo>
                  <a:pt x="0" y="0"/>
                </a:moveTo>
                <a:lnTo>
                  <a:pt x="3600" y="0"/>
                </a:lnTo>
                <a:lnTo>
                  <a:pt x="3600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10229760" y="1876320"/>
            <a:ext cx="1581480" cy="333720"/>
          </a:xfrm>
          <a:custGeom>
            <a:avLst/>
            <a:gdLst/>
            <a:ahLst/>
            <a:cxnLst/>
            <a:rect l="0" t="0" r="r" b="b"/>
            <a:pathLst>
              <a:path w="4393" h="927">
                <a:moveTo>
                  <a:pt x="0" y="0"/>
                </a:moveTo>
                <a:lnTo>
                  <a:pt x="4393" y="0"/>
                </a:lnTo>
                <a:lnTo>
                  <a:pt x="43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4" name="任意多边形 213"/>
          <p:cNvSpPr/>
          <p:nvPr/>
        </p:nvSpPr>
        <p:spPr>
          <a:xfrm>
            <a:off x="6248160" y="22096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6972120" y="22096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6" name="任意多边形 215"/>
          <p:cNvSpPr/>
          <p:nvPr/>
        </p:nvSpPr>
        <p:spPr>
          <a:xfrm>
            <a:off x="8934120" y="22096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7" name="任意多边形 216"/>
          <p:cNvSpPr/>
          <p:nvPr/>
        </p:nvSpPr>
        <p:spPr>
          <a:xfrm>
            <a:off x="10229760" y="22096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8" name="任意多边形 217"/>
          <p:cNvSpPr/>
          <p:nvPr/>
        </p:nvSpPr>
        <p:spPr>
          <a:xfrm>
            <a:off x="6248160" y="25524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9" name="任意多边形 218"/>
          <p:cNvSpPr/>
          <p:nvPr/>
        </p:nvSpPr>
        <p:spPr>
          <a:xfrm>
            <a:off x="6972120" y="25524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任意多边形 219"/>
          <p:cNvSpPr/>
          <p:nvPr/>
        </p:nvSpPr>
        <p:spPr>
          <a:xfrm>
            <a:off x="8934120" y="25524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1" name="任意多边形 220"/>
          <p:cNvSpPr/>
          <p:nvPr/>
        </p:nvSpPr>
        <p:spPr>
          <a:xfrm>
            <a:off x="10229760" y="25524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任意多边形 221"/>
          <p:cNvSpPr/>
          <p:nvPr/>
        </p:nvSpPr>
        <p:spPr>
          <a:xfrm>
            <a:off x="6248160" y="28954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3" name="任意多边形 222"/>
          <p:cNvSpPr/>
          <p:nvPr/>
        </p:nvSpPr>
        <p:spPr>
          <a:xfrm>
            <a:off x="6972120" y="28954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4" name="任意多边形 223"/>
          <p:cNvSpPr/>
          <p:nvPr/>
        </p:nvSpPr>
        <p:spPr>
          <a:xfrm>
            <a:off x="8934120" y="28954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5" name="任意多边形 224"/>
          <p:cNvSpPr/>
          <p:nvPr/>
        </p:nvSpPr>
        <p:spPr>
          <a:xfrm>
            <a:off x="10229760" y="28954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6" name="任意多边形 225"/>
          <p:cNvSpPr/>
          <p:nvPr/>
        </p:nvSpPr>
        <p:spPr>
          <a:xfrm>
            <a:off x="6248160" y="32382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7" name="任意多边形 226"/>
          <p:cNvSpPr/>
          <p:nvPr/>
        </p:nvSpPr>
        <p:spPr>
          <a:xfrm>
            <a:off x="6972120" y="32382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8934120" y="32382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9" name="任意多边形 228"/>
          <p:cNvSpPr/>
          <p:nvPr/>
        </p:nvSpPr>
        <p:spPr>
          <a:xfrm>
            <a:off x="10229760" y="32382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0" name="任意多边形 229"/>
          <p:cNvSpPr/>
          <p:nvPr/>
        </p:nvSpPr>
        <p:spPr>
          <a:xfrm>
            <a:off x="6248160" y="35812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1" name="任意多边形 230"/>
          <p:cNvSpPr/>
          <p:nvPr/>
        </p:nvSpPr>
        <p:spPr>
          <a:xfrm>
            <a:off x="6972120" y="35812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2" name="任意多边形 231"/>
          <p:cNvSpPr/>
          <p:nvPr/>
        </p:nvSpPr>
        <p:spPr>
          <a:xfrm>
            <a:off x="8934120" y="35812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任意多边形 232"/>
          <p:cNvSpPr/>
          <p:nvPr/>
        </p:nvSpPr>
        <p:spPr>
          <a:xfrm>
            <a:off x="10229760" y="35812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4" name="任意多边形 233"/>
          <p:cNvSpPr/>
          <p:nvPr/>
        </p:nvSpPr>
        <p:spPr>
          <a:xfrm>
            <a:off x="6248160" y="39240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6972120" y="39240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6" name="任意多边形 235"/>
          <p:cNvSpPr/>
          <p:nvPr/>
        </p:nvSpPr>
        <p:spPr>
          <a:xfrm>
            <a:off x="8934120" y="39240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10229760" y="39240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8" name="任意多边形 237"/>
          <p:cNvSpPr/>
          <p:nvPr/>
        </p:nvSpPr>
        <p:spPr>
          <a:xfrm>
            <a:off x="6248160" y="42670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6972120" y="42670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0" name="任意多边形 239"/>
          <p:cNvSpPr/>
          <p:nvPr/>
        </p:nvSpPr>
        <p:spPr>
          <a:xfrm>
            <a:off x="8934120" y="42670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1" name="任意多边形 240"/>
          <p:cNvSpPr/>
          <p:nvPr/>
        </p:nvSpPr>
        <p:spPr>
          <a:xfrm>
            <a:off x="10229760" y="42670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6248160" y="46098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任意多边形 242"/>
          <p:cNvSpPr/>
          <p:nvPr/>
        </p:nvSpPr>
        <p:spPr>
          <a:xfrm>
            <a:off x="6972120" y="46098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4" name="任意多边形 243"/>
          <p:cNvSpPr/>
          <p:nvPr/>
        </p:nvSpPr>
        <p:spPr>
          <a:xfrm>
            <a:off x="8934120" y="46098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5" name="任意多边形 244"/>
          <p:cNvSpPr/>
          <p:nvPr/>
        </p:nvSpPr>
        <p:spPr>
          <a:xfrm>
            <a:off x="10229760" y="46098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6" name="任意多边形 245"/>
          <p:cNvSpPr/>
          <p:nvPr/>
        </p:nvSpPr>
        <p:spPr>
          <a:xfrm>
            <a:off x="6248160" y="49528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7" name="任意多边形 246"/>
          <p:cNvSpPr/>
          <p:nvPr/>
        </p:nvSpPr>
        <p:spPr>
          <a:xfrm>
            <a:off x="6972120" y="49528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8" name="任意多边形 247"/>
          <p:cNvSpPr/>
          <p:nvPr/>
        </p:nvSpPr>
        <p:spPr>
          <a:xfrm>
            <a:off x="8934120" y="49528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9" name="任意多边形 248"/>
          <p:cNvSpPr/>
          <p:nvPr/>
        </p:nvSpPr>
        <p:spPr>
          <a:xfrm>
            <a:off x="10229760" y="49528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0" name="任意多边形 249"/>
          <p:cNvSpPr/>
          <p:nvPr/>
        </p:nvSpPr>
        <p:spPr>
          <a:xfrm>
            <a:off x="6248160" y="52956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1" name="任意多边形 250"/>
          <p:cNvSpPr/>
          <p:nvPr/>
        </p:nvSpPr>
        <p:spPr>
          <a:xfrm>
            <a:off x="6972120" y="52956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任意多边形 251"/>
          <p:cNvSpPr/>
          <p:nvPr/>
        </p:nvSpPr>
        <p:spPr>
          <a:xfrm>
            <a:off x="8934120" y="52956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3" name="任意多边形 252"/>
          <p:cNvSpPr/>
          <p:nvPr/>
        </p:nvSpPr>
        <p:spPr>
          <a:xfrm>
            <a:off x="10229760" y="52956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4" name="任意多边形 253"/>
          <p:cNvSpPr/>
          <p:nvPr/>
        </p:nvSpPr>
        <p:spPr>
          <a:xfrm>
            <a:off x="6248160" y="56386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5" name="任意多边形 254"/>
          <p:cNvSpPr/>
          <p:nvPr/>
        </p:nvSpPr>
        <p:spPr>
          <a:xfrm>
            <a:off x="6972120" y="56386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8934120" y="56386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7" name="任意多边形 256"/>
          <p:cNvSpPr/>
          <p:nvPr/>
        </p:nvSpPr>
        <p:spPr>
          <a:xfrm>
            <a:off x="10229760" y="56386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6629400" y="1647360"/>
            <a:ext cx="815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⻩⾊样本主要因⼦统计值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6324480" y="198072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排名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7048440" y="19807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影响因素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9010800" y="198072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均值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2" name="任意多边形 261"/>
          <p:cNvSpPr/>
          <p:nvPr/>
        </p:nvSpPr>
        <p:spPr>
          <a:xfrm>
            <a:off x="6324480" y="23144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10306080" y="1980720"/>
            <a:ext cx="222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中位数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6477120" y="23169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7048440" y="232344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是否⾸逾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7543800" y="23263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010800" y="23234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否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8" name="任意多边形 267"/>
          <p:cNvSpPr/>
          <p:nvPr/>
        </p:nvSpPr>
        <p:spPr>
          <a:xfrm>
            <a:off x="6324480" y="26571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0306080" y="23234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否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6477120" y="26596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7048440" y="2666520"/>
            <a:ext cx="445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当前逾期天数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7791480" y="26694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9010800" y="266940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9079560" y="266652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0306080" y="266940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6" name="任意多边形 275"/>
          <p:cNvSpPr/>
          <p:nvPr/>
        </p:nvSpPr>
        <p:spPr>
          <a:xfrm>
            <a:off x="6324480" y="30002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10374840" y="266652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6477120" y="30027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7048440" y="30092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近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7172280" y="301212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7310160" y="3009240"/>
            <a:ext cx="445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个⽉查询次数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8052840" y="30121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3" name="文本框 282"/>
          <p:cNvSpPr txBox="1"/>
          <p:nvPr/>
        </p:nvSpPr>
        <p:spPr>
          <a:xfrm>
            <a:off x="9010800" y="300924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⼤于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9258120" y="301212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60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9396000" y="30092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次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10306080" y="300924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⼤于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10553760" y="301212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60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8" name="任意多边形 287"/>
          <p:cNvSpPr/>
          <p:nvPr/>
        </p:nvSpPr>
        <p:spPr>
          <a:xfrm>
            <a:off x="6324480" y="33429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10691280" y="30092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次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477120" y="33454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7048440" y="3352320"/>
            <a:ext cx="593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历史最⼤逾期天数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8039160" y="33552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9010800" y="3355200"/>
            <a:ext cx="240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2.17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9251640" y="335232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10306080" y="335520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6" name="任意多边形 295"/>
          <p:cNvSpPr/>
          <p:nvPr/>
        </p:nvSpPr>
        <p:spPr>
          <a:xfrm>
            <a:off x="6324480" y="36860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10374840" y="335232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6477120" y="36885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048440" y="3695040"/>
            <a:ext cx="667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银⾏账⼾⽇最⾼余额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8163000" y="369792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8231760" y="36950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近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8355600" y="369792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3" name="文本框 302"/>
          <p:cNvSpPr txBox="1"/>
          <p:nvPr/>
        </p:nvSpPr>
        <p:spPr>
          <a:xfrm>
            <a:off x="8493480" y="36950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8617320" y="36979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9010800" y="368856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17,509.61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6" name="任意多边形 305"/>
          <p:cNvSpPr/>
          <p:nvPr/>
        </p:nvSpPr>
        <p:spPr>
          <a:xfrm>
            <a:off x="6324480" y="40287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10306080" y="368856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7,103.36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6477120" y="40312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7048440" y="40381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同名转⼊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0" name="文本框 309"/>
          <p:cNvSpPr txBox="1"/>
          <p:nvPr/>
        </p:nvSpPr>
        <p:spPr>
          <a:xfrm>
            <a:off x="7543800" y="4041000"/>
            <a:ext cx="3164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10-20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7860600" y="40381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，最⼤值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8355960" y="40410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3" name="文本框 312"/>
          <p:cNvSpPr txBox="1"/>
          <p:nvPr/>
        </p:nvSpPr>
        <p:spPr>
          <a:xfrm>
            <a:off x="9010800" y="40312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9,957.22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4" name="任意多边形 313"/>
          <p:cNvSpPr/>
          <p:nvPr/>
        </p:nvSpPr>
        <p:spPr>
          <a:xfrm>
            <a:off x="6324480" y="43718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5" name="文本框 314"/>
          <p:cNvSpPr txBox="1"/>
          <p:nvPr/>
        </p:nvSpPr>
        <p:spPr>
          <a:xfrm>
            <a:off x="10306080" y="40312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4,900.00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6" name="文本框 315"/>
          <p:cNvSpPr txBox="1"/>
          <p:nvPr/>
        </p:nvSpPr>
        <p:spPr>
          <a:xfrm>
            <a:off x="6477120" y="43743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7048440" y="438084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还款来源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7543800" y="43837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9" name="文本框 318"/>
          <p:cNvSpPr txBox="1"/>
          <p:nvPr/>
        </p:nvSpPr>
        <p:spPr>
          <a:xfrm>
            <a:off x="9010800" y="438084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清晰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0" name="任意多边形 319"/>
          <p:cNvSpPr/>
          <p:nvPr/>
        </p:nvSpPr>
        <p:spPr>
          <a:xfrm>
            <a:off x="6324480" y="47145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10306080" y="438084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清晰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6477120" y="47170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3" name="文本框 322"/>
          <p:cNvSpPr txBox="1"/>
          <p:nvPr/>
        </p:nvSpPr>
        <p:spPr>
          <a:xfrm>
            <a:off x="7048440" y="4723920"/>
            <a:ext cx="445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有⽆涉诉信息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7791480" y="47268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9010800" y="472392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⽆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6" name="任意多边形 325"/>
          <p:cNvSpPr/>
          <p:nvPr/>
        </p:nvSpPr>
        <p:spPr>
          <a:xfrm>
            <a:off x="6324480" y="50576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10306080" y="472392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⽆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6477120" y="50601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048440" y="5066640"/>
            <a:ext cx="445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不良嗜好⾦额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7791480" y="50695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1" name="文本框 330"/>
          <p:cNvSpPr txBox="1"/>
          <p:nvPr/>
        </p:nvSpPr>
        <p:spPr>
          <a:xfrm>
            <a:off x="9010800" y="506016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9,312.97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2" name="任意多边形 331"/>
          <p:cNvSpPr/>
          <p:nvPr/>
        </p:nvSpPr>
        <p:spPr>
          <a:xfrm>
            <a:off x="6324480" y="54003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3" name="文本框 332"/>
          <p:cNvSpPr txBox="1"/>
          <p:nvPr/>
        </p:nvSpPr>
        <p:spPr>
          <a:xfrm>
            <a:off x="10306080" y="50601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6477120" y="540288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7048440" y="5409720"/>
            <a:ext cx="519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同名转⼊总⾦额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7915320" y="54126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9010800" y="5402880"/>
            <a:ext cx="618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329,417.76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6248160" y="6276960"/>
            <a:ext cx="5563080" cy="9720"/>
          </a:xfrm>
          <a:custGeom>
            <a:avLst/>
            <a:gdLst/>
            <a:ahLst/>
            <a:cxnLst/>
            <a:rect l="0" t="0" r="r" b="b"/>
            <a:pathLst>
              <a:path w="15453" h="27">
                <a:moveTo>
                  <a:pt x="0" y="0"/>
                </a:moveTo>
                <a:lnTo>
                  <a:pt x="15453" y="0"/>
                </a:lnTo>
                <a:lnTo>
                  <a:pt x="154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10306080" y="5402880"/>
            <a:ext cx="618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148,839.41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6248520" y="6381000"/>
            <a:ext cx="6088380" cy="215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00" b="1" u="none" strike="noStrike">
                <a:solidFill>
                  <a:schemeClr val="tx1"/>
                </a:solidFill>
                <a:effectLst/>
                <a:uFillTx/>
                <a:latin typeface="NotoSansCJKsc"/>
                <a:ea typeface="NotoSansCJKsc"/>
              </a:rPr>
              <a:t>结论：⻩⾊样本普遍具有清晰的还款来源、⽆涉诉信息、较⾼账⼾余额等特征</a:t>
            </a:r>
            <a:endParaRPr lang="zh-CN" sz="1400" b="1" u="none" strike="noStrike">
              <a:solidFill>
                <a:schemeClr val="tx1"/>
              </a:solidFill>
              <a:effectLst/>
              <a:uFillTx/>
              <a:latin typeface="NotoSansCJKsc"/>
              <a:ea typeface="NotoSansCJK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任意多边形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2" name="任意多边形 3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3" name="任意多边形 342"/>
          <p:cNvSpPr/>
          <p:nvPr/>
        </p:nvSpPr>
        <p:spPr>
          <a:xfrm>
            <a:off x="0" y="0"/>
            <a:ext cx="12192120" cy="733680"/>
          </a:xfrm>
          <a:custGeom>
            <a:avLst/>
            <a:gdLst/>
            <a:ahLst/>
            <a:cxnLst/>
            <a:rect l="0" t="0" r="r" b="b"/>
            <a:pathLst>
              <a:path w="33867" h="2038">
                <a:moveTo>
                  <a:pt x="0" y="0"/>
                </a:moveTo>
                <a:lnTo>
                  <a:pt x="33867" y="0"/>
                </a:lnTo>
                <a:lnTo>
                  <a:pt x="3386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4" name="任意多边形 343"/>
          <p:cNvSpPr/>
          <p:nvPr/>
        </p:nvSpPr>
        <p:spPr>
          <a:xfrm>
            <a:off x="380880" y="105696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742" y="371"/>
                </a:moveTo>
                <a:cubicBezTo>
                  <a:pt x="742" y="396"/>
                  <a:pt x="739" y="420"/>
                  <a:pt x="735" y="444"/>
                </a:cubicBezTo>
                <a:cubicBezTo>
                  <a:pt x="730" y="468"/>
                  <a:pt x="723" y="491"/>
                  <a:pt x="713" y="514"/>
                </a:cubicBezTo>
                <a:cubicBezTo>
                  <a:pt x="704" y="536"/>
                  <a:pt x="693" y="557"/>
                  <a:pt x="679" y="578"/>
                </a:cubicBezTo>
                <a:cubicBezTo>
                  <a:pt x="666" y="598"/>
                  <a:pt x="650" y="617"/>
                  <a:pt x="633" y="634"/>
                </a:cubicBezTo>
                <a:cubicBezTo>
                  <a:pt x="616" y="651"/>
                  <a:pt x="597" y="666"/>
                  <a:pt x="577" y="680"/>
                </a:cubicBezTo>
                <a:cubicBezTo>
                  <a:pt x="557" y="693"/>
                  <a:pt x="535" y="705"/>
                  <a:pt x="513" y="714"/>
                </a:cubicBezTo>
                <a:cubicBezTo>
                  <a:pt x="491" y="723"/>
                  <a:pt x="467" y="730"/>
                  <a:pt x="444" y="735"/>
                </a:cubicBezTo>
                <a:cubicBezTo>
                  <a:pt x="420" y="740"/>
                  <a:pt x="396" y="742"/>
                  <a:pt x="371" y="742"/>
                </a:cubicBezTo>
                <a:cubicBezTo>
                  <a:pt x="347" y="742"/>
                  <a:pt x="323" y="740"/>
                  <a:pt x="299" y="735"/>
                </a:cubicBezTo>
                <a:cubicBezTo>
                  <a:pt x="275" y="730"/>
                  <a:pt x="252" y="723"/>
                  <a:pt x="229" y="714"/>
                </a:cubicBezTo>
                <a:cubicBezTo>
                  <a:pt x="207" y="705"/>
                  <a:pt x="186" y="693"/>
                  <a:pt x="165" y="680"/>
                </a:cubicBezTo>
                <a:cubicBezTo>
                  <a:pt x="145" y="666"/>
                  <a:pt x="127" y="651"/>
                  <a:pt x="109" y="634"/>
                </a:cubicBezTo>
                <a:cubicBezTo>
                  <a:pt x="92" y="617"/>
                  <a:pt x="77" y="598"/>
                  <a:pt x="63" y="578"/>
                </a:cubicBezTo>
                <a:cubicBezTo>
                  <a:pt x="49" y="557"/>
                  <a:pt x="37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2" y="420"/>
                  <a:pt x="0" y="396"/>
                  <a:pt x="0" y="371"/>
                </a:cubicBezTo>
                <a:cubicBezTo>
                  <a:pt x="0" y="346"/>
                  <a:pt x="2" y="322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7" y="207"/>
                  <a:pt x="49" y="185"/>
                  <a:pt x="63" y="165"/>
                </a:cubicBezTo>
                <a:cubicBezTo>
                  <a:pt x="77" y="145"/>
                  <a:pt x="92" y="126"/>
                  <a:pt x="109" y="109"/>
                </a:cubicBezTo>
                <a:cubicBezTo>
                  <a:pt x="127" y="92"/>
                  <a:pt x="145" y="76"/>
                  <a:pt x="165" y="63"/>
                </a:cubicBezTo>
                <a:cubicBezTo>
                  <a:pt x="186" y="49"/>
                  <a:pt x="207" y="38"/>
                  <a:pt x="229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1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7" y="12"/>
                  <a:pt x="491" y="19"/>
                  <a:pt x="513" y="29"/>
                </a:cubicBezTo>
                <a:cubicBezTo>
                  <a:pt x="535" y="38"/>
                  <a:pt x="557" y="49"/>
                  <a:pt x="577" y="63"/>
                </a:cubicBezTo>
                <a:cubicBezTo>
                  <a:pt x="597" y="76"/>
                  <a:pt x="616" y="92"/>
                  <a:pt x="633" y="109"/>
                </a:cubicBezTo>
                <a:cubicBezTo>
                  <a:pt x="650" y="126"/>
                  <a:pt x="666" y="145"/>
                  <a:pt x="679" y="165"/>
                </a:cubicBezTo>
                <a:cubicBezTo>
                  <a:pt x="693" y="185"/>
                  <a:pt x="704" y="207"/>
                  <a:pt x="713" y="229"/>
                </a:cubicBezTo>
                <a:cubicBezTo>
                  <a:pt x="723" y="252"/>
                  <a:pt x="730" y="275"/>
                  <a:pt x="735" y="299"/>
                </a:cubicBezTo>
                <a:cubicBezTo>
                  <a:pt x="739" y="322"/>
                  <a:pt x="742" y="346"/>
                  <a:pt x="742" y="371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5" name="文本框 344"/>
          <p:cNvSpPr txBox="1"/>
          <p:nvPr/>
        </p:nvSpPr>
        <p:spPr>
          <a:xfrm>
            <a:off x="380880" y="246600"/>
            <a:ext cx="22366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绿⾊样本分析：从未逾期客⼾特征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6" name="文本框 345"/>
          <p:cNvSpPr txBox="1"/>
          <p:nvPr/>
        </p:nvSpPr>
        <p:spPr>
          <a:xfrm>
            <a:off x="477000" y="11174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7" name="文本框 346"/>
          <p:cNvSpPr txBox="1"/>
          <p:nvPr/>
        </p:nvSpPr>
        <p:spPr>
          <a:xfrm>
            <a:off x="762120" y="1107720"/>
            <a:ext cx="820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主要影响因素权重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762120" y="1647360"/>
            <a:ext cx="371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绿⾊样本前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9" name="文本框 348"/>
          <p:cNvSpPr txBox="1"/>
          <p:nvPr/>
        </p:nvSpPr>
        <p:spPr>
          <a:xfrm>
            <a:off x="1380960" y="165024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99999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50" name="图片 349"/>
          <p:cNvPicPr/>
          <p:nvPr/>
        </p:nvPicPr>
        <p:blipFill>
          <a:blip r:embed="rId1"/>
          <a:stretch>
            <a:fillRect/>
          </a:stretch>
        </p:blipFill>
        <p:spPr>
          <a:xfrm>
            <a:off x="380880" y="1876320"/>
            <a:ext cx="5562360" cy="43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任意多边形 350"/>
          <p:cNvSpPr/>
          <p:nvPr/>
        </p:nvSpPr>
        <p:spPr>
          <a:xfrm>
            <a:off x="380880" y="6276960"/>
            <a:ext cx="5562720" cy="9720"/>
          </a:xfrm>
          <a:custGeom>
            <a:avLst/>
            <a:gdLst/>
            <a:ahLst/>
            <a:cxnLst/>
            <a:rect l="0" t="0" r="r" b="b"/>
            <a:pathLst>
              <a:path w="15452" h="27">
                <a:moveTo>
                  <a:pt x="0" y="0"/>
                </a:moveTo>
                <a:lnTo>
                  <a:pt x="15452" y="0"/>
                </a:lnTo>
                <a:lnTo>
                  <a:pt x="1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518840" y="1647360"/>
            <a:ext cx="667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位影响因素系数排序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3" name="文本框 352"/>
          <p:cNvSpPr txBox="1"/>
          <p:nvPr/>
        </p:nvSpPr>
        <p:spPr>
          <a:xfrm>
            <a:off x="380880" y="6381000"/>
            <a:ext cx="192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结论：逾期次数是绿⾊样本最显著的影响因素，权重系数达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4" name="文本框 353"/>
          <p:cNvSpPr txBox="1"/>
          <p:nvPr/>
        </p:nvSpPr>
        <p:spPr>
          <a:xfrm>
            <a:off x="3600360" y="6383880"/>
            <a:ext cx="2822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6666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-1.19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5" name="任意多边形 354"/>
          <p:cNvSpPr/>
          <p:nvPr/>
        </p:nvSpPr>
        <p:spPr>
          <a:xfrm>
            <a:off x="6248160" y="105696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742" y="371"/>
                </a:moveTo>
                <a:cubicBezTo>
                  <a:pt x="742" y="396"/>
                  <a:pt x="740" y="420"/>
                  <a:pt x="735" y="444"/>
                </a:cubicBezTo>
                <a:cubicBezTo>
                  <a:pt x="730" y="468"/>
                  <a:pt x="723" y="491"/>
                  <a:pt x="714" y="514"/>
                </a:cubicBezTo>
                <a:cubicBezTo>
                  <a:pt x="704" y="536"/>
                  <a:pt x="693" y="557"/>
                  <a:pt x="680" y="578"/>
                </a:cubicBezTo>
                <a:cubicBezTo>
                  <a:pt x="666" y="598"/>
                  <a:pt x="651" y="617"/>
                  <a:pt x="634" y="634"/>
                </a:cubicBezTo>
                <a:cubicBezTo>
                  <a:pt x="616" y="651"/>
                  <a:pt x="598" y="666"/>
                  <a:pt x="577" y="680"/>
                </a:cubicBezTo>
                <a:cubicBezTo>
                  <a:pt x="557" y="693"/>
                  <a:pt x="536" y="705"/>
                  <a:pt x="513" y="714"/>
                </a:cubicBezTo>
                <a:cubicBezTo>
                  <a:pt x="491" y="723"/>
                  <a:pt x="468" y="730"/>
                  <a:pt x="444" y="735"/>
                </a:cubicBezTo>
                <a:cubicBezTo>
                  <a:pt x="420" y="740"/>
                  <a:pt x="396" y="742"/>
                  <a:pt x="372" y="742"/>
                </a:cubicBezTo>
                <a:cubicBezTo>
                  <a:pt x="347" y="742"/>
                  <a:pt x="323" y="740"/>
                  <a:pt x="299" y="735"/>
                </a:cubicBezTo>
                <a:cubicBezTo>
                  <a:pt x="275" y="730"/>
                  <a:pt x="252" y="723"/>
                  <a:pt x="230" y="714"/>
                </a:cubicBezTo>
                <a:cubicBezTo>
                  <a:pt x="207" y="705"/>
                  <a:pt x="186" y="693"/>
                  <a:pt x="166" y="680"/>
                </a:cubicBezTo>
                <a:cubicBezTo>
                  <a:pt x="146" y="666"/>
                  <a:pt x="127" y="651"/>
                  <a:pt x="110" y="634"/>
                </a:cubicBezTo>
                <a:cubicBezTo>
                  <a:pt x="92" y="617"/>
                  <a:pt x="77" y="598"/>
                  <a:pt x="64" y="578"/>
                </a:cubicBezTo>
                <a:cubicBezTo>
                  <a:pt x="50" y="557"/>
                  <a:pt x="39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3" y="420"/>
                  <a:pt x="0" y="396"/>
                  <a:pt x="0" y="371"/>
                </a:cubicBezTo>
                <a:cubicBezTo>
                  <a:pt x="0" y="346"/>
                  <a:pt x="3" y="322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9" y="207"/>
                  <a:pt x="50" y="185"/>
                  <a:pt x="64" y="165"/>
                </a:cubicBezTo>
                <a:cubicBezTo>
                  <a:pt x="77" y="145"/>
                  <a:pt x="92" y="126"/>
                  <a:pt x="110" y="109"/>
                </a:cubicBezTo>
                <a:cubicBezTo>
                  <a:pt x="127" y="92"/>
                  <a:pt x="146" y="76"/>
                  <a:pt x="166" y="63"/>
                </a:cubicBezTo>
                <a:cubicBezTo>
                  <a:pt x="186" y="49"/>
                  <a:pt x="207" y="38"/>
                  <a:pt x="230" y="29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3"/>
                  <a:pt x="347" y="0"/>
                  <a:pt x="372" y="0"/>
                </a:cubicBezTo>
                <a:cubicBezTo>
                  <a:pt x="396" y="0"/>
                  <a:pt x="420" y="3"/>
                  <a:pt x="444" y="7"/>
                </a:cubicBezTo>
                <a:cubicBezTo>
                  <a:pt x="468" y="12"/>
                  <a:pt x="491" y="19"/>
                  <a:pt x="513" y="29"/>
                </a:cubicBezTo>
                <a:cubicBezTo>
                  <a:pt x="536" y="38"/>
                  <a:pt x="557" y="49"/>
                  <a:pt x="577" y="63"/>
                </a:cubicBezTo>
                <a:cubicBezTo>
                  <a:pt x="598" y="76"/>
                  <a:pt x="616" y="92"/>
                  <a:pt x="634" y="109"/>
                </a:cubicBezTo>
                <a:cubicBezTo>
                  <a:pt x="651" y="126"/>
                  <a:pt x="666" y="145"/>
                  <a:pt x="680" y="165"/>
                </a:cubicBezTo>
                <a:cubicBezTo>
                  <a:pt x="693" y="185"/>
                  <a:pt x="704" y="207"/>
                  <a:pt x="714" y="229"/>
                </a:cubicBezTo>
                <a:cubicBezTo>
                  <a:pt x="723" y="252"/>
                  <a:pt x="730" y="275"/>
                  <a:pt x="735" y="299"/>
                </a:cubicBezTo>
                <a:cubicBezTo>
                  <a:pt x="740" y="322"/>
                  <a:pt x="742" y="346"/>
                  <a:pt x="742" y="371"/>
                </a:cubicBez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6" name="文本框 355"/>
          <p:cNvSpPr txBox="1"/>
          <p:nvPr/>
        </p:nvSpPr>
        <p:spPr>
          <a:xfrm>
            <a:off x="3882600" y="6381000"/>
            <a:ext cx="371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666666"/>
                </a:solidFill>
                <a:effectLst/>
                <a:uFillTx/>
                <a:latin typeface="NotoSansCJKsc"/>
                <a:ea typeface="NotoSansCJKsc"/>
              </a:rPr>
              <a:t>（负相关）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7" name="文本框 356"/>
          <p:cNvSpPr txBox="1"/>
          <p:nvPr/>
        </p:nvSpPr>
        <p:spPr>
          <a:xfrm>
            <a:off x="6344640" y="111744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6629400" y="1107720"/>
            <a:ext cx="820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关键指标统计特征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9" name="任意多边形 358"/>
          <p:cNvSpPr/>
          <p:nvPr/>
        </p:nvSpPr>
        <p:spPr>
          <a:xfrm>
            <a:off x="6248160" y="1876320"/>
            <a:ext cx="724320" cy="333720"/>
          </a:xfrm>
          <a:custGeom>
            <a:avLst/>
            <a:gdLst/>
            <a:ahLst/>
            <a:cxnLst/>
            <a:rect l="0" t="0" r="r" b="b"/>
            <a:pathLst>
              <a:path w="2012" h="927">
                <a:moveTo>
                  <a:pt x="0" y="0"/>
                </a:moveTo>
                <a:lnTo>
                  <a:pt x="2012" y="0"/>
                </a:lnTo>
                <a:lnTo>
                  <a:pt x="2012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0" name="任意多边形 359"/>
          <p:cNvSpPr/>
          <p:nvPr/>
        </p:nvSpPr>
        <p:spPr>
          <a:xfrm>
            <a:off x="6972120" y="1876320"/>
            <a:ext cx="1962360" cy="333720"/>
          </a:xfrm>
          <a:custGeom>
            <a:avLst/>
            <a:gdLst/>
            <a:ahLst/>
            <a:cxnLst/>
            <a:rect l="0" t="0" r="r" b="b"/>
            <a:pathLst>
              <a:path w="5451" h="927">
                <a:moveTo>
                  <a:pt x="0" y="0"/>
                </a:moveTo>
                <a:lnTo>
                  <a:pt x="5451" y="0"/>
                </a:lnTo>
                <a:lnTo>
                  <a:pt x="545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1" name="任意多边形 360"/>
          <p:cNvSpPr/>
          <p:nvPr/>
        </p:nvSpPr>
        <p:spPr>
          <a:xfrm>
            <a:off x="8934120" y="1876320"/>
            <a:ext cx="1296000" cy="333720"/>
          </a:xfrm>
          <a:custGeom>
            <a:avLst/>
            <a:gdLst/>
            <a:ahLst/>
            <a:cxnLst/>
            <a:rect l="0" t="0" r="r" b="b"/>
            <a:pathLst>
              <a:path w="3600" h="927">
                <a:moveTo>
                  <a:pt x="0" y="0"/>
                </a:moveTo>
                <a:lnTo>
                  <a:pt x="3600" y="0"/>
                </a:lnTo>
                <a:lnTo>
                  <a:pt x="3600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2" name="任意多边形 361"/>
          <p:cNvSpPr/>
          <p:nvPr/>
        </p:nvSpPr>
        <p:spPr>
          <a:xfrm>
            <a:off x="10229760" y="1876320"/>
            <a:ext cx="1581480" cy="333720"/>
          </a:xfrm>
          <a:custGeom>
            <a:avLst/>
            <a:gdLst/>
            <a:ahLst/>
            <a:cxnLst/>
            <a:rect l="0" t="0" r="r" b="b"/>
            <a:pathLst>
              <a:path w="4393" h="927">
                <a:moveTo>
                  <a:pt x="0" y="0"/>
                </a:moveTo>
                <a:lnTo>
                  <a:pt x="4393" y="0"/>
                </a:lnTo>
                <a:lnTo>
                  <a:pt x="43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3" name="任意多边形 362"/>
          <p:cNvSpPr/>
          <p:nvPr/>
        </p:nvSpPr>
        <p:spPr>
          <a:xfrm>
            <a:off x="6248160" y="22096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4" name="任意多边形 363"/>
          <p:cNvSpPr/>
          <p:nvPr/>
        </p:nvSpPr>
        <p:spPr>
          <a:xfrm>
            <a:off x="6972120" y="22096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5" name="任意多边形 364"/>
          <p:cNvSpPr/>
          <p:nvPr/>
        </p:nvSpPr>
        <p:spPr>
          <a:xfrm>
            <a:off x="8934120" y="22096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6" name="任意多边形 365"/>
          <p:cNvSpPr/>
          <p:nvPr/>
        </p:nvSpPr>
        <p:spPr>
          <a:xfrm>
            <a:off x="10229760" y="22096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7" name="任意多边形 366"/>
          <p:cNvSpPr/>
          <p:nvPr/>
        </p:nvSpPr>
        <p:spPr>
          <a:xfrm>
            <a:off x="6248160" y="25524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8" name="任意多边形 367"/>
          <p:cNvSpPr/>
          <p:nvPr/>
        </p:nvSpPr>
        <p:spPr>
          <a:xfrm>
            <a:off x="6972120" y="25524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9" name="任意多边形 368"/>
          <p:cNvSpPr/>
          <p:nvPr/>
        </p:nvSpPr>
        <p:spPr>
          <a:xfrm>
            <a:off x="8934120" y="25524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0" name="任意多边形 369"/>
          <p:cNvSpPr/>
          <p:nvPr/>
        </p:nvSpPr>
        <p:spPr>
          <a:xfrm>
            <a:off x="10229760" y="25524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1" name="任意多边形 370"/>
          <p:cNvSpPr/>
          <p:nvPr/>
        </p:nvSpPr>
        <p:spPr>
          <a:xfrm>
            <a:off x="6248160" y="28954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2" name="任意多边形 371"/>
          <p:cNvSpPr/>
          <p:nvPr/>
        </p:nvSpPr>
        <p:spPr>
          <a:xfrm>
            <a:off x="6972120" y="28954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3" name="任意多边形 372"/>
          <p:cNvSpPr/>
          <p:nvPr/>
        </p:nvSpPr>
        <p:spPr>
          <a:xfrm>
            <a:off x="8934120" y="28954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4" name="任意多边形 373"/>
          <p:cNvSpPr/>
          <p:nvPr/>
        </p:nvSpPr>
        <p:spPr>
          <a:xfrm>
            <a:off x="10229760" y="28954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5" name="任意多边形 374"/>
          <p:cNvSpPr/>
          <p:nvPr/>
        </p:nvSpPr>
        <p:spPr>
          <a:xfrm>
            <a:off x="6248160" y="32382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6" name="任意多边形 375"/>
          <p:cNvSpPr/>
          <p:nvPr/>
        </p:nvSpPr>
        <p:spPr>
          <a:xfrm>
            <a:off x="6972120" y="32382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7" name="任意多边形 376"/>
          <p:cNvSpPr/>
          <p:nvPr/>
        </p:nvSpPr>
        <p:spPr>
          <a:xfrm>
            <a:off x="8934120" y="32382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8" name="任意多边形 377"/>
          <p:cNvSpPr/>
          <p:nvPr/>
        </p:nvSpPr>
        <p:spPr>
          <a:xfrm>
            <a:off x="10229760" y="32382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9" name="任意多边形 378"/>
          <p:cNvSpPr/>
          <p:nvPr/>
        </p:nvSpPr>
        <p:spPr>
          <a:xfrm>
            <a:off x="6248160" y="35812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0" name="任意多边形 379"/>
          <p:cNvSpPr/>
          <p:nvPr/>
        </p:nvSpPr>
        <p:spPr>
          <a:xfrm>
            <a:off x="6972120" y="35812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8934120" y="35812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2" name="任意多边形 381"/>
          <p:cNvSpPr/>
          <p:nvPr/>
        </p:nvSpPr>
        <p:spPr>
          <a:xfrm>
            <a:off x="10229760" y="35812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3" name="任意多边形 382"/>
          <p:cNvSpPr/>
          <p:nvPr/>
        </p:nvSpPr>
        <p:spPr>
          <a:xfrm>
            <a:off x="6248160" y="39240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4" name="任意多边形 383"/>
          <p:cNvSpPr/>
          <p:nvPr/>
        </p:nvSpPr>
        <p:spPr>
          <a:xfrm>
            <a:off x="6972120" y="39240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5" name="任意多边形 384"/>
          <p:cNvSpPr/>
          <p:nvPr/>
        </p:nvSpPr>
        <p:spPr>
          <a:xfrm>
            <a:off x="8934120" y="39240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6" name="任意多边形 385"/>
          <p:cNvSpPr/>
          <p:nvPr/>
        </p:nvSpPr>
        <p:spPr>
          <a:xfrm>
            <a:off x="10229760" y="39240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7" name="任意多边形 386"/>
          <p:cNvSpPr/>
          <p:nvPr/>
        </p:nvSpPr>
        <p:spPr>
          <a:xfrm>
            <a:off x="6248160" y="42670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8" name="任意多边形 387"/>
          <p:cNvSpPr/>
          <p:nvPr/>
        </p:nvSpPr>
        <p:spPr>
          <a:xfrm>
            <a:off x="6972120" y="42670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9" name="任意多边形 388"/>
          <p:cNvSpPr/>
          <p:nvPr/>
        </p:nvSpPr>
        <p:spPr>
          <a:xfrm>
            <a:off x="8934120" y="42670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0" name="任意多边形 389"/>
          <p:cNvSpPr/>
          <p:nvPr/>
        </p:nvSpPr>
        <p:spPr>
          <a:xfrm>
            <a:off x="10229760" y="42670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1" name="任意多边形 390"/>
          <p:cNvSpPr/>
          <p:nvPr/>
        </p:nvSpPr>
        <p:spPr>
          <a:xfrm>
            <a:off x="6248160" y="46098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2" name="任意多边形 391"/>
          <p:cNvSpPr/>
          <p:nvPr/>
        </p:nvSpPr>
        <p:spPr>
          <a:xfrm>
            <a:off x="6972120" y="46098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3" name="任意多边形 392"/>
          <p:cNvSpPr/>
          <p:nvPr/>
        </p:nvSpPr>
        <p:spPr>
          <a:xfrm>
            <a:off x="8934120" y="46098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4" name="任意多边形 393"/>
          <p:cNvSpPr/>
          <p:nvPr/>
        </p:nvSpPr>
        <p:spPr>
          <a:xfrm>
            <a:off x="10229760" y="46098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5" name="任意多边形 394"/>
          <p:cNvSpPr/>
          <p:nvPr/>
        </p:nvSpPr>
        <p:spPr>
          <a:xfrm>
            <a:off x="6248160" y="49528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6" name="任意多边形 395"/>
          <p:cNvSpPr/>
          <p:nvPr/>
        </p:nvSpPr>
        <p:spPr>
          <a:xfrm>
            <a:off x="6972120" y="49528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7" name="任意多边形 396"/>
          <p:cNvSpPr/>
          <p:nvPr/>
        </p:nvSpPr>
        <p:spPr>
          <a:xfrm>
            <a:off x="8934120" y="49528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8" name="任意多边形 397"/>
          <p:cNvSpPr/>
          <p:nvPr/>
        </p:nvSpPr>
        <p:spPr>
          <a:xfrm>
            <a:off x="10229760" y="49528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9" name="任意多边形 398"/>
          <p:cNvSpPr/>
          <p:nvPr/>
        </p:nvSpPr>
        <p:spPr>
          <a:xfrm>
            <a:off x="6248160" y="5295600"/>
            <a:ext cx="724320" cy="10080"/>
          </a:xfrm>
          <a:custGeom>
            <a:avLst/>
            <a:gdLst/>
            <a:ahLst/>
            <a:cxnLst/>
            <a:rect l="0" t="0" r="r" b="b"/>
            <a:pathLst>
              <a:path w="2012" h="28">
                <a:moveTo>
                  <a:pt x="0" y="0"/>
                </a:moveTo>
                <a:lnTo>
                  <a:pt x="2012" y="0"/>
                </a:lnTo>
                <a:lnTo>
                  <a:pt x="2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0" name="任意多边形 399"/>
          <p:cNvSpPr/>
          <p:nvPr/>
        </p:nvSpPr>
        <p:spPr>
          <a:xfrm>
            <a:off x="6972120" y="5295600"/>
            <a:ext cx="1962360" cy="10080"/>
          </a:xfrm>
          <a:custGeom>
            <a:avLst/>
            <a:gdLst/>
            <a:ahLst/>
            <a:cxnLst/>
            <a:rect l="0" t="0" r="r" b="b"/>
            <a:pathLst>
              <a:path w="5451" h="28">
                <a:moveTo>
                  <a:pt x="0" y="0"/>
                </a:moveTo>
                <a:lnTo>
                  <a:pt x="5451" y="0"/>
                </a:lnTo>
                <a:lnTo>
                  <a:pt x="54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1" name="任意多边形 400"/>
          <p:cNvSpPr/>
          <p:nvPr/>
        </p:nvSpPr>
        <p:spPr>
          <a:xfrm>
            <a:off x="8934120" y="5295600"/>
            <a:ext cx="1296000" cy="10080"/>
          </a:xfrm>
          <a:custGeom>
            <a:avLst/>
            <a:gdLst/>
            <a:ahLst/>
            <a:cxn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2" name="任意多边形 401"/>
          <p:cNvSpPr/>
          <p:nvPr/>
        </p:nvSpPr>
        <p:spPr>
          <a:xfrm>
            <a:off x="10229760" y="5295600"/>
            <a:ext cx="1581480" cy="10080"/>
          </a:xfrm>
          <a:custGeom>
            <a:avLst/>
            <a:gdLst/>
            <a:ahLst/>
            <a:cxn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3" name="任意多边形 402"/>
          <p:cNvSpPr/>
          <p:nvPr/>
        </p:nvSpPr>
        <p:spPr>
          <a:xfrm>
            <a:off x="6248160" y="5638680"/>
            <a:ext cx="724320" cy="9720"/>
          </a:xfrm>
          <a:custGeom>
            <a:avLst/>
            <a:gdLst/>
            <a:ahLst/>
            <a:cxnLst/>
            <a:rect l="0" t="0" r="r" b="b"/>
            <a:pathLst>
              <a:path w="2012" h="27">
                <a:moveTo>
                  <a:pt x="0" y="0"/>
                </a:moveTo>
                <a:lnTo>
                  <a:pt x="2012" y="0"/>
                </a:lnTo>
                <a:lnTo>
                  <a:pt x="2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4" name="任意多边形 403"/>
          <p:cNvSpPr/>
          <p:nvPr/>
        </p:nvSpPr>
        <p:spPr>
          <a:xfrm>
            <a:off x="6972120" y="5638680"/>
            <a:ext cx="1962360" cy="9720"/>
          </a:xfrm>
          <a:custGeom>
            <a:avLst/>
            <a:gdLst/>
            <a:ahLst/>
            <a:cxnLst/>
            <a:rect l="0" t="0" r="r" b="b"/>
            <a:pathLst>
              <a:path w="5451" h="27">
                <a:moveTo>
                  <a:pt x="0" y="0"/>
                </a:moveTo>
                <a:lnTo>
                  <a:pt x="5451" y="0"/>
                </a:lnTo>
                <a:lnTo>
                  <a:pt x="54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5" name="任意多边形 404"/>
          <p:cNvSpPr/>
          <p:nvPr/>
        </p:nvSpPr>
        <p:spPr>
          <a:xfrm>
            <a:off x="8934120" y="5638680"/>
            <a:ext cx="1296000" cy="9720"/>
          </a:xfrm>
          <a:custGeom>
            <a:avLst/>
            <a:gdLst/>
            <a:ahLst/>
            <a:cxn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6" name="任意多边形 405"/>
          <p:cNvSpPr/>
          <p:nvPr/>
        </p:nvSpPr>
        <p:spPr>
          <a:xfrm>
            <a:off x="10229760" y="5638680"/>
            <a:ext cx="1581480" cy="9720"/>
          </a:xfrm>
          <a:custGeom>
            <a:avLst/>
            <a:gdLst/>
            <a:ahLst/>
            <a:cxn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7" name="文本框 406"/>
          <p:cNvSpPr txBox="1"/>
          <p:nvPr/>
        </p:nvSpPr>
        <p:spPr>
          <a:xfrm>
            <a:off x="6629400" y="1647360"/>
            <a:ext cx="815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999999"/>
                </a:solidFill>
                <a:effectLst/>
                <a:uFillTx/>
                <a:latin typeface="NotoSansCJKsc"/>
                <a:ea typeface="NotoSansCJKsc"/>
              </a:rPr>
              <a:t>绿⾊样本主要因⼦统计值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6324480" y="198072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排名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9" name="文本框 408"/>
          <p:cNvSpPr txBox="1"/>
          <p:nvPr/>
        </p:nvSpPr>
        <p:spPr>
          <a:xfrm>
            <a:off x="7048440" y="19807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影响因素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0" name="文本框 409"/>
          <p:cNvSpPr txBox="1"/>
          <p:nvPr/>
        </p:nvSpPr>
        <p:spPr>
          <a:xfrm>
            <a:off x="9010800" y="198072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均值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1" name="任意多边形 410"/>
          <p:cNvSpPr/>
          <p:nvPr/>
        </p:nvSpPr>
        <p:spPr>
          <a:xfrm>
            <a:off x="6324480" y="23144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2" name="文本框 411"/>
          <p:cNvSpPr txBox="1"/>
          <p:nvPr/>
        </p:nvSpPr>
        <p:spPr>
          <a:xfrm>
            <a:off x="10306080" y="1980720"/>
            <a:ext cx="222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中位数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3" name="文本框 412"/>
          <p:cNvSpPr txBox="1"/>
          <p:nvPr/>
        </p:nvSpPr>
        <p:spPr>
          <a:xfrm>
            <a:off x="6477120" y="23169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4" name="文本框 413"/>
          <p:cNvSpPr txBox="1"/>
          <p:nvPr/>
        </p:nvSpPr>
        <p:spPr>
          <a:xfrm>
            <a:off x="7048440" y="232344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逾期次数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5" name="文本框 414"/>
          <p:cNvSpPr txBox="1"/>
          <p:nvPr/>
        </p:nvSpPr>
        <p:spPr>
          <a:xfrm>
            <a:off x="7543800" y="23263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6" name="文本框 415"/>
          <p:cNvSpPr txBox="1"/>
          <p:nvPr/>
        </p:nvSpPr>
        <p:spPr>
          <a:xfrm>
            <a:off x="9010800" y="2326320"/>
            <a:ext cx="3096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0.025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9320400" y="23234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次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8" name="文本框 417"/>
          <p:cNvSpPr txBox="1"/>
          <p:nvPr/>
        </p:nvSpPr>
        <p:spPr>
          <a:xfrm>
            <a:off x="10306080" y="232632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9" name="任意多边形 418"/>
          <p:cNvSpPr/>
          <p:nvPr/>
        </p:nvSpPr>
        <p:spPr>
          <a:xfrm>
            <a:off x="6324480" y="26571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0" name="文本框 419"/>
          <p:cNvSpPr txBox="1"/>
          <p:nvPr/>
        </p:nvSpPr>
        <p:spPr>
          <a:xfrm>
            <a:off x="10374840" y="232344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次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6477120" y="26596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2" name="文本框 421"/>
          <p:cNvSpPr txBox="1"/>
          <p:nvPr/>
        </p:nvSpPr>
        <p:spPr>
          <a:xfrm>
            <a:off x="7048440" y="2666520"/>
            <a:ext cx="371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未结清贷款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3" name="文本框 422"/>
          <p:cNvSpPr txBox="1"/>
          <p:nvPr/>
        </p:nvSpPr>
        <p:spPr>
          <a:xfrm>
            <a:off x="7667640" y="266940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4" name="文本框 423"/>
          <p:cNvSpPr txBox="1"/>
          <p:nvPr/>
        </p:nvSpPr>
        <p:spPr>
          <a:xfrm>
            <a:off x="7736400" y="2666520"/>
            <a:ext cx="445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个⽉平均⽉供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5" name="文本框 424"/>
          <p:cNvSpPr txBox="1"/>
          <p:nvPr/>
        </p:nvSpPr>
        <p:spPr>
          <a:xfrm>
            <a:off x="8479440" y="26694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6" name="文本框 425"/>
          <p:cNvSpPr txBox="1"/>
          <p:nvPr/>
        </p:nvSpPr>
        <p:spPr>
          <a:xfrm>
            <a:off x="9010800" y="265968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18,779.70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7" name="任意多边形 426"/>
          <p:cNvSpPr/>
          <p:nvPr/>
        </p:nvSpPr>
        <p:spPr>
          <a:xfrm>
            <a:off x="6324480" y="30002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10306080" y="265968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13,000.00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6477120" y="30027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0" name="文本框 429"/>
          <p:cNvSpPr txBox="1"/>
          <p:nvPr/>
        </p:nvSpPr>
        <p:spPr>
          <a:xfrm>
            <a:off x="7048440" y="300924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⽉均收⼊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1" name="文本框 430"/>
          <p:cNvSpPr txBox="1"/>
          <p:nvPr/>
        </p:nvSpPr>
        <p:spPr>
          <a:xfrm>
            <a:off x="7543800" y="30121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9010800" y="300276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16,954.24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3" name="任意多边形 432"/>
          <p:cNvSpPr/>
          <p:nvPr/>
        </p:nvSpPr>
        <p:spPr>
          <a:xfrm>
            <a:off x="6324480" y="33429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10306080" y="300276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10,000.00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5" name="文本框 434"/>
          <p:cNvSpPr txBox="1"/>
          <p:nvPr/>
        </p:nvSpPr>
        <p:spPr>
          <a:xfrm>
            <a:off x="6477120" y="33454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6" name="文本框 435"/>
          <p:cNvSpPr txBox="1"/>
          <p:nvPr/>
        </p:nvSpPr>
        <p:spPr>
          <a:xfrm>
            <a:off x="7048440" y="33523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特殊⽀出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7" name="文本框 436"/>
          <p:cNvSpPr txBox="1"/>
          <p:nvPr/>
        </p:nvSpPr>
        <p:spPr>
          <a:xfrm>
            <a:off x="7543800" y="33552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9010800" y="334548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17,067.61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9" name="任意多边形 438"/>
          <p:cNvSpPr/>
          <p:nvPr/>
        </p:nvSpPr>
        <p:spPr>
          <a:xfrm>
            <a:off x="6324480" y="36860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10306080" y="33454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7,904.00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1" name="文本框 440"/>
          <p:cNvSpPr txBox="1"/>
          <p:nvPr/>
        </p:nvSpPr>
        <p:spPr>
          <a:xfrm>
            <a:off x="6477120" y="36885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2" name="文本框 441"/>
          <p:cNvSpPr txBox="1"/>
          <p:nvPr/>
        </p:nvSpPr>
        <p:spPr>
          <a:xfrm>
            <a:off x="7048440" y="3695040"/>
            <a:ext cx="519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核实⼯作⽉收⼊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3" name="文本框 442"/>
          <p:cNvSpPr txBox="1"/>
          <p:nvPr/>
        </p:nvSpPr>
        <p:spPr>
          <a:xfrm>
            <a:off x="7915320" y="36979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4" name="文本框 443"/>
          <p:cNvSpPr txBox="1"/>
          <p:nvPr/>
        </p:nvSpPr>
        <p:spPr>
          <a:xfrm>
            <a:off x="9010800" y="368856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13,281.80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5" name="任意多边形 444"/>
          <p:cNvSpPr/>
          <p:nvPr/>
        </p:nvSpPr>
        <p:spPr>
          <a:xfrm>
            <a:off x="6324480" y="40287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6" name="文本框 445"/>
          <p:cNvSpPr txBox="1"/>
          <p:nvPr/>
        </p:nvSpPr>
        <p:spPr>
          <a:xfrm>
            <a:off x="10306080" y="368856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8,000.00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7" name="文本框 446"/>
          <p:cNvSpPr txBox="1"/>
          <p:nvPr/>
        </p:nvSpPr>
        <p:spPr>
          <a:xfrm>
            <a:off x="6477120" y="40312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8" name="文本框 447"/>
          <p:cNvSpPr txBox="1"/>
          <p:nvPr/>
        </p:nvSpPr>
        <p:spPr>
          <a:xfrm>
            <a:off x="7048440" y="40381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资产备注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9" name="文本框 448"/>
          <p:cNvSpPr txBox="1"/>
          <p:nvPr/>
        </p:nvSpPr>
        <p:spPr>
          <a:xfrm>
            <a:off x="7543800" y="40410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0" name="文本框 449"/>
          <p:cNvSpPr txBox="1"/>
          <p:nvPr/>
        </p:nvSpPr>
        <p:spPr>
          <a:xfrm>
            <a:off x="9010800" y="40381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上海有房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1" name="任意多边形 450"/>
          <p:cNvSpPr/>
          <p:nvPr/>
        </p:nvSpPr>
        <p:spPr>
          <a:xfrm>
            <a:off x="6324480" y="43718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2" name="文本框 451"/>
          <p:cNvSpPr txBox="1"/>
          <p:nvPr/>
        </p:nvSpPr>
        <p:spPr>
          <a:xfrm>
            <a:off x="10306080" y="40381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上海有房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3" name="文本框 452"/>
          <p:cNvSpPr txBox="1"/>
          <p:nvPr/>
        </p:nvSpPr>
        <p:spPr>
          <a:xfrm>
            <a:off x="6477120" y="43743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4" name="文本框 453"/>
          <p:cNvSpPr txBox="1"/>
          <p:nvPr/>
        </p:nvSpPr>
        <p:spPr>
          <a:xfrm>
            <a:off x="7048440" y="438084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家庭背景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5" name="文本框 454"/>
          <p:cNvSpPr txBox="1"/>
          <p:nvPr/>
        </p:nvSpPr>
        <p:spPr>
          <a:xfrm>
            <a:off x="7543800" y="43837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6" name="文本框 455"/>
          <p:cNvSpPr txBox="1"/>
          <p:nvPr/>
        </p:nvSpPr>
        <p:spPr>
          <a:xfrm>
            <a:off x="9010800" y="438084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⼀般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7" name="任意多边形 456"/>
          <p:cNvSpPr/>
          <p:nvPr/>
        </p:nvSpPr>
        <p:spPr>
          <a:xfrm>
            <a:off x="6324480" y="47145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8" name="文本框 457"/>
          <p:cNvSpPr txBox="1"/>
          <p:nvPr/>
        </p:nvSpPr>
        <p:spPr>
          <a:xfrm>
            <a:off x="10306080" y="4380840"/>
            <a:ext cx="149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⼀般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9" name="文本框 458"/>
          <p:cNvSpPr txBox="1"/>
          <p:nvPr/>
        </p:nvSpPr>
        <p:spPr>
          <a:xfrm>
            <a:off x="6477120" y="471708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0" name="文本框 459"/>
          <p:cNvSpPr txBox="1"/>
          <p:nvPr/>
        </p:nvSpPr>
        <p:spPr>
          <a:xfrm>
            <a:off x="7048440" y="4723920"/>
            <a:ext cx="7416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朋友周转历史最⼤⾦额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1" name="文本框 460"/>
          <p:cNvSpPr txBox="1"/>
          <p:nvPr/>
        </p:nvSpPr>
        <p:spPr>
          <a:xfrm>
            <a:off x="8286840" y="47268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2" name="文本框 461"/>
          <p:cNvSpPr txBox="1"/>
          <p:nvPr/>
        </p:nvSpPr>
        <p:spPr>
          <a:xfrm>
            <a:off x="9010800" y="4717080"/>
            <a:ext cx="618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102,453.06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3" name="任意多边形 462"/>
          <p:cNvSpPr/>
          <p:nvPr/>
        </p:nvSpPr>
        <p:spPr>
          <a:xfrm>
            <a:off x="6324480" y="5057640"/>
            <a:ext cx="76320" cy="114480"/>
          </a:xfrm>
          <a:custGeom>
            <a:avLst/>
            <a:gdLst/>
            <a:ahLst/>
            <a:cxnLst/>
            <a:rect l="0" t="0" r="r" b="b"/>
            <a:pathLst>
              <a:path w="212" h="318">
                <a:moveTo>
                  <a:pt x="0" y="0"/>
                </a:moveTo>
                <a:lnTo>
                  <a:pt x="0" y="318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4" name="文本框 463"/>
          <p:cNvSpPr txBox="1"/>
          <p:nvPr/>
        </p:nvSpPr>
        <p:spPr>
          <a:xfrm>
            <a:off x="10306080" y="471708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37,000.00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6477120" y="5060160"/>
            <a:ext cx="123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6" name="文本框 465"/>
          <p:cNvSpPr txBox="1"/>
          <p:nvPr/>
        </p:nvSpPr>
        <p:spPr>
          <a:xfrm>
            <a:off x="7048440" y="5066640"/>
            <a:ext cx="519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转账转⼊最⼤值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7" name="文本框 466"/>
          <p:cNvSpPr txBox="1"/>
          <p:nvPr/>
        </p:nvSpPr>
        <p:spPr>
          <a:xfrm>
            <a:off x="7915320" y="506952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8" name="文本框 467"/>
          <p:cNvSpPr txBox="1"/>
          <p:nvPr/>
        </p:nvSpPr>
        <p:spPr>
          <a:xfrm>
            <a:off x="9010800" y="5060160"/>
            <a:ext cx="618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102,453.06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9" name="任意多边形 468"/>
          <p:cNvSpPr/>
          <p:nvPr/>
        </p:nvSpPr>
        <p:spPr>
          <a:xfrm>
            <a:off x="6324480" y="5400360"/>
            <a:ext cx="76320" cy="114840"/>
          </a:xfrm>
          <a:custGeom>
            <a:avLst/>
            <a:gdLst/>
            <a:ahLst/>
            <a:cxnLst/>
            <a:rect l="0" t="0" r="r" b="b"/>
            <a:pathLst>
              <a:path w="212" h="319">
                <a:moveTo>
                  <a:pt x="0" y="0"/>
                </a:moveTo>
                <a:lnTo>
                  <a:pt x="0" y="319"/>
                </a:lnTo>
                <a:lnTo>
                  <a:pt x="212" y="160"/>
                </a:lnTo>
                <a:lnTo>
                  <a:pt x="0" y="0"/>
                </a:ln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0" name="文本框 469"/>
          <p:cNvSpPr txBox="1"/>
          <p:nvPr/>
        </p:nvSpPr>
        <p:spPr>
          <a:xfrm>
            <a:off x="10306080" y="5060160"/>
            <a:ext cx="549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37,000.00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1" name="文本框 470"/>
          <p:cNvSpPr txBox="1"/>
          <p:nvPr/>
        </p:nvSpPr>
        <p:spPr>
          <a:xfrm>
            <a:off x="6477120" y="5402880"/>
            <a:ext cx="1378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2" name="文本框 471"/>
          <p:cNvSpPr txBox="1"/>
          <p:nvPr/>
        </p:nvSpPr>
        <p:spPr>
          <a:xfrm>
            <a:off x="7048440" y="54097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同名转⼊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3" name="文本框 472"/>
          <p:cNvSpPr txBox="1"/>
          <p:nvPr/>
        </p:nvSpPr>
        <p:spPr>
          <a:xfrm>
            <a:off x="7543800" y="5412600"/>
            <a:ext cx="1792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1-5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4" name="文本框 473"/>
          <p:cNvSpPr txBox="1"/>
          <p:nvPr/>
        </p:nvSpPr>
        <p:spPr>
          <a:xfrm>
            <a:off x="7722720" y="5409720"/>
            <a:ext cx="297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9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，最⼤值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5" name="文本框 474"/>
          <p:cNvSpPr txBox="1"/>
          <p:nvPr/>
        </p:nvSpPr>
        <p:spPr>
          <a:xfrm>
            <a:off x="8218080" y="5412600"/>
            <a:ext cx="234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_bin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6" name="文本框 475"/>
          <p:cNvSpPr txBox="1"/>
          <p:nvPr/>
        </p:nvSpPr>
        <p:spPr>
          <a:xfrm>
            <a:off x="9010800" y="54028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8,723.82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7" name="任意多边形 476"/>
          <p:cNvSpPr/>
          <p:nvPr/>
        </p:nvSpPr>
        <p:spPr>
          <a:xfrm>
            <a:off x="6248160" y="6276960"/>
            <a:ext cx="5563080" cy="9720"/>
          </a:xfrm>
          <a:custGeom>
            <a:avLst/>
            <a:gdLst/>
            <a:ahLst/>
            <a:cxnLst/>
            <a:rect l="0" t="0" r="r" b="b"/>
            <a:pathLst>
              <a:path w="15453" h="27">
                <a:moveTo>
                  <a:pt x="0" y="0"/>
                </a:moveTo>
                <a:lnTo>
                  <a:pt x="15453" y="0"/>
                </a:lnTo>
                <a:lnTo>
                  <a:pt x="154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8" name="文本框 477"/>
          <p:cNvSpPr txBox="1"/>
          <p:nvPr/>
        </p:nvSpPr>
        <p:spPr>
          <a:xfrm>
            <a:off x="10306080" y="5402880"/>
            <a:ext cx="481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3,300.00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6248520" y="6381000"/>
            <a:ext cx="5013960" cy="215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00" b="1" u="none" strike="noStrike">
                <a:solidFill>
                  <a:schemeClr val="tx1"/>
                </a:solidFill>
                <a:effectLst/>
                <a:uFillTx/>
                <a:latin typeface="NotoSansCJKsc"/>
                <a:ea typeface="NotoSansCJKsc"/>
              </a:rPr>
              <a:t>结论：绿⾊样本普遍具有⾼收⼊、稳定资产、低逾期记录等特征</a:t>
            </a:r>
            <a:endParaRPr lang="zh-CN" sz="1400" b="1" u="none" strike="noStrike">
              <a:solidFill>
                <a:schemeClr val="tx1"/>
              </a:solidFill>
              <a:effectLst/>
              <a:uFillTx/>
              <a:latin typeface="NotoSansCJKsc"/>
              <a:ea typeface="NotoSansCJK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任意多边形 4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1" name="任意多边形 4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2" name="任意多边形 481"/>
          <p:cNvSpPr/>
          <p:nvPr/>
        </p:nvSpPr>
        <p:spPr>
          <a:xfrm>
            <a:off x="0" y="0"/>
            <a:ext cx="12192120" cy="762120"/>
          </a:xfrm>
          <a:custGeom>
            <a:avLst/>
            <a:gdLst/>
            <a:ahLst/>
            <a:cxnLst/>
            <a:rect l="0" t="0" r="r" b="b"/>
            <a:pathLst>
              <a:path w="33867" h="2117">
                <a:moveTo>
                  <a:pt x="0" y="0"/>
                </a:moveTo>
                <a:lnTo>
                  <a:pt x="33867" y="0"/>
                </a:lnTo>
                <a:lnTo>
                  <a:pt x="33867" y="2117"/>
                </a:lnTo>
                <a:lnTo>
                  <a:pt x="0" y="2117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3" name="任意多边形 482"/>
          <p:cNvSpPr/>
          <p:nvPr/>
        </p:nvSpPr>
        <p:spPr>
          <a:xfrm>
            <a:off x="380880" y="1562040"/>
            <a:ext cx="5524920" cy="19440"/>
          </a:xfrm>
          <a:custGeom>
            <a:avLst/>
            <a:gdLst/>
            <a:ahLst/>
            <a:cxnLst/>
            <a:rect l="0" t="0" r="r" b="b"/>
            <a:pathLst>
              <a:path w="15347" h="54">
                <a:moveTo>
                  <a:pt x="0" y="0"/>
                </a:moveTo>
                <a:lnTo>
                  <a:pt x="15347" y="0"/>
                </a:lnTo>
                <a:lnTo>
                  <a:pt x="1534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409E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4" name="文本框 483"/>
          <p:cNvSpPr txBox="1"/>
          <p:nvPr/>
        </p:nvSpPr>
        <p:spPr>
          <a:xfrm>
            <a:off x="380880" y="247680"/>
            <a:ext cx="144108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⻛险特征总结与建议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5" name="任意多边形 484"/>
          <p:cNvSpPr/>
          <p:nvPr/>
        </p:nvSpPr>
        <p:spPr>
          <a:xfrm>
            <a:off x="380880" y="175248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7"/>
                </a:moveTo>
                <a:cubicBezTo>
                  <a:pt x="636" y="338"/>
                  <a:pt x="634" y="359"/>
                  <a:pt x="630" y="379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8"/>
                  <a:pt x="594" y="476"/>
                  <a:pt x="582" y="494"/>
                </a:cubicBezTo>
                <a:cubicBezTo>
                  <a:pt x="571" y="511"/>
                  <a:pt x="558" y="528"/>
                  <a:pt x="543" y="543"/>
                </a:cubicBezTo>
                <a:cubicBezTo>
                  <a:pt x="528" y="558"/>
                  <a:pt x="511" y="571"/>
                  <a:pt x="494" y="582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2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8"/>
                  <a:pt x="65" y="511"/>
                  <a:pt x="53" y="494"/>
                </a:cubicBezTo>
                <a:cubicBezTo>
                  <a:pt x="42" y="476"/>
                  <a:pt x="32" y="458"/>
                  <a:pt x="24" y="439"/>
                </a:cubicBezTo>
                <a:cubicBezTo>
                  <a:pt x="16" y="420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8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3"/>
                </a:cubicBezTo>
                <a:cubicBezTo>
                  <a:pt x="511" y="65"/>
                  <a:pt x="528" y="78"/>
                  <a:pt x="543" y="93"/>
                </a:cubicBezTo>
                <a:cubicBezTo>
                  <a:pt x="558" y="108"/>
                  <a:pt x="571" y="124"/>
                  <a:pt x="582" y="141"/>
                </a:cubicBezTo>
                <a:cubicBezTo>
                  <a:pt x="594" y="158"/>
                  <a:pt x="604" y="177"/>
                  <a:pt x="612" y="196"/>
                </a:cubicBezTo>
                <a:cubicBezTo>
                  <a:pt x="620" y="215"/>
                  <a:pt x="626" y="235"/>
                  <a:pt x="630" y="255"/>
                </a:cubicBezTo>
                <a:cubicBezTo>
                  <a:pt x="634" y="276"/>
                  <a:pt x="636" y="296"/>
                  <a:pt x="636" y="317"/>
                </a:cubicBezTo>
                <a:close/>
              </a:path>
            </a:pathLst>
          </a:custGeom>
          <a:solidFill>
            <a:srgbClr val="F56C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380880" y="1252080"/>
            <a:ext cx="1144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三类客⼾⻛险特征对⽐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7" name="文本框 486"/>
          <p:cNvSpPr txBox="1"/>
          <p:nvPr/>
        </p:nvSpPr>
        <p:spPr>
          <a:xfrm>
            <a:off x="428760" y="180036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8" name="文本框 487"/>
          <p:cNvSpPr txBox="1"/>
          <p:nvPr/>
        </p:nvSpPr>
        <p:spPr>
          <a:xfrm>
            <a:off x="723960" y="1763640"/>
            <a:ext cx="915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红⾊样本：⾼逾期天数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9" name="文本框 488"/>
          <p:cNvSpPr txBox="1"/>
          <p:nvPr/>
        </p:nvSpPr>
        <p:spPr>
          <a:xfrm>
            <a:off x="2248200" y="176724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0" name="文本框 489"/>
          <p:cNvSpPr txBox="1"/>
          <p:nvPr/>
        </p:nvSpPr>
        <p:spPr>
          <a:xfrm>
            <a:off x="2298960" y="176364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平均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1" name="文本框 490"/>
          <p:cNvSpPr txBox="1"/>
          <p:nvPr/>
        </p:nvSpPr>
        <p:spPr>
          <a:xfrm>
            <a:off x="2603520" y="1767240"/>
            <a:ext cx="297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28.8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2" name="文本框 491"/>
          <p:cNvSpPr txBox="1"/>
          <p:nvPr/>
        </p:nvSpPr>
        <p:spPr>
          <a:xfrm>
            <a:off x="2900160" y="176364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3" name="文本框 492"/>
          <p:cNvSpPr txBox="1"/>
          <p:nvPr/>
        </p:nvSpPr>
        <p:spPr>
          <a:xfrm>
            <a:off x="3052440" y="176724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4" name="文本框 493"/>
          <p:cNvSpPr txBox="1"/>
          <p:nvPr/>
        </p:nvSpPr>
        <p:spPr>
          <a:xfrm>
            <a:off x="3103200" y="176364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，低账⼾余额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5" name="文本框 494"/>
          <p:cNvSpPr txBox="1"/>
          <p:nvPr/>
        </p:nvSpPr>
        <p:spPr>
          <a:xfrm>
            <a:off x="4017600" y="176724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6" name="文本框 495"/>
          <p:cNvSpPr txBox="1"/>
          <p:nvPr/>
        </p:nvSpPr>
        <p:spPr>
          <a:xfrm>
            <a:off x="4068360" y="176364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平均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4373280" y="1767240"/>
            <a:ext cx="517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¥1,082)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4890240" y="176364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，频繁转账⾏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723960" y="2001600"/>
            <a:ext cx="1098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为，联系⼈认证失败次数多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0" name="文本框 499"/>
          <p:cNvSpPr txBox="1"/>
          <p:nvPr/>
        </p:nvSpPr>
        <p:spPr>
          <a:xfrm>
            <a:off x="2552760" y="20052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1" name="文本框 500"/>
          <p:cNvSpPr txBox="1"/>
          <p:nvPr/>
        </p:nvSpPr>
        <p:spPr>
          <a:xfrm>
            <a:off x="2603520" y="200160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平均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2" name="文本框 501"/>
          <p:cNvSpPr txBox="1"/>
          <p:nvPr/>
        </p:nvSpPr>
        <p:spPr>
          <a:xfrm>
            <a:off x="2908080" y="2005200"/>
            <a:ext cx="297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4.76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3" name="文本框 502"/>
          <p:cNvSpPr txBox="1"/>
          <p:nvPr/>
        </p:nvSpPr>
        <p:spPr>
          <a:xfrm>
            <a:off x="3204720" y="200160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4" name="任意多边形 503"/>
          <p:cNvSpPr/>
          <p:nvPr/>
        </p:nvSpPr>
        <p:spPr>
          <a:xfrm>
            <a:off x="380880" y="235260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8"/>
                </a:moveTo>
                <a:cubicBezTo>
                  <a:pt x="636" y="339"/>
                  <a:pt x="634" y="360"/>
                  <a:pt x="630" y="380"/>
                </a:cubicBezTo>
                <a:cubicBezTo>
                  <a:pt x="626" y="401"/>
                  <a:pt x="620" y="420"/>
                  <a:pt x="612" y="440"/>
                </a:cubicBezTo>
                <a:cubicBezTo>
                  <a:pt x="604" y="459"/>
                  <a:pt x="594" y="477"/>
                  <a:pt x="582" y="495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7"/>
                  <a:pt x="511" y="571"/>
                  <a:pt x="494" y="582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1"/>
                  <a:pt x="6" y="380"/>
                </a:cubicBezTo>
                <a:cubicBezTo>
                  <a:pt x="2" y="360"/>
                  <a:pt x="0" y="339"/>
                  <a:pt x="0" y="318"/>
                </a:cubicBez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7"/>
                  <a:pt x="42" y="159"/>
                  <a:pt x="53" y="142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3"/>
                </a:cubicBezTo>
                <a:cubicBezTo>
                  <a:pt x="511" y="65"/>
                  <a:pt x="528" y="78"/>
                  <a:pt x="543" y="93"/>
                </a:cubicBezTo>
                <a:cubicBezTo>
                  <a:pt x="558" y="107"/>
                  <a:pt x="571" y="124"/>
                  <a:pt x="582" y="142"/>
                </a:cubicBezTo>
                <a:cubicBezTo>
                  <a:pt x="594" y="159"/>
                  <a:pt x="604" y="177"/>
                  <a:pt x="612" y="197"/>
                </a:cubicBezTo>
                <a:cubicBezTo>
                  <a:pt x="620" y="216"/>
                  <a:pt x="626" y="236"/>
                  <a:pt x="630" y="256"/>
                </a:cubicBezTo>
                <a:cubicBezTo>
                  <a:pt x="634" y="277"/>
                  <a:pt x="636" y="297"/>
                  <a:pt x="636" y="318"/>
                </a:cubicBezTo>
                <a:close/>
              </a:path>
            </a:pathLst>
          </a:custGeom>
          <a:solidFill>
            <a:srgbClr val="E6A2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5" name="文本框 504"/>
          <p:cNvSpPr txBox="1"/>
          <p:nvPr/>
        </p:nvSpPr>
        <p:spPr>
          <a:xfrm>
            <a:off x="3357360" y="20052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6" name="文本框 505"/>
          <p:cNvSpPr txBox="1"/>
          <p:nvPr/>
        </p:nvSpPr>
        <p:spPr>
          <a:xfrm>
            <a:off x="428760" y="24004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723960" y="2363760"/>
            <a:ext cx="1098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⻩⾊样本：⾸次逾期⽐例⾼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8" name="文本框 507"/>
          <p:cNvSpPr txBox="1"/>
          <p:nvPr/>
        </p:nvSpPr>
        <p:spPr>
          <a:xfrm>
            <a:off x="2552760" y="2367000"/>
            <a:ext cx="407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(76%)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9" name="文本框 508"/>
          <p:cNvSpPr txBox="1"/>
          <p:nvPr/>
        </p:nvSpPr>
        <p:spPr>
          <a:xfrm>
            <a:off x="2959200" y="2363760"/>
            <a:ext cx="640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，账⼾余额较⾼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0" name="文本框 509"/>
          <p:cNvSpPr txBox="1"/>
          <p:nvPr/>
        </p:nvSpPr>
        <p:spPr>
          <a:xfrm>
            <a:off x="4026240" y="23670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1" name="文本框 510"/>
          <p:cNvSpPr txBox="1"/>
          <p:nvPr/>
        </p:nvSpPr>
        <p:spPr>
          <a:xfrm>
            <a:off x="4077000" y="236376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平均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2" name="文本框 511"/>
          <p:cNvSpPr txBox="1"/>
          <p:nvPr/>
        </p:nvSpPr>
        <p:spPr>
          <a:xfrm>
            <a:off x="4381560" y="2367000"/>
            <a:ext cx="602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¥17,509)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3" name="文本框 512"/>
          <p:cNvSpPr txBox="1"/>
          <p:nvPr/>
        </p:nvSpPr>
        <p:spPr>
          <a:xfrm>
            <a:off x="4983480" y="236376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，还款来源清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4" name="文本框 513"/>
          <p:cNvSpPr txBox="1"/>
          <p:nvPr/>
        </p:nvSpPr>
        <p:spPr>
          <a:xfrm>
            <a:off x="723960" y="26017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5" name="文本框 514"/>
          <p:cNvSpPr txBox="1"/>
          <p:nvPr/>
        </p:nvSpPr>
        <p:spPr>
          <a:xfrm>
            <a:off x="876240" y="2605320"/>
            <a:ext cx="407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(92%)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6" name="文本框 515"/>
          <p:cNvSpPr txBox="1"/>
          <p:nvPr/>
        </p:nvSpPr>
        <p:spPr>
          <a:xfrm>
            <a:off x="1282680" y="260172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，⽆涉诉信息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7" name="任意多边形 516"/>
          <p:cNvSpPr/>
          <p:nvPr/>
        </p:nvSpPr>
        <p:spPr>
          <a:xfrm>
            <a:off x="380880" y="295272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7"/>
                </a:moveTo>
                <a:cubicBezTo>
                  <a:pt x="636" y="338"/>
                  <a:pt x="634" y="360"/>
                  <a:pt x="630" y="380"/>
                </a:cubicBezTo>
                <a:cubicBezTo>
                  <a:pt x="626" y="400"/>
                  <a:pt x="620" y="420"/>
                  <a:pt x="612" y="440"/>
                </a:cubicBezTo>
                <a:cubicBezTo>
                  <a:pt x="604" y="459"/>
                  <a:pt x="594" y="477"/>
                  <a:pt x="582" y="494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7"/>
                  <a:pt x="511" y="570"/>
                  <a:pt x="494" y="582"/>
                </a:cubicBezTo>
                <a:cubicBezTo>
                  <a:pt x="476" y="594"/>
                  <a:pt x="458" y="603"/>
                  <a:pt x="439" y="611"/>
                </a:cubicBezTo>
                <a:cubicBezTo>
                  <a:pt x="420" y="619"/>
                  <a:pt x="400" y="625"/>
                  <a:pt x="379" y="629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29"/>
                </a:cubicBezTo>
                <a:cubicBezTo>
                  <a:pt x="235" y="625"/>
                  <a:pt x="215" y="619"/>
                  <a:pt x="196" y="611"/>
                </a:cubicBezTo>
                <a:cubicBezTo>
                  <a:pt x="177" y="603"/>
                  <a:pt x="158" y="594"/>
                  <a:pt x="141" y="582"/>
                </a:cubicBezTo>
                <a:cubicBezTo>
                  <a:pt x="124" y="570"/>
                  <a:pt x="108" y="557"/>
                  <a:pt x="93" y="543"/>
                </a:cubicBezTo>
                <a:cubicBezTo>
                  <a:pt x="78" y="528"/>
                  <a:pt x="65" y="512"/>
                  <a:pt x="53" y="494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0"/>
                  <a:pt x="6" y="380"/>
                </a:cubicBezTo>
                <a:cubicBezTo>
                  <a:pt x="2" y="360"/>
                  <a:pt x="0" y="338"/>
                  <a:pt x="0" y="317"/>
                </a:cubicBez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3"/>
                </a:cubicBezTo>
                <a:cubicBezTo>
                  <a:pt x="511" y="65"/>
                  <a:pt x="528" y="78"/>
                  <a:pt x="543" y="93"/>
                </a:cubicBezTo>
                <a:cubicBezTo>
                  <a:pt x="558" y="107"/>
                  <a:pt x="571" y="123"/>
                  <a:pt x="582" y="141"/>
                </a:cubicBezTo>
                <a:cubicBezTo>
                  <a:pt x="594" y="158"/>
                  <a:pt x="604" y="176"/>
                  <a:pt x="612" y="196"/>
                </a:cubicBezTo>
                <a:cubicBezTo>
                  <a:pt x="620" y="215"/>
                  <a:pt x="626" y="235"/>
                  <a:pt x="630" y="255"/>
                </a:cubicBezTo>
                <a:cubicBezTo>
                  <a:pt x="634" y="276"/>
                  <a:pt x="636" y="296"/>
                  <a:pt x="636" y="317"/>
                </a:cubicBezTo>
                <a:close/>
              </a:path>
            </a:pathLst>
          </a:custGeom>
          <a:solidFill>
            <a:srgbClr val="67C2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8" name="文本框 517"/>
          <p:cNvSpPr txBox="1"/>
          <p:nvPr/>
        </p:nvSpPr>
        <p:spPr>
          <a:xfrm>
            <a:off x="2197080" y="2605320"/>
            <a:ext cx="407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(95%)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9" name="文本框 518"/>
          <p:cNvSpPr txBox="1"/>
          <p:nvPr/>
        </p:nvSpPr>
        <p:spPr>
          <a:xfrm>
            <a:off x="428760" y="300060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0" name="文本框 519"/>
          <p:cNvSpPr txBox="1"/>
          <p:nvPr/>
        </p:nvSpPr>
        <p:spPr>
          <a:xfrm>
            <a:off x="723960" y="2963880"/>
            <a:ext cx="7322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绿⾊样本：⾼收⼊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1" name="文本框 520"/>
          <p:cNvSpPr txBox="1"/>
          <p:nvPr/>
        </p:nvSpPr>
        <p:spPr>
          <a:xfrm>
            <a:off x="1943280" y="29671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2" name="文本框 521"/>
          <p:cNvSpPr txBox="1"/>
          <p:nvPr/>
        </p:nvSpPr>
        <p:spPr>
          <a:xfrm>
            <a:off x="1994040" y="296388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平均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3" name="文本框 522"/>
          <p:cNvSpPr txBox="1"/>
          <p:nvPr/>
        </p:nvSpPr>
        <p:spPr>
          <a:xfrm>
            <a:off x="2298960" y="2967120"/>
            <a:ext cx="602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¥16,954)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4" name="文本框 523"/>
          <p:cNvSpPr txBox="1"/>
          <p:nvPr/>
        </p:nvSpPr>
        <p:spPr>
          <a:xfrm>
            <a:off x="2900520" y="2963880"/>
            <a:ext cx="4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，稳定资产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5" name="文本框 524"/>
          <p:cNvSpPr txBox="1"/>
          <p:nvPr/>
        </p:nvSpPr>
        <p:spPr>
          <a:xfrm>
            <a:off x="3662280" y="2967120"/>
            <a:ext cx="356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(68%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6" name="文本框 525"/>
          <p:cNvSpPr txBox="1"/>
          <p:nvPr/>
        </p:nvSpPr>
        <p:spPr>
          <a:xfrm>
            <a:off x="4018320" y="2963880"/>
            <a:ext cx="275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有房产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7" name="文本框 526"/>
          <p:cNvSpPr txBox="1"/>
          <p:nvPr/>
        </p:nvSpPr>
        <p:spPr>
          <a:xfrm>
            <a:off x="4475520" y="296712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8" name="文本框 527"/>
          <p:cNvSpPr txBox="1"/>
          <p:nvPr/>
        </p:nvSpPr>
        <p:spPr>
          <a:xfrm>
            <a:off x="4526280" y="296388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，低逾期记录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9" name="文本框 528"/>
          <p:cNvSpPr txBox="1"/>
          <p:nvPr/>
        </p:nvSpPr>
        <p:spPr>
          <a:xfrm>
            <a:off x="723960" y="3214800"/>
            <a:ext cx="483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(99.9%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0" name="文本框 529"/>
          <p:cNvSpPr txBox="1"/>
          <p:nvPr/>
        </p:nvSpPr>
        <p:spPr>
          <a:xfrm>
            <a:off x="1206720" y="3211200"/>
            <a:ext cx="27504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⽆逾期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1" name="文本框 530"/>
          <p:cNvSpPr txBox="1"/>
          <p:nvPr/>
        </p:nvSpPr>
        <p:spPr>
          <a:xfrm>
            <a:off x="1663920" y="32148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2" name="文本框 531"/>
          <p:cNvSpPr txBox="1"/>
          <p:nvPr/>
        </p:nvSpPr>
        <p:spPr>
          <a:xfrm>
            <a:off x="1714680" y="3211200"/>
            <a:ext cx="640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，特殊⽀出可控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3" name="文本框 532"/>
          <p:cNvSpPr txBox="1"/>
          <p:nvPr/>
        </p:nvSpPr>
        <p:spPr>
          <a:xfrm>
            <a:off x="2781360" y="32148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4" name="文本框 533"/>
          <p:cNvSpPr txBox="1"/>
          <p:nvPr/>
        </p:nvSpPr>
        <p:spPr>
          <a:xfrm>
            <a:off x="2832120" y="321120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平均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5" name="任意多边形 534"/>
          <p:cNvSpPr/>
          <p:nvPr/>
        </p:nvSpPr>
        <p:spPr>
          <a:xfrm>
            <a:off x="380880" y="355248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8"/>
                </a:moveTo>
                <a:cubicBezTo>
                  <a:pt x="636" y="339"/>
                  <a:pt x="634" y="359"/>
                  <a:pt x="630" y="380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9"/>
                  <a:pt x="594" y="477"/>
                  <a:pt x="582" y="494"/>
                </a:cubicBezTo>
                <a:cubicBezTo>
                  <a:pt x="571" y="512"/>
                  <a:pt x="558" y="528"/>
                  <a:pt x="543" y="542"/>
                </a:cubicBezTo>
                <a:cubicBezTo>
                  <a:pt x="528" y="557"/>
                  <a:pt x="511" y="570"/>
                  <a:pt x="494" y="582"/>
                </a:cubicBezTo>
                <a:cubicBezTo>
                  <a:pt x="476" y="595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5"/>
                  <a:pt x="141" y="582"/>
                </a:cubicBezTo>
                <a:cubicBezTo>
                  <a:pt x="124" y="570"/>
                  <a:pt x="108" y="557"/>
                  <a:pt x="93" y="542"/>
                </a:cubicBezTo>
                <a:cubicBezTo>
                  <a:pt x="78" y="528"/>
                  <a:pt x="65" y="512"/>
                  <a:pt x="53" y="494"/>
                </a:cubicBezTo>
                <a:cubicBezTo>
                  <a:pt x="42" y="477"/>
                  <a:pt x="32" y="459"/>
                  <a:pt x="24" y="439"/>
                </a:cubicBezTo>
                <a:cubicBezTo>
                  <a:pt x="16" y="420"/>
                  <a:pt x="10" y="400"/>
                  <a:pt x="6" y="380"/>
                </a:cubicBezTo>
                <a:cubicBezTo>
                  <a:pt x="2" y="359"/>
                  <a:pt x="0" y="339"/>
                  <a:pt x="0" y="318"/>
                </a:cubicBezTo>
                <a:cubicBezTo>
                  <a:pt x="0" y="297"/>
                  <a:pt x="2" y="276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9"/>
                  <a:pt x="53" y="142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6"/>
                  <a:pt x="141" y="54"/>
                </a:cubicBezTo>
                <a:cubicBezTo>
                  <a:pt x="158" y="42"/>
                  <a:pt x="177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7"/>
                </a:cubicBezTo>
                <a:cubicBezTo>
                  <a:pt x="400" y="11"/>
                  <a:pt x="420" y="17"/>
                  <a:pt x="439" y="25"/>
                </a:cubicBezTo>
                <a:cubicBezTo>
                  <a:pt x="458" y="33"/>
                  <a:pt x="476" y="42"/>
                  <a:pt x="494" y="54"/>
                </a:cubicBezTo>
                <a:cubicBezTo>
                  <a:pt x="511" y="66"/>
                  <a:pt x="528" y="79"/>
                  <a:pt x="543" y="93"/>
                </a:cubicBezTo>
                <a:cubicBezTo>
                  <a:pt x="558" y="108"/>
                  <a:pt x="571" y="124"/>
                  <a:pt x="582" y="142"/>
                </a:cubicBezTo>
                <a:cubicBezTo>
                  <a:pt x="594" y="159"/>
                  <a:pt x="604" y="177"/>
                  <a:pt x="612" y="196"/>
                </a:cubicBezTo>
                <a:cubicBezTo>
                  <a:pt x="620" y="216"/>
                  <a:pt x="626" y="236"/>
                  <a:pt x="630" y="256"/>
                </a:cubicBezTo>
                <a:cubicBezTo>
                  <a:pt x="634" y="276"/>
                  <a:pt x="636" y="297"/>
                  <a:pt x="636" y="318"/>
                </a:cubicBezTo>
                <a:close/>
              </a:path>
            </a:pathLst>
          </a:custGeom>
          <a:solidFill>
            <a:srgbClr val="9093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6" name="文本框 535"/>
          <p:cNvSpPr txBox="1"/>
          <p:nvPr/>
        </p:nvSpPr>
        <p:spPr>
          <a:xfrm>
            <a:off x="3137040" y="3214800"/>
            <a:ext cx="602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¥17,067)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7" name="文本框 536"/>
          <p:cNvSpPr txBox="1"/>
          <p:nvPr/>
        </p:nvSpPr>
        <p:spPr>
          <a:xfrm>
            <a:off x="428760" y="360036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8" name="文本框 537"/>
          <p:cNvSpPr txBox="1"/>
          <p:nvPr/>
        </p:nvSpPr>
        <p:spPr>
          <a:xfrm>
            <a:off x="723960" y="3563640"/>
            <a:ext cx="2927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核⼼发现：经济状况是信⽤⻛险的关键指标，绿⾊样本收⼊⽐红⾊样本⾼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9" name="文本框 538"/>
          <p:cNvSpPr txBox="1"/>
          <p:nvPr/>
        </p:nvSpPr>
        <p:spPr>
          <a:xfrm>
            <a:off x="723960" y="3814920"/>
            <a:ext cx="305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53%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0" name="文本框 539"/>
          <p:cNvSpPr txBox="1"/>
          <p:nvPr/>
        </p:nvSpPr>
        <p:spPr>
          <a:xfrm>
            <a:off x="1028880" y="381132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，账⼾余额⾼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1" name="文本框 540"/>
          <p:cNvSpPr txBox="1"/>
          <p:nvPr/>
        </p:nvSpPr>
        <p:spPr>
          <a:xfrm>
            <a:off x="1943280" y="3814920"/>
            <a:ext cx="170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2" name="任意多边形 541"/>
          <p:cNvSpPr/>
          <p:nvPr/>
        </p:nvSpPr>
        <p:spPr>
          <a:xfrm>
            <a:off x="6286320" y="1047600"/>
            <a:ext cx="5524920" cy="5524920"/>
          </a:xfrm>
          <a:custGeom>
            <a:avLst/>
            <a:gdLst/>
            <a:ahLst/>
            <a:cxnLst/>
            <a:rect l="0" t="0" r="r" b="b"/>
            <a:pathLst>
              <a:path w="15347" h="15347">
                <a:moveTo>
                  <a:pt x="0" y="15135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0" y="4"/>
                </a:cubicBezTo>
                <a:cubicBezTo>
                  <a:pt x="184" y="1"/>
                  <a:pt x="198" y="0"/>
                  <a:pt x="212" y="0"/>
                </a:cubicBezTo>
                <a:lnTo>
                  <a:pt x="15135" y="0"/>
                </a:lnTo>
                <a:cubicBezTo>
                  <a:pt x="15149" y="0"/>
                  <a:pt x="15163" y="1"/>
                  <a:pt x="15176" y="4"/>
                </a:cubicBezTo>
                <a:cubicBezTo>
                  <a:pt x="15190" y="7"/>
                  <a:pt x="15203" y="11"/>
                  <a:pt x="15216" y="16"/>
                </a:cubicBezTo>
                <a:cubicBezTo>
                  <a:pt x="15229" y="21"/>
                  <a:pt x="15241" y="28"/>
                  <a:pt x="15253" y="36"/>
                </a:cubicBezTo>
                <a:cubicBezTo>
                  <a:pt x="15264" y="43"/>
                  <a:pt x="15275" y="52"/>
                  <a:pt x="15285" y="62"/>
                </a:cubicBezTo>
                <a:cubicBezTo>
                  <a:pt x="15295" y="72"/>
                  <a:pt x="15303" y="82"/>
                  <a:pt x="15311" y="94"/>
                </a:cubicBezTo>
                <a:cubicBezTo>
                  <a:pt x="15319" y="106"/>
                  <a:pt x="15325" y="118"/>
                  <a:pt x="15331" y="131"/>
                </a:cubicBezTo>
                <a:cubicBezTo>
                  <a:pt x="15336" y="143"/>
                  <a:pt x="15340" y="157"/>
                  <a:pt x="15343" y="170"/>
                </a:cubicBezTo>
                <a:cubicBezTo>
                  <a:pt x="15345" y="184"/>
                  <a:pt x="15347" y="198"/>
                  <a:pt x="15347" y="212"/>
                </a:cubicBezTo>
                <a:lnTo>
                  <a:pt x="15347" y="15135"/>
                </a:lnTo>
                <a:cubicBezTo>
                  <a:pt x="15347" y="15149"/>
                  <a:pt x="15345" y="15163"/>
                  <a:pt x="15343" y="15176"/>
                </a:cubicBezTo>
                <a:cubicBezTo>
                  <a:pt x="15340" y="15190"/>
                  <a:pt x="15336" y="15203"/>
                  <a:pt x="15331" y="15216"/>
                </a:cubicBezTo>
                <a:cubicBezTo>
                  <a:pt x="15325" y="15229"/>
                  <a:pt x="15319" y="15241"/>
                  <a:pt x="15311" y="15253"/>
                </a:cubicBezTo>
                <a:cubicBezTo>
                  <a:pt x="15303" y="15264"/>
                  <a:pt x="15295" y="15275"/>
                  <a:pt x="15285" y="15285"/>
                </a:cubicBezTo>
                <a:cubicBezTo>
                  <a:pt x="15275" y="15295"/>
                  <a:pt x="15264" y="15303"/>
                  <a:pt x="15253" y="15311"/>
                </a:cubicBezTo>
                <a:cubicBezTo>
                  <a:pt x="15241" y="15319"/>
                  <a:pt x="15229" y="15325"/>
                  <a:pt x="15216" y="15331"/>
                </a:cubicBezTo>
                <a:cubicBezTo>
                  <a:pt x="15203" y="15336"/>
                  <a:pt x="15190" y="15340"/>
                  <a:pt x="15176" y="15343"/>
                </a:cubicBezTo>
                <a:cubicBezTo>
                  <a:pt x="15163" y="15345"/>
                  <a:pt x="15149" y="15347"/>
                  <a:pt x="15135" y="15347"/>
                </a:cubicBezTo>
                <a:lnTo>
                  <a:pt x="212" y="15347"/>
                </a:lnTo>
                <a:cubicBezTo>
                  <a:pt x="198" y="15347"/>
                  <a:pt x="184" y="15345"/>
                  <a:pt x="170" y="15343"/>
                </a:cubicBezTo>
                <a:cubicBezTo>
                  <a:pt x="157" y="15340"/>
                  <a:pt x="144" y="15336"/>
                  <a:pt x="131" y="15331"/>
                </a:cubicBezTo>
                <a:cubicBezTo>
                  <a:pt x="118" y="15325"/>
                  <a:pt x="106" y="15319"/>
                  <a:pt x="94" y="15311"/>
                </a:cubicBezTo>
                <a:cubicBezTo>
                  <a:pt x="83" y="15303"/>
                  <a:pt x="72" y="15295"/>
                  <a:pt x="62" y="15285"/>
                </a:cubicBezTo>
                <a:cubicBezTo>
                  <a:pt x="52" y="15275"/>
                  <a:pt x="43" y="15264"/>
                  <a:pt x="36" y="15253"/>
                </a:cubicBezTo>
                <a:cubicBezTo>
                  <a:pt x="28" y="15241"/>
                  <a:pt x="21" y="15229"/>
                  <a:pt x="16" y="15216"/>
                </a:cubicBezTo>
                <a:cubicBezTo>
                  <a:pt x="11" y="15203"/>
                  <a:pt x="7" y="15190"/>
                  <a:pt x="4" y="15176"/>
                </a:cubicBezTo>
                <a:cubicBezTo>
                  <a:pt x="1" y="15163"/>
                  <a:pt x="0" y="15149"/>
                  <a:pt x="0" y="15135"/>
                </a:cubicBez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3" name="文本框 542"/>
          <p:cNvSpPr txBox="1"/>
          <p:nvPr/>
        </p:nvSpPr>
        <p:spPr>
          <a:xfrm>
            <a:off x="2112840" y="38113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4" name="文本框 543"/>
          <p:cNvSpPr txBox="1"/>
          <p:nvPr/>
        </p:nvSpPr>
        <p:spPr>
          <a:xfrm>
            <a:off x="6477120" y="144252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u="none" strike="noStrike">
                <a:solidFill>
                  <a:srgbClr val="333333"/>
                </a:solidFill>
                <a:effectLst/>
                <a:uFillTx/>
                <a:latin typeface="NotoSansCJKsc"/>
                <a:ea typeface="NotoSansCJKsc"/>
              </a:rPr>
              <a:t>⻛险管理建议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5" name="文本框 544"/>
          <p:cNvSpPr txBox="1"/>
          <p:nvPr/>
        </p:nvSpPr>
        <p:spPr>
          <a:xfrm>
            <a:off x="6705720" y="1858680"/>
            <a:ext cx="1555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建⽴红⾊样本预警机制：对⾼逾期天数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6" name="文本框 545"/>
          <p:cNvSpPr txBox="1"/>
          <p:nvPr/>
        </p:nvSpPr>
        <p:spPr>
          <a:xfrm>
            <a:off x="9296280" y="18622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7" name="文本框 546"/>
          <p:cNvSpPr txBox="1"/>
          <p:nvPr/>
        </p:nvSpPr>
        <p:spPr>
          <a:xfrm>
            <a:off x="9385560" y="1858680"/>
            <a:ext cx="4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低账⼾余额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8" name="文本框 547"/>
          <p:cNvSpPr txBox="1"/>
          <p:nvPr/>
        </p:nvSpPr>
        <p:spPr>
          <a:xfrm>
            <a:off x="10147320" y="186228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+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9" name="文本框 548"/>
          <p:cNvSpPr txBox="1"/>
          <p:nvPr/>
        </p:nvSpPr>
        <p:spPr>
          <a:xfrm>
            <a:off x="10236240" y="1858680"/>
            <a:ext cx="8236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频繁转账组合特征客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0" name="文本框 549"/>
          <p:cNvSpPr txBox="1"/>
          <p:nvPr/>
        </p:nvSpPr>
        <p:spPr>
          <a:xfrm>
            <a:off x="6705720" y="2097000"/>
            <a:ext cx="640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⼾实施预审拦截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1" name="文本框 550"/>
          <p:cNvSpPr txBox="1"/>
          <p:nvPr/>
        </p:nvSpPr>
        <p:spPr>
          <a:xfrm>
            <a:off x="6572160" y="18756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409E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2" name="文本框 551"/>
          <p:cNvSpPr txBox="1"/>
          <p:nvPr/>
        </p:nvSpPr>
        <p:spPr>
          <a:xfrm>
            <a:off x="6705720" y="2458800"/>
            <a:ext cx="2927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优化⻩⾊样本催收策略：针对⾸次逾期客⼾采⽤教育提醒为主的⽅式，保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3" name="文本框 552"/>
          <p:cNvSpPr txBox="1"/>
          <p:nvPr/>
        </p:nvSpPr>
        <p:spPr>
          <a:xfrm>
            <a:off x="6705720" y="2697120"/>
            <a:ext cx="4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留还款意愿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4" name="文本框 553"/>
          <p:cNvSpPr txBox="1"/>
          <p:nvPr/>
        </p:nvSpPr>
        <p:spPr>
          <a:xfrm>
            <a:off x="6572160" y="247572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409E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5" name="文本框 554"/>
          <p:cNvSpPr txBox="1"/>
          <p:nvPr/>
        </p:nvSpPr>
        <p:spPr>
          <a:xfrm>
            <a:off x="6705720" y="3058920"/>
            <a:ext cx="2927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开发绿⾊样本增值服务：为⾼信⽤客⼾提供优惠利率和信⽤额度提升，增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6" name="文本框 555"/>
          <p:cNvSpPr txBox="1"/>
          <p:nvPr/>
        </p:nvSpPr>
        <p:spPr>
          <a:xfrm>
            <a:off x="6705720" y="3306600"/>
            <a:ext cx="457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强客⼾粘性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7" name="文本框 556"/>
          <p:cNvSpPr txBox="1"/>
          <p:nvPr/>
        </p:nvSpPr>
        <p:spPr>
          <a:xfrm>
            <a:off x="6572160" y="30754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409E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8" name="文本框 557"/>
          <p:cNvSpPr txBox="1"/>
          <p:nvPr/>
        </p:nvSpPr>
        <p:spPr>
          <a:xfrm>
            <a:off x="6705720" y="3659040"/>
            <a:ext cx="21042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加强收⼊验证流程：对模型收⼊与实际⽉均收⼊差异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9" name="文本框 558"/>
          <p:cNvSpPr txBox="1"/>
          <p:nvPr/>
        </p:nvSpPr>
        <p:spPr>
          <a:xfrm>
            <a:off x="10210680" y="3662640"/>
            <a:ext cx="394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606266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&gt;30%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0" name="文本框 559"/>
          <p:cNvSpPr txBox="1"/>
          <p:nvPr/>
        </p:nvSpPr>
        <p:spPr>
          <a:xfrm>
            <a:off x="10604880" y="3659040"/>
            <a:ext cx="549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的申请⼈进⾏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1" name="文本框 560"/>
          <p:cNvSpPr txBox="1"/>
          <p:nvPr/>
        </p:nvSpPr>
        <p:spPr>
          <a:xfrm>
            <a:off x="6705720" y="3906720"/>
            <a:ext cx="3664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⼈⼯复核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2" name="文本框 561"/>
          <p:cNvSpPr txBox="1"/>
          <p:nvPr/>
        </p:nvSpPr>
        <p:spPr>
          <a:xfrm>
            <a:off x="6572160" y="36756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409E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3" name="文本框 562"/>
          <p:cNvSpPr txBox="1"/>
          <p:nvPr/>
        </p:nvSpPr>
        <p:spPr>
          <a:xfrm>
            <a:off x="6705720" y="4259160"/>
            <a:ext cx="2927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建⽴动态评分卡机制：每⽉更新客⼾⻛险评分，对红⻩边界客⼾进⾏主动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4" name="文本框 563"/>
          <p:cNvSpPr txBox="1"/>
          <p:nvPr/>
        </p:nvSpPr>
        <p:spPr>
          <a:xfrm>
            <a:off x="6705720" y="4506840"/>
            <a:ext cx="1836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00" b="0" u="none" strike="noStrike">
                <a:solidFill>
                  <a:srgbClr val="606266"/>
                </a:solidFill>
                <a:effectLst/>
                <a:uFillTx/>
                <a:latin typeface="NotoSansCJKsc"/>
                <a:ea typeface="NotoSansCJKsc"/>
              </a:rPr>
              <a:t>⼲预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5" name="文本框 564"/>
          <p:cNvSpPr txBox="1"/>
          <p:nvPr/>
        </p:nvSpPr>
        <p:spPr>
          <a:xfrm>
            <a:off x="6572160" y="427572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u="none" strike="noStrike">
                <a:solidFill>
                  <a:srgbClr val="409EFF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2395</Words>
  <Application>WPS 演示</Application>
  <PresentationFormat/>
  <Paragraphs>844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Arial</vt:lpstr>
      <vt:lpstr>Symbol</vt:lpstr>
      <vt:lpstr>Times New Roman</vt:lpstr>
      <vt:lpstr>NotoSansCJKsc</vt:lpstr>
      <vt:lpstr>Segoe Print</vt:lpstr>
      <vt:lpstr>微软雅黑</vt:lpstr>
      <vt:lpstr>Arial Unicode MS</vt:lpstr>
      <vt:lpstr>Calibri</vt:lpstr>
      <vt:lpstr>DejaVu Sans</vt:lpstr>
      <vt:lpstr>Courier New</vt:lpstr>
      <vt:lpstr>NotoSansMono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WPS_1714975685</cp:lastModifiedBy>
  <cp:revision>2</cp:revision>
  <dcterms:created xsi:type="dcterms:W3CDTF">2025-07-14T04:15:01Z</dcterms:created>
  <dcterms:modified xsi:type="dcterms:W3CDTF">2025-07-14T04:19:47Z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A4BB116D93F54CF1A1F1A6A80DC76CFE_13</vt:lpwstr>
  </property>
  <property fmtid="{D5CDD505-2E9C-101B-9397-08002B2CF9AE}" pid="3" name="KSOProductBuildVer">
    <vt:lpwstr>2052-12.1.0.21915</vt:lpwstr>
  </property>
</Properties>
</file>