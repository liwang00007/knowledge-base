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15" r:id="rId3"/>
    <p:sldId id="3869" r:id="rId5"/>
    <p:sldId id="4000" r:id="rId6"/>
    <p:sldId id="4001" r:id="rId7"/>
    <p:sldId id="4002" r:id="rId8"/>
    <p:sldId id="4003" r:id="rId9"/>
    <p:sldId id="3981" r:id="rId10"/>
    <p:sldId id="4004" r:id="rId11"/>
    <p:sldId id="3969" r:id="rId12"/>
    <p:sldId id="389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z20024907" initials="h" lastIdx="1" clrIdx="0"/>
  <p:cmAuthor id="0" name="Guorong Zhu" initials="GZ" lastIdx="3" clrIdx="0"/>
  <p:cmAuthor id="7" name="1206988966@qq.com" initials="1" lastIdx="1" clrIdx="2"/>
  <p:cmAuthor id="8" name="姜伟光" initials="姜" lastIdx="1" clrIdx="0"/>
  <p:cmAuthor id="2" name="test" initials="t" lastIdx="13" clrIdx="0"/>
  <p:cmAuthor id="3" name="juxy" initials="j" lastIdx="3" clrIdx="1"/>
  <p:cmAuthor id="4" name="Administrator" initials="A" lastIdx="4" clrIdx="3"/>
  <p:cmAuthor id="5" name="宋洁然" initials="宋" lastIdx="2" clrIdx="1"/>
  <p:cmAuthor id="6" name="ming qiu" initials="m" lastIdx="17" clrIdx="1"/>
  <p:cmAuthor id="31" name="za-jijingting" initials="z" lastIdx="1" clrIdx="30"/>
  <p:cmAuthor id="9" name="未知用户5" initials="未知用户5" lastIdx="1" clrIdx="1"/>
  <p:cmAuthor id="10" name="Veronica XU" initials="V" lastIdx="1" clrIdx="0"/>
  <p:cmAuthor id="11" name="未知用户6" initials="未知用户6" lastIdx="1" clrIdx="6"/>
  <p:cmAuthor id="12" name="未知用户14" initials="未" lastIdx="1" clrIdx="0"/>
  <p:cmAuthor id="13" name="未知用户7" initials="未知用户7" lastIdx="1" clrIdx="0"/>
  <p:cmAuthor id="14" name="未知用户10" initials="未" lastIdx="1" clrIdx="1"/>
  <p:cmAuthor id="15" name="未知用户8" initials="未知用户8" lastIdx="1" clrIdx="14"/>
  <p:cmAuthor id="16" name="未知用户22" initials="未知用户22" lastIdx="1" clrIdx="0"/>
  <p:cmAuthor id="17" name="Microsoft Office 用户" initials="M" lastIdx="0" clrIdx="6"/>
  <p:cmAuthor id="18" name="LuMeyer" initials="L" lastIdx="2" clrIdx="0"/>
  <p:cmAuthor id="21" name="hanwei" initials="h" lastIdx="1" clrIdx="15"/>
  <p:cmAuthor id="22" name="hz20075371" initials="h" lastIdx="1" clrIdx="21"/>
  <p:cmAuthor id="76" name="hz19124811" initials="h" lastIdx="1" clrIdx="25"/>
  <p:cmAuthor id="43" name="宋昆" initials="宋" lastIdx="0" clrIdx="0"/>
  <p:cmAuthor id="44" name="xiong" initials="x" lastIdx="1" clrIdx="0"/>
  <p:cmAuthor id="46" name="Sandra" initials="S" lastIdx="0" clrIdx="0"/>
  <p:cmAuthor id="49" name="万户网络" initials="万" lastIdx="1" clrIdx="0"/>
  <p:cmAuthor id="50" name="未知用户12" initials="未知用户12" lastIdx="1" clrIdx="0"/>
  <p:cmAuthor id="51" name="孙璐璐" initials="孙" lastIdx="1" clrIdx="0"/>
  <p:cmAuthor id="52" name="朴鹏-lhq" initials="朴鹏" lastIdx="0" clrIdx="18"/>
  <p:cmAuthor id="54" name="Jinyi" initials="J" lastIdx="42" clrIdx="2"/>
  <p:cmAuthor id="55" name="PC" initials="P" lastIdx="19" clrIdx="3"/>
  <p:cmAuthor id="57" name="江涛 李" initials="江" lastIdx="2" clrIdx="0"/>
  <p:cmAuthor id="59" name="杨国" initials="杨" lastIdx="3" clrIdx="0"/>
  <p:cmAuthor id="60" name="卫天一" initials="卫" lastIdx="1" clrIdx="0"/>
  <p:cmAuthor id="61" name="刘承刚" initials="刘" lastIdx="3" clrIdx="2"/>
  <p:cmAuthor id="19" name="zhenwb" initials="z" lastIdx="1" clrIdx="17"/>
  <p:cmAuthor id="62" name="史璐瑶" initials="史璐瑶" lastIdx="1" clrIdx="23"/>
  <p:cmAuthor id="20" name="ansen emma" initials="a" lastIdx="1" clrIdx="18"/>
  <p:cmAuthor id="25" name="w" initials="w" lastIdx="2" clrIdx="0"/>
  <p:cmAuthor id="26" name="余潇迎" initials="余" lastIdx="2" clrIdx="0"/>
  <p:cmAuthor id="27" name="陈 橙橙" initials="陈" lastIdx="1" clrIdx="21"/>
  <p:cmAuthor id="28" name="HP" initials="H" lastIdx="1" clrIdx="22"/>
  <p:cmAuthor id="29" name="User" initials="U" lastIdx="0" clrIdx="0"/>
  <p:cmAuthor id="30" name="启浩" initials="启" lastIdx="2" clrIdx="0"/>
  <p:cmAuthor id="32" name="李旭兰" initials="李" lastIdx="1" clrIdx="0"/>
  <p:cmAuthor id="33" name="AutoBVT" initials="A" lastIdx="1" clrIdx="0"/>
  <p:cmAuthor id="34" name="ASUS" initials="A" lastIdx="4" clrIdx="0"/>
  <p:cmAuthor id="35" name="??" initials="?" lastIdx="1" clrIdx="0"/>
  <p:cmAuthor id="36" name="catlaohu" initials="c" lastIdx="2" clrIdx="0"/>
  <p:cmAuthor id="37" name="CommUser" initials="C" lastIdx="4" clrIdx="0"/>
  <p:cmAuthor id="38" name="hy-tkyl" initials="h" lastIdx="2" clrIdx="0"/>
  <p:cmAuthor id="39" name="吕 阔" initials="吕" lastIdx="1" clrIdx="22"/>
  <p:cmAuthor id="40" name="yiwei zhu" initials="y" lastIdx="14" clrIdx="0"/>
  <p:cmAuthor id="41" name="吕震" initials="吕" lastIdx="6" clrIdx="0"/>
  <p:cmAuthor id="42" name="吴岩" initials="吴" lastIdx="1" clrIdx="0"/>
  <p:cmAuthor id="58" name="hz20085535" initials="h" lastIdx="1" clrIdx="57"/>
  <p:cmAuthor id="23" name="hz20075422" initials="h" lastIdx="6" clrIdx="22"/>
  <p:cmAuthor id="75" name="作者" initials="A" lastIdx="0" clrIdx="24"/>
  <p:cmAuthor id="63" name="wan haiqin" initials="wh" lastIdx="1" clrIdx="5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A86F"/>
    <a:srgbClr val="403ED6"/>
    <a:srgbClr val="DFF8FF"/>
    <a:srgbClr val="EC5F74"/>
    <a:srgbClr val="0564CD"/>
    <a:srgbClr val="DAE3F3"/>
    <a:srgbClr val="CAD2E9"/>
    <a:srgbClr val="AFBADD"/>
    <a:srgbClr val="F4A8A9"/>
    <a:srgbClr val="89A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412" y="72"/>
      </p:cViewPr>
      <p:guideLst>
        <p:guide orient="horz" pos="2257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FC598-4AB1-4F76-B8FC-6D029DFD36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A7402-6009-4A67-83C4-41406D579B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pt商务-封面.png" descr="ppt商务-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2171700" y="2290715"/>
            <a:ext cx="9144000" cy="1094280"/>
          </a:xfrm>
          <a:prstGeom prst="rect">
            <a:avLst/>
          </a:prstGeom>
        </p:spPr>
        <p:txBody>
          <a:bodyPr anchor="t"/>
          <a:lstStyle>
            <a:lvl1pPr algn="r">
              <a:defRPr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5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483290" y="3350841"/>
            <a:ext cx="3832411" cy="2072379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SzTx/>
              <a:buFontTx/>
              <a:buNone/>
              <a:defRPr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0" indent="228600" algn="r">
              <a:lnSpc>
                <a:spcPct val="100000"/>
              </a:lnSpc>
              <a:buSzTx/>
              <a:buFontTx/>
              <a:buNone/>
              <a:defRPr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0" indent="457200" algn="r">
              <a:lnSpc>
                <a:spcPct val="100000"/>
              </a:lnSpc>
              <a:buSzTx/>
              <a:buFontTx/>
              <a:buNone/>
              <a:defRPr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3pPr>
            <a:lvl4pPr marL="0" indent="685800" algn="r">
              <a:lnSpc>
                <a:spcPct val="100000"/>
              </a:lnSpc>
              <a:buSzTx/>
              <a:buFontTx/>
              <a:buNone/>
              <a:defRPr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4pPr>
            <a:lvl5pPr marL="0" indent="914400" algn="r">
              <a:lnSpc>
                <a:spcPct val="100000"/>
              </a:lnSpc>
              <a:buSzTx/>
              <a:buFontTx/>
              <a:buNone/>
              <a:defRPr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5pPr>
          </a:lstStyle>
          <a:p>
            <a:r>
              <a:t>主讲部门：XXXXXX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6" name="Convey the kindness of insurance.png" descr="Convey the kindness of insurance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437012" y="5549106"/>
            <a:ext cx="2820167" cy="19760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" name="logo-05.png" descr="logo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95" y="436245"/>
            <a:ext cx="2976880" cy="5334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"/>
          <p:cNvSpPr txBox="1">
            <a:spLocks noGrp="1"/>
          </p:cNvSpPr>
          <p:nvPr>
            <p:ph type="title" hasCustomPrompt="1"/>
          </p:nvPr>
        </p:nvSpPr>
        <p:spPr>
          <a:xfrm>
            <a:off x="255067" y="341579"/>
            <a:ext cx="9902380" cy="675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0564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dirty="0" err="1"/>
              <a:t>标题</a:t>
            </a:r>
            <a:endParaRPr dirty="0"/>
          </a:p>
        </p:txBody>
      </p:sp>
      <p:sp>
        <p:nvSpPr>
          <p:cNvPr id="4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255067" y="1403999"/>
            <a:ext cx="11681866" cy="46274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SzTx/>
              <a:buFontTx/>
              <a:buNone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0" indent="228600">
              <a:lnSpc>
                <a:spcPct val="120000"/>
              </a:lnSpc>
              <a:buSzTx/>
              <a:buFontTx/>
              <a:buNone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0" indent="457200">
              <a:lnSpc>
                <a:spcPct val="120000"/>
              </a:lnSpc>
              <a:buSzTx/>
              <a:buFontTx/>
              <a:buNone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3pPr>
            <a:lvl4pPr marL="0" indent="685800">
              <a:lnSpc>
                <a:spcPct val="120000"/>
              </a:lnSpc>
              <a:buSzTx/>
              <a:buFontTx/>
              <a:buNone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4pPr>
            <a:lvl5pPr marL="0" indent="914400">
              <a:lnSpc>
                <a:spcPct val="120000"/>
              </a:lnSpc>
              <a:buSzTx/>
              <a:buFontTx/>
              <a:buNone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43" name="图片 10" descr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032" y="13879"/>
            <a:ext cx="1305001" cy="1305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" name="矩形"/>
          <p:cNvSpPr/>
          <p:nvPr/>
        </p:nvSpPr>
        <p:spPr>
          <a:xfrm>
            <a:off x="0" y="380976"/>
            <a:ext cx="121314" cy="570807"/>
          </a:xfrm>
          <a:prstGeom prst="rect">
            <a:avLst/>
          </a:prstGeom>
          <a:solidFill>
            <a:srgbClr val="0564CD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40576" y="6457410"/>
            <a:ext cx="258625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2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gray">
          <a:xfrm>
            <a:off x="10837916" y="6476365"/>
            <a:ext cx="761899" cy="16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57A6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/>
          <a:p>
            <a:pPr algn="r" eaLnBrk="0" hangingPunct="0">
              <a:lnSpc>
                <a:spcPct val="100000"/>
              </a:lnSpc>
            </a:pPr>
            <a:fld id="{2306E996-13B1-4F09-8F6B-3AC86B81501F}" type="slidenum">
              <a:rPr lang="en-GB" sz="1100" smtClean="0">
                <a:solidFill>
                  <a:schemeClr val="accent3"/>
                </a:solidFill>
                <a:cs typeface="Arial" panose="020B0604020202020204" pitchFamily="34" charset="0"/>
              </a:rPr>
            </a:fld>
            <a:endParaRPr lang="en-GB" sz="11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76463" y="1406525"/>
            <a:ext cx="7111059" cy="3365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>
              <a:defRPr sz="1000">
                <a:solidFill>
                  <a:schemeClr val="accent2"/>
                </a:solidFill>
              </a:defRPr>
            </a:lvl3pPr>
            <a:lvl4pPr>
              <a:defRPr sz="1000">
                <a:solidFill>
                  <a:schemeClr val="accent2"/>
                </a:solidFill>
              </a:defRPr>
            </a:lvl4pPr>
            <a:lvl5pPr>
              <a:defRPr sz="1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Heading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Subheading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8413140" y="1406525"/>
            <a:ext cx="3192721" cy="3365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>
              <a:defRPr sz="1000">
                <a:solidFill>
                  <a:schemeClr val="accent2"/>
                </a:solidFill>
              </a:defRPr>
            </a:lvl3pPr>
            <a:lvl4pPr>
              <a:defRPr sz="1000">
                <a:solidFill>
                  <a:schemeClr val="accent2"/>
                </a:solidFill>
              </a:defRPr>
            </a:lvl4pPr>
            <a:lvl5pPr>
              <a:defRPr sz="1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Heading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Subheading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28"/>
          </p:nvPr>
        </p:nvSpPr>
        <p:spPr>
          <a:xfrm>
            <a:off x="8413140" y="1925637"/>
            <a:ext cx="3192721" cy="410051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27"/>
          </p:nvPr>
        </p:nvSpPr>
        <p:spPr>
          <a:xfrm>
            <a:off x="574448" y="1925637"/>
            <a:ext cx="7111059" cy="410051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Rectangle 15"/>
          <p:cNvSpPr>
            <a:spLocks noChangeArrowheads="1"/>
          </p:cNvSpPr>
          <p:nvPr userDrawn="1"/>
        </p:nvSpPr>
        <p:spPr bwMode="gray">
          <a:xfrm>
            <a:off x="10837916" y="6476365"/>
            <a:ext cx="761899" cy="16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57A6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/>
          <a:p>
            <a:pPr algn="r" eaLnBrk="0" hangingPunct="0">
              <a:lnSpc>
                <a:spcPct val="100000"/>
              </a:lnSpc>
            </a:pPr>
            <a:fld id="{2306E996-13B1-4F09-8F6B-3AC86B81501F}" type="slidenum">
              <a:rPr lang="en-GB" sz="1100" smtClean="0">
                <a:solidFill>
                  <a:schemeClr val="accent3"/>
                </a:solidFill>
                <a:cs typeface="Arial" panose="020B0604020202020204" pitchFamily="34" charset="0"/>
              </a:rPr>
            </a:fld>
            <a:endParaRPr lang="en-GB" sz="11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15" name="Copyright"/>
          <p:cNvSpPr txBox="1">
            <a:spLocks noChangeArrowheads="1"/>
          </p:cNvSpPr>
          <p:nvPr userDrawn="1"/>
        </p:nvSpPr>
        <p:spPr bwMode="gray">
          <a:xfrm>
            <a:off x="584526" y="6539548"/>
            <a:ext cx="648970" cy="107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GB" sz="700">
                <a:solidFill>
                  <a:schemeClr val="accent3"/>
                </a:solidFill>
                <a:cs typeface="Arial" panose="020B0604020202020204" pitchFamily="34" charset="0"/>
              </a:rPr>
              <a:t>© Oliver Wyman </a:t>
            </a:r>
            <a:endParaRPr lang="en-GB" sz="7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gray">
          <a:xfrm>
            <a:off x="10837916" y="6476365"/>
            <a:ext cx="761899" cy="16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57A6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/>
          <a:p>
            <a:pPr algn="r" eaLnBrk="0" hangingPunct="0">
              <a:lnSpc>
                <a:spcPct val="100000"/>
              </a:lnSpc>
            </a:pPr>
            <a:fld id="{2306E996-13B1-4F09-8F6B-3AC86B81501F}" type="slidenum">
              <a:rPr lang="en-GB" sz="1100" smtClean="0">
                <a:solidFill>
                  <a:schemeClr val="accent3"/>
                </a:solidFill>
                <a:cs typeface="Arial" panose="020B0604020202020204" pitchFamily="34" charset="0"/>
              </a:rPr>
            </a:fld>
            <a:endParaRPr lang="en-GB" sz="11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76463" y="1406525"/>
            <a:ext cx="4938236" cy="3365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>
              <a:defRPr sz="1000">
                <a:solidFill>
                  <a:schemeClr val="accent2"/>
                </a:solidFill>
              </a:defRPr>
            </a:lvl3pPr>
            <a:lvl4pPr>
              <a:defRPr sz="1000">
                <a:solidFill>
                  <a:schemeClr val="accent2"/>
                </a:solidFill>
              </a:defRPr>
            </a:lvl4pPr>
            <a:lvl5pPr>
              <a:defRPr sz="1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Heading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Subheading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6667626" y="1406525"/>
            <a:ext cx="4938236" cy="3365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>
              <a:defRPr sz="1000">
                <a:solidFill>
                  <a:schemeClr val="accent2"/>
                </a:solidFill>
              </a:defRPr>
            </a:lvl3pPr>
            <a:lvl4pPr>
              <a:defRPr sz="1000">
                <a:solidFill>
                  <a:schemeClr val="accent2"/>
                </a:solidFill>
              </a:defRPr>
            </a:lvl4pPr>
            <a:lvl5pPr>
              <a:defRPr sz="1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Heading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Subheading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74448" y="1930400"/>
            <a:ext cx="4940251" cy="410051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6665611" y="1930400"/>
            <a:ext cx="4940251" cy="410051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gray">
          <a:xfrm>
            <a:off x="10837916" y="6476365"/>
            <a:ext cx="761899" cy="16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57A6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/>
          <a:p>
            <a:pPr algn="r" eaLnBrk="0" hangingPunct="0">
              <a:lnSpc>
                <a:spcPct val="100000"/>
              </a:lnSpc>
            </a:pPr>
            <a:fld id="{2306E996-13B1-4F09-8F6B-3AC86B81501F}" type="slidenum">
              <a:rPr lang="en-GB" sz="1100" smtClean="0">
                <a:solidFill>
                  <a:schemeClr val="accent3"/>
                </a:solidFill>
                <a:cs typeface="Arial" panose="020B0604020202020204" pitchFamily="34" charset="0"/>
              </a:rPr>
            </a:fld>
            <a:endParaRPr lang="en-GB" sz="11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18" name="Copyright"/>
          <p:cNvSpPr txBox="1">
            <a:spLocks noChangeArrowheads="1"/>
          </p:cNvSpPr>
          <p:nvPr userDrawn="1"/>
        </p:nvSpPr>
        <p:spPr bwMode="gray">
          <a:xfrm>
            <a:off x="584526" y="6539548"/>
            <a:ext cx="648970" cy="107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GB" sz="700">
                <a:solidFill>
                  <a:schemeClr val="accent3"/>
                </a:solidFill>
                <a:cs typeface="Arial" panose="020B0604020202020204" pitchFamily="34" charset="0"/>
              </a:rPr>
              <a:t>© Oliver Wyman </a:t>
            </a:r>
            <a:endParaRPr lang="en-GB" sz="7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doc id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D62713-C80D-45D7-AB99-CA20634BD9EE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334645" y="707390"/>
            <a:ext cx="476885" cy="36000"/>
          </a:xfrm>
          <a:prstGeom prst="rect">
            <a:avLst/>
          </a:prstGeom>
          <a:solidFill>
            <a:srgbClr val="F5A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951845" y="-76200"/>
            <a:ext cx="1393825" cy="92964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pt商务-目录.png" descr="ppt商务-目录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1慧择logo-反白.png" descr="1慧择logo-反白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52449" y="387278"/>
            <a:ext cx="1140167" cy="53280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标题文本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40576" y="6457410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524000" y="2290715"/>
            <a:ext cx="9144000" cy="1094280"/>
          </a:xfrm>
        </p:spPr>
        <p:txBody>
          <a:bodyPr>
            <a:normAutofit fontScale="90000"/>
          </a:bodyPr>
          <a:p>
            <a:pPr algn="ctr">
              <a:lnSpc>
                <a:spcPct val="150000"/>
              </a:lnSpc>
            </a:pPr>
            <a:r>
              <a:rPr lang="zh-CN" altLang="en-US"/>
              <a:t>人机</a:t>
            </a:r>
            <a:r>
              <a:rPr lang="zh-CN" altLang="en-US"/>
              <a:t>结合测试方案</a:t>
            </a:r>
            <a:br>
              <a:rPr lang="zh-CN" altLang="en-US" sz="2220">
                <a:solidFill>
                  <a:schemeClr val="accent4"/>
                </a:solidFill>
              </a:rPr>
            </a:br>
            <a:endParaRPr lang="zh-CN" altLang="en-US" sz="220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"/>
          </p:nvPr>
        </p:nvSpPr>
        <p:spPr>
          <a:xfrm>
            <a:off x="4180020" y="4300166"/>
            <a:ext cx="3832411" cy="2072379"/>
          </a:xfrm>
        </p:spPr>
        <p:txBody>
          <a:bodyPr/>
          <a:p>
            <a:pPr algn="ctr"/>
            <a:r>
              <a:rPr lang="en-US" altLang="zh-CN"/>
              <a:t>2022/09/05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历史未绑定顾问用户</a:t>
            </a:r>
            <a:r>
              <a:rPr lang="zh-CN" altLang="en-US"/>
              <a:t>情况</a:t>
            </a:r>
            <a:endParaRPr lang="en-US" altLang="zh-CN"/>
          </a:p>
        </p:txBody>
      </p:sp>
      <p:sp>
        <p:nvSpPr>
          <p:cNvPr id="143" name="文本框 142"/>
          <p:cNvSpPr txBox="1"/>
          <p:nvPr/>
        </p:nvSpPr>
        <p:spPr>
          <a:xfrm>
            <a:off x="1050290" y="1469390"/>
            <a:ext cx="10090785" cy="29984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1. 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大量用户未绑定顾问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：现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C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端有用户总量411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（有手机号），其中未绑定顾问用户数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355w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，占总用户量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86%;</a:t>
            </a:r>
            <a:endParaRPr kumimoji="0" lang="en-US" altLang="zh-CN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2.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未绑定顾问用户转化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极低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：历史所有未绑定顾问的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355w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用户中，只有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8411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人自主投保转化成功，历史的累计转化率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0.24%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；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 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其中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2022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年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Q2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三个月下单人数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1440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人，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Q2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转化率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0.041%;</a:t>
            </a:r>
            <a:endParaRPr kumimoji="0" lang="en-US" altLang="zh-CN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即不做动作的话每月未绑定用户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可能自主成交数在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400-500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人。</a:t>
            </a:r>
            <a:endParaRPr kumimoji="0" lang="en-US" altLang="zh-CN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03440" y="5919470"/>
            <a:ext cx="364236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统计时间截止：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2022.09.01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，下同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290" y="4612640"/>
            <a:ext cx="9906000" cy="7962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未绑定顾问</a:t>
            </a:r>
            <a:r>
              <a:rPr lang="zh-CN" altLang="en-US"/>
              <a:t>未来预估</a:t>
            </a:r>
            <a:endParaRPr lang="en-US" altLang="zh-CN"/>
          </a:p>
        </p:txBody>
      </p:sp>
      <p:sp>
        <p:nvSpPr>
          <p:cNvPr id="143" name="文本框 142"/>
          <p:cNvSpPr txBox="1"/>
          <p:nvPr/>
        </p:nvSpPr>
        <p:spPr>
          <a:xfrm>
            <a:off x="554355" y="1426845"/>
            <a:ext cx="8679180" cy="1751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1.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每月增量：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近一年平均每月新回收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用户约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6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万人；</a:t>
            </a:r>
            <a:endParaRPr kumimoji="0" lang="zh-CN" altLang="en-US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2.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明年年底：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按此回收量预估，至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2023.12.31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累计未服务用户数将达到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451w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。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(355w+16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月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*6w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）</a:t>
            </a:r>
            <a:endParaRPr kumimoji="0" lang="zh-CN" altLang="en-US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178810"/>
            <a:ext cx="5672455" cy="33616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960" y="1035685"/>
            <a:ext cx="2254885" cy="57511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未绑定顾问用户</a:t>
            </a:r>
            <a:r>
              <a:rPr lang="zh-CN" altLang="en-US"/>
              <a:t>人机拨打</a:t>
            </a:r>
            <a:r>
              <a:rPr lang="zh-CN" altLang="en-US"/>
              <a:t>效率</a:t>
            </a:r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841375" y="1355725"/>
            <a:ext cx="10544810" cy="1336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1.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顾问拨打：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结合顾问平均可拨打人效及全年工作日，将未绑定顾问的用户量全部打完需要顾问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376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人；</a:t>
            </a:r>
            <a:endParaRPr kumimoji="0" lang="en-US" altLang="zh-CN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2.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AI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外呼：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按照一天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800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个拨打量，一年只需要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22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台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AI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机器人便可以完成拨打。</a:t>
            </a:r>
            <a:endParaRPr kumimoji="0" lang="zh-CN" altLang="en-US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455" y="3629660"/>
            <a:ext cx="6413500" cy="22174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测试样本设计</a:t>
            </a:r>
            <a:endParaRPr lang="en-US" altLang="zh-CN"/>
          </a:p>
        </p:txBody>
      </p:sp>
      <p:sp>
        <p:nvSpPr>
          <p:cNvPr id="143" name="文本框 142"/>
          <p:cNvSpPr txBox="1"/>
          <p:nvPr/>
        </p:nvSpPr>
        <p:spPr>
          <a:xfrm>
            <a:off x="786130" y="910590"/>
            <a:ext cx="10154920" cy="1751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1. 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测试样本选自近一年在工作台未绑定且超过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90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天回收的客户，约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45.2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万人（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355w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中抽取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45w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）；</a:t>
            </a:r>
            <a:endParaRPr kumimoji="0" lang="zh-CN" altLang="en-US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2. 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将这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45.2w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人按成交结果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分为已成交（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1669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人，</a:t>
            </a:r>
            <a:r>
              <a:rPr lang="zh-CN" altLang="en-US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如前文述成交人群很少，基本全短险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）与未成交（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45w</a:t>
            </a:r>
            <a:r>
              <a:rPr kumimoji="0" 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）人群，计划从中分别抽取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1000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与</a:t>
            </a: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20000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人进行测试；</a:t>
            </a:r>
            <a:endParaRPr kumimoji="0" lang="zh-CN" altLang="en-US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3. 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其中成交客户以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复购长险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作为转化目标，未成交客户以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转化短险</a:t>
            </a:r>
            <a:r>
              <a:rPr kumimoji="0" lang="zh-CN" alt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作为转化目标；</a:t>
            </a:r>
            <a:endParaRPr kumimoji="0" lang="zh-CN" altLang="en-US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6130" y="2662555"/>
            <a:ext cx="1336675" cy="397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fromWordArt="0" anchor="t" anchorCtr="0" forceAA="0" compatLnSpc="1">
            <a:spAutoFit/>
          </a:bodyPr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rPr>
              <a:t>已成交</a:t>
            </a:r>
            <a:endParaRPr lang="zh-CN" altLang="en-US" sz="2000" b="1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6130" y="3193415"/>
            <a:ext cx="10210800" cy="1336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复购长险基准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45.2w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中已成交共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1669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人，这其中再次复购长险仅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7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人，累计复购率为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0.4%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，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2022Q2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仅成交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人，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Q2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复购率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0.12%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；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</a:pP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319270"/>
            <a:ext cx="8740140" cy="8458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测试样本设计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01395" y="1369060"/>
            <a:ext cx="1336675" cy="397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rPr>
              <a:t>未成交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5830" y="1766570"/>
            <a:ext cx="9306560" cy="9207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未成交客户总共约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45w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万人，当前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Q2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转化率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为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0.07%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，测试样本目标为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20000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;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为了能更好的测试及监控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AI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拨打的情况，从预约方式的分布情况及统计学意义角度来看，在预约方式为短险、长险、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APP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预约分别抽取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3000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7000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5000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5000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人进行测试。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400" y="3109595"/>
            <a:ext cx="2454910" cy="2206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109595"/>
            <a:ext cx="6677660" cy="19100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系统对接流程</a:t>
            </a:r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490220" y="3202940"/>
            <a:ext cx="11210925" cy="3104515"/>
            <a:chOff x="271" y="2464"/>
            <a:chExt cx="17655" cy="5313"/>
          </a:xfrm>
        </p:grpSpPr>
        <p:sp>
          <p:nvSpPr>
            <p:cNvPr id="31" name="矩形 30"/>
            <p:cNvSpPr/>
            <p:nvPr/>
          </p:nvSpPr>
          <p:spPr>
            <a:xfrm>
              <a:off x="271" y="2464"/>
              <a:ext cx="17655" cy="531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" name="流程图: 可选过程 5"/>
            <p:cNvSpPr/>
            <p:nvPr/>
          </p:nvSpPr>
          <p:spPr>
            <a:xfrm>
              <a:off x="610" y="4771"/>
              <a:ext cx="2750" cy="691"/>
            </a:xfrm>
            <a:prstGeom prst="flowChartAlternateProcess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测试样本提取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  <p:sp>
          <p:nvSpPr>
            <p:cNvPr id="8" name="流程图: 可选过程 7"/>
            <p:cNvSpPr/>
            <p:nvPr/>
          </p:nvSpPr>
          <p:spPr>
            <a:xfrm>
              <a:off x="9254" y="3123"/>
              <a:ext cx="2715" cy="691"/>
            </a:xfrm>
            <a:prstGeom prst="flowChartAlternateProcess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账号开通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  <p:sp>
          <p:nvSpPr>
            <p:cNvPr id="10" name="流程图: 可选过程 9"/>
            <p:cNvSpPr/>
            <p:nvPr/>
          </p:nvSpPr>
          <p:spPr>
            <a:xfrm>
              <a:off x="14182" y="4766"/>
              <a:ext cx="2276" cy="691"/>
            </a:xfrm>
            <a:prstGeom prst="flowChartAlternateProcess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Calibri" panose="020F0502020204030204"/>
                </a:rPr>
                <a:t>灵犀</a:t>
              </a: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Calibri" panose="020F0502020204030204"/>
                </a:rPr>
                <a:t>AI</a:t>
              </a: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Calibri" panose="020F0502020204030204"/>
                </a:rPr>
                <a:t>拨打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endParaRPr>
            </a:p>
          </p:txBody>
        </p:sp>
        <p:sp>
          <p:nvSpPr>
            <p:cNvPr id="11" name="流程图: 多文档 10"/>
            <p:cNvSpPr/>
            <p:nvPr/>
          </p:nvSpPr>
          <p:spPr>
            <a:xfrm>
              <a:off x="8965" y="4728"/>
              <a:ext cx="3231" cy="785"/>
            </a:xfrm>
            <a:prstGeom prst="flowChartMultidocumen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工作台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  <p:cxnSp>
          <p:nvCxnSpPr>
            <p:cNvPr id="13" name="直接箭头连接符 12"/>
            <p:cNvCxnSpPr>
              <a:stCxn id="8" idx="2"/>
            </p:cNvCxnSpPr>
            <p:nvPr/>
          </p:nvCxnSpPr>
          <p:spPr>
            <a:xfrm flipH="1">
              <a:off x="10598" y="3814"/>
              <a:ext cx="14" cy="931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15" name="直接箭头连接符 14"/>
            <p:cNvCxnSpPr>
              <a:stCxn id="11" idx="3"/>
              <a:endCxn id="10" idx="1"/>
            </p:cNvCxnSpPr>
            <p:nvPr/>
          </p:nvCxnSpPr>
          <p:spPr>
            <a:xfrm flipV="1">
              <a:off x="12196" y="5111"/>
              <a:ext cx="1986" cy="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7" name="矩形 16"/>
            <p:cNvSpPr/>
            <p:nvPr/>
          </p:nvSpPr>
          <p:spPr>
            <a:xfrm>
              <a:off x="10612" y="6511"/>
              <a:ext cx="2369" cy="62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Calibri" panose="020F0502020204030204"/>
                </a:rPr>
                <a:t>监控评估</a:t>
              </a:r>
              <a:endPara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endParaRPr>
            </a:p>
          </p:txBody>
        </p:sp>
        <p:cxnSp>
          <p:nvCxnSpPr>
            <p:cNvPr id="18" name="曲线连接符 17"/>
            <p:cNvCxnSpPr>
              <a:stCxn id="10" idx="2"/>
              <a:endCxn id="17" idx="3"/>
            </p:cNvCxnSpPr>
            <p:nvPr/>
          </p:nvCxnSpPr>
          <p:spPr>
            <a:xfrm rot="5400000">
              <a:off x="13466" y="4971"/>
              <a:ext cx="1368" cy="2339"/>
            </a:xfrm>
            <a:prstGeom prst="curvedConnector2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9" name="流程图: 可选过程 18"/>
            <p:cNvSpPr/>
            <p:nvPr/>
          </p:nvSpPr>
          <p:spPr>
            <a:xfrm>
              <a:off x="4149" y="4762"/>
              <a:ext cx="1137" cy="691"/>
            </a:xfrm>
            <a:prstGeom prst="flowChartAlternateProcess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数仓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  <p:sp>
          <p:nvSpPr>
            <p:cNvPr id="20" name="流程图: 可选过程 19"/>
            <p:cNvSpPr/>
            <p:nvPr/>
          </p:nvSpPr>
          <p:spPr>
            <a:xfrm>
              <a:off x="6076" y="4762"/>
              <a:ext cx="1764" cy="691"/>
            </a:xfrm>
            <a:prstGeom prst="flowChartAlternateProcess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ctr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触点系统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  <p:cxnSp>
          <p:nvCxnSpPr>
            <p:cNvPr id="21" name="直接箭头连接符 20"/>
            <p:cNvCxnSpPr>
              <a:stCxn id="6" idx="3"/>
              <a:endCxn id="19" idx="1"/>
            </p:cNvCxnSpPr>
            <p:nvPr/>
          </p:nvCxnSpPr>
          <p:spPr>
            <a:xfrm flipV="1">
              <a:off x="3360" y="5108"/>
              <a:ext cx="789" cy="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23" name="直接箭头连接符 22"/>
            <p:cNvCxnSpPr>
              <a:stCxn id="19" idx="3"/>
              <a:endCxn id="20" idx="1"/>
            </p:cNvCxnSpPr>
            <p:nvPr/>
          </p:nvCxnSpPr>
          <p:spPr>
            <a:xfrm>
              <a:off x="5286" y="5108"/>
              <a:ext cx="790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24" name="直接箭头连接符 23"/>
            <p:cNvCxnSpPr>
              <a:stCxn id="20" idx="3"/>
              <a:endCxn id="11" idx="1"/>
            </p:cNvCxnSpPr>
            <p:nvPr/>
          </p:nvCxnSpPr>
          <p:spPr>
            <a:xfrm>
              <a:off x="7840" y="5108"/>
              <a:ext cx="1125" cy="1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6" name="文本框 25"/>
            <p:cNvSpPr txBox="1"/>
            <p:nvPr/>
          </p:nvSpPr>
          <p:spPr>
            <a:xfrm>
              <a:off x="3275" y="4126"/>
              <a:ext cx="874" cy="62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t" forceAA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入库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623" y="3966"/>
              <a:ext cx="1834" cy="62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t" forceAA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生成商机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348" y="3966"/>
              <a:ext cx="1834" cy="62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t" forceAA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  <a:sym typeface="Calibri" panose="020F0502020204030204"/>
                </a:rPr>
                <a:t>分配商机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325245" y="1095375"/>
            <a:ext cx="9443085" cy="1751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、根据测试方案，进行样本提取；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、将样本存入数仓；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、然后通过触点系统读取数仓样本，然后生成商机下发给顾问工作台；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4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、同时开通好工作台账号，</a:t>
            </a:r>
            <a:r>
              <a:rPr lang="zh-CN" altLang="en-US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企划在工作台建立专案将商机分配给制定账号；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5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、收到测试样本后，灵犀使用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AI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机器人进行拨打，转人工；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6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、同步进行指标监控程序开发，定时跑批，监控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AI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拨打效果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;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拨打效果监控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25830" y="1272540"/>
            <a:ext cx="9909810" cy="1197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成交与未成交的监控指标基本一致，主要监控与用户触达的关键节点指标，比如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AI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拨打率、客户接通率、成交转化率以及最终的</a:t>
            </a:r>
            <a:r>
              <a:rPr lang="zh-CN" altLang="en-US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险种类型，保费，客均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等，核心指标为成交转化率；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监控频率按天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/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周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/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月进行监控；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78730" y="3422015"/>
            <a:ext cx="138049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已成交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用户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11115" y="5271135"/>
            <a:ext cx="131635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未成交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用户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" y="2753360"/>
            <a:ext cx="11943080" cy="4864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" y="3961130"/>
            <a:ext cx="12033250" cy="12141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评估标准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73480" y="1369060"/>
            <a:ext cx="9690100" cy="23983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、以成交转化率（核心指标）作为主要评估标准，可以参考其他过程指标；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、以在工作台未绑定客户的自主成交转化率作为基准线，以回收后再次下发给顾问的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人工转化率作为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“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优秀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”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参考线；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3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、三个月完成测试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2.1w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, 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对照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Q2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看，如能够转化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15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人为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合格，能够转化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59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人为优秀（对应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Q2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转化率分别为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0.07%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，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“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优秀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”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参考线为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0.28%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/>
              </a:rPr>
              <a:t>）；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7240" y="3984625"/>
            <a:ext cx="3930015" cy="14992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pt商务-目录.png" descr="ppt商务-目录.png"/>
          <p:cNvPicPr>
            <a:picLocks noChangeAspect="1"/>
          </p:cNvPicPr>
          <p:nvPr/>
        </p:nvPicPr>
        <p:blipFill>
          <a:blip r:embed="rId1"/>
          <a:srcRect t="296" r="55120"/>
          <a:stretch>
            <a:fillRect/>
          </a:stretch>
        </p:blipFill>
        <p:spPr>
          <a:xfrm>
            <a:off x="0" y="-15240"/>
            <a:ext cx="5502275" cy="68757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1588453" y="3086735"/>
            <a:ext cx="2295525" cy="7054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/>
              </a:rPr>
              <a:t>THANKS</a:t>
            </a:r>
            <a:endParaRPr kumimoji="0" lang="en-US" sz="4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3_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lang="zh-CN" altLang="en-US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1289</Words>
  <Application>WPS 演示</Application>
  <PresentationFormat>宽屏</PresentationFormat>
  <Paragraphs>91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 Light</vt:lpstr>
      <vt:lpstr>Arial</vt:lpstr>
      <vt:lpstr>微软雅黑</vt:lpstr>
      <vt:lpstr>Wingdings</vt:lpstr>
      <vt:lpstr>Arial Unicode MS</vt:lpstr>
      <vt:lpstr>Helvetica</vt:lpstr>
      <vt:lpstr>等线</vt:lpstr>
      <vt:lpstr>Calibri</vt:lpstr>
      <vt:lpstr>3_Office 主题</vt:lpstr>
      <vt:lpstr>人机耦合测试方案 </vt:lpstr>
      <vt:lpstr>历史未绑定顾问客户转化情况</vt:lpstr>
      <vt:lpstr>在工作台未绑定顾问回收情况</vt:lpstr>
      <vt:lpstr>工作台未绑定顾问客户顾问拨打人效</vt:lpstr>
      <vt:lpstr>测试样本设计</vt:lpstr>
      <vt:lpstr>测试样本设计</vt:lpstr>
      <vt:lpstr>系统对接流程</vt:lpstr>
      <vt:lpstr>AI拨打效果监控</vt:lpstr>
      <vt:lpstr>评估标准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 L</dc:creator>
  <cp:lastModifiedBy>杭天扬</cp:lastModifiedBy>
  <cp:revision>134</cp:revision>
  <dcterms:created xsi:type="dcterms:W3CDTF">2021-06-16T05:39:00Z</dcterms:created>
  <dcterms:modified xsi:type="dcterms:W3CDTF">2022-09-06T05:45:13Z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B8156FC47EBE44B48FF78CF9F249072E</vt:lpwstr>
  </property>
  <property fmtid="{D5CDD505-2E9C-101B-9397-08002B2CF9AE}" pid="3" name="KSOProductBuildVer">
    <vt:lpwstr>2052-11.8.2.10393</vt:lpwstr>
  </property>
</Properties>
</file>