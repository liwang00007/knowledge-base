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948" r:id="rId2"/>
    <p:sldId id="1639" r:id="rId3"/>
    <p:sldId id="1655" r:id="rId4"/>
    <p:sldId id="1638" r:id="rId5"/>
    <p:sldId id="1642" r:id="rId6"/>
    <p:sldId id="1647" r:id="rId7"/>
    <p:sldId id="1636" r:id="rId8"/>
    <p:sldId id="1644" r:id="rId9"/>
    <p:sldId id="1641" r:id="rId10"/>
    <p:sldId id="1653" r:id="rId11"/>
    <p:sldId id="1666" r:id="rId12"/>
    <p:sldId id="1656" r:id="rId13"/>
    <p:sldId id="1657" r:id="rId14"/>
    <p:sldId id="1658" r:id="rId15"/>
    <p:sldId id="1659" r:id="rId16"/>
    <p:sldId id="1660" r:id="rId17"/>
    <p:sldId id="1661" r:id="rId18"/>
    <p:sldId id="1662" r:id="rId19"/>
    <p:sldId id="1667" r:id="rId20"/>
    <p:sldId id="1664" r:id="rId21"/>
    <p:sldId id="1665" r:id="rId22"/>
    <p:sldId id="94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AC6E808-D0F5-4C3D-9CA8-290D82A3C796}">
          <p14:sldIdLst>
            <p14:sldId id="948"/>
            <p14:sldId id="1639"/>
            <p14:sldId id="1655"/>
            <p14:sldId id="1638"/>
            <p14:sldId id="1642"/>
            <p14:sldId id="1647"/>
            <p14:sldId id="1636"/>
            <p14:sldId id="1644"/>
            <p14:sldId id="1641"/>
            <p14:sldId id="1653"/>
            <p14:sldId id="1666"/>
            <p14:sldId id="1656"/>
            <p14:sldId id="1657"/>
            <p14:sldId id="1658"/>
            <p14:sldId id="1659"/>
            <p14:sldId id="1660"/>
            <p14:sldId id="1661"/>
            <p14:sldId id="1662"/>
            <p14:sldId id="1667"/>
            <p14:sldId id="1664"/>
            <p14:sldId id="1665"/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73">
          <p15:clr>
            <a:srgbClr val="A4A3A4"/>
          </p15:clr>
        </p15:guide>
        <p15:guide id="2" pos="36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z20024907" initials="h" lastIdx="1" clrIdx="0"/>
  <p:cmAuthor id="2" name="hz0703026" initials="h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D2DEEF"/>
    <a:srgbClr val="5B9BD5"/>
    <a:srgbClr val="FFFFFF"/>
    <a:srgbClr val="ED493F"/>
    <a:srgbClr val="1F4E9F"/>
    <a:srgbClr val="F88BA4"/>
    <a:srgbClr val="EC5312"/>
    <a:srgbClr val="F37A21"/>
    <a:srgbClr val="0376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41" autoAdjust="0"/>
    <p:restoredTop sz="94674"/>
  </p:normalViewPr>
  <p:slideViewPr>
    <p:cSldViewPr snapToGrid="0">
      <p:cViewPr varScale="1">
        <p:scale>
          <a:sx n="86" d="100"/>
          <a:sy n="86" d="100"/>
        </p:scale>
        <p:origin x="456" y="91"/>
      </p:cViewPr>
      <p:guideLst>
        <p:guide orient="horz" pos="2273"/>
        <p:guide pos="36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BAEA-4E37-4E0E-8D18-BE88FF4828A2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8F1EB-422F-4CCA-9C42-E41C0E4E3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BF38C-771C-4AF9-93FD-25ABF3662D6D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B48966-4EDE-41AF-BDBC-F57722DA16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334645" y="707390"/>
            <a:ext cx="476885" cy="36000"/>
          </a:xfrm>
          <a:prstGeom prst="rect">
            <a:avLst/>
          </a:prstGeom>
          <a:solidFill>
            <a:srgbClr val="F5A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951845" y="-76200"/>
            <a:ext cx="1393825" cy="9296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4F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334645" y="707390"/>
            <a:ext cx="476885" cy="36000"/>
          </a:xfrm>
          <a:prstGeom prst="rect">
            <a:avLst/>
          </a:prstGeom>
          <a:solidFill>
            <a:srgbClr val="F5A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862583" y="-77156"/>
            <a:ext cx="1580438" cy="7850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07129"/>
            <a:ext cx="10515600" cy="4627416"/>
          </a:xfrm>
        </p:spPr>
        <p:txBody>
          <a:bodyPr/>
          <a:lstStyle>
            <a:lvl1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8001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573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573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1145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862583" y="-77156"/>
            <a:ext cx="1580438" cy="785079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951845" y="-76200"/>
            <a:ext cx="1393825" cy="9296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270"/>
            <a:ext cx="12192000" cy="68604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EFA72-B597-4764-8F40-16D6E0462F6B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FE31-5CE2-411D-9BC3-09733CB3E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FA72-B597-4764-8F40-16D6E0462F6B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CFE31-5CE2-411D-9BC3-09733CB3E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5.tif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image" Target="../media/image9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8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7.png"/><Relationship Id="rId5" Type="http://schemas.openxmlformats.org/officeDocument/2006/relationships/tags" Target="../tags/tag6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-1" y="0"/>
            <a:ext cx="12200495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screen"/>
          <a:srcRect/>
          <a:stretch>
            <a:fillRect/>
          </a:stretch>
        </p:blipFill>
        <p:spPr>
          <a:xfrm>
            <a:off x="18414" y="0"/>
            <a:ext cx="12181687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07950" y="2134235"/>
            <a:ext cx="12192000" cy="1116965"/>
          </a:xfrm>
          <a:noFill/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</a:rPr>
              <a:t>用户增长部部门规划</a:t>
            </a:r>
          </a:p>
        </p:txBody>
      </p: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5306333" y="5282244"/>
            <a:ext cx="1580438" cy="78507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2130" y="0"/>
            <a:ext cx="10515600" cy="1325563"/>
          </a:xfrm>
        </p:spPr>
        <p:txBody>
          <a:bodyPr/>
          <a:lstStyle/>
          <a:p>
            <a:r>
              <a:rPr lang="zh-CN" altLang="en-US" sz="3600" b="1"/>
              <a:t>打造以用户为中心的体验旅程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30" y="1756410"/>
            <a:ext cx="11127740" cy="45123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665480" y="1079500"/>
            <a:ext cx="872490" cy="8832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业务目标</a:t>
            </a:r>
          </a:p>
        </p:txBody>
      </p:sp>
      <p:sp>
        <p:nvSpPr>
          <p:cNvPr id="4" name="矩形 3"/>
          <p:cNvSpPr/>
          <p:nvPr/>
        </p:nvSpPr>
        <p:spPr>
          <a:xfrm>
            <a:off x="665480" y="2398395"/>
            <a:ext cx="872490" cy="2451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用户</a:t>
            </a:r>
          </a:p>
        </p:txBody>
      </p:sp>
      <p:sp>
        <p:nvSpPr>
          <p:cNvPr id="23" name="矩形 22"/>
          <p:cNvSpPr/>
          <p:nvPr/>
        </p:nvSpPr>
        <p:spPr>
          <a:xfrm>
            <a:off x="665480" y="5572760"/>
            <a:ext cx="872490" cy="9645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运营场景</a:t>
            </a:r>
          </a:p>
        </p:txBody>
      </p:sp>
      <p:sp>
        <p:nvSpPr>
          <p:cNvPr id="3" name="矩形 2"/>
          <p:cNvSpPr/>
          <p:nvPr/>
        </p:nvSpPr>
        <p:spPr>
          <a:xfrm>
            <a:off x="1835150" y="2406015"/>
            <a:ext cx="9940290" cy="2444115"/>
          </a:xfrm>
          <a:prstGeom prst="rect">
            <a:avLst/>
          </a:prstGeom>
          <a:noFill/>
          <a:ln>
            <a:solidFill>
              <a:srgbClr val="00B0F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977390" y="2598420"/>
            <a:ext cx="841375" cy="385445"/>
          </a:xfrm>
          <a:prstGeom prst="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rgbClr val="00B0F0"/>
                </a:solidFill>
              </a:rPr>
              <a:t>旅程阶段</a:t>
            </a:r>
          </a:p>
        </p:txBody>
      </p:sp>
      <p:sp>
        <p:nvSpPr>
          <p:cNvPr id="7" name="矩形 6"/>
          <p:cNvSpPr/>
          <p:nvPr/>
        </p:nvSpPr>
        <p:spPr>
          <a:xfrm>
            <a:off x="3047365" y="2598420"/>
            <a:ext cx="841375" cy="3854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1"/>
                </a:solidFill>
              </a:rPr>
              <a:t>获客</a:t>
            </a:r>
          </a:p>
        </p:txBody>
      </p:sp>
      <p:sp>
        <p:nvSpPr>
          <p:cNvPr id="8" name="矩形 7"/>
          <p:cNvSpPr/>
          <p:nvPr/>
        </p:nvSpPr>
        <p:spPr>
          <a:xfrm>
            <a:off x="3047365" y="3303270"/>
            <a:ext cx="841375" cy="3854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1"/>
                </a:solidFill>
              </a:rPr>
              <a:t>渠道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活动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社区触达</a:t>
            </a:r>
          </a:p>
        </p:txBody>
      </p:sp>
      <p:sp>
        <p:nvSpPr>
          <p:cNvPr id="9" name="矩形 8"/>
          <p:cNvSpPr/>
          <p:nvPr/>
        </p:nvSpPr>
        <p:spPr>
          <a:xfrm>
            <a:off x="4168140" y="2598420"/>
            <a:ext cx="841375" cy="3854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1"/>
                </a:solidFill>
              </a:rPr>
              <a:t>激活</a:t>
            </a:r>
          </a:p>
        </p:txBody>
      </p:sp>
      <p:sp>
        <p:nvSpPr>
          <p:cNvPr id="10" name="矩形 9"/>
          <p:cNvSpPr/>
          <p:nvPr/>
        </p:nvSpPr>
        <p:spPr>
          <a:xfrm>
            <a:off x="4168140" y="3303270"/>
            <a:ext cx="841375" cy="3854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1"/>
                </a:solidFill>
              </a:rPr>
              <a:t>获客</a:t>
            </a:r>
          </a:p>
        </p:txBody>
      </p:sp>
      <p:sp>
        <p:nvSpPr>
          <p:cNvPr id="11" name="矩形 10"/>
          <p:cNvSpPr/>
          <p:nvPr/>
        </p:nvSpPr>
        <p:spPr>
          <a:xfrm>
            <a:off x="5299075" y="2598420"/>
            <a:ext cx="841375" cy="3854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1"/>
                </a:solidFill>
              </a:rPr>
              <a:t>浏览</a:t>
            </a:r>
          </a:p>
        </p:txBody>
      </p:sp>
      <p:sp>
        <p:nvSpPr>
          <p:cNvPr id="12" name="矩形 11"/>
          <p:cNvSpPr/>
          <p:nvPr/>
        </p:nvSpPr>
        <p:spPr>
          <a:xfrm>
            <a:off x="6384290" y="2598420"/>
            <a:ext cx="841375" cy="3854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1"/>
                </a:solidFill>
              </a:rPr>
              <a:t>咨询</a:t>
            </a:r>
          </a:p>
        </p:txBody>
      </p:sp>
      <p:sp>
        <p:nvSpPr>
          <p:cNvPr id="13" name="矩形 12"/>
          <p:cNvSpPr/>
          <p:nvPr/>
        </p:nvSpPr>
        <p:spPr>
          <a:xfrm>
            <a:off x="7555865" y="2598420"/>
            <a:ext cx="841375" cy="3854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1"/>
                </a:solidFill>
              </a:rPr>
              <a:t>配置规划</a:t>
            </a:r>
          </a:p>
        </p:txBody>
      </p:sp>
      <p:sp>
        <p:nvSpPr>
          <p:cNvPr id="14" name="矩形 13"/>
          <p:cNvSpPr/>
          <p:nvPr/>
        </p:nvSpPr>
        <p:spPr>
          <a:xfrm>
            <a:off x="8616315" y="2598420"/>
            <a:ext cx="841375" cy="3854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1"/>
                </a:solidFill>
              </a:rPr>
              <a:t>投保交易</a:t>
            </a:r>
          </a:p>
        </p:txBody>
      </p:sp>
      <p:sp>
        <p:nvSpPr>
          <p:cNvPr id="15" name="矩形 14"/>
          <p:cNvSpPr/>
          <p:nvPr/>
        </p:nvSpPr>
        <p:spPr>
          <a:xfrm>
            <a:off x="9676765" y="2598420"/>
            <a:ext cx="841375" cy="3854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1"/>
                </a:solidFill>
              </a:rPr>
              <a:t>投保交易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6863"/>
          </a:xfrm>
        </p:spPr>
        <p:txBody>
          <a:bodyPr>
            <a:noAutofit/>
          </a:bodyPr>
          <a:lstStyle/>
          <a:p>
            <a:r>
              <a:rPr lang="en-US" altLang="zh-CN" sz="3600" b="1" dirty="0">
                <a:latin typeface="+mj-ea"/>
                <a:cs typeface="+mj-ea"/>
              </a:rPr>
              <a:t>C</a:t>
            </a:r>
            <a:r>
              <a:rPr lang="zh-CN" altLang="en-US" sz="3600" b="1" dirty="0">
                <a:latin typeface="+mj-ea"/>
                <a:cs typeface="+mj-ea"/>
              </a:rPr>
              <a:t>端增长框架</a:t>
            </a:r>
          </a:p>
        </p:txBody>
      </p:sp>
      <p:sp>
        <p:nvSpPr>
          <p:cNvPr id="4" name="矩形 3"/>
          <p:cNvSpPr/>
          <p:nvPr/>
        </p:nvSpPr>
        <p:spPr>
          <a:xfrm>
            <a:off x="838200" y="3331348"/>
            <a:ext cx="1684020" cy="16535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分析平台</a:t>
            </a:r>
          </a:p>
        </p:txBody>
      </p:sp>
      <p:sp>
        <p:nvSpPr>
          <p:cNvPr id="5" name="矩形 4"/>
          <p:cNvSpPr/>
          <p:nvPr/>
        </p:nvSpPr>
        <p:spPr>
          <a:xfrm>
            <a:off x="2969260" y="3320691"/>
            <a:ext cx="2414270" cy="3996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业务分析平台</a:t>
            </a:r>
          </a:p>
        </p:txBody>
      </p:sp>
      <p:sp>
        <p:nvSpPr>
          <p:cNvPr id="6" name="矩形 5"/>
          <p:cNvSpPr/>
          <p:nvPr/>
        </p:nvSpPr>
        <p:spPr>
          <a:xfrm>
            <a:off x="8684236" y="3314435"/>
            <a:ext cx="2414270" cy="3996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营销策略平台</a:t>
            </a:r>
          </a:p>
        </p:txBody>
      </p:sp>
      <p:sp>
        <p:nvSpPr>
          <p:cNvPr id="7" name="矩形 6"/>
          <p:cNvSpPr/>
          <p:nvPr/>
        </p:nvSpPr>
        <p:spPr>
          <a:xfrm>
            <a:off x="5817870" y="3314435"/>
            <a:ext cx="2414270" cy="3996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客户画像平台</a:t>
            </a:r>
          </a:p>
        </p:txBody>
      </p:sp>
      <p:sp>
        <p:nvSpPr>
          <p:cNvPr id="8" name="矩形 7"/>
          <p:cNvSpPr/>
          <p:nvPr/>
        </p:nvSpPr>
        <p:spPr>
          <a:xfrm>
            <a:off x="2962910" y="3861246"/>
            <a:ext cx="2414270" cy="1153817"/>
          </a:xfrm>
          <a:prstGeom prst="rect">
            <a:avLst/>
          </a:prstGeom>
          <a:noFill/>
          <a:ln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301100" y="4676704"/>
            <a:ext cx="1755140" cy="2850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事件分析</a:t>
            </a:r>
          </a:p>
        </p:txBody>
      </p:sp>
      <p:sp>
        <p:nvSpPr>
          <p:cNvPr id="10" name="矩形 9"/>
          <p:cNvSpPr/>
          <p:nvPr/>
        </p:nvSpPr>
        <p:spPr>
          <a:xfrm>
            <a:off x="3298825" y="4326489"/>
            <a:ext cx="1755140" cy="2850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A/B</a:t>
            </a:r>
            <a:r>
              <a:rPr lang="zh-CN" altLang="en-US" sz="1400" dirty="0">
                <a:solidFill>
                  <a:schemeClr val="tx1"/>
                </a:solidFill>
              </a:rPr>
              <a:t>测试</a:t>
            </a:r>
          </a:p>
        </p:txBody>
      </p:sp>
      <p:sp>
        <p:nvSpPr>
          <p:cNvPr id="11" name="矩形 10"/>
          <p:cNvSpPr/>
          <p:nvPr/>
        </p:nvSpPr>
        <p:spPr>
          <a:xfrm>
            <a:off x="5817870" y="3878584"/>
            <a:ext cx="2414270" cy="1146130"/>
          </a:xfrm>
          <a:prstGeom prst="rect">
            <a:avLst/>
          </a:prstGeom>
          <a:noFill/>
          <a:ln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229985" y="3970213"/>
            <a:ext cx="1755140" cy="2850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群体转化流失预测</a:t>
            </a:r>
          </a:p>
        </p:txBody>
      </p:sp>
      <p:sp>
        <p:nvSpPr>
          <p:cNvPr id="13" name="矩形 12"/>
          <p:cNvSpPr/>
          <p:nvPr/>
        </p:nvSpPr>
        <p:spPr>
          <a:xfrm>
            <a:off x="6229985" y="4326055"/>
            <a:ext cx="1755140" cy="2850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</a:rPr>
              <a:t>用户分群</a:t>
            </a:r>
          </a:p>
        </p:txBody>
      </p:sp>
      <p:sp>
        <p:nvSpPr>
          <p:cNvPr id="14" name="矩形 13"/>
          <p:cNvSpPr/>
          <p:nvPr/>
        </p:nvSpPr>
        <p:spPr>
          <a:xfrm>
            <a:off x="8679180" y="3861245"/>
            <a:ext cx="2414270" cy="1162865"/>
          </a:xfrm>
          <a:prstGeom prst="rect">
            <a:avLst/>
          </a:prstGeom>
          <a:noFill/>
          <a:ln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38200" y="1545834"/>
            <a:ext cx="1684020" cy="16535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核心渠道</a:t>
            </a:r>
            <a:endParaRPr lang="en-US" altLang="zh-CN" dirty="0"/>
          </a:p>
          <a:p>
            <a:pPr algn="ctr"/>
            <a:r>
              <a:rPr lang="zh-CN" altLang="en-US" dirty="0"/>
              <a:t>应用场景</a:t>
            </a:r>
          </a:p>
        </p:txBody>
      </p:sp>
      <p:sp>
        <p:nvSpPr>
          <p:cNvPr id="17" name="矩形 16"/>
          <p:cNvSpPr/>
          <p:nvPr/>
        </p:nvSpPr>
        <p:spPr>
          <a:xfrm>
            <a:off x="2933589" y="1574540"/>
            <a:ext cx="2414270" cy="3996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搭建平台经营体系</a:t>
            </a:r>
          </a:p>
        </p:txBody>
      </p:sp>
      <p:sp>
        <p:nvSpPr>
          <p:cNvPr id="20" name="矩形 19"/>
          <p:cNvSpPr/>
          <p:nvPr/>
        </p:nvSpPr>
        <p:spPr>
          <a:xfrm>
            <a:off x="5900420" y="1545834"/>
            <a:ext cx="2414270" cy="3996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网电销业务数字化运营</a:t>
            </a:r>
          </a:p>
        </p:txBody>
      </p:sp>
      <p:sp>
        <p:nvSpPr>
          <p:cNvPr id="22" name="矩形 21"/>
          <p:cNvSpPr/>
          <p:nvPr/>
        </p:nvSpPr>
        <p:spPr>
          <a:xfrm>
            <a:off x="8679180" y="1558053"/>
            <a:ext cx="2414270" cy="3996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铁三角线上线下一体化运营</a:t>
            </a:r>
          </a:p>
        </p:txBody>
      </p:sp>
      <p:sp>
        <p:nvSpPr>
          <p:cNvPr id="23" name="矩形 22"/>
          <p:cNvSpPr/>
          <p:nvPr/>
        </p:nvSpPr>
        <p:spPr>
          <a:xfrm>
            <a:off x="838200" y="5117238"/>
            <a:ext cx="1684020" cy="16535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数据平台</a:t>
            </a:r>
          </a:p>
        </p:txBody>
      </p:sp>
      <p:sp>
        <p:nvSpPr>
          <p:cNvPr id="24" name="矩形 23"/>
          <p:cNvSpPr/>
          <p:nvPr/>
        </p:nvSpPr>
        <p:spPr>
          <a:xfrm>
            <a:off x="2962910" y="5629937"/>
            <a:ext cx="2414270" cy="1092088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3292475" y="5716030"/>
            <a:ext cx="1755140" cy="2850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结构转换</a:t>
            </a:r>
          </a:p>
        </p:txBody>
      </p:sp>
      <p:sp>
        <p:nvSpPr>
          <p:cNvPr id="26" name="矩形 25"/>
          <p:cNvSpPr/>
          <p:nvPr/>
        </p:nvSpPr>
        <p:spPr>
          <a:xfrm>
            <a:off x="3292475" y="6049478"/>
            <a:ext cx="1755140" cy="2850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聚合连接</a:t>
            </a:r>
          </a:p>
        </p:txBody>
      </p:sp>
      <p:sp>
        <p:nvSpPr>
          <p:cNvPr id="27" name="矩形 26"/>
          <p:cNvSpPr/>
          <p:nvPr/>
        </p:nvSpPr>
        <p:spPr>
          <a:xfrm>
            <a:off x="2962910" y="5122669"/>
            <a:ext cx="2414270" cy="3996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数据建模与存储</a:t>
            </a:r>
          </a:p>
        </p:txBody>
      </p:sp>
      <p:sp>
        <p:nvSpPr>
          <p:cNvPr id="28" name="矩形 27"/>
          <p:cNvSpPr/>
          <p:nvPr/>
        </p:nvSpPr>
        <p:spPr>
          <a:xfrm>
            <a:off x="8679180" y="5122669"/>
            <a:ext cx="2414270" cy="3996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任务调度</a:t>
            </a:r>
          </a:p>
        </p:txBody>
      </p:sp>
      <p:sp>
        <p:nvSpPr>
          <p:cNvPr id="29" name="矩形 28"/>
          <p:cNvSpPr/>
          <p:nvPr/>
        </p:nvSpPr>
        <p:spPr>
          <a:xfrm>
            <a:off x="5824220" y="5122669"/>
            <a:ext cx="2414270" cy="3996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数据标化打通</a:t>
            </a:r>
          </a:p>
        </p:txBody>
      </p:sp>
      <p:sp>
        <p:nvSpPr>
          <p:cNvPr id="30" name="矩形 29"/>
          <p:cNvSpPr/>
          <p:nvPr/>
        </p:nvSpPr>
        <p:spPr>
          <a:xfrm>
            <a:off x="5824220" y="5643174"/>
            <a:ext cx="2414270" cy="1092088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685530" y="5650228"/>
            <a:ext cx="2414270" cy="1092088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2933589" y="2053102"/>
            <a:ext cx="2414270" cy="1092088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5900420" y="2053102"/>
            <a:ext cx="2414270" cy="1092088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8685530" y="2053102"/>
            <a:ext cx="2414270" cy="1092088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6183328" y="5711942"/>
            <a:ext cx="1755140" cy="2850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用户数据</a:t>
            </a:r>
          </a:p>
        </p:txBody>
      </p:sp>
      <p:sp>
        <p:nvSpPr>
          <p:cNvPr id="36" name="矩形 35"/>
          <p:cNvSpPr/>
          <p:nvPr/>
        </p:nvSpPr>
        <p:spPr>
          <a:xfrm>
            <a:off x="6183328" y="6042219"/>
            <a:ext cx="1755140" cy="2850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商品数据</a:t>
            </a:r>
          </a:p>
        </p:txBody>
      </p:sp>
      <p:sp>
        <p:nvSpPr>
          <p:cNvPr id="37" name="矩形 36"/>
          <p:cNvSpPr/>
          <p:nvPr/>
        </p:nvSpPr>
        <p:spPr>
          <a:xfrm>
            <a:off x="3263154" y="2457335"/>
            <a:ext cx="1755140" cy="2850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渠道追踪</a:t>
            </a:r>
          </a:p>
        </p:txBody>
      </p:sp>
      <p:sp>
        <p:nvSpPr>
          <p:cNvPr id="38" name="矩形 37"/>
          <p:cNvSpPr/>
          <p:nvPr/>
        </p:nvSpPr>
        <p:spPr>
          <a:xfrm>
            <a:off x="3263154" y="2782444"/>
            <a:ext cx="1755140" cy="2850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产品改进</a:t>
            </a:r>
          </a:p>
        </p:txBody>
      </p:sp>
      <p:sp>
        <p:nvSpPr>
          <p:cNvPr id="39" name="矩形 38"/>
          <p:cNvSpPr/>
          <p:nvPr/>
        </p:nvSpPr>
        <p:spPr>
          <a:xfrm>
            <a:off x="6236335" y="2468829"/>
            <a:ext cx="1755140" cy="2850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老用户促活拉新</a:t>
            </a:r>
          </a:p>
        </p:txBody>
      </p:sp>
      <p:sp>
        <p:nvSpPr>
          <p:cNvPr id="40" name="矩形 39"/>
          <p:cNvSpPr/>
          <p:nvPr/>
        </p:nvSpPr>
        <p:spPr>
          <a:xfrm>
            <a:off x="9008745" y="5734886"/>
            <a:ext cx="1755140" cy="2850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触发机制</a:t>
            </a:r>
          </a:p>
        </p:txBody>
      </p:sp>
      <p:sp>
        <p:nvSpPr>
          <p:cNvPr id="41" name="矩形 40"/>
          <p:cNvSpPr/>
          <p:nvPr/>
        </p:nvSpPr>
        <p:spPr>
          <a:xfrm>
            <a:off x="9021445" y="4326055"/>
            <a:ext cx="1755140" cy="2850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活动运营评估</a:t>
            </a:r>
          </a:p>
        </p:txBody>
      </p:sp>
      <p:sp>
        <p:nvSpPr>
          <p:cNvPr id="42" name="矩形 41"/>
          <p:cNvSpPr/>
          <p:nvPr/>
        </p:nvSpPr>
        <p:spPr>
          <a:xfrm>
            <a:off x="9015095" y="4670657"/>
            <a:ext cx="1755140" cy="2850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活动策略迭代</a:t>
            </a:r>
          </a:p>
        </p:txBody>
      </p:sp>
      <p:sp>
        <p:nvSpPr>
          <p:cNvPr id="43" name="矩形 42"/>
          <p:cNvSpPr/>
          <p:nvPr/>
        </p:nvSpPr>
        <p:spPr>
          <a:xfrm>
            <a:off x="6229985" y="2824671"/>
            <a:ext cx="1755140" cy="2850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流失召回</a:t>
            </a:r>
          </a:p>
        </p:txBody>
      </p:sp>
      <p:sp>
        <p:nvSpPr>
          <p:cNvPr id="44" name="矩形 43"/>
          <p:cNvSpPr/>
          <p:nvPr/>
        </p:nvSpPr>
        <p:spPr>
          <a:xfrm>
            <a:off x="6236335" y="2124199"/>
            <a:ext cx="1755140" cy="2850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新用户培养转化</a:t>
            </a:r>
          </a:p>
        </p:txBody>
      </p:sp>
      <p:sp>
        <p:nvSpPr>
          <p:cNvPr id="45" name="矩形 44"/>
          <p:cNvSpPr/>
          <p:nvPr/>
        </p:nvSpPr>
        <p:spPr>
          <a:xfrm>
            <a:off x="9021445" y="3963824"/>
            <a:ext cx="1755140" cy="2850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获客渠道评估</a:t>
            </a:r>
          </a:p>
        </p:txBody>
      </p:sp>
      <p:sp>
        <p:nvSpPr>
          <p:cNvPr id="46" name="矩形 45"/>
          <p:cNvSpPr/>
          <p:nvPr/>
        </p:nvSpPr>
        <p:spPr>
          <a:xfrm>
            <a:off x="6236335" y="4673122"/>
            <a:ext cx="1755140" cy="2850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标签创建管理</a:t>
            </a:r>
          </a:p>
        </p:txBody>
      </p:sp>
      <p:sp>
        <p:nvSpPr>
          <p:cNvPr id="47" name="矩形 46"/>
          <p:cNvSpPr/>
          <p:nvPr/>
        </p:nvSpPr>
        <p:spPr>
          <a:xfrm>
            <a:off x="3298825" y="3997728"/>
            <a:ext cx="1755140" cy="2850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漏斗分析</a:t>
            </a:r>
          </a:p>
        </p:txBody>
      </p:sp>
      <p:sp>
        <p:nvSpPr>
          <p:cNvPr id="48" name="矩形 47"/>
          <p:cNvSpPr/>
          <p:nvPr/>
        </p:nvSpPr>
        <p:spPr>
          <a:xfrm>
            <a:off x="3263154" y="2097522"/>
            <a:ext cx="1755140" cy="2850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核心指标监控</a:t>
            </a:r>
          </a:p>
        </p:txBody>
      </p:sp>
      <p:sp>
        <p:nvSpPr>
          <p:cNvPr id="49" name="矩形 48"/>
          <p:cNvSpPr/>
          <p:nvPr/>
        </p:nvSpPr>
        <p:spPr>
          <a:xfrm>
            <a:off x="9090123" y="2098427"/>
            <a:ext cx="1755140" cy="2850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线索追踪</a:t>
            </a:r>
          </a:p>
        </p:txBody>
      </p:sp>
      <p:sp>
        <p:nvSpPr>
          <p:cNvPr id="50" name="矩形 49"/>
          <p:cNvSpPr/>
          <p:nvPr/>
        </p:nvSpPr>
        <p:spPr>
          <a:xfrm>
            <a:off x="6183328" y="6387700"/>
            <a:ext cx="1755140" cy="2850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保费数据</a:t>
            </a:r>
          </a:p>
        </p:txBody>
      </p:sp>
      <p:sp>
        <p:nvSpPr>
          <p:cNvPr id="51" name="矩形 50"/>
          <p:cNvSpPr/>
          <p:nvPr/>
        </p:nvSpPr>
        <p:spPr>
          <a:xfrm>
            <a:off x="9021445" y="6060226"/>
            <a:ext cx="1755140" cy="2850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工作流</a:t>
            </a:r>
          </a:p>
        </p:txBody>
      </p:sp>
      <p:sp>
        <p:nvSpPr>
          <p:cNvPr id="52" name="矩形 51"/>
          <p:cNvSpPr/>
          <p:nvPr/>
        </p:nvSpPr>
        <p:spPr>
          <a:xfrm>
            <a:off x="9021445" y="6404716"/>
            <a:ext cx="1755140" cy="2850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调度策略</a:t>
            </a:r>
          </a:p>
        </p:txBody>
      </p:sp>
      <p:sp>
        <p:nvSpPr>
          <p:cNvPr id="53" name="矩形 52"/>
          <p:cNvSpPr/>
          <p:nvPr/>
        </p:nvSpPr>
        <p:spPr>
          <a:xfrm>
            <a:off x="3292475" y="6382926"/>
            <a:ext cx="1755140" cy="2850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维度建模</a:t>
            </a:r>
          </a:p>
        </p:txBody>
      </p:sp>
      <p:sp>
        <p:nvSpPr>
          <p:cNvPr id="54" name="矩形 53"/>
          <p:cNvSpPr/>
          <p:nvPr/>
        </p:nvSpPr>
        <p:spPr>
          <a:xfrm>
            <a:off x="9090123" y="2809884"/>
            <a:ext cx="1755140" cy="2850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业绩管理</a:t>
            </a:r>
          </a:p>
        </p:txBody>
      </p:sp>
      <p:sp>
        <p:nvSpPr>
          <p:cNvPr id="55" name="矩形 54"/>
          <p:cNvSpPr/>
          <p:nvPr/>
        </p:nvSpPr>
        <p:spPr>
          <a:xfrm>
            <a:off x="9090123" y="2457335"/>
            <a:ext cx="1755140" cy="2850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成单转化流程优化</a:t>
            </a:r>
          </a:p>
        </p:txBody>
      </p:sp>
      <p:sp>
        <p:nvSpPr>
          <p:cNvPr id="56" name="矩形 55"/>
          <p:cNvSpPr/>
          <p:nvPr/>
        </p:nvSpPr>
        <p:spPr>
          <a:xfrm>
            <a:off x="838200" y="1118235"/>
            <a:ext cx="1684020" cy="3371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业务目标</a:t>
            </a:r>
          </a:p>
        </p:txBody>
      </p:sp>
      <p:sp>
        <p:nvSpPr>
          <p:cNvPr id="3" name="箭头: 五边形 2"/>
          <p:cNvSpPr/>
          <p:nvPr/>
        </p:nvSpPr>
        <p:spPr>
          <a:xfrm>
            <a:off x="2933589" y="1118124"/>
            <a:ext cx="1753821" cy="315523"/>
          </a:xfrm>
          <a:prstGeom prst="homePlat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调整增量业务结构</a:t>
            </a:r>
          </a:p>
        </p:txBody>
      </p:sp>
      <p:sp>
        <p:nvSpPr>
          <p:cNvPr id="57" name="箭头: V 形 56"/>
          <p:cNvSpPr/>
          <p:nvPr/>
        </p:nvSpPr>
        <p:spPr>
          <a:xfrm>
            <a:off x="4613603" y="1117820"/>
            <a:ext cx="2035772" cy="333128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提升存量业务品质</a:t>
            </a:r>
          </a:p>
        </p:txBody>
      </p:sp>
      <p:sp>
        <p:nvSpPr>
          <p:cNvPr id="58" name="箭头: V 形 57"/>
          <p:cNvSpPr/>
          <p:nvPr/>
        </p:nvSpPr>
        <p:spPr>
          <a:xfrm>
            <a:off x="6553865" y="1117820"/>
            <a:ext cx="2128506" cy="333128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业务实现数字化转型</a:t>
            </a:r>
          </a:p>
        </p:txBody>
      </p:sp>
      <p:sp>
        <p:nvSpPr>
          <p:cNvPr id="59" name="箭头: V 形 58"/>
          <p:cNvSpPr/>
          <p:nvPr/>
        </p:nvSpPr>
        <p:spPr>
          <a:xfrm>
            <a:off x="8589833" y="1109321"/>
            <a:ext cx="2503617" cy="333128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组织实现数字化经营赋能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030605" y="1067435"/>
          <a:ext cx="10131425" cy="5706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4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5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分析框架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分析模块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主要工作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预计时间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385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开放平台基础指标监控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实时统计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每日</a:t>
                      </a:r>
                      <a:r>
                        <a:rPr lang="en-US" altLang="zh-CN" sz="900"/>
                        <a:t>/</a:t>
                      </a:r>
                      <a:r>
                        <a:rPr lang="zh-CN" altLang="en-US" sz="900"/>
                        <a:t>累计</a:t>
                      </a:r>
                      <a:r>
                        <a:rPr lang="en-US" altLang="zh-CN" sz="900"/>
                        <a:t>/</a:t>
                      </a:r>
                      <a:r>
                        <a:rPr lang="zh-CN" altLang="en-US" sz="900"/>
                        <a:t>分时新增与活跃，掌握用户活跃变化趋势，观察用户使用习惯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二期</a:t>
                      </a:r>
                      <a:r>
                        <a:rPr lang="en-US" altLang="zh-CN" sz="900"/>
                        <a:t>10.15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整体趋势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掌握开放平台整体数据规模与发展趋势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>
                          <a:sym typeface="+mn-ea"/>
                        </a:rPr>
                        <a:t>二期</a:t>
                      </a:r>
                      <a:r>
                        <a:rPr lang="en-US" altLang="zh-CN" sz="900"/>
                        <a:t>10.15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>
                          <a:sym typeface="+mn-ea"/>
                        </a:rPr>
                        <a:t>商机渠道分析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900"/>
                        <a:t>app,web</a:t>
                      </a:r>
                      <a:r>
                        <a:rPr lang="zh-CN" altLang="en-US" sz="900"/>
                        <a:t>渠道对比，落地页跳出率，各渠道注册转化，</a:t>
                      </a:r>
                      <a:r>
                        <a:rPr lang="en-US" altLang="zh-CN" sz="900"/>
                        <a:t>GMV</a:t>
                      </a:r>
                      <a:r>
                        <a:rPr lang="zh-CN" altLang="en-US" sz="900"/>
                        <a:t>贡献，商品偏好及活跃占比；量化渠道质量评估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>
                          <a:sym typeface="+mn-ea"/>
                        </a:rPr>
                        <a:t>二期</a:t>
                      </a:r>
                      <a:r>
                        <a:rPr lang="en-US" altLang="zh-CN" sz="900"/>
                        <a:t>10.15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商品分析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保险产品销售及趋势，复购情况，关注情况，退保情况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三期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用户生命周期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活跃用户成分分析，用户流失预警，评估用户增长健康度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三期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 rowSpan="7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开放平台用户分析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新增用户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新增用户趋势、留存，评估新用户质量，有效期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>
                          <a:sym typeface="+mn-ea"/>
                        </a:rPr>
                        <a:t>二期</a:t>
                      </a:r>
                      <a:r>
                        <a:rPr lang="en-US" altLang="zh-CN" sz="900"/>
                        <a:t>10.15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活跃用户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活跃用户趋势、分布、浏览质量，评估活跃用户的活跃度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>
                          <a:sym typeface="+mn-ea"/>
                        </a:rPr>
                        <a:t>二期</a:t>
                      </a:r>
                      <a:r>
                        <a:rPr lang="en-US" altLang="zh-CN" sz="900"/>
                        <a:t>10.15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用户留存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展示新增用户、整体用户的留存率变化与趋势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三期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漏斗分析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分析用户多步骤行为之间的转化与流失情况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三期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用户参与度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用户对产品的使用次数、时常、深度、频率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三期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用户分群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使用 标签、用户行为、用户属性 进行筛选，获得目标群体</a:t>
                      </a:r>
                    </a:p>
                    <a:p>
                      <a:pPr algn="ctr">
                        <a:buNone/>
                      </a:pPr>
                      <a:r>
                        <a:rPr lang="zh-CN" altLang="en-US" sz="900"/>
                        <a:t>观察目标群体的 标签分布、行为指标 和 用户构成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三期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用户路径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分析用户实际行为的流向变化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三期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开放平台运营分析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活动分析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活动</a:t>
                      </a:r>
                      <a:r>
                        <a:rPr lang="en-US" altLang="zh-CN" sz="900"/>
                        <a:t>GMV</a:t>
                      </a:r>
                      <a:r>
                        <a:rPr lang="zh-CN" altLang="en-US" sz="900"/>
                        <a:t>，活动参与情况，活动后续影响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三期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73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900"/>
                        <a:t>LTV</a:t>
                      </a:r>
                      <a:r>
                        <a:rPr lang="zh-CN" altLang="en-US" sz="900"/>
                        <a:t>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针对新用户，连续活跃用户，回流用户，沉默用户及流失用户，给运营提供各阶段的目标群体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三期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实时拉新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慧选骑士等老拉新实施效果，活动有效激活、注册用户趋势，</a:t>
                      </a:r>
                      <a:r>
                        <a:rPr lang="zh-CN" altLang="en-US" sz="900">
                          <a:sym typeface="+mn-ea"/>
                        </a:rPr>
                        <a:t>新用户激活转化</a:t>
                      </a:r>
                      <a:endParaRPr lang="zh-CN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三期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场景分析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归因分析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分析产品运营位与用户转化的贡献关系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三期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间隔分析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分析用户在两个事件之间的间隔时常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三期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分布分析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分析用户在一段时间的频次和指标分布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三期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6700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标准化工作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>
                          <a:sym typeface="+mn-ea"/>
                        </a:rPr>
                        <a:t>码表标化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人员，渠道，等值标化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>
                          <a:sym typeface="+mn-ea"/>
                        </a:rPr>
                        <a:t>三期</a:t>
                      </a:r>
                      <a:endParaRPr lang="en-US" altLang="zh-CN" sz="900"/>
                    </a:p>
                  </a:txBody>
                  <a:tcPr anchor="ctr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>
                          <a:sym typeface="+mn-ea"/>
                        </a:rPr>
                        <a:t>用户</a:t>
                      </a:r>
                      <a:r>
                        <a:rPr lang="en-US" altLang="zh-CN" sz="900">
                          <a:sym typeface="+mn-ea"/>
                        </a:rPr>
                        <a:t>ID</a:t>
                      </a:r>
                      <a:r>
                        <a:rPr lang="zh-CN" altLang="en-US" sz="900">
                          <a:sym typeface="+mn-ea"/>
                        </a:rPr>
                        <a:t>标准化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开放平台用户定义及规范化使用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900"/>
                        <a:t>二期</a:t>
                      </a:r>
                      <a:r>
                        <a:rPr lang="en-US" altLang="zh-CN" sz="900"/>
                        <a:t>10.15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商品标准化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商品属性标准化，提取商品模板数据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三期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保费标准化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/>
                        <a:t>标保使用场景分类，口径归一，数据源归一写入数仓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dirty="0"/>
                        <a:t>三期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6863"/>
          </a:xfrm>
        </p:spPr>
        <p:txBody>
          <a:bodyPr>
            <a:noAutofit/>
          </a:bodyPr>
          <a:lstStyle/>
          <a:p>
            <a:r>
              <a:rPr lang="en-US" altLang="zh-CN" sz="3600" b="1" dirty="0">
                <a:latin typeface="+mj-ea"/>
                <a:cs typeface="+mj-ea"/>
              </a:rPr>
              <a:t>C</a:t>
            </a:r>
            <a:r>
              <a:rPr lang="zh-CN" altLang="en-US" sz="3600" b="1" dirty="0">
                <a:latin typeface="+mj-ea"/>
                <a:cs typeface="+mj-ea"/>
              </a:rPr>
              <a:t>端增长模块拆解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6"/>
          <p:cNvSpPr>
            <a:spLocks noChangeArrowheads="1"/>
          </p:cNvSpPr>
          <p:nvPr/>
        </p:nvSpPr>
        <p:spPr bwMode="auto">
          <a:xfrm>
            <a:off x="555584" y="3634487"/>
            <a:ext cx="243417" cy="24553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>
            <a:off x="957750" y="3634487"/>
            <a:ext cx="241300" cy="24553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" name="Oval 28"/>
          <p:cNvSpPr>
            <a:spLocks noChangeArrowheads="1"/>
          </p:cNvSpPr>
          <p:nvPr/>
        </p:nvSpPr>
        <p:spPr bwMode="auto">
          <a:xfrm>
            <a:off x="1359917" y="3634487"/>
            <a:ext cx="243417" cy="24553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" name="Oval 29"/>
          <p:cNvSpPr>
            <a:spLocks noChangeArrowheads="1"/>
          </p:cNvSpPr>
          <p:nvPr/>
        </p:nvSpPr>
        <p:spPr bwMode="auto">
          <a:xfrm>
            <a:off x="1762083" y="3634487"/>
            <a:ext cx="241300" cy="24553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7" name="Oval 30"/>
          <p:cNvSpPr>
            <a:spLocks noChangeArrowheads="1"/>
          </p:cNvSpPr>
          <p:nvPr/>
        </p:nvSpPr>
        <p:spPr bwMode="auto">
          <a:xfrm>
            <a:off x="2162134" y="3634487"/>
            <a:ext cx="241300" cy="24553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8" name="Oval 31"/>
          <p:cNvSpPr>
            <a:spLocks noChangeArrowheads="1"/>
          </p:cNvSpPr>
          <p:nvPr/>
        </p:nvSpPr>
        <p:spPr bwMode="auto">
          <a:xfrm>
            <a:off x="2566417" y="3634487"/>
            <a:ext cx="241300" cy="24553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9" name="Oval 32"/>
          <p:cNvSpPr>
            <a:spLocks noChangeArrowheads="1"/>
          </p:cNvSpPr>
          <p:nvPr/>
        </p:nvSpPr>
        <p:spPr bwMode="auto">
          <a:xfrm>
            <a:off x="2966467" y="3634487"/>
            <a:ext cx="241300" cy="24553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0" name="Oval 33"/>
          <p:cNvSpPr>
            <a:spLocks noChangeArrowheads="1"/>
          </p:cNvSpPr>
          <p:nvPr/>
        </p:nvSpPr>
        <p:spPr bwMode="auto">
          <a:xfrm>
            <a:off x="3366517" y="3634487"/>
            <a:ext cx="241300" cy="24553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1" name="Oval 34"/>
          <p:cNvSpPr>
            <a:spLocks noChangeArrowheads="1"/>
          </p:cNvSpPr>
          <p:nvPr/>
        </p:nvSpPr>
        <p:spPr bwMode="auto">
          <a:xfrm>
            <a:off x="3770801" y="3634487"/>
            <a:ext cx="241300" cy="24553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2" name="Oval 35"/>
          <p:cNvSpPr>
            <a:spLocks noChangeArrowheads="1"/>
          </p:cNvSpPr>
          <p:nvPr/>
        </p:nvSpPr>
        <p:spPr bwMode="auto">
          <a:xfrm>
            <a:off x="4170850" y="3634487"/>
            <a:ext cx="241300" cy="24553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3" name="Oval 36"/>
          <p:cNvSpPr>
            <a:spLocks noChangeArrowheads="1"/>
          </p:cNvSpPr>
          <p:nvPr/>
        </p:nvSpPr>
        <p:spPr bwMode="auto">
          <a:xfrm>
            <a:off x="4575133" y="3634487"/>
            <a:ext cx="237067" cy="24553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4" name="Oval 37"/>
          <p:cNvSpPr>
            <a:spLocks noChangeArrowheads="1"/>
          </p:cNvSpPr>
          <p:nvPr/>
        </p:nvSpPr>
        <p:spPr bwMode="auto">
          <a:xfrm>
            <a:off x="4975183" y="3634487"/>
            <a:ext cx="241300" cy="24553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5" name="Oval 38"/>
          <p:cNvSpPr>
            <a:spLocks noChangeArrowheads="1"/>
          </p:cNvSpPr>
          <p:nvPr/>
        </p:nvSpPr>
        <p:spPr bwMode="auto">
          <a:xfrm>
            <a:off x="5375234" y="3634487"/>
            <a:ext cx="241300" cy="24553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6" name="Oval 39"/>
          <p:cNvSpPr>
            <a:spLocks noChangeArrowheads="1"/>
          </p:cNvSpPr>
          <p:nvPr/>
        </p:nvSpPr>
        <p:spPr bwMode="auto">
          <a:xfrm>
            <a:off x="5779517" y="3634487"/>
            <a:ext cx="241300" cy="24553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7" name="Oval 40"/>
          <p:cNvSpPr>
            <a:spLocks noChangeArrowheads="1"/>
          </p:cNvSpPr>
          <p:nvPr/>
        </p:nvSpPr>
        <p:spPr bwMode="auto">
          <a:xfrm>
            <a:off x="6179567" y="3634487"/>
            <a:ext cx="241300" cy="24553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8" name="Oval 41"/>
          <p:cNvSpPr>
            <a:spLocks noChangeArrowheads="1"/>
          </p:cNvSpPr>
          <p:nvPr/>
        </p:nvSpPr>
        <p:spPr bwMode="auto">
          <a:xfrm>
            <a:off x="6579617" y="3634487"/>
            <a:ext cx="243417" cy="24553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9" name="Oval 42"/>
          <p:cNvSpPr>
            <a:spLocks noChangeArrowheads="1"/>
          </p:cNvSpPr>
          <p:nvPr/>
        </p:nvSpPr>
        <p:spPr bwMode="auto">
          <a:xfrm>
            <a:off x="6983901" y="3634487"/>
            <a:ext cx="241300" cy="24553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0" name="Oval 43"/>
          <p:cNvSpPr>
            <a:spLocks noChangeArrowheads="1"/>
          </p:cNvSpPr>
          <p:nvPr/>
        </p:nvSpPr>
        <p:spPr bwMode="auto">
          <a:xfrm>
            <a:off x="7383950" y="3634487"/>
            <a:ext cx="243417" cy="24553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1" name="Oval 44"/>
          <p:cNvSpPr>
            <a:spLocks noChangeArrowheads="1"/>
          </p:cNvSpPr>
          <p:nvPr/>
        </p:nvSpPr>
        <p:spPr bwMode="auto">
          <a:xfrm>
            <a:off x="7786117" y="3634487"/>
            <a:ext cx="241300" cy="24553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2" name="Oval 45"/>
          <p:cNvSpPr>
            <a:spLocks noChangeArrowheads="1"/>
          </p:cNvSpPr>
          <p:nvPr/>
        </p:nvSpPr>
        <p:spPr bwMode="auto">
          <a:xfrm>
            <a:off x="8188284" y="3634487"/>
            <a:ext cx="243417" cy="24553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3" name="Oval 46"/>
          <p:cNvSpPr>
            <a:spLocks noChangeArrowheads="1"/>
          </p:cNvSpPr>
          <p:nvPr/>
        </p:nvSpPr>
        <p:spPr bwMode="auto">
          <a:xfrm>
            <a:off x="8590450" y="3634487"/>
            <a:ext cx="241300" cy="24553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4" name="Oval 47"/>
          <p:cNvSpPr>
            <a:spLocks noChangeArrowheads="1"/>
          </p:cNvSpPr>
          <p:nvPr/>
        </p:nvSpPr>
        <p:spPr bwMode="auto">
          <a:xfrm>
            <a:off x="8990501" y="3634487"/>
            <a:ext cx="241300" cy="24553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5" name="Oval 48"/>
          <p:cNvSpPr>
            <a:spLocks noChangeArrowheads="1"/>
          </p:cNvSpPr>
          <p:nvPr/>
        </p:nvSpPr>
        <p:spPr bwMode="auto">
          <a:xfrm>
            <a:off x="9394783" y="3634487"/>
            <a:ext cx="241300" cy="24553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6" name="Oval 49"/>
          <p:cNvSpPr>
            <a:spLocks noChangeArrowheads="1"/>
          </p:cNvSpPr>
          <p:nvPr/>
        </p:nvSpPr>
        <p:spPr bwMode="auto">
          <a:xfrm>
            <a:off x="9794834" y="3634487"/>
            <a:ext cx="241300" cy="24553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7" name="Oval 50"/>
          <p:cNvSpPr>
            <a:spLocks noChangeArrowheads="1"/>
          </p:cNvSpPr>
          <p:nvPr/>
        </p:nvSpPr>
        <p:spPr bwMode="auto">
          <a:xfrm>
            <a:off x="10199116" y="3634487"/>
            <a:ext cx="237067" cy="24553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8" name="Freeform 51"/>
          <p:cNvSpPr/>
          <p:nvPr/>
        </p:nvSpPr>
        <p:spPr bwMode="auto">
          <a:xfrm>
            <a:off x="10594933" y="3621788"/>
            <a:ext cx="493184" cy="497417"/>
          </a:xfrm>
          <a:custGeom>
            <a:avLst/>
            <a:gdLst>
              <a:gd name="T0" fmla="*/ 135 w 149"/>
              <a:gd name="T1" fmla="*/ 66 h 149"/>
              <a:gd name="T2" fmla="*/ 140 w 149"/>
              <a:gd name="T3" fmla="*/ 60 h 149"/>
              <a:gd name="T4" fmla="*/ 135 w 149"/>
              <a:gd name="T5" fmla="*/ 14 h 149"/>
              <a:gd name="T6" fmla="*/ 89 w 149"/>
              <a:gd name="T7" fmla="*/ 9 h 149"/>
              <a:gd name="T8" fmla="*/ 83 w 149"/>
              <a:gd name="T9" fmla="*/ 14 h 149"/>
              <a:gd name="T10" fmla="*/ 14 w 149"/>
              <a:gd name="T11" fmla="*/ 83 h 149"/>
              <a:gd name="T12" fmla="*/ 10 w 149"/>
              <a:gd name="T13" fmla="*/ 89 h 149"/>
              <a:gd name="T14" fmla="*/ 14 w 149"/>
              <a:gd name="T15" fmla="*/ 135 h 149"/>
              <a:gd name="T16" fmla="*/ 60 w 149"/>
              <a:gd name="T17" fmla="*/ 139 h 149"/>
              <a:gd name="T18" fmla="*/ 66 w 149"/>
              <a:gd name="T19" fmla="*/ 135 h 149"/>
              <a:gd name="T20" fmla="*/ 135 w 149"/>
              <a:gd name="T21" fmla="*/ 66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9" h="149">
                <a:moveTo>
                  <a:pt x="135" y="66"/>
                </a:moveTo>
                <a:cubicBezTo>
                  <a:pt x="137" y="64"/>
                  <a:pt x="138" y="62"/>
                  <a:pt x="140" y="60"/>
                </a:cubicBezTo>
                <a:cubicBezTo>
                  <a:pt x="149" y="46"/>
                  <a:pt x="147" y="27"/>
                  <a:pt x="135" y="14"/>
                </a:cubicBezTo>
                <a:cubicBezTo>
                  <a:pt x="122" y="2"/>
                  <a:pt x="103" y="0"/>
                  <a:pt x="89" y="9"/>
                </a:cubicBezTo>
                <a:cubicBezTo>
                  <a:pt x="87" y="11"/>
                  <a:pt x="85" y="12"/>
                  <a:pt x="83" y="14"/>
                </a:cubicBezTo>
                <a:cubicBezTo>
                  <a:pt x="14" y="83"/>
                  <a:pt x="14" y="83"/>
                  <a:pt x="14" y="83"/>
                </a:cubicBezTo>
                <a:cubicBezTo>
                  <a:pt x="12" y="85"/>
                  <a:pt x="11" y="87"/>
                  <a:pt x="10" y="89"/>
                </a:cubicBezTo>
                <a:cubicBezTo>
                  <a:pt x="0" y="103"/>
                  <a:pt x="1" y="122"/>
                  <a:pt x="14" y="135"/>
                </a:cubicBezTo>
                <a:cubicBezTo>
                  <a:pt x="26" y="148"/>
                  <a:pt x="46" y="149"/>
                  <a:pt x="60" y="139"/>
                </a:cubicBezTo>
                <a:cubicBezTo>
                  <a:pt x="62" y="138"/>
                  <a:pt x="64" y="137"/>
                  <a:pt x="66" y="135"/>
                </a:cubicBezTo>
                <a:lnTo>
                  <a:pt x="135" y="66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9" name="Freeform 52"/>
          <p:cNvSpPr/>
          <p:nvPr/>
        </p:nvSpPr>
        <p:spPr bwMode="auto">
          <a:xfrm>
            <a:off x="10594933" y="3393187"/>
            <a:ext cx="493184" cy="499533"/>
          </a:xfrm>
          <a:custGeom>
            <a:avLst/>
            <a:gdLst>
              <a:gd name="T0" fmla="*/ 65 w 149"/>
              <a:gd name="T1" fmla="*/ 14 h 149"/>
              <a:gd name="T2" fmla="*/ 59 w 149"/>
              <a:gd name="T3" fmla="*/ 9 h 149"/>
              <a:gd name="T4" fmla="*/ 14 w 149"/>
              <a:gd name="T5" fmla="*/ 14 h 149"/>
              <a:gd name="T6" fmla="*/ 9 w 149"/>
              <a:gd name="T7" fmla="*/ 60 h 149"/>
              <a:gd name="T8" fmla="*/ 14 w 149"/>
              <a:gd name="T9" fmla="*/ 65 h 149"/>
              <a:gd name="T10" fmla="*/ 83 w 149"/>
              <a:gd name="T11" fmla="*/ 135 h 149"/>
              <a:gd name="T12" fmla="*/ 88 w 149"/>
              <a:gd name="T13" fmla="*/ 139 h 149"/>
              <a:gd name="T14" fmla="*/ 135 w 149"/>
              <a:gd name="T15" fmla="*/ 135 h 149"/>
              <a:gd name="T16" fmla="*/ 139 w 149"/>
              <a:gd name="T17" fmla="*/ 88 h 149"/>
              <a:gd name="T18" fmla="*/ 135 w 149"/>
              <a:gd name="T19" fmla="*/ 83 h 149"/>
              <a:gd name="T20" fmla="*/ 65 w 149"/>
              <a:gd name="T21" fmla="*/ 14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9" h="149">
                <a:moveTo>
                  <a:pt x="65" y="14"/>
                </a:moveTo>
                <a:cubicBezTo>
                  <a:pt x="64" y="12"/>
                  <a:pt x="62" y="10"/>
                  <a:pt x="59" y="9"/>
                </a:cubicBezTo>
                <a:cubicBezTo>
                  <a:pt x="45" y="0"/>
                  <a:pt x="26" y="1"/>
                  <a:pt x="14" y="14"/>
                </a:cubicBezTo>
                <a:cubicBezTo>
                  <a:pt x="1" y="26"/>
                  <a:pt x="0" y="46"/>
                  <a:pt x="9" y="60"/>
                </a:cubicBezTo>
                <a:cubicBezTo>
                  <a:pt x="10" y="62"/>
                  <a:pt x="12" y="64"/>
                  <a:pt x="14" y="65"/>
                </a:cubicBezTo>
                <a:cubicBezTo>
                  <a:pt x="83" y="135"/>
                  <a:pt x="83" y="135"/>
                  <a:pt x="83" y="135"/>
                </a:cubicBezTo>
                <a:cubicBezTo>
                  <a:pt x="85" y="137"/>
                  <a:pt x="86" y="138"/>
                  <a:pt x="88" y="139"/>
                </a:cubicBezTo>
                <a:cubicBezTo>
                  <a:pt x="102" y="149"/>
                  <a:pt x="122" y="148"/>
                  <a:pt x="135" y="135"/>
                </a:cubicBezTo>
                <a:cubicBezTo>
                  <a:pt x="147" y="122"/>
                  <a:pt x="149" y="103"/>
                  <a:pt x="139" y="88"/>
                </a:cubicBezTo>
                <a:cubicBezTo>
                  <a:pt x="138" y="87"/>
                  <a:pt x="136" y="85"/>
                  <a:pt x="135" y="83"/>
                </a:cubicBezTo>
                <a:lnTo>
                  <a:pt x="65" y="14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 flipV="1">
            <a:off x="1055116" y="2382479"/>
            <a:ext cx="0" cy="135890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3080767" y="3803821"/>
            <a:ext cx="0" cy="1358900"/>
          </a:xfrm>
          <a:prstGeom prst="line">
            <a:avLst/>
          </a:prstGeom>
          <a:ln w="12700">
            <a:solidFill>
              <a:schemeClr val="accent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5108533" y="2382479"/>
            <a:ext cx="0" cy="1358900"/>
          </a:xfrm>
          <a:prstGeom prst="line">
            <a:avLst/>
          </a:prstGeom>
          <a:ln w="12700">
            <a:solidFill>
              <a:schemeClr val="accent3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7096084" y="3803821"/>
            <a:ext cx="0" cy="1358900"/>
          </a:xfrm>
          <a:prstGeom prst="line">
            <a:avLst/>
          </a:prstGeom>
          <a:ln w="12700">
            <a:solidFill>
              <a:schemeClr val="accent4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8687817" y="2382479"/>
            <a:ext cx="0" cy="1358900"/>
          </a:xfrm>
          <a:prstGeom prst="line">
            <a:avLst/>
          </a:prstGeom>
          <a:ln w="12700">
            <a:solidFill>
              <a:schemeClr val="accent5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781134" y="1909945"/>
            <a:ext cx="197607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id-ID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2021.10.15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81175" y="2112010"/>
            <a:ext cx="2930525" cy="1245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b="1" dirty="0">
                <a:latin typeface="+mn-ea"/>
                <a:cs typeface="+mn-ea"/>
                <a:sym typeface="思源黑体 CN Regular" panose="020B0500000000000000" pitchFamily="34" charset="-122"/>
              </a:rPr>
              <a:t>开放平台用户画像</a:t>
            </a:r>
            <a:r>
              <a:rPr lang="en-US" altLang="zh-CN" sz="1400" b="1" dirty="0">
                <a:latin typeface="+mn-ea"/>
                <a:cs typeface="+mn-ea"/>
                <a:sym typeface="思源黑体 CN Regular" panose="020B0500000000000000" pitchFamily="34" charset="-122"/>
              </a:rPr>
              <a:t>V1</a:t>
            </a:r>
          </a:p>
          <a:p>
            <a:pPr algn="just">
              <a:lnSpc>
                <a:spcPct val="150000"/>
              </a:lnSpc>
            </a:pPr>
            <a:r>
              <a:rPr lang="en-US" altLang="zh-CN" sz="1200">
                <a:sym typeface="+mn-ea"/>
              </a:rPr>
              <a:t>1. </a:t>
            </a:r>
            <a:r>
              <a:rPr lang="zh-CN" altLang="en-US" sz="1200">
                <a:sym typeface="+mn-ea"/>
              </a:rPr>
              <a:t>基于统计分析和机器学习的用户洞察</a:t>
            </a:r>
            <a:endParaRPr lang="zh-CN" altLang="en-US" sz="1200"/>
          </a:p>
          <a:p>
            <a:pPr algn="just">
              <a:lnSpc>
                <a:spcPct val="150000"/>
              </a:lnSpc>
            </a:pPr>
            <a:r>
              <a:rPr lang="en-US" altLang="zh-CN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2. </a:t>
            </a:r>
            <a:r>
              <a: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开放平台基础指标监控</a:t>
            </a:r>
          </a:p>
          <a:p>
            <a:pPr algn="just">
              <a:lnSpc>
                <a:spcPct val="150000"/>
              </a:lnSpc>
            </a:pPr>
            <a:r>
              <a:rPr lang="en-US" altLang="zh-CN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3. </a:t>
            </a:r>
            <a:r>
              <a: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开放平台用户数据标准化及相关治理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79517" y="1904865"/>
            <a:ext cx="197607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2022.3.31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41670" y="2167255"/>
            <a:ext cx="257175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b="1" dirty="0">
                <a:latin typeface="+mn-ea"/>
                <a:cs typeface="+mn-ea"/>
                <a:sym typeface="思源黑体 CN Regular" panose="020B0500000000000000" pitchFamily="34" charset="-122"/>
              </a:rPr>
              <a:t>打造</a:t>
            </a:r>
            <a:r>
              <a:rPr lang="en-US" altLang="zh-CN" sz="1400" b="1" dirty="0">
                <a:latin typeface="+mn-ea"/>
                <a:cs typeface="+mn-ea"/>
                <a:sym typeface="思源黑体 CN Regular" panose="020B0500000000000000" pitchFamily="34" charset="-122"/>
              </a:rPr>
              <a:t>C</a:t>
            </a:r>
            <a:r>
              <a:rPr lang="zh-CN" altLang="en-US" sz="1400" b="1" dirty="0">
                <a:latin typeface="+mn-ea"/>
                <a:cs typeface="+mn-ea"/>
                <a:sym typeface="思源黑体 CN Regular" panose="020B0500000000000000" pitchFamily="34" charset="-122"/>
              </a:rPr>
              <a:t>端基于用户体验的数字化运营</a:t>
            </a:r>
            <a:r>
              <a:rPr lang="zh-CN" altLang="en-US" sz="1200" b="1" dirty="0">
                <a:latin typeface="+mn-ea"/>
                <a:cs typeface="+mn-ea"/>
                <a:sym typeface="思源黑体 CN Regular" panose="020B0500000000000000" pitchFamily="34" charset="-122"/>
              </a:rPr>
              <a:t>（开放平台，慧选）</a:t>
            </a:r>
          </a:p>
          <a:p>
            <a:pPr algn="just">
              <a:lnSpc>
                <a:spcPct val="150000"/>
              </a:lnSpc>
            </a:pPr>
            <a:r>
              <a:rPr lang="en-US" altLang="zh-CN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1. </a:t>
            </a:r>
            <a:r>
              <a: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站外获客增长</a:t>
            </a:r>
          </a:p>
          <a:p>
            <a:pPr algn="just">
              <a:lnSpc>
                <a:spcPct val="150000"/>
              </a:lnSpc>
            </a:pPr>
            <a:r>
              <a:rPr lang="en-US" altLang="zh-CN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2. </a:t>
            </a:r>
            <a:r>
              <a: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站内转化提升</a:t>
            </a:r>
          </a:p>
          <a:p>
            <a:pPr algn="just">
              <a:lnSpc>
                <a:spcPct val="150000"/>
              </a:lnSpc>
            </a:pPr>
            <a:r>
              <a:rPr lang="en-US" altLang="zh-CN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3. </a:t>
            </a:r>
            <a:r>
              <a: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用户口碑培养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9541" y="1904865"/>
            <a:ext cx="197607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id-ID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2022.12.31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89415" y="2185670"/>
            <a:ext cx="2903220" cy="1522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b="1" dirty="0">
                <a:latin typeface="+mn-ea"/>
                <a:cs typeface="+mn-ea"/>
                <a:sym typeface="思源黑体 CN Regular" panose="020B0500000000000000" pitchFamily="34" charset="-122"/>
              </a:rPr>
              <a:t>数字化运营闭环解决方案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1. 全端数据采集、用户画像洞察、多渠道精细化用户触达、效果评估实时反馈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2. 打通企业数据流与业务流，实现数字化的业务闭环，用数据驱动增长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0744" y="4290654"/>
            <a:ext cx="197607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id-ID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2021.12.31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90742" y="4534925"/>
            <a:ext cx="2534873" cy="1245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b="1" dirty="0">
                <a:latin typeface="+mn-ea"/>
                <a:cs typeface="+mn-ea"/>
                <a:sym typeface="思源黑体 CN Regular" panose="020B0500000000000000" pitchFamily="34" charset="-122"/>
              </a:rPr>
              <a:t>开放平台用户增长方案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1. 助力</a:t>
            </a:r>
            <a:r>
              <a: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开放</a:t>
            </a:r>
            <a:r>
              <a:rPr 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平台打通全链路数据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2. 赋能商品和用户的精细化运营</a:t>
            </a:r>
          </a:p>
          <a:p>
            <a:pPr algn="just">
              <a:lnSpc>
                <a:spcPct val="150000"/>
              </a:lnSpc>
            </a:pPr>
            <a:r>
              <a:rPr lang="en-US" altLang="zh-CN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3. </a:t>
            </a:r>
            <a:r>
              <a: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挖掘</a:t>
            </a:r>
            <a:r>
              <a:rPr 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增长</a:t>
            </a:r>
            <a:r>
              <a: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方案，打造增长飞轮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89126" y="4290654"/>
            <a:ext cx="197607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id-ID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2022.6.30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88910" y="4535170"/>
            <a:ext cx="329946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b="1" dirty="0">
                <a:latin typeface="+mn-ea"/>
                <a:cs typeface="+mn-ea"/>
                <a:sym typeface="思源黑体 CN Regular" panose="020B0500000000000000" pitchFamily="34" charset="-122"/>
              </a:rPr>
              <a:t>升级数字驱动力，构建全新 To C To B 运营体系</a:t>
            </a:r>
            <a:r>
              <a:rPr lang="zh-CN" altLang="en-US" sz="1200" b="1" dirty="0">
                <a:latin typeface="+mn-ea"/>
                <a:cs typeface="+mn-ea"/>
                <a:sym typeface="思源黑体 CN Regular" panose="020B0500000000000000" pitchFamily="34" charset="-122"/>
              </a:rPr>
              <a:t>（齐欣，慧帮，大白，携保）</a:t>
            </a:r>
            <a:endParaRPr lang="en-US" sz="1200" b="1" dirty="0">
              <a:latin typeface="+mn-ea"/>
              <a:cs typeface="+mn-ea"/>
              <a:sym typeface="思源黑体 CN Regular" panose="020B0500000000000000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1. </a:t>
            </a:r>
            <a:r>
              <a: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全链路用户数据</a:t>
            </a:r>
            <a:r>
              <a:rPr lang="en-US" altLang="zh-CN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one ID</a:t>
            </a:r>
            <a:r>
              <a: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打通</a:t>
            </a:r>
            <a:endParaRPr lang="en-US" sz="1200" dirty="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2. 营销效果追踪</a:t>
            </a:r>
            <a:r>
              <a: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，</a:t>
            </a:r>
            <a:r>
              <a:rPr 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产品体验优化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3. 全场景多维度数据分析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1273134" y="2242071"/>
            <a:ext cx="480485" cy="408644"/>
            <a:chOff x="73025" y="504825"/>
            <a:chExt cx="987425" cy="839788"/>
          </a:xfrm>
          <a:solidFill>
            <a:schemeClr val="accent1"/>
          </a:solidFill>
        </p:grpSpPr>
        <p:sp>
          <p:nvSpPr>
            <p:cNvPr id="46" name="Freeform 56"/>
            <p:cNvSpPr>
              <a:spLocks noEditPoints="1"/>
            </p:cNvSpPr>
            <p:nvPr/>
          </p:nvSpPr>
          <p:spPr bwMode="auto">
            <a:xfrm>
              <a:off x="73025" y="504825"/>
              <a:ext cx="987425" cy="839788"/>
            </a:xfrm>
            <a:custGeom>
              <a:avLst/>
              <a:gdLst>
                <a:gd name="T0" fmla="*/ 311 w 622"/>
                <a:gd name="T1" fmla="*/ 529 h 529"/>
                <a:gd name="T2" fmla="*/ 309 w 622"/>
                <a:gd name="T3" fmla="*/ 529 h 529"/>
                <a:gd name="T4" fmla="*/ 0 w 622"/>
                <a:gd name="T5" fmla="*/ 488 h 529"/>
                <a:gd name="T6" fmla="*/ 0 w 622"/>
                <a:gd name="T7" fmla="*/ 0 h 529"/>
                <a:gd name="T8" fmla="*/ 311 w 622"/>
                <a:gd name="T9" fmla="*/ 41 h 529"/>
                <a:gd name="T10" fmla="*/ 622 w 622"/>
                <a:gd name="T11" fmla="*/ 0 h 529"/>
                <a:gd name="T12" fmla="*/ 622 w 622"/>
                <a:gd name="T13" fmla="*/ 488 h 529"/>
                <a:gd name="T14" fmla="*/ 311 w 622"/>
                <a:gd name="T15" fmla="*/ 529 h 529"/>
                <a:gd name="T16" fmla="*/ 29 w 622"/>
                <a:gd name="T17" fmla="*/ 464 h 529"/>
                <a:gd name="T18" fmla="*/ 311 w 622"/>
                <a:gd name="T19" fmla="*/ 500 h 529"/>
                <a:gd name="T20" fmla="*/ 593 w 622"/>
                <a:gd name="T21" fmla="*/ 464 h 529"/>
                <a:gd name="T22" fmla="*/ 593 w 622"/>
                <a:gd name="T23" fmla="*/ 33 h 529"/>
                <a:gd name="T24" fmla="*/ 311 w 622"/>
                <a:gd name="T25" fmla="*/ 69 h 529"/>
                <a:gd name="T26" fmla="*/ 309 w 622"/>
                <a:gd name="T27" fmla="*/ 69 h 529"/>
                <a:gd name="T28" fmla="*/ 29 w 622"/>
                <a:gd name="T29" fmla="*/ 33 h 529"/>
                <a:gd name="T30" fmla="*/ 29 w 622"/>
                <a:gd name="T31" fmla="*/ 464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22" h="529">
                  <a:moveTo>
                    <a:pt x="311" y="529"/>
                  </a:moveTo>
                  <a:lnTo>
                    <a:pt x="309" y="529"/>
                  </a:lnTo>
                  <a:lnTo>
                    <a:pt x="0" y="488"/>
                  </a:lnTo>
                  <a:lnTo>
                    <a:pt x="0" y="0"/>
                  </a:lnTo>
                  <a:lnTo>
                    <a:pt x="311" y="41"/>
                  </a:lnTo>
                  <a:lnTo>
                    <a:pt x="622" y="0"/>
                  </a:lnTo>
                  <a:lnTo>
                    <a:pt x="622" y="488"/>
                  </a:lnTo>
                  <a:lnTo>
                    <a:pt x="311" y="529"/>
                  </a:lnTo>
                  <a:close/>
                  <a:moveTo>
                    <a:pt x="29" y="464"/>
                  </a:moveTo>
                  <a:lnTo>
                    <a:pt x="311" y="500"/>
                  </a:lnTo>
                  <a:lnTo>
                    <a:pt x="593" y="464"/>
                  </a:lnTo>
                  <a:lnTo>
                    <a:pt x="593" y="33"/>
                  </a:lnTo>
                  <a:lnTo>
                    <a:pt x="311" y="69"/>
                  </a:lnTo>
                  <a:lnTo>
                    <a:pt x="309" y="69"/>
                  </a:lnTo>
                  <a:lnTo>
                    <a:pt x="29" y="33"/>
                  </a:lnTo>
                  <a:lnTo>
                    <a:pt x="29" y="4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47" name="Rectangle 57"/>
            <p:cNvSpPr>
              <a:spLocks noChangeArrowheads="1"/>
            </p:cNvSpPr>
            <p:nvPr/>
          </p:nvSpPr>
          <p:spPr bwMode="auto">
            <a:xfrm>
              <a:off x="544513" y="592138"/>
              <a:ext cx="44450" cy="7286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48" name="Freeform 58"/>
            <p:cNvSpPr/>
            <p:nvPr/>
          </p:nvSpPr>
          <p:spPr bwMode="auto">
            <a:xfrm>
              <a:off x="711200" y="546100"/>
              <a:ext cx="166688" cy="342900"/>
            </a:xfrm>
            <a:custGeom>
              <a:avLst/>
              <a:gdLst>
                <a:gd name="T0" fmla="*/ 105 w 105"/>
                <a:gd name="T1" fmla="*/ 216 h 216"/>
                <a:gd name="T2" fmla="*/ 53 w 105"/>
                <a:gd name="T3" fmla="*/ 189 h 216"/>
                <a:gd name="T4" fmla="*/ 0 w 105"/>
                <a:gd name="T5" fmla="*/ 216 h 216"/>
                <a:gd name="T6" fmla="*/ 0 w 105"/>
                <a:gd name="T7" fmla="*/ 10 h 216"/>
                <a:gd name="T8" fmla="*/ 29 w 105"/>
                <a:gd name="T9" fmla="*/ 10 h 216"/>
                <a:gd name="T10" fmla="*/ 29 w 105"/>
                <a:gd name="T11" fmla="*/ 168 h 216"/>
                <a:gd name="T12" fmla="*/ 53 w 105"/>
                <a:gd name="T13" fmla="*/ 156 h 216"/>
                <a:gd name="T14" fmla="*/ 76 w 105"/>
                <a:gd name="T15" fmla="*/ 168 h 216"/>
                <a:gd name="T16" fmla="*/ 76 w 105"/>
                <a:gd name="T17" fmla="*/ 0 h 216"/>
                <a:gd name="T18" fmla="*/ 105 w 105"/>
                <a:gd name="T19" fmla="*/ 0 h 216"/>
                <a:gd name="T20" fmla="*/ 105 w 105"/>
                <a:gd name="T21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5" h="216">
                  <a:moveTo>
                    <a:pt x="105" y="216"/>
                  </a:moveTo>
                  <a:lnTo>
                    <a:pt x="53" y="189"/>
                  </a:lnTo>
                  <a:lnTo>
                    <a:pt x="0" y="216"/>
                  </a:lnTo>
                  <a:lnTo>
                    <a:pt x="0" y="10"/>
                  </a:lnTo>
                  <a:lnTo>
                    <a:pt x="29" y="10"/>
                  </a:lnTo>
                  <a:lnTo>
                    <a:pt x="29" y="168"/>
                  </a:lnTo>
                  <a:lnTo>
                    <a:pt x="53" y="156"/>
                  </a:lnTo>
                  <a:lnTo>
                    <a:pt x="76" y="168"/>
                  </a:lnTo>
                  <a:lnTo>
                    <a:pt x="76" y="0"/>
                  </a:lnTo>
                  <a:lnTo>
                    <a:pt x="105" y="0"/>
                  </a:lnTo>
                  <a:lnTo>
                    <a:pt x="105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49" name="Freeform 59"/>
            <p:cNvSpPr/>
            <p:nvPr/>
          </p:nvSpPr>
          <p:spPr bwMode="auto">
            <a:xfrm>
              <a:off x="184150" y="660400"/>
              <a:ext cx="295275" cy="76200"/>
            </a:xfrm>
            <a:custGeom>
              <a:avLst/>
              <a:gdLst>
                <a:gd name="T0" fmla="*/ 181 w 186"/>
                <a:gd name="T1" fmla="*/ 48 h 48"/>
                <a:gd name="T2" fmla="*/ 0 w 186"/>
                <a:gd name="T3" fmla="*/ 29 h 48"/>
                <a:gd name="T4" fmla="*/ 4 w 186"/>
                <a:gd name="T5" fmla="*/ 0 h 48"/>
                <a:gd name="T6" fmla="*/ 186 w 186"/>
                <a:gd name="T7" fmla="*/ 19 h 48"/>
                <a:gd name="T8" fmla="*/ 181 w 186"/>
                <a:gd name="T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48">
                  <a:moveTo>
                    <a:pt x="181" y="48"/>
                  </a:moveTo>
                  <a:lnTo>
                    <a:pt x="0" y="29"/>
                  </a:lnTo>
                  <a:lnTo>
                    <a:pt x="4" y="0"/>
                  </a:lnTo>
                  <a:lnTo>
                    <a:pt x="186" y="19"/>
                  </a:lnTo>
                  <a:lnTo>
                    <a:pt x="181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50" name="Freeform 60"/>
            <p:cNvSpPr/>
            <p:nvPr/>
          </p:nvSpPr>
          <p:spPr bwMode="auto">
            <a:xfrm>
              <a:off x="184150" y="812800"/>
              <a:ext cx="295275" cy="76200"/>
            </a:xfrm>
            <a:custGeom>
              <a:avLst/>
              <a:gdLst>
                <a:gd name="T0" fmla="*/ 181 w 186"/>
                <a:gd name="T1" fmla="*/ 48 h 48"/>
                <a:gd name="T2" fmla="*/ 0 w 186"/>
                <a:gd name="T3" fmla="*/ 28 h 48"/>
                <a:gd name="T4" fmla="*/ 4 w 186"/>
                <a:gd name="T5" fmla="*/ 0 h 48"/>
                <a:gd name="T6" fmla="*/ 186 w 186"/>
                <a:gd name="T7" fmla="*/ 19 h 48"/>
                <a:gd name="T8" fmla="*/ 181 w 186"/>
                <a:gd name="T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48">
                  <a:moveTo>
                    <a:pt x="181" y="48"/>
                  </a:moveTo>
                  <a:lnTo>
                    <a:pt x="0" y="28"/>
                  </a:lnTo>
                  <a:lnTo>
                    <a:pt x="4" y="0"/>
                  </a:lnTo>
                  <a:lnTo>
                    <a:pt x="186" y="19"/>
                  </a:lnTo>
                  <a:lnTo>
                    <a:pt x="181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51" name="Freeform 61"/>
            <p:cNvSpPr/>
            <p:nvPr/>
          </p:nvSpPr>
          <p:spPr bwMode="auto">
            <a:xfrm>
              <a:off x="184150" y="963613"/>
              <a:ext cx="295275" cy="76200"/>
            </a:xfrm>
            <a:custGeom>
              <a:avLst/>
              <a:gdLst>
                <a:gd name="T0" fmla="*/ 181 w 186"/>
                <a:gd name="T1" fmla="*/ 48 h 48"/>
                <a:gd name="T2" fmla="*/ 0 w 186"/>
                <a:gd name="T3" fmla="*/ 29 h 48"/>
                <a:gd name="T4" fmla="*/ 4 w 186"/>
                <a:gd name="T5" fmla="*/ 0 h 48"/>
                <a:gd name="T6" fmla="*/ 186 w 186"/>
                <a:gd name="T7" fmla="*/ 20 h 48"/>
                <a:gd name="T8" fmla="*/ 181 w 186"/>
                <a:gd name="T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48">
                  <a:moveTo>
                    <a:pt x="181" y="48"/>
                  </a:moveTo>
                  <a:lnTo>
                    <a:pt x="0" y="29"/>
                  </a:lnTo>
                  <a:lnTo>
                    <a:pt x="4" y="0"/>
                  </a:lnTo>
                  <a:lnTo>
                    <a:pt x="186" y="20"/>
                  </a:lnTo>
                  <a:lnTo>
                    <a:pt x="181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52" name="Freeform 62"/>
            <p:cNvSpPr/>
            <p:nvPr/>
          </p:nvSpPr>
          <p:spPr bwMode="auto">
            <a:xfrm>
              <a:off x="184150" y="1116013"/>
              <a:ext cx="295275" cy="76200"/>
            </a:xfrm>
            <a:custGeom>
              <a:avLst/>
              <a:gdLst>
                <a:gd name="T0" fmla="*/ 181 w 186"/>
                <a:gd name="T1" fmla="*/ 48 h 48"/>
                <a:gd name="T2" fmla="*/ 0 w 186"/>
                <a:gd name="T3" fmla="*/ 29 h 48"/>
                <a:gd name="T4" fmla="*/ 4 w 186"/>
                <a:gd name="T5" fmla="*/ 0 h 48"/>
                <a:gd name="T6" fmla="*/ 186 w 186"/>
                <a:gd name="T7" fmla="*/ 19 h 48"/>
                <a:gd name="T8" fmla="*/ 181 w 186"/>
                <a:gd name="T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48">
                  <a:moveTo>
                    <a:pt x="181" y="48"/>
                  </a:moveTo>
                  <a:lnTo>
                    <a:pt x="0" y="29"/>
                  </a:lnTo>
                  <a:lnTo>
                    <a:pt x="4" y="0"/>
                  </a:lnTo>
                  <a:lnTo>
                    <a:pt x="186" y="19"/>
                  </a:lnTo>
                  <a:lnTo>
                    <a:pt x="181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53" name="Freeform 63"/>
            <p:cNvSpPr/>
            <p:nvPr/>
          </p:nvSpPr>
          <p:spPr bwMode="auto">
            <a:xfrm>
              <a:off x="654050" y="963613"/>
              <a:ext cx="296863" cy="76200"/>
            </a:xfrm>
            <a:custGeom>
              <a:avLst/>
              <a:gdLst>
                <a:gd name="T0" fmla="*/ 5 w 187"/>
                <a:gd name="T1" fmla="*/ 48 h 48"/>
                <a:gd name="T2" fmla="*/ 0 w 187"/>
                <a:gd name="T3" fmla="*/ 20 h 48"/>
                <a:gd name="T4" fmla="*/ 182 w 187"/>
                <a:gd name="T5" fmla="*/ 0 h 48"/>
                <a:gd name="T6" fmla="*/ 187 w 187"/>
                <a:gd name="T7" fmla="*/ 29 h 48"/>
                <a:gd name="T8" fmla="*/ 5 w 187"/>
                <a:gd name="T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" h="48">
                  <a:moveTo>
                    <a:pt x="5" y="48"/>
                  </a:moveTo>
                  <a:lnTo>
                    <a:pt x="0" y="20"/>
                  </a:lnTo>
                  <a:lnTo>
                    <a:pt x="182" y="0"/>
                  </a:lnTo>
                  <a:lnTo>
                    <a:pt x="187" y="29"/>
                  </a:lnTo>
                  <a:lnTo>
                    <a:pt x="5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54" name="Freeform 64"/>
            <p:cNvSpPr/>
            <p:nvPr/>
          </p:nvSpPr>
          <p:spPr bwMode="auto">
            <a:xfrm>
              <a:off x="654050" y="1116013"/>
              <a:ext cx="296863" cy="76200"/>
            </a:xfrm>
            <a:custGeom>
              <a:avLst/>
              <a:gdLst>
                <a:gd name="T0" fmla="*/ 5 w 187"/>
                <a:gd name="T1" fmla="*/ 48 h 48"/>
                <a:gd name="T2" fmla="*/ 0 w 187"/>
                <a:gd name="T3" fmla="*/ 19 h 48"/>
                <a:gd name="T4" fmla="*/ 182 w 187"/>
                <a:gd name="T5" fmla="*/ 0 h 48"/>
                <a:gd name="T6" fmla="*/ 187 w 187"/>
                <a:gd name="T7" fmla="*/ 29 h 48"/>
                <a:gd name="T8" fmla="*/ 5 w 187"/>
                <a:gd name="T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" h="48">
                  <a:moveTo>
                    <a:pt x="5" y="48"/>
                  </a:moveTo>
                  <a:lnTo>
                    <a:pt x="0" y="19"/>
                  </a:lnTo>
                  <a:lnTo>
                    <a:pt x="182" y="0"/>
                  </a:lnTo>
                  <a:lnTo>
                    <a:pt x="187" y="29"/>
                  </a:lnTo>
                  <a:lnTo>
                    <a:pt x="5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3342010" y="4379605"/>
            <a:ext cx="389468" cy="560761"/>
            <a:chOff x="828675" y="4084638"/>
            <a:chExt cx="685800" cy="987425"/>
          </a:xfrm>
          <a:solidFill>
            <a:schemeClr val="accent2"/>
          </a:solidFill>
        </p:grpSpPr>
        <p:sp>
          <p:nvSpPr>
            <p:cNvPr id="56" name="Freeform 68"/>
            <p:cNvSpPr>
              <a:spLocks noEditPoints="1"/>
            </p:cNvSpPr>
            <p:nvPr/>
          </p:nvSpPr>
          <p:spPr bwMode="auto">
            <a:xfrm>
              <a:off x="828675" y="4084638"/>
              <a:ext cx="685800" cy="714375"/>
            </a:xfrm>
            <a:custGeom>
              <a:avLst/>
              <a:gdLst>
                <a:gd name="T0" fmla="*/ 140 w 180"/>
                <a:gd name="T1" fmla="*/ 188 h 188"/>
                <a:gd name="T2" fmla="*/ 40 w 180"/>
                <a:gd name="T3" fmla="*/ 188 h 188"/>
                <a:gd name="T4" fmla="*/ 40 w 180"/>
                <a:gd name="T5" fmla="*/ 165 h 188"/>
                <a:gd name="T6" fmla="*/ 0 w 180"/>
                <a:gd name="T7" fmla="*/ 90 h 188"/>
                <a:gd name="T8" fmla="*/ 90 w 180"/>
                <a:gd name="T9" fmla="*/ 0 h 188"/>
                <a:gd name="T10" fmla="*/ 180 w 180"/>
                <a:gd name="T11" fmla="*/ 90 h 188"/>
                <a:gd name="T12" fmla="*/ 140 w 180"/>
                <a:gd name="T13" fmla="*/ 165 h 188"/>
                <a:gd name="T14" fmla="*/ 140 w 180"/>
                <a:gd name="T15" fmla="*/ 188 h 188"/>
                <a:gd name="T16" fmla="*/ 52 w 180"/>
                <a:gd name="T17" fmla="*/ 176 h 188"/>
                <a:gd name="T18" fmla="*/ 128 w 180"/>
                <a:gd name="T19" fmla="*/ 176 h 188"/>
                <a:gd name="T20" fmla="*/ 128 w 180"/>
                <a:gd name="T21" fmla="*/ 158 h 188"/>
                <a:gd name="T22" fmla="*/ 131 w 180"/>
                <a:gd name="T23" fmla="*/ 156 h 188"/>
                <a:gd name="T24" fmla="*/ 168 w 180"/>
                <a:gd name="T25" fmla="*/ 90 h 188"/>
                <a:gd name="T26" fmla="*/ 90 w 180"/>
                <a:gd name="T27" fmla="*/ 12 h 188"/>
                <a:gd name="T28" fmla="*/ 12 w 180"/>
                <a:gd name="T29" fmla="*/ 90 h 188"/>
                <a:gd name="T30" fmla="*/ 49 w 180"/>
                <a:gd name="T31" fmla="*/ 157 h 188"/>
                <a:gd name="T32" fmla="*/ 52 w 180"/>
                <a:gd name="T33" fmla="*/ 159 h 188"/>
                <a:gd name="T34" fmla="*/ 52 w 180"/>
                <a:gd name="T35" fmla="*/ 176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0" h="188">
                  <a:moveTo>
                    <a:pt x="140" y="188"/>
                  </a:moveTo>
                  <a:cubicBezTo>
                    <a:pt x="40" y="188"/>
                    <a:pt x="40" y="188"/>
                    <a:pt x="40" y="188"/>
                  </a:cubicBezTo>
                  <a:cubicBezTo>
                    <a:pt x="40" y="165"/>
                    <a:pt x="40" y="165"/>
                    <a:pt x="40" y="165"/>
                  </a:cubicBezTo>
                  <a:cubicBezTo>
                    <a:pt x="15" y="149"/>
                    <a:pt x="0" y="120"/>
                    <a:pt x="0" y="90"/>
                  </a:cubicBezTo>
                  <a:cubicBezTo>
                    <a:pt x="0" y="40"/>
                    <a:pt x="40" y="0"/>
                    <a:pt x="90" y="0"/>
                  </a:cubicBezTo>
                  <a:cubicBezTo>
                    <a:pt x="140" y="0"/>
                    <a:pt x="180" y="40"/>
                    <a:pt x="180" y="90"/>
                  </a:cubicBezTo>
                  <a:cubicBezTo>
                    <a:pt x="180" y="120"/>
                    <a:pt x="165" y="148"/>
                    <a:pt x="140" y="165"/>
                  </a:cubicBezTo>
                  <a:lnTo>
                    <a:pt x="140" y="188"/>
                  </a:lnTo>
                  <a:close/>
                  <a:moveTo>
                    <a:pt x="52" y="176"/>
                  </a:moveTo>
                  <a:cubicBezTo>
                    <a:pt x="128" y="176"/>
                    <a:pt x="128" y="176"/>
                    <a:pt x="128" y="176"/>
                  </a:cubicBezTo>
                  <a:cubicBezTo>
                    <a:pt x="128" y="158"/>
                    <a:pt x="128" y="158"/>
                    <a:pt x="128" y="158"/>
                  </a:cubicBezTo>
                  <a:cubicBezTo>
                    <a:pt x="131" y="156"/>
                    <a:pt x="131" y="156"/>
                    <a:pt x="131" y="156"/>
                  </a:cubicBezTo>
                  <a:cubicBezTo>
                    <a:pt x="154" y="142"/>
                    <a:pt x="168" y="117"/>
                    <a:pt x="168" y="90"/>
                  </a:cubicBezTo>
                  <a:cubicBezTo>
                    <a:pt x="168" y="47"/>
                    <a:pt x="133" y="12"/>
                    <a:pt x="90" y="12"/>
                  </a:cubicBezTo>
                  <a:cubicBezTo>
                    <a:pt x="47" y="12"/>
                    <a:pt x="12" y="47"/>
                    <a:pt x="12" y="90"/>
                  </a:cubicBezTo>
                  <a:cubicBezTo>
                    <a:pt x="12" y="117"/>
                    <a:pt x="26" y="143"/>
                    <a:pt x="49" y="157"/>
                  </a:cubicBezTo>
                  <a:cubicBezTo>
                    <a:pt x="52" y="159"/>
                    <a:pt x="52" y="159"/>
                    <a:pt x="52" y="159"/>
                  </a:cubicBezTo>
                  <a:lnTo>
                    <a:pt x="52" y="1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57" name="Freeform 69"/>
            <p:cNvSpPr/>
            <p:nvPr/>
          </p:nvSpPr>
          <p:spPr bwMode="auto">
            <a:xfrm>
              <a:off x="1042988" y="4467226"/>
              <a:ext cx="90488" cy="312738"/>
            </a:xfrm>
            <a:custGeom>
              <a:avLst/>
              <a:gdLst>
                <a:gd name="T0" fmla="*/ 29 w 57"/>
                <a:gd name="T1" fmla="*/ 197 h 197"/>
                <a:gd name="T2" fmla="*/ 0 w 57"/>
                <a:gd name="T3" fmla="*/ 5 h 197"/>
                <a:gd name="T4" fmla="*/ 29 w 57"/>
                <a:gd name="T5" fmla="*/ 0 h 197"/>
                <a:gd name="T6" fmla="*/ 57 w 57"/>
                <a:gd name="T7" fmla="*/ 192 h 197"/>
                <a:gd name="T8" fmla="*/ 29 w 57"/>
                <a:gd name="T9" fmla="*/ 197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97">
                  <a:moveTo>
                    <a:pt x="29" y="197"/>
                  </a:moveTo>
                  <a:lnTo>
                    <a:pt x="0" y="5"/>
                  </a:lnTo>
                  <a:lnTo>
                    <a:pt x="29" y="0"/>
                  </a:lnTo>
                  <a:lnTo>
                    <a:pt x="57" y="192"/>
                  </a:lnTo>
                  <a:lnTo>
                    <a:pt x="29" y="1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58" name="Freeform 70"/>
            <p:cNvSpPr/>
            <p:nvPr/>
          </p:nvSpPr>
          <p:spPr bwMode="auto">
            <a:xfrm>
              <a:off x="1209675" y="4467226"/>
              <a:ext cx="92075" cy="312738"/>
            </a:xfrm>
            <a:custGeom>
              <a:avLst/>
              <a:gdLst>
                <a:gd name="T0" fmla="*/ 29 w 58"/>
                <a:gd name="T1" fmla="*/ 197 h 197"/>
                <a:gd name="T2" fmla="*/ 0 w 58"/>
                <a:gd name="T3" fmla="*/ 192 h 197"/>
                <a:gd name="T4" fmla="*/ 29 w 58"/>
                <a:gd name="T5" fmla="*/ 0 h 197"/>
                <a:gd name="T6" fmla="*/ 58 w 58"/>
                <a:gd name="T7" fmla="*/ 5 h 197"/>
                <a:gd name="T8" fmla="*/ 29 w 58"/>
                <a:gd name="T9" fmla="*/ 197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197">
                  <a:moveTo>
                    <a:pt x="29" y="197"/>
                  </a:moveTo>
                  <a:lnTo>
                    <a:pt x="0" y="192"/>
                  </a:lnTo>
                  <a:lnTo>
                    <a:pt x="29" y="0"/>
                  </a:lnTo>
                  <a:lnTo>
                    <a:pt x="58" y="5"/>
                  </a:lnTo>
                  <a:lnTo>
                    <a:pt x="29" y="1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59" name="Freeform 71"/>
            <p:cNvSpPr/>
            <p:nvPr/>
          </p:nvSpPr>
          <p:spPr bwMode="auto">
            <a:xfrm>
              <a:off x="1050925" y="4456113"/>
              <a:ext cx="242888" cy="106363"/>
            </a:xfrm>
            <a:custGeom>
              <a:avLst/>
              <a:gdLst>
                <a:gd name="T0" fmla="*/ 103 w 153"/>
                <a:gd name="T1" fmla="*/ 67 h 67"/>
                <a:gd name="T2" fmla="*/ 76 w 153"/>
                <a:gd name="T3" fmla="*/ 39 h 67"/>
                <a:gd name="T4" fmla="*/ 50 w 153"/>
                <a:gd name="T5" fmla="*/ 67 h 67"/>
                <a:gd name="T6" fmla="*/ 0 w 153"/>
                <a:gd name="T7" fmla="*/ 31 h 67"/>
                <a:gd name="T8" fmla="*/ 19 w 153"/>
                <a:gd name="T9" fmla="*/ 7 h 67"/>
                <a:gd name="T10" fmla="*/ 45 w 153"/>
                <a:gd name="T11" fmla="*/ 29 h 67"/>
                <a:gd name="T12" fmla="*/ 76 w 153"/>
                <a:gd name="T13" fmla="*/ 0 h 67"/>
                <a:gd name="T14" fmla="*/ 108 w 153"/>
                <a:gd name="T15" fmla="*/ 29 h 67"/>
                <a:gd name="T16" fmla="*/ 134 w 153"/>
                <a:gd name="T17" fmla="*/ 7 h 67"/>
                <a:gd name="T18" fmla="*/ 153 w 153"/>
                <a:gd name="T19" fmla="*/ 31 h 67"/>
                <a:gd name="T20" fmla="*/ 103 w 153"/>
                <a:gd name="T2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" h="67">
                  <a:moveTo>
                    <a:pt x="103" y="67"/>
                  </a:moveTo>
                  <a:lnTo>
                    <a:pt x="76" y="39"/>
                  </a:lnTo>
                  <a:lnTo>
                    <a:pt x="50" y="67"/>
                  </a:lnTo>
                  <a:lnTo>
                    <a:pt x="0" y="31"/>
                  </a:lnTo>
                  <a:lnTo>
                    <a:pt x="19" y="7"/>
                  </a:lnTo>
                  <a:lnTo>
                    <a:pt x="45" y="29"/>
                  </a:lnTo>
                  <a:lnTo>
                    <a:pt x="76" y="0"/>
                  </a:lnTo>
                  <a:lnTo>
                    <a:pt x="108" y="29"/>
                  </a:lnTo>
                  <a:lnTo>
                    <a:pt x="134" y="7"/>
                  </a:lnTo>
                  <a:lnTo>
                    <a:pt x="153" y="31"/>
                  </a:lnTo>
                  <a:lnTo>
                    <a:pt x="103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0" name="Freeform 72"/>
            <p:cNvSpPr>
              <a:spLocks noEditPoints="1"/>
            </p:cNvSpPr>
            <p:nvPr/>
          </p:nvSpPr>
          <p:spPr bwMode="auto">
            <a:xfrm>
              <a:off x="981075" y="4752976"/>
              <a:ext cx="381000" cy="136525"/>
            </a:xfrm>
            <a:custGeom>
              <a:avLst/>
              <a:gdLst>
                <a:gd name="T0" fmla="*/ 240 w 240"/>
                <a:gd name="T1" fmla="*/ 86 h 86"/>
                <a:gd name="T2" fmla="*/ 0 w 240"/>
                <a:gd name="T3" fmla="*/ 86 h 86"/>
                <a:gd name="T4" fmla="*/ 0 w 240"/>
                <a:gd name="T5" fmla="*/ 0 h 86"/>
                <a:gd name="T6" fmla="*/ 240 w 240"/>
                <a:gd name="T7" fmla="*/ 0 h 86"/>
                <a:gd name="T8" fmla="*/ 240 w 240"/>
                <a:gd name="T9" fmla="*/ 86 h 86"/>
                <a:gd name="T10" fmla="*/ 29 w 240"/>
                <a:gd name="T11" fmla="*/ 57 h 86"/>
                <a:gd name="T12" fmla="*/ 212 w 240"/>
                <a:gd name="T13" fmla="*/ 57 h 86"/>
                <a:gd name="T14" fmla="*/ 212 w 240"/>
                <a:gd name="T15" fmla="*/ 29 h 86"/>
                <a:gd name="T16" fmla="*/ 29 w 240"/>
                <a:gd name="T17" fmla="*/ 29 h 86"/>
                <a:gd name="T18" fmla="*/ 29 w 240"/>
                <a:gd name="T19" fmla="*/ 57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0" h="86">
                  <a:moveTo>
                    <a:pt x="240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240" y="0"/>
                  </a:lnTo>
                  <a:lnTo>
                    <a:pt x="240" y="86"/>
                  </a:lnTo>
                  <a:close/>
                  <a:moveTo>
                    <a:pt x="29" y="57"/>
                  </a:moveTo>
                  <a:lnTo>
                    <a:pt x="212" y="57"/>
                  </a:lnTo>
                  <a:lnTo>
                    <a:pt x="212" y="29"/>
                  </a:lnTo>
                  <a:lnTo>
                    <a:pt x="29" y="29"/>
                  </a:lnTo>
                  <a:lnTo>
                    <a:pt x="29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1" name="Freeform 73"/>
            <p:cNvSpPr>
              <a:spLocks noEditPoints="1"/>
            </p:cNvSpPr>
            <p:nvPr/>
          </p:nvSpPr>
          <p:spPr bwMode="auto">
            <a:xfrm>
              <a:off x="1012825" y="4843463"/>
              <a:ext cx="319088" cy="136525"/>
            </a:xfrm>
            <a:custGeom>
              <a:avLst/>
              <a:gdLst>
                <a:gd name="T0" fmla="*/ 201 w 201"/>
                <a:gd name="T1" fmla="*/ 86 h 86"/>
                <a:gd name="T2" fmla="*/ 0 w 201"/>
                <a:gd name="T3" fmla="*/ 86 h 86"/>
                <a:gd name="T4" fmla="*/ 0 w 201"/>
                <a:gd name="T5" fmla="*/ 0 h 86"/>
                <a:gd name="T6" fmla="*/ 201 w 201"/>
                <a:gd name="T7" fmla="*/ 0 h 86"/>
                <a:gd name="T8" fmla="*/ 201 w 201"/>
                <a:gd name="T9" fmla="*/ 86 h 86"/>
                <a:gd name="T10" fmla="*/ 28 w 201"/>
                <a:gd name="T11" fmla="*/ 58 h 86"/>
                <a:gd name="T12" fmla="*/ 172 w 201"/>
                <a:gd name="T13" fmla="*/ 58 h 86"/>
                <a:gd name="T14" fmla="*/ 172 w 201"/>
                <a:gd name="T15" fmla="*/ 29 h 86"/>
                <a:gd name="T16" fmla="*/ 28 w 201"/>
                <a:gd name="T17" fmla="*/ 29 h 86"/>
                <a:gd name="T18" fmla="*/ 28 w 201"/>
                <a:gd name="T19" fmla="*/ 58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" h="86">
                  <a:moveTo>
                    <a:pt x="201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201" y="0"/>
                  </a:lnTo>
                  <a:lnTo>
                    <a:pt x="201" y="86"/>
                  </a:lnTo>
                  <a:close/>
                  <a:moveTo>
                    <a:pt x="28" y="58"/>
                  </a:moveTo>
                  <a:lnTo>
                    <a:pt x="172" y="58"/>
                  </a:lnTo>
                  <a:lnTo>
                    <a:pt x="172" y="29"/>
                  </a:lnTo>
                  <a:lnTo>
                    <a:pt x="28" y="29"/>
                  </a:lnTo>
                  <a:lnTo>
                    <a:pt x="28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2" name="Freeform 74"/>
            <p:cNvSpPr>
              <a:spLocks noEditPoints="1"/>
            </p:cNvSpPr>
            <p:nvPr/>
          </p:nvSpPr>
          <p:spPr bwMode="auto">
            <a:xfrm>
              <a:off x="1042988" y="4935538"/>
              <a:ext cx="258763" cy="136525"/>
            </a:xfrm>
            <a:custGeom>
              <a:avLst/>
              <a:gdLst>
                <a:gd name="T0" fmla="*/ 163 w 163"/>
                <a:gd name="T1" fmla="*/ 86 h 86"/>
                <a:gd name="T2" fmla="*/ 0 w 163"/>
                <a:gd name="T3" fmla="*/ 86 h 86"/>
                <a:gd name="T4" fmla="*/ 0 w 163"/>
                <a:gd name="T5" fmla="*/ 0 h 86"/>
                <a:gd name="T6" fmla="*/ 163 w 163"/>
                <a:gd name="T7" fmla="*/ 0 h 86"/>
                <a:gd name="T8" fmla="*/ 163 w 163"/>
                <a:gd name="T9" fmla="*/ 86 h 86"/>
                <a:gd name="T10" fmla="*/ 29 w 163"/>
                <a:gd name="T11" fmla="*/ 57 h 86"/>
                <a:gd name="T12" fmla="*/ 134 w 163"/>
                <a:gd name="T13" fmla="*/ 57 h 86"/>
                <a:gd name="T14" fmla="*/ 134 w 163"/>
                <a:gd name="T15" fmla="*/ 28 h 86"/>
                <a:gd name="T16" fmla="*/ 29 w 163"/>
                <a:gd name="T17" fmla="*/ 28 h 86"/>
                <a:gd name="T18" fmla="*/ 29 w 163"/>
                <a:gd name="T19" fmla="*/ 57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3" h="86">
                  <a:moveTo>
                    <a:pt x="163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163" y="0"/>
                  </a:lnTo>
                  <a:lnTo>
                    <a:pt x="163" y="86"/>
                  </a:lnTo>
                  <a:close/>
                  <a:moveTo>
                    <a:pt x="29" y="57"/>
                  </a:moveTo>
                  <a:lnTo>
                    <a:pt x="134" y="57"/>
                  </a:lnTo>
                  <a:lnTo>
                    <a:pt x="134" y="28"/>
                  </a:lnTo>
                  <a:lnTo>
                    <a:pt x="29" y="28"/>
                  </a:lnTo>
                  <a:lnTo>
                    <a:pt x="29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7291979" y="4379604"/>
            <a:ext cx="473676" cy="444691"/>
            <a:chOff x="2492375" y="1277938"/>
            <a:chExt cx="985838" cy="925512"/>
          </a:xfrm>
          <a:solidFill>
            <a:schemeClr val="accent4"/>
          </a:solidFill>
        </p:grpSpPr>
        <p:sp>
          <p:nvSpPr>
            <p:cNvPr id="64" name="Freeform 78"/>
            <p:cNvSpPr/>
            <p:nvPr/>
          </p:nvSpPr>
          <p:spPr bwMode="auto">
            <a:xfrm>
              <a:off x="3024188" y="1747838"/>
              <a:ext cx="104775" cy="106362"/>
            </a:xfrm>
            <a:custGeom>
              <a:avLst/>
              <a:gdLst>
                <a:gd name="T0" fmla="*/ 47 w 66"/>
                <a:gd name="T1" fmla="*/ 67 h 67"/>
                <a:gd name="T2" fmla="*/ 0 w 66"/>
                <a:gd name="T3" fmla="*/ 20 h 67"/>
                <a:gd name="T4" fmla="*/ 19 w 66"/>
                <a:gd name="T5" fmla="*/ 0 h 67"/>
                <a:gd name="T6" fmla="*/ 66 w 66"/>
                <a:gd name="T7" fmla="*/ 48 h 67"/>
                <a:gd name="T8" fmla="*/ 47 w 66"/>
                <a:gd name="T9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67">
                  <a:moveTo>
                    <a:pt x="47" y="67"/>
                  </a:moveTo>
                  <a:lnTo>
                    <a:pt x="0" y="20"/>
                  </a:lnTo>
                  <a:lnTo>
                    <a:pt x="19" y="0"/>
                  </a:lnTo>
                  <a:lnTo>
                    <a:pt x="66" y="48"/>
                  </a:lnTo>
                  <a:lnTo>
                    <a:pt x="47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5" name="Freeform 79"/>
            <p:cNvSpPr>
              <a:spLocks noEditPoints="1"/>
            </p:cNvSpPr>
            <p:nvPr/>
          </p:nvSpPr>
          <p:spPr bwMode="auto">
            <a:xfrm>
              <a:off x="3038475" y="1763713"/>
              <a:ext cx="439738" cy="439737"/>
            </a:xfrm>
            <a:custGeom>
              <a:avLst/>
              <a:gdLst>
                <a:gd name="T0" fmla="*/ 201 w 277"/>
                <a:gd name="T1" fmla="*/ 277 h 277"/>
                <a:gd name="T2" fmla="*/ 0 w 277"/>
                <a:gd name="T3" fmla="*/ 77 h 277"/>
                <a:gd name="T4" fmla="*/ 77 w 277"/>
                <a:gd name="T5" fmla="*/ 0 h 277"/>
                <a:gd name="T6" fmla="*/ 277 w 277"/>
                <a:gd name="T7" fmla="*/ 201 h 277"/>
                <a:gd name="T8" fmla="*/ 201 w 277"/>
                <a:gd name="T9" fmla="*/ 277 h 277"/>
                <a:gd name="T10" fmla="*/ 38 w 277"/>
                <a:gd name="T11" fmla="*/ 77 h 277"/>
                <a:gd name="T12" fmla="*/ 201 w 277"/>
                <a:gd name="T13" fmla="*/ 239 h 277"/>
                <a:gd name="T14" fmla="*/ 239 w 277"/>
                <a:gd name="T15" fmla="*/ 201 h 277"/>
                <a:gd name="T16" fmla="*/ 77 w 277"/>
                <a:gd name="T17" fmla="*/ 38 h 277"/>
                <a:gd name="T18" fmla="*/ 38 w 277"/>
                <a:gd name="T19" fmla="*/ 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7" h="277">
                  <a:moveTo>
                    <a:pt x="201" y="277"/>
                  </a:moveTo>
                  <a:lnTo>
                    <a:pt x="0" y="77"/>
                  </a:lnTo>
                  <a:lnTo>
                    <a:pt x="77" y="0"/>
                  </a:lnTo>
                  <a:lnTo>
                    <a:pt x="277" y="201"/>
                  </a:lnTo>
                  <a:lnTo>
                    <a:pt x="201" y="277"/>
                  </a:lnTo>
                  <a:close/>
                  <a:moveTo>
                    <a:pt x="38" y="77"/>
                  </a:moveTo>
                  <a:lnTo>
                    <a:pt x="201" y="239"/>
                  </a:lnTo>
                  <a:lnTo>
                    <a:pt x="239" y="201"/>
                  </a:lnTo>
                  <a:lnTo>
                    <a:pt x="77" y="38"/>
                  </a:lnTo>
                  <a:lnTo>
                    <a:pt x="38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6" name="Freeform 80"/>
            <p:cNvSpPr>
              <a:spLocks noEditPoints="1"/>
            </p:cNvSpPr>
            <p:nvPr/>
          </p:nvSpPr>
          <p:spPr bwMode="auto">
            <a:xfrm>
              <a:off x="2554288" y="1277938"/>
              <a:ext cx="249238" cy="250825"/>
            </a:xfrm>
            <a:custGeom>
              <a:avLst/>
              <a:gdLst>
                <a:gd name="T0" fmla="*/ 74 w 157"/>
                <a:gd name="T1" fmla="*/ 158 h 158"/>
                <a:gd name="T2" fmla="*/ 0 w 157"/>
                <a:gd name="T3" fmla="*/ 36 h 158"/>
                <a:gd name="T4" fmla="*/ 35 w 157"/>
                <a:gd name="T5" fmla="*/ 0 h 158"/>
                <a:gd name="T6" fmla="*/ 157 w 157"/>
                <a:gd name="T7" fmla="*/ 74 h 158"/>
                <a:gd name="T8" fmla="*/ 74 w 157"/>
                <a:gd name="T9" fmla="*/ 158 h 158"/>
                <a:gd name="T10" fmla="*/ 38 w 157"/>
                <a:gd name="T11" fmla="*/ 41 h 158"/>
                <a:gd name="T12" fmla="*/ 78 w 157"/>
                <a:gd name="T13" fmla="*/ 110 h 158"/>
                <a:gd name="T14" fmla="*/ 109 w 157"/>
                <a:gd name="T15" fmla="*/ 79 h 158"/>
                <a:gd name="T16" fmla="*/ 40 w 157"/>
                <a:gd name="T17" fmla="*/ 38 h 158"/>
                <a:gd name="T18" fmla="*/ 38 w 157"/>
                <a:gd name="T19" fmla="*/ 4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7" h="158">
                  <a:moveTo>
                    <a:pt x="74" y="158"/>
                  </a:moveTo>
                  <a:lnTo>
                    <a:pt x="0" y="36"/>
                  </a:lnTo>
                  <a:lnTo>
                    <a:pt x="35" y="0"/>
                  </a:lnTo>
                  <a:lnTo>
                    <a:pt x="157" y="74"/>
                  </a:lnTo>
                  <a:lnTo>
                    <a:pt x="74" y="158"/>
                  </a:lnTo>
                  <a:close/>
                  <a:moveTo>
                    <a:pt x="38" y="41"/>
                  </a:moveTo>
                  <a:lnTo>
                    <a:pt x="78" y="110"/>
                  </a:lnTo>
                  <a:lnTo>
                    <a:pt x="109" y="79"/>
                  </a:lnTo>
                  <a:lnTo>
                    <a:pt x="40" y="38"/>
                  </a:lnTo>
                  <a:lnTo>
                    <a:pt x="38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7" name="Freeform 81"/>
            <p:cNvSpPr/>
            <p:nvPr/>
          </p:nvSpPr>
          <p:spPr bwMode="auto">
            <a:xfrm>
              <a:off x="2705100" y="1430338"/>
              <a:ext cx="227013" cy="227012"/>
            </a:xfrm>
            <a:custGeom>
              <a:avLst/>
              <a:gdLst>
                <a:gd name="T0" fmla="*/ 124 w 143"/>
                <a:gd name="T1" fmla="*/ 143 h 143"/>
                <a:gd name="T2" fmla="*/ 0 w 143"/>
                <a:gd name="T3" fmla="*/ 19 h 143"/>
                <a:gd name="T4" fmla="*/ 19 w 143"/>
                <a:gd name="T5" fmla="*/ 0 h 143"/>
                <a:gd name="T6" fmla="*/ 143 w 143"/>
                <a:gd name="T7" fmla="*/ 124 h 143"/>
                <a:gd name="T8" fmla="*/ 124 w 143"/>
                <a:gd name="T9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" h="143">
                  <a:moveTo>
                    <a:pt x="124" y="143"/>
                  </a:moveTo>
                  <a:lnTo>
                    <a:pt x="0" y="19"/>
                  </a:lnTo>
                  <a:lnTo>
                    <a:pt x="19" y="0"/>
                  </a:lnTo>
                  <a:lnTo>
                    <a:pt x="143" y="124"/>
                  </a:lnTo>
                  <a:lnTo>
                    <a:pt x="124" y="1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8" name="Freeform 82"/>
            <p:cNvSpPr>
              <a:spLocks noEditPoints="1"/>
            </p:cNvSpPr>
            <p:nvPr/>
          </p:nvSpPr>
          <p:spPr bwMode="auto">
            <a:xfrm>
              <a:off x="2492375" y="1285875"/>
              <a:ext cx="903288" cy="898525"/>
            </a:xfrm>
            <a:custGeom>
              <a:avLst/>
              <a:gdLst>
                <a:gd name="T0" fmla="*/ 14 w 238"/>
                <a:gd name="T1" fmla="*/ 237 h 237"/>
                <a:gd name="T2" fmla="*/ 0 w 238"/>
                <a:gd name="T3" fmla="*/ 224 h 237"/>
                <a:gd name="T4" fmla="*/ 9 w 238"/>
                <a:gd name="T5" fmla="*/ 195 h 237"/>
                <a:gd name="T6" fmla="*/ 142 w 238"/>
                <a:gd name="T7" fmla="*/ 60 h 237"/>
                <a:gd name="T8" fmla="*/ 142 w 238"/>
                <a:gd name="T9" fmla="*/ 46 h 237"/>
                <a:gd name="T10" fmla="*/ 198 w 238"/>
                <a:gd name="T11" fmla="*/ 0 h 237"/>
                <a:gd name="T12" fmla="*/ 207 w 238"/>
                <a:gd name="T13" fmla="*/ 0 h 237"/>
                <a:gd name="T14" fmla="*/ 191 w 238"/>
                <a:gd name="T15" fmla="*/ 37 h 237"/>
                <a:gd name="T16" fmla="*/ 201 w 238"/>
                <a:gd name="T17" fmla="*/ 48 h 237"/>
                <a:gd name="T18" fmla="*/ 238 w 238"/>
                <a:gd name="T19" fmla="*/ 31 h 237"/>
                <a:gd name="T20" fmla="*/ 238 w 238"/>
                <a:gd name="T21" fmla="*/ 40 h 237"/>
                <a:gd name="T22" fmla="*/ 192 w 238"/>
                <a:gd name="T23" fmla="*/ 96 h 237"/>
                <a:gd name="T24" fmla="*/ 178 w 238"/>
                <a:gd name="T25" fmla="*/ 96 h 237"/>
                <a:gd name="T26" fmla="*/ 43 w 238"/>
                <a:gd name="T27" fmla="*/ 229 h 237"/>
                <a:gd name="T28" fmla="*/ 14 w 238"/>
                <a:gd name="T29" fmla="*/ 237 h 237"/>
                <a:gd name="T30" fmla="*/ 14 w 238"/>
                <a:gd name="T31" fmla="*/ 220 h 237"/>
                <a:gd name="T32" fmla="*/ 17 w 238"/>
                <a:gd name="T33" fmla="*/ 223 h 237"/>
                <a:gd name="T34" fmla="*/ 37 w 238"/>
                <a:gd name="T35" fmla="*/ 219 h 237"/>
                <a:gd name="T36" fmla="*/ 174 w 238"/>
                <a:gd name="T37" fmla="*/ 84 h 237"/>
                <a:gd name="T38" fmla="*/ 192 w 238"/>
                <a:gd name="T39" fmla="*/ 84 h 237"/>
                <a:gd name="T40" fmla="*/ 226 w 238"/>
                <a:gd name="T41" fmla="*/ 50 h 237"/>
                <a:gd name="T42" fmla="*/ 199 w 238"/>
                <a:gd name="T43" fmla="*/ 62 h 237"/>
                <a:gd name="T44" fmla="*/ 177 w 238"/>
                <a:gd name="T45" fmla="*/ 40 h 237"/>
                <a:gd name="T46" fmla="*/ 189 w 238"/>
                <a:gd name="T47" fmla="*/ 13 h 237"/>
                <a:gd name="T48" fmla="*/ 154 w 238"/>
                <a:gd name="T49" fmla="*/ 46 h 237"/>
                <a:gd name="T50" fmla="*/ 154 w 238"/>
                <a:gd name="T51" fmla="*/ 64 h 237"/>
                <a:gd name="T52" fmla="*/ 19 w 238"/>
                <a:gd name="T53" fmla="*/ 201 h 237"/>
                <a:gd name="T54" fmla="*/ 14 w 238"/>
                <a:gd name="T55" fmla="*/ 22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8" h="237">
                  <a:moveTo>
                    <a:pt x="14" y="237"/>
                  </a:moveTo>
                  <a:cubicBezTo>
                    <a:pt x="0" y="224"/>
                    <a:pt x="0" y="224"/>
                    <a:pt x="0" y="224"/>
                  </a:cubicBezTo>
                  <a:cubicBezTo>
                    <a:pt x="9" y="195"/>
                    <a:pt x="9" y="195"/>
                    <a:pt x="9" y="195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29"/>
                    <a:pt x="149" y="0"/>
                    <a:pt x="198" y="0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191" y="37"/>
                    <a:pt x="191" y="37"/>
                    <a:pt x="191" y="37"/>
                  </a:cubicBezTo>
                  <a:cubicBezTo>
                    <a:pt x="201" y="48"/>
                    <a:pt x="201" y="48"/>
                    <a:pt x="201" y="48"/>
                  </a:cubicBezTo>
                  <a:cubicBezTo>
                    <a:pt x="238" y="31"/>
                    <a:pt x="238" y="31"/>
                    <a:pt x="238" y="31"/>
                  </a:cubicBezTo>
                  <a:cubicBezTo>
                    <a:pt x="238" y="40"/>
                    <a:pt x="238" y="40"/>
                    <a:pt x="238" y="40"/>
                  </a:cubicBezTo>
                  <a:cubicBezTo>
                    <a:pt x="238" y="89"/>
                    <a:pt x="209" y="96"/>
                    <a:pt x="192" y="96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43" y="229"/>
                    <a:pt x="43" y="229"/>
                    <a:pt x="43" y="229"/>
                  </a:cubicBezTo>
                  <a:lnTo>
                    <a:pt x="14" y="237"/>
                  </a:lnTo>
                  <a:close/>
                  <a:moveTo>
                    <a:pt x="14" y="220"/>
                  </a:moveTo>
                  <a:cubicBezTo>
                    <a:pt x="17" y="223"/>
                    <a:pt x="17" y="223"/>
                    <a:pt x="17" y="223"/>
                  </a:cubicBezTo>
                  <a:cubicBezTo>
                    <a:pt x="37" y="219"/>
                    <a:pt x="37" y="219"/>
                    <a:pt x="37" y="219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192" y="84"/>
                    <a:pt x="192" y="84"/>
                    <a:pt x="192" y="84"/>
                  </a:cubicBezTo>
                  <a:cubicBezTo>
                    <a:pt x="212" y="84"/>
                    <a:pt x="223" y="73"/>
                    <a:pt x="226" y="50"/>
                  </a:cubicBezTo>
                  <a:cubicBezTo>
                    <a:pt x="199" y="62"/>
                    <a:pt x="199" y="62"/>
                    <a:pt x="199" y="62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89" y="13"/>
                    <a:pt x="189" y="13"/>
                    <a:pt x="189" y="13"/>
                  </a:cubicBezTo>
                  <a:cubicBezTo>
                    <a:pt x="165" y="15"/>
                    <a:pt x="154" y="26"/>
                    <a:pt x="154" y="46"/>
                  </a:cubicBezTo>
                  <a:cubicBezTo>
                    <a:pt x="154" y="64"/>
                    <a:pt x="154" y="64"/>
                    <a:pt x="154" y="64"/>
                  </a:cubicBezTo>
                  <a:cubicBezTo>
                    <a:pt x="19" y="201"/>
                    <a:pt x="19" y="201"/>
                    <a:pt x="19" y="201"/>
                  </a:cubicBezTo>
                  <a:lnTo>
                    <a:pt x="14" y="2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8844450" y="2280824"/>
            <a:ext cx="516471" cy="515640"/>
            <a:chOff x="8648700" y="3778250"/>
            <a:chExt cx="987425" cy="985838"/>
          </a:xfrm>
          <a:solidFill>
            <a:schemeClr val="accent5"/>
          </a:solidFill>
        </p:grpSpPr>
        <p:sp>
          <p:nvSpPr>
            <p:cNvPr id="70" name="Freeform 86"/>
            <p:cNvSpPr>
              <a:spLocks noEditPoints="1"/>
            </p:cNvSpPr>
            <p:nvPr/>
          </p:nvSpPr>
          <p:spPr bwMode="auto">
            <a:xfrm>
              <a:off x="8648700" y="3778250"/>
              <a:ext cx="987425" cy="985838"/>
            </a:xfrm>
            <a:custGeom>
              <a:avLst/>
              <a:gdLst>
                <a:gd name="T0" fmla="*/ 130 w 260"/>
                <a:gd name="T1" fmla="*/ 260 h 260"/>
                <a:gd name="T2" fmla="*/ 38 w 260"/>
                <a:gd name="T3" fmla="*/ 222 h 260"/>
                <a:gd name="T4" fmla="*/ 0 w 260"/>
                <a:gd name="T5" fmla="*/ 130 h 260"/>
                <a:gd name="T6" fmla="*/ 38 w 260"/>
                <a:gd name="T7" fmla="*/ 38 h 260"/>
                <a:gd name="T8" fmla="*/ 130 w 260"/>
                <a:gd name="T9" fmla="*/ 0 h 260"/>
                <a:gd name="T10" fmla="*/ 222 w 260"/>
                <a:gd name="T11" fmla="*/ 38 h 260"/>
                <a:gd name="T12" fmla="*/ 260 w 260"/>
                <a:gd name="T13" fmla="*/ 130 h 260"/>
                <a:gd name="T14" fmla="*/ 130 w 260"/>
                <a:gd name="T15" fmla="*/ 260 h 260"/>
                <a:gd name="T16" fmla="*/ 130 w 260"/>
                <a:gd name="T17" fmla="*/ 260 h 260"/>
                <a:gd name="T18" fmla="*/ 130 w 260"/>
                <a:gd name="T19" fmla="*/ 260 h 260"/>
                <a:gd name="T20" fmla="*/ 130 w 260"/>
                <a:gd name="T21" fmla="*/ 248 h 260"/>
                <a:gd name="T22" fmla="*/ 130 w 260"/>
                <a:gd name="T23" fmla="*/ 254 h 260"/>
                <a:gd name="T24" fmla="*/ 130 w 260"/>
                <a:gd name="T25" fmla="*/ 248 h 260"/>
                <a:gd name="T26" fmla="*/ 248 w 260"/>
                <a:gd name="T27" fmla="*/ 130 h 260"/>
                <a:gd name="T28" fmla="*/ 214 w 260"/>
                <a:gd name="T29" fmla="*/ 46 h 260"/>
                <a:gd name="T30" fmla="*/ 130 w 260"/>
                <a:gd name="T31" fmla="*/ 12 h 260"/>
                <a:gd name="T32" fmla="*/ 46 w 260"/>
                <a:gd name="T33" fmla="*/ 46 h 260"/>
                <a:gd name="T34" fmla="*/ 12 w 260"/>
                <a:gd name="T35" fmla="*/ 130 h 260"/>
                <a:gd name="T36" fmla="*/ 46 w 260"/>
                <a:gd name="T37" fmla="*/ 214 h 260"/>
                <a:gd name="T38" fmla="*/ 130 w 260"/>
                <a:gd name="T39" fmla="*/ 248 h 260"/>
                <a:gd name="T40" fmla="*/ 130 w 260"/>
                <a:gd name="T41" fmla="*/ 248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0" h="260">
                  <a:moveTo>
                    <a:pt x="130" y="260"/>
                  </a:moveTo>
                  <a:cubicBezTo>
                    <a:pt x="95" y="260"/>
                    <a:pt x="62" y="247"/>
                    <a:pt x="38" y="222"/>
                  </a:cubicBezTo>
                  <a:cubicBezTo>
                    <a:pt x="13" y="198"/>
                    <a:pt x="0" y="165"/>
                    <a:pt x="0" y="130"/>
                  </a:cubicBezTo>
                  <a:cubicBezTo>
                    <a:pt x="0" y="95"/>
                    <a:pt x="13" y="62"/>
                    <a:pt x="38" y="38"/>
                  </a:cubicBezTo>
                  <a:cubicBezTo>
                    <a:pt x="62" y="13"/>
                    <a:pt x="95" y="0"/>
                    <a:pt x="130" y="0"/>
                  </a:cubicBezTo>
                  <a:cubicBezTo>
                    <a:pt x="165" y="0"/>
                    <a:pt x="198" y="13"/>
                    <a:pt x="222" y="38"/>
                  </a:cubicBezTo>
                  <a:cubicBezTo>
                    <a:pt x="247" y="62"/>
                    <a:pt x="260" y="95"/>
                    <a:pt x="260" y="130"/>
                  </a:cubicBezTo>
                  <a:cubicBezTo>
                    <a:pt x="260" y="202"/>
                    <a:pt x="202" y="260"/>
                    <a:pt x="130" y="260"/>
                  </a:cubicBezTo>
                  <a:cubicBezTo>
                    <a:pt x="130" y="260"/>
                    <a:pt x="130" y="260"/>
                    <a:pt x="130" y="260"/>
                  </a:cubicBezTo>
                  <a:cubicBezTo>
                    <a:pt x="130" y="260"/>
                    <a:pt x="130" y="260"/>
                    <a:pt x="130" y="260"/>
                  </a:cubicBezTo>
                  <a:close/>
                  <a:moveTo>
                    <a:pt x="130" y="248"/>
                  </a:moveTo>
                  <a:cubicBezTo>
                    <a:pt x="130" y="254"/>
                    <a:pt x="130" y="254"/>
                    <a:pt x="130" y="254"/>
                  </a:cubicBezTo>
                  <a:cubicBezTo>
                    <a:pt x="130" y="248"/>
                    <a:pt x="130" y="248"/>
                    <a:pt x="130" y="248"/>
                  </a:cubicBezTo>
                  <a:cubicBezTo>
                    <a:pt x="195" y="248"/>
                    <a:pt x="248" y="195"/>
                    <a:pt x="248" y="130"/>
                  </a:cubicBezTo>
                  <a:cubicBezTo>
                    <a:pt x="248" y="98"/>
                    <a:pt x="236" y="69"/>
                    <a:pt x="214" y="46"/>
                  </a:cubicBezTo>
                  <a:cubicBezTo>
                    <a:pt x="191" y="24"/>
                    <a:pt x="162" y="12"/>
                    <a:pt x="130" y="12"/>
                  </a:cubicBezTo>
                  <a:cubicBezTo>
                    <a:pt x="98" y="12"/>
                    <a:pt x="69" y="24"/>
                    <a:pt x="46" y="46"/>
                  </a:cubicBezTo>
                  <a:cubicBezTo>
                    <a:pt x="24" y="69"/>
                    <a:pt x="12" y="98"/>
                    <a:pt x="12" y="130"/>
                  </a:cubicBezTo>
                  <a:cubicBezTo>
                    <a:pt x="12" y="162"/>
                    <a:pt x="24" y="191"/>
                    <a:pt x="46" y="214"/>
                  </a:cubicBezTo>
                  <a:cubicBezTo>
                    <a:pt x="69" y="236"/>
                    <a:pt x="98" y="248"/>
                    <a:pt x="130" y="248"/>
                  </a:cubicBezTo>
                  <a:cubicBezTo>
                    <a:pt x="130" y="248"/>
                    <a:pt x="130" y="248"/>
                    <a:pt x="130" y="2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71" name="Freeform 87"/>
            <p:cNvSpPr/>
            <p:nvPr/>
          </p:nvSpPr>
          <p:spPr bwMode="auto">
            <a:xfrm>
              <a:off x="8785225" y="3914775"/>
              <a:ext cx="714375" cy="357188"/>
            </a:xfrm>
            <a:custGeom>
              <a:avLst/>
              <a:gdLst>
                <a:gd name="T0" fmla="*/ 188 w 188"/>
                <a:gd name="T1" fmla="*/ 94 h 94"/>
                <a:gd name="T2" fmla="*/ 176 w 188"/>
                <a:gd name="T3" fmla="*/ 94 h 94"/>
                <a:gd name="T4" fmla="*/ 152 w 188"/>
                <a:gd name="T5" fmla="*/ 36 h 94"/>
                <a:gd name="T6" fmla="*/ 94 w 188"/>
                <a:gd name="T7" fmla="*/ 12 h 94"/>
                <a:gd name="T8" fmla="*/ 36 w 188"/>
                <a:gd name="T9" fmla="*/ 36 h 94"/>
                <a:gd name="T10" fmla="*/ 12 w 188"/>
                <a:gd name="T11" fmla="*/ 94 h 94"/>
                <a:gd name="T12" fmla="*/ 0 w 188"/>
                <a:gd name="T13" fmla="*/ 94 h 94"/>
                <a:gd name="T14" fmla="*/ 28 w 188"/>
                <a:gd name="T15" fmla="*/ 28 h 94"/>
                <a:gd name="T16" fmla="*/ 94 w 188"/>
                <a:gd name="T17" fmla="*/ 0 h 94"/>
                <a:gd name="T18" fmla="*/ 160 w 188"/>
                <a:gd name="T19" fmla="*/ 28 h 94"/>
                <a:gd name="T20" fmla="*/ 188 w 188"/>
                <a:gd name="T2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8" h="94">
                  <a:moveTo>
                    <a:pt x="188" y="94"/>
                  </a:moveTo>
                  <a:cubicBezTo>
                    <a:pt x="176" y="94"/>
                    <a:pt x="176" y="94"/>
                    <a:pt x="176" y="94"/>
                  </a:cubicBezTo>
                  <a:cubicBezTo>
                    <a:pt x="176" y="72"/>
                    <a:pt x="167" y="52"/>
                    <a:pt x="152" y="36"/>
                  </a:cubicBezTo>
                  <a:cubicBezTo>
                    <a:pt x="136" y="21"/>
                    <a:pt x="116" y="12"/>
                    <a:pt x="94" y="12"/>
                  </a:cubicBezTo>
                  <a:cubicBezTo>
                    <a:pt x="72" y="12"/>
                    <a:pt x="52" y="21"/>
                    <a:pt x="36" y="36"/>
                  </a:cubicBezTo>
                  <a:cubicBezTo>
                    <a:pt x="21" y="52"/>
                    <a:pt x="12" y="72"/>
                    <a:pt x="12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69"/>
                    <a:pt x="10" y="45"/>
                    <a:pt x="28" y="28"/>
                  </a:cubicBezTo>
                  <a:cubicBezTo>
                    <a:pt x="45" y="10"/>
                    <a:pt x="69" y="0"/>
                    <a:pt x="94" y="0"/>
                  </a:cubicBezTo>
                  <a:cubicBezTo>
                    <a:pt x="119" y="0"/>
                    <a:pt x="143" y="10"/>
                    <a:pt x="160" y="28"/>
                  </a:cubicBezTo>
                  <a:cubicBezTo>
                    <a:pt x="178" y="45"/>
                    <a:pt x="188" y="69"/>
                    <a:pt x="188" y="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72" name="Freeform 88"/>
            <p:cNvSpPr/>
            <p:nvPr/>
          </p:nvSpPr>
          <p:spPr bwMode="auto">
            <a:xfrm>
              <a:off x="9001125" y="4165600"/>
              <a:ext cx="133350" cy="139700"/>
            </a:xfrm>
            <a:custGeom>
              <a:avLst/>
              <a:gdLst>
                <a:gd name="T0" fmla="*/ 62 w 84"/>
                <a:gd name="T1" fmla="*/ 88 h 88"/>
                <a:gd name="T2" fmla="*/ 0 w 84"/>
                <a:gd name="T3" fmla="*/ 19 h 88"/>
                <a:gd name="T4" fmla="*/ 24 w 84"/>
                <a:gd name="T5" fmla="*/ 0 h 88"/>
                <a:gd name="T6" fmla="*/ 84 w 84"/>
                <a:gd name="T7" fmla="*/ 69 h 88"/>
                <a:gd name="T8" fmla="*/ 62 w 84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88">
                  <a:moveTo>
                    <a:pt x="62" y="88"/>
                  </a:moveTo>
                  <a:lnTo>
                    <a:pt x="0" y="19"/>
                  </a:lnTo>
                  <a:lnTo>
                    <a:pt x="24" y="0"/>
                  </a:lnTo>
                  <a:lnTo>
                    <a:pt x="84" y="69"/>
                  </a:lnTo>
                  <a:lnTo>
                    <a:pt x="62" y="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73" name="Freeform 89"/>
            <p:cNvSpPr>
              <a:spLocks noEditPoints="1"/>
            </p:cNvSpPr>
            <p:nvPr/>
          </p:nvSpPr>
          <p:spPr bwMode="auto">
            <a:xfrm>
              <a:off x="9088438" y="4259263"/>
              <a:ext cx="111125" cy="111125"/>
            </a:xfrm>
            <a:custGeom>
              <a:avLst/>
              <a:gdLst>
                <a:gd name="T0" fmla="*/ 14 w 29"/>
                <a:gd name="T1" fmla="*/ 29 h 29"/>
                <a:gd name="T2" fmla="*/ 4 w 29"/>
                <a:gd name="T3" fmla="*/ 25 h 29"/>
                <a:gd name="T4" fmla="*/ 0 w 29"/>
                <a:gd name="T5" fmla="*/ 15 h 29"/>
                <a:gd name="T6" fmla="*/ 4 w 29"/>
                <a:gd name="T7" fmla="*/ 5 h 29"/>
                <a:gd name="T8" fmla="*/ 24 w 29"/>
                <a:gd name="T9" fmla="*/ 5 h 29"/>
                <a:gd name="T10" fmla="*/ 24 w 29"/>
                <a:gd name="T11" fmla="*/ 25 h 29"/>
                <a:gd name="T12" fmla="*/ 14 w 29"/>
                <a:gd name="T13" fmla="*/ 29 h 29"/>
                <a:gd name="T14" fmla="*/ 14 w 29"/>
                <a:gd name="T15" fmla="*/ 13 h 29"/>
                <a:gd name="T16" fmla="*/ 13 w 29"/>
                <a:gd name="T17" fmla="*/ 14 h 29"/>
                <a:gd name="T18" fmla="*/ 12 w 29"/>
                <a:gd name="T19" fmla="*/ 15 h 29"/>
                <a:gd name="T20" fmla="*/ 13 w 29"/>
                <a:gd name="T21" fmla="*/ 16 h 29"/>
                <a:gd name="T22" fmla="*/ 14 w 29"/>
                <a:gd name="T23" fmla="*/ 17 h 29"/>
                <a:gd name="T24" fmla="*/ 15 w 29"/>
                <a:gd name="T25" fmla="*/ 16 h 29"/>
                <a:gd name="T26" fmla="*/ 15 w 29"/>
                <a:gd name="T27" fmla="*/ 14 h 29"/>
                <a:gd name="T28" fmla="*/ 14 w 29"/>
                <a:gd name="T29" fmla="*/ 1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29">
                  <a:moveTo>
                    <a:pt x="14" y="29"/>
                  </a:moveTo>
                  <a:cubicBezTo>
                    <a:pt x="10" y="29"/>
                    <a:pt x="7" y="28"/>
                    <a:pt x="4" y="25"/>
                  </a:cubicBezTo>
                  <a:cubicBezTo>
                    <a:pt x="1" y="22"/>
                    <a:pt x="0" y="19"/>
                    <a:pt x="0" y="15"/>
                  </a:cubicBezTo>
                  <a:cubicBezTo>
                    <a:pt x="0" y="11"/>
                    <a:pt x="1" y="8"/>
                    <a:pt x="4" y="5"/>
                  </a:cubicBezTo>
                  <a:cubicBezTo>
                    <a:pt x="9" y="0"/>
                    <a:pt x="19" y="0"/>
                    <a:pt x="24" y="5"/>
                  </a:cubicBezTo>
                  <a:cubicBezTo>
                    <a:pt x="29" y="10"/>
                    <a:pt x="29" y="19"/>
                    <a:pt x="24" y="25"/>
                  </a:cubicBezTo>
                  <a:cubicBezTo>
                    <a:pt x="21" y="28"/>
                    <a:pt x="18" y="29"/>
                    <a:pt x="14" y="29"/>
                  </a:cubicBezTo>
                  <a:close/>
                  <a:moveTo>
                    <a:pt x="14" y="13"/>
                  </a:moveTo>
                  <a:cubicBezTo>
                    <a:pt x="14" y="13"/>
                    <a:pt x="13" y="13"/>
                    <a:pt x="13" y="14"/>
                  </a:cubicBezTo>
                  <a:cubicBezTo>
                    <a:pt x="12" y="14"/>
                    <a:pt x="12" y="15"/>
                    <a:pt x="12" y="15"/>
                  </a:cubicBezTo>
                  <a:cubicBezTo>
                    <a:pt x="12" y="15"/>
                    <a:pt x="12" y="16"/>
                    <a:pt x="13" y="16"/>
                  </a:cubicBezTo>
                  <a:cubicBezTo>
                    <a:pt x="13" y="17"/>
                    <a:pt x="14" y="17"/>
                    <a:pt x="14" y="17"/>
                  </a:cubicBezTo>
                  <a:cubicBezTo>
                    <a:pt x="14" y="17"/>
                    <a:pt x="15" y="17"/>
                    <a:pt x="15" y="16"/>
                  </a:cubicBezTo>
                  <a:cubicBezTo>
                    <a:pt x="16" y="16"/>
                    <a:pt x="16" y="14"/>
                    <a:pt x="15" y="14"/>
                  </a:cubicBezTo>
                  <a:cubicBezTo>
                    <a:pt x="15" y="13"/>
                    <a:pt x="14" y="13"/>
                    <a:pt x="1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5248395" y="2282084"/>
            <a:ext cx="493019" cy="493017"/>
            <a:chOff x="7524750" y="4162426"/>
            <a:chExt cx="420688" cy="420687"/>
          </a:xfrm>
          <a:solidFill>
            <a:schemeClr val="accent3"/>
          </a:solidFill>
        </p:grpSpPr>
        <p:sp>
          <p:nvSpPr>
            <p:cNvPr id="75" name="Freeform 93"/>
            <p:cNvSpPr>
              <a:spLocks noEditPoints="1"/>
            </p:cNvSpPr>
            <p:nvPr/>
          </p:nvSpPr>
          <p:spPr bwMode="auto">
            <a:xfrm>
              <a:off x="7524750" y="4162426"/>
              <a:ext cx="420688" cy="420687"/>
            </a:xfrm>
            <a:custGeom>
              <a:avLst/>
              <a:gdLst>
                <a:gd name="T0" fmla="*/ 102 w 265"/>
                <a:gd name="T1" fmla="*/ 265 h 265"/>
                <a:gd name="T2" fmla="*/ 86 w 265"/>
                <a:gd name="T3" fmla="*/ 221 h 265"/>
                <a:gd name="T4" fmla="*/ 18 w 265"/>
                <a:gd name="T5" fmla="*/ 206 h 265"/>
                <a:gd name="T6" fmla="*/ 39 w 265"/>
                <a:gd name="T7" fmla="*/ 163 h 265"/>
                <a:gd name="T8" fmla="*/ 0 w 265"/>
                <a:gd name="T9" fmla="*/ 102 h 265"/>
                <a:gd name="T10" fmla="*/ 44 w 265"/>
                <a:gd name="T11" fmla="*/ 86 h 265"/>
                <a:gd name="T12" fmla="*/ 59 w 265"/>
                <a:gd name="T13" fmla="*/ 18 h 265"/>
                <a:gd name="T14" fmla="*/ 102 w 265"/>
                <a:gd name="T15" fmla="*/ 39 h 265"/>
                <a:gd name="T16" fmla="*/ 163 w 265"/>
                <a:gd name="T17" fmla="*/ 0 h 265"/>
                <a:gd name="T18" fmla="*/ 179 w 265"/>
                <a:gd name="T19" fmla="*/ 44 h 265"/>
                <a:gd name="T20" fmla="*/ 247 w 265"/>
                <a:gd name="T21" fmla="*/ 59 h 265"/>
                <a:gd name="T22" fmla="*/ 226 w 265"/>
                <a:gd name="T23" fmla="*/ 102 h 265"/>
                <a:gd name="T24" fmla="*/ 265 w 265"/>
                <a:gd name="T25" fmla="*/ 163 h 265"/>
                <a:gd name="T26" fmla="*/ 221 w 265"/>
                <a:gd name="T27" fmla="*/ 179 h 265"/>
                <a:gd name="T28" fmla="*/ 206 w 265"/>
                <a:gd name="T29" fmla="*/ 247 h 265"/>
                <a:gd name="T30" fmla="*/ 163 w 265"/>
                <a:gd name="T31" fmla="*/ 226 h 265"/>
                <a:gd name="T32" fmla="*/ 114 w 265"/>
                <a:gd name="T33" fmla="*/ 253 h 265"/>
                <a:gd name="T34" fmla="*/ 151 w 265"/>
                <a:gd name="T35" fmla="*/ 218 h 265"/>
                <a:gd name="T36" fmla="*/ 206 w 265"/>
                <a:gd name="T37" fmla="*/ 230 h 265"/>
                <a:gd name="T38" fmla="*/ 207 w 265"/>
                <a:gd name="T39" fmla="*/ 183 h 265"/>
                <a:gd name="T40" fmla="*/ 253 w 265"/>
                <a:gd name="T41" fmla="*/ 151 h 265"/>
                <a:gd name="T42" fmla="*/ 218 w 265"/>
                <a:gd name="T43" fmla="*/ 114 h 265"/>
                <a:gd name="T44" fmla="*/ 230 w 265"/>
                <a:gd name="T45" fmla="*/ 59 h 265"/>
                <a:gd name="T46" fmla="*/ 183 w 265"/>
                <a:gd name="T47" fmla="*/ 58 h 265"/>
                <a:gd name="T48" fmla="*/ 151 w 265"/>
                <a:gd name="T49" fmla="*/ 12 h 265"/>
                <a:gd name="T50" fmla="*/ 114 w 265"/>
                <a:gd name="T51" fmla="*/ 47 h 265"/>
                <a:gd name="T52" fmla="*/ 59 w 265"/>
                <a:gd name="T53" fmla="*/ 35 h 265"/>
                <a:gd name="T54" fmla="*/ 58 w 265"/>
                <a:gd name="T55" fmla="*/ 82 h 265"/>
                <a:gd name="T56" fmla="*/ 12 w 265"/>
                <a:gd name="T57" fmla="*/ 114 h 265"/>
                <a:gd name="T58" fmla="*/ 47 w 265"/>
                <a:gd name="T59" fmla="*/ 151 h 265"/>
                <a:gd name="T60" fmla="*/ 35 w 265"/>
                <a:gd name="T61" fmla="*/ 206 h 265"/>
                <a:gd name="T62" fmla="*/ 82 w 265"/>
                <a:gd name="T63" fmla="*/ 207 h 265"/>
                <a:gd name="T64" fmla="*/ 114 w 265"/>
                <a:gd name="T65" fmla="*/ 253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5" h="265">
                  <a:moveTo>
                    <a:pt x="163" y="265"/>
                  </a:moveTo>
                  <a:lnTo>
                    <a:pt x="102" y="265"/>
                  </a:lnTo>
                  <a:lnTo>
                    <a:pt x="102" y="226"/>
                  </a:lnTo>
                  <a:lnTo>
                    <a:pt x="86" y="221"/>
                  </a:lnTo>
                  <a:lnTo>
                    <a:pt x="59" y="247"/>
                  </a:lnTo>
                  <a:lnTo>
                    <a:pt x="18" y="206"/>
                  </a:lnTo>
                  <a:lnTo>
                    <a:pt x="44" y="179"/>
                  </a:lnTo>
                  <a:lnTo>
                    <a:pt x="39" y="163"/>
                  </a:lnTo>
                  <a:lnTo>
                    <a:pt x="0" y="163"/>
                  </a:lnTo>
                  <a:lnTo>
                    <a:pt x="0" y="102"/>
                  </a:lnTo>
                  <a:lnTo>
                    <a:pt x="39" y="102"/>
                  </a:lnTo>
                  <a:lnTo>
                    <a:pt x="44" y="86"/>
                  </a:lnTo>
                  <a:lnTo>
                    <a:pt x="18" y="59"/>
                  </a:lnTo>
                  <a:lnTo>
                    <a:pt x="59" y="18"/>
                  </a:lnTo>
                  <a:lnTo>
                    <a:pt x="86" y="44"/>
                  </a:lnTo>
                  <a:lnTo>
                    <a:pt x="102" y="39"/>
                  </a:lnTo>
                  <a:lnTo>
                    <a:pt x="102" y="0"/>
                  </a:lnTo>
                  <a:lnTo>
                    <a:pt x="163" y="0"/>
                  </a:lnTo>
                  <a:lnTo>
                    <a:pt x="163" y="39"/>
                  </a:lnTo>
                  <a:lnTo>
                    <a:pt x="179" y="44"/>
                  </a:lnTo>
                  <a:lnTo>
                    <a:pt x="206" y="18"/>
                  </a:lnTo>
                  <a:lnTo>
                    <a:pt x="247" y="59"/>
                  </a:lnTo>
                  <a:lnTo>
                    <a:pt x="221" y="86"/>
                  </a:lnTo>
                  <a:lnTo>
                    <a:pt x="226" y="102"/>
                  </a:lnTo>
                  <a:lnTo>
                    <a:pt x="265" y="102"/>
                  </a:lnTo>
                  <a:lnTo>
                    <a:pt x="265" y="163"/>
                  </a:lnTo>
                  <a:lnTo>
                    <a:pt x="226" y="163"/>
                  </a:lnTo>
                  <a:lnTo>
                    <a:pt x="221" y="179"/>
                  </a:lnTo>
                  <a:lnTo>
                    <a:pt x="247" y="206"/>
                  </a:lnTo>
                  <a:lnTo>
                    <a:pt x="206" y="247"/>
                  </a:lnTo>
                  <a:lnTo>
                    <a:pt x="179" y="221"/>
                  </a:lnTo>
                  <a:lnTo>
                    <a:pt x="163" y="226"/>
                  </a:lnTo>
                  <a:lnTo>
                    <a:pt x="163" y="265"/>
                  </a:lnTo>
                  <a:close/>
                  <a:moveTo>
                    <a:pt x="114" y="253"/>
                  </a:moveTo>
                  <a:lnTo>
                    <a:pt x="151" y="253"/>
                  </a:lnTo>
                  <a:lnTo>
                    <a:pt x="151" y="218"/>
                  </a:lnTo>
                  <a:lnTo>
                    <a:pt x="183" y="207"/>
                  </a:lnTo>
                  <a:lnTo>
                    <a:pt x="206" y="230"/>
                  </a:lnTo>
                  <a:lnTo>
                    <a:pt x="230" y="206"/>
                  </a:lnTo>
                  <a:lnTo>
                    <a:pt x="207" y="183"/>
                  </a:lnTo>
                  <a:lnTo>
                    <a:pt x="218" y="151"/>
                  </a:lnTo>
                  <a:lnTo>
                    <a:pt x="253" y="151"/>
                  </a:lnTo>
                  <a:lnTo>
                    <a:pt x="253" y="114"/>
                  </a:lnTo>
                  <a:lnTo>
                    <a:pt x="218" y="114"/>
                  </a:lnTo>
                  <a:lnTo>
                    <a:pt x="207" y="82"/>
                  </a:lnTo>
                  <a:lnTo>
                    <a:pt x="230" y="59"/>
                  </a:lnTo>
                  <a:lnTo>
                    <a:pt x="206" y="35"/>
                  </a:lnTo>
                  <a:lnTo>
                    <a:pt x="183" y="58"/>
                  </a:lnTo>
                  <a:lnTo>
                    <a:pt x="151" y="47"/>
                  </a:lnTo>
                  <a:lnTo>
                    <a:pt x="151" y="12"/>
                  </a:lnTo>
                  <a:lnTo>
                    <a:pt x="114" y="12"/>
                  </a:lnTo>
                  <a:lnTo>
                    <a:pt x="114" y="47"/>
                  </a:lnTo>
                  <a:lnTo>
                    <a:pt x="82" y="58"/>
                  </a:lnTo>
                  <a:lnTo>
                    <a:pt x="59" y="35"/>
                  </a:lnTo>
                  <a:lnTo>
                    <a:pt x="35" y="59"/>
                  </a:lnTo>
                  <a:lnTo>
                    <a:pt x="58" y="82"/>
                  </a:lnTo>
                  <a:lnTo>
                    <a:pt x="47" y="114"/>
                  </a:lnTo>
                  <a:lnTo>
                    <a:pt x="12" y="114"/>
                  </a:lnTo>
                  <a:lnTo>
                    <a:pt x="12" y="151"/>
                  </a:lnTo>
                  <a:lnTo>
                    <a:pt x="47" y="151"/>
                  </a:lnTo>
                  <a:lnTo>
                    <a:pt x="58" y="183"/>
                  </a:lnTo>
                  <a:lnTo>
                    <a:pt x="35" y="206"/>
                  </a:lnTo>
                  <a:lnTo>
                    <a:pt x="59" y="230"/>
                  </a:lnTo>
                  <a:lnTo>
                    <a:pt x="82" y="207"/>
                  </a:lnTo>
                  <a:lnTo>
                    <a:pt x="114" y="218"/>
                  </a:lnTo>
                  <a:lnTo>
                    <a:pt x="114" y="2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76" name="Freeform 94"/>
            <p:cNvSpPr>
              <a:spLocks noEditPoints="1"/>
            </p:cNvSpPr>
            <p:nvPr/>
          </p:nvSpPr>
          <p:spPr bwMode="auto">
            <a:xfrm>
              <a:off x="7686675" y="4324350"/>
              <a:ext cx="96838" cy="9683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7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7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82" name="标题 81"/>
          <p:cNvSpPr>
            <a:spLocks noGrp="1"/>
          </p:cNvSpPr>
          <p:nvPr>
            <p:ph type="title"/>
          </p:nvPr>
        </p:nvSpPr>
        <p:spPr>
          <a:xfrm>
            <a:off x="572770" y="253365"/>
            <a:ext cx="10515600" cy="566863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/>
              <a:t>BC</a:t>
            </a:r>
            <a:r>
              <a:rPr lang="zh-CN" altLang="en-US" sz="4000" b="1" dirty="0"/>
              <a:t>一体用户增长时间线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0"/>
                            </p:stCondLst>
                            <p:childTnLst>
                              <p:par>
                                <p:cTn id="6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0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5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000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50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9000"/>
                            </p:stCondLst>
                            <p:childTnLst>
                              <p:par>
                                <p:cTn id="10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9500"/>
                            </p:stCondLst>
                            <p:childTnLst>
                              <p:par>
                                <p:cTn id="10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500"/>
                            </p:stCondLst>
                            <p:childTnLst>
                              <p:par>
                                <p:cTn id="1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10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150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2500"/>
                            </p:stCondLst>
                            <p:childTnLst>
                              <p:par>
                                <p:cTn id="1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3000"/>
                            </p:stCondLst>
                            <p:childTnLst>
                              <p:par>
                                <p:cTn id="1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3500"/>
                            </p:stCondLst>
                            <p:childTnLst>
                              <p:par>
                                <p:cTn id="1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4000"/>
                            </p:stCondLst>
                            <p:childTnLst>
                              <p:par>
                                <p:cTn id="1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4500"/>
                            </p:stCondLst>
                            <p:childTnLst>
                              <p:par>
                                <p:cTn id="1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5000"/>
                            </p:stCondLst>
                            <p:childTnLst>
                              <p:par>
                                <p:cTn id="16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5500"/>
                            </p:stCondLst>
                            <p:childTnLst>
                              <p:par>
                                <p:cTn id="1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600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6500"/>
                            </p:stCondLst>
                            <p:childTnLst>
                              <p:par>
                                <p:cTn id="1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7000"/>
                            </p:stCondLst>
                            <p:childTnLst>
                              <p:par>
                                <p:cTn id="18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7500"/>
                            </p:stCondLst>
                            <p:childTnLst>
                              <p:par>
                                <p:cTn id="19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8000"/>
                            </p:stCondLst>
                            <p:childTnLst>
                              <p:par>
                                <p:cTn id="19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8500"/>
                            </p:stCondLst>
                            <p:childTnLst>
                              <p:par>
                                <p:cTn id="20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19000"/>
                            </p:stCondLst>
                            <p:childTnLst>
                              <p:par>
                                <p:cTn id="20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19500"/>
                            </p:stCondLst>
                            <p:childTnLst>
                              <p:par>
                                <p:cTn id="2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20000"/>
                            </p:stCondLst>
                            <p:childTnLst>
                              <p:par>
                                <p:cTn id="2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20500"/>
                            </p:stCondLst>
                            <p:childTnLst>
                              <p:par>
                                <p:cTn id="2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21000"/>
                            </p:stCondLst>
                            <p:childTnLst>
                              <p:par>
                                <p:cTn id="2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21500"/>
                            </p:stCondLst>
                            <p:childTnLst>
                              <p:par>
                                <p:cTn id="2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22000"/>
                            </p:stCondLst>
                            <p:childTnLst>
                              <p:par>
                                <p:cTn id="2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22500"/>
                            </p:stCondLst>
                            <p:childTnLst>
                              <p:par>
                                <p:cTn id="2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/>
        </p:nvSpPr>
        <p:spPr>
          <a:xfrm>
            <a:off x="5532755" y="1565910"/>
            <a:ext cx="994410" cy="709930"/>
          </a:xfrm>
          <a:prstGeom prst="triangle">
            <a:avLst>
              <a:gd name="adj" fmla="val 50191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梯形 4"/>
          <p:cNvSpPr/>
          <p:nvPr/>
        </p:nvSpPr>
        <p:spPr>
          <a:xfrm>
            <a:off x="4940935" y="2275840"/>
            <a:ext cx="2176780" cy="774065"/>
          </a:xfrm>
          <a:prstGeom prst="trapezoid">
            <a:avLst>
              <a:gd name="adj" fmla="val 7571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A/B</a:t>
            </a:r>
            <a:r>
              <a:rPr lang="zh-CN" altLang="en-US">
                <a:solidFill>
                  <a:schemeClr val="tx1"/>
                </a:solidFill>
              </a:rPr>
              <a:t>实验</a:t>
            </a:r>
          </a:p>
        </p:txBody>
      </p:sp>
      <p:sp>
        <p:nvSpPr>
          <p:cNvPr id="6" name="梯形 5"/>
          <p:cNvSpPr/>
          <p:nvPr/>
        </p:nvSpPr>
        <p:spPr>
          <a:xfrm>
            <a:off x="4218305" y="3049905"/>
            <a:ext cx="3611245" cy="918845"/>
          </a:xfrm>
          <a:prstGeom prst="trapezoid">
            <a:avLst>
              <a:gd name="adj" fmla="val 78000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增长战略，策略及战术</a:t>
            </a:r>
          </a:p>
        </p:txBody>
      </p:sp>
      <p:sp>
        <p:nvSpPr>
          <p:cNvPr id="7" name="梯形 6"/>
          <p:cNvSpPr/>
          <p:nvPr/>
        </p:nvSpPr>
        <p:spPr>
          <a:xfrm>
            <a:off x="3452495" y="3968750"/>
            <a:ext cx="5153660" cy="976630"/>
          </a:xfrm>
          <a:prstGeom prst="trapezoid">
            <a:avLst>
              <a:gd name="adj" fmla="val 78000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北极星指标</a:t>
            </a:r>
          </a:p>
        </p:txBody>
      </p:sp>
      <p:sp>
        <p:nvSpPr>
          <p:cNvPr id="8" name="梯形 7"/>
          <p:cNvSpPr/>
          <p:nvPr/>
        </p:nvSpPr>
        <p:spPr>
          <a:xfrm>
            <a:off x="2726055" y="4945380"/>
            <a:ext cx="6597015" cy="915035"/>
          </a:xfrm>
          <a:prstGeom prst="trapezoid">
            <a:avLst>
              <a:gd name="adj" fmla="val 78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产品与市场匹配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163685" y="1691005"/>
            <a:ext cx="2291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accent4"/>
                </a:solidFill>
              </a:rPr>
              <a:t>增长文化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163685" y="2432685"/>
            <a:ext cx="2291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accent2">
                    <a:lumMod val="75000"/>
                  </a:schemeClr>
                </a:solidFill>
              </a:rPr>
              <a:t>试验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163685" y="5172710"/>
            <a:ext cx="2291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accent1">
                    <a:lumMod val="60000"/>
                    <a:lumOff val="40000"/>
                  </a:schemeClr>
                </a:solidFill>
              </a:rPr>
              <a:t>基础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9163685" y="4226560"/>
            <a:ext cx="2291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accent6">
                    <a:lumMod val="75000"/>
                  </a:schemeClr>
                </a:solidFill>
              </a:rPr>
              <a:t>共识，方向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163685" y="3279140"/>
            <a:ext cx="2291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</a:rPr>
              <a:t>团队，流程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3240" y="395605"/>
            <a:ext cx="10515600" cy="566863"/>
          </a:xfrm>
        </p:spPr>
        <p:txBody>
          <a:bodyPr>
            <a:noAutofit/>
          </a:bodyPr>
          <a:lstStyle/>
          <a:p>
            <a:r>
              <a:rPr lang="zh-CN" altLang="en-US" sz="3600" b="1" dirty="0"/>
              <a:t>用户增长工作流程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05435" y="227584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第四步：A/B试验验证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06070" y="4987925"/>
            <a:ext cx="25393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ym typeface="+mn-ea"/>
              </a:rPr>
              <a:t>第一步：基于业务，结合模型，拆解增长指标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06070" y="4041775"/>
            <a:ext cx="24199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第二步：分析影响用户增长的要素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06070" y="3106420"/>
            <a:ext cx="2539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第三步：制定用户增长的落地策略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06070" y="156591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第五步：增长及反馈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708015" y="1934210"/>
            <a:ext cx="7550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增长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eform 263"/>
          <p:cNvSpPr/>
          <p:nvPr/>
        </p:nvSpPr>
        <p:spPr bwMode="auto">
          <a:xfrm>
            <a:off x="2746019" y="1718528"/>
            <a:ext cx="1767836" cy="2140755"/>
          </a:xfrm>
          <a:custGeom>
            <a:avLst/>
            <a:gdLst>
              <a:gd name="T0" fmla="*/ 4 w 1092"/>
              <a:gd name="T1" fmla="*/ 0 h 1319"/>
              <a:gd name="T2" fmla="*/ 124 w 1092"/>
              <a:gd name="T3" fmla="*/ 13 h 1319"/>
              <a:gd name="T4" fmla="*/ 238 w 1092"/>
              <a:gd name="T5" fmla="*/ 37 h 1319"/>
              <a:gd name="T6" fmla="*/ 348 w 1092"/>
              <a:gd name="T7" fmla="*/ 72 h 1319"/>
              <a:gd name="T8" fmla="*/ 454 w 1092"/>
              <a:gd name="T9" fmla="*/ 119 h 1319"/>
              <a:gd name="T10" fmla="*/ 554 w 1092"/>
              <a:gd name="T11" fmla="*/ 174 h 1319"/>
              <a:gd name="T12" fmla="*/ 646 w 1092"/>
              <a:gd name="T13" fmla="*/ 241 h 1319"/>
              <a:gd name="T14" fmla="*/ 732 w 1092"/>
              <a:gd name="T15" fmla="*/ 314 h 1319"/>
              <a:gd name="T16" fmla="*/ 811 w 1092"/>
              <a:gd name="T17" fmla="*/ 396 h 1319"/>
              <a:gd name="T18" fmla="*/ 880 w 1092"/>
              <a:gd name="T19" fmla="*/ 487 h 1319"/>
              <a:gd name="T20" fmla="*/ 941 w 1092"/>
              <a:gd name="T21" fmla="*/ 583 h 1319"/>
              <a:gd name="T22" fmla="*/ 994 w 1092"/>
              <a:gd name="T23" fmla="*/ 685 h 1319"/>
              <a:gd name="T24" fmla="*/ 1035 w 1092"/>
              <a:gd name="T25" fmla="*/ 791 h 1319"/>
              <a:gd name="T26" fmla="*/ 1064 w 1092"/>
              <a:gd name="T27" fmla="*/ 905 h 1319"/>
              <a:gd name="T28" fmla="*/ 1084 w 1092"/>
              <a:gd name="T29" fmla="*/ 1021 h 1319"/>
              <a:gd name="T30" fmla="*/ 1092 w 1092"/>
              <a:gd name="T31" fmla="*/ 1142 h 1319"/>
              <a:gd name="T32" fmla="*/ 768 w 1092"/>
              <a:gd name="T33" fmla="*/ 1319 h 1319"/>
              <a:gd name="T34" fmla="*/ 442 w 1092"/>
              <a:gd name="T35" fmla="*/ 1142 h 1319"/>
              <a:gd name="T36" fmla="*/ 436 w 1092"/>
              <a:gd name="T37" fmla="*/ 1068 h 1319"/>
              <a:gd name="T38" fmla="*/ 418 w 1092"/>
              <a:gd name="T39" fmla="*/ 995 h 1319"/>
              <a:gd name="T40" fmla="*/ 391 w 1092"/>
              <a:gd name="T41" fmla="*/ 930 h 1319"/>
              <a:gd name="T42" fmla="*/ 355 w 1092"/>
              <a:gd name="T43" fmla="*/ 868 h 1319"/>
              <a:gd name="T44" fmla="*/ 312 w 1092"/>
              <a:gd name="T45" fmla="*/ 813 h 1319"/>
              <a:gd name="T46" fmla="*/ 261 w 1092"/>
              <a:gd name="T47" fmla="*/ 764 h 1319"/>
              <a:gd name="T48" fmla="*/ 204 w 1092"/>
              <a:gd name="T49" fmla="*/ 722 h 1319"/>
              <a:gd name="T50" fmla="*/ 141 w 1092"/>
              <a:gd name="T51" fmla="*/ 689 h 1319"/>
              <a:gd name="T52" fmla="*/ 73 w 1092"/>
              <a:gd name="T53" fmla="*/ 665 h 1319"/>
              <a:gd name="T54" fmla="*/ 0 w 1092"/>
              <a:gd name="T55" fmla="*/ 652 h 1319"/>
              <a:gd name="T56" fmla="*/ 181 w 1092"/>
              <a:gd name="T57" fmla="*/ 320 h 1319"/>
              <a:gd name="T58" fmla="*/ 4 w 1092"/>
              <a:gd name="T59" fmla="*/ 0 h 13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092" h="1319">
                <a:moveTo>
                  <a:pt x="4" y="0"/>
                </a:moveTo>
                <a:lnTo>
                  <a:pt x="124" y="13"/>
                </a:lnTo>
                <a:lnTo>
                  <a:pt x="238" y="37"/>
                </a:lnTo>
                <a:lnTo>
                  <a:pt x="348" y="72"/>
                </a:lnTo>
                <a:lnTo>
                  <a:pt x="454" y="119"/>
                </a:lnTo>
                <a:lnTo>
                  <a:pt x="554" y="174"/>
                </a:lnTo>
                <a:lnTo>
                  <a:pt x="646" y="241"/>
                </a:lnTo>
                <a:lnTo>
                  <a:pt x="732" y="314"/>
                </a:lnTo>
                <a:lnTo>
                  <a:pt x="811" y="396"/>
                </a:lnTo>
                <a:lnTo>
                  <a:pt x="880" y="487"/>
                </a:lnTo>
                <a:lnTo>
                  <a:pt x="941" y="583"/>
                </a:lnTo>
                <a:lnTo>
                  <a:pt x="994" y="685"/>
                </a:lnTo>
                <a:lnTo>
                  <a:pt x="1035" y="791"/>
                </a:lnTo>
                <a:lnTo>
                  <a:pt x="1064" y="905"/>
                </a:lnTo>
                <a:lnTo>
                  <a:pt x="1084" y="1021"/>
                </a:lnTo>
                <a:lnTo>
                  <a:pt x="1092" y="1142"/>
                </a:lnTo>
                <a:lnTo>
                  <a:pt x="768" y="1319"/>
                </a:lnTo>
                <a:lnTo>
                  <a:pt x="442" y="1142"/>
                </a:lnTo>
                <a:lnTo>
                  <a:pt x="436" y="1068"/>
                </a:lnTo>
                <a:lnTo>
                  <a:pt x="418" y="995"/>
                </a:lnTo>
                <a:lnTo>
                  <a:pt x="391" y="930"/>
                </a:lnTo>
                <a:lnTo>
                  <a:pt x="355" y="868"/>
                </a:lnTo>
                <a:lnTo>
                  <a:pt x="312" y="813"/>
                </a:lnTo>
                <a:lnTo>
                  <a:pt x="261" y="764"/>
                </a:lnTo>
                <a:lnTo>
                  <a:pt x="204" y="722"/>
                </a:lnTo>
                <a:lnTo>
                  <a:pt x="141" y="689"/>
                </a:lnTo>
                <a:lnTo>
                  <a:pt x="73" y="665"/>
                </a:lnTo>
                <a:lnTo>
                  <a:pt x="0" y="652"/>
                </a:lnTo>
                <a:lnTo>
                  <a:pt x="181" y="320"/>
                </a:lnTo>
                <a:lnTo>
                  <a:pt x="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0">
            <a:noFill/>
            <a:prstDash val="solid"/>
            <a:round/>
          </a:ln>
          <a:effectLst>
            <a:outerShdw blurRad="50800" dist="50800" dir="5400000" algn="ctr" rotWithShape="0">
              <a:srgbClr val="000000">
                <a:alpha val="79000"/>
              </a:srgbClr>
            </a:outerShdw>
          </a:effectLst>
        </p:spPr>
        <p:txBody>
          <a:bodyPr vert="horz" wrap="square" lIns="45143" tIns="22533" rIns="45143" bIns="22533" numCol="1" anchor="t" anchorCtr="0" compatLnSpc="1"/>
          <a:lstStyle/>
          <a:p>
            <a:pPr defTabSz="1191895"/>
            <a:endParaRPr lang="es-SV" sz="240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9" name="Freeform 264"/>
          <p:cNvSpPr/>
          <p:nvPr/>
        </p:nvSpPr>
        <p:spPr bwMode="auto">
          <a:xfrm>
            <a:off x="780319" y="1715288"/>
            <a:ext cx="2140863" cy="1767745"/>
          </a:xfrm>
          <a:custGeom>
            <a:avLst/>
            <a:gdLst>
              <a:gd name="T0" fmla="*/ 1143 w 1320"/>
              <a:gd name="T1" fmla="*/ 0 h 1090"/>
              <a:gd name="T2" fmla="*/ 1320 w 1320"/>
              <a:gd name="T3" fmla="*/ 322 h 1090"/>
              <a:gd name="T4" fmla="*/ 1141 w 1320"/>
              <a:gd name="T5" fmla="*/ 650 h 1090"/>
              <a:gd name="T6" fmla="*/ 1067 w 1320"/>
              <a:gd name="T7" fmla="*/ 656 h 1090"/>
              <a:gd name="T8" fmla="*/ 996 w 1320"/>
              <a:gd name="T9" fmla="*/ 673 h 1090"/>
              <a:gd name="T10" fmla="*/ 929 w 1320"/>
              <a:gd name="T11" fmla="*/ 699 h 1090"/>
              <a:gd name="T12" fmla="*/ 868 w 1320"/>
              <a:gd name="T13" fmla="*/ 736 h 1090"/>
              <a:gd name="T14" fmla="*/ 813 w 1320"/>
              <a:gd name="T15" fmla="*/ 779 h 1090"/>
              <a:gd name="T16" fmla="*/ 764 w 1320"/>
              <a:gd name="T17" fmla="*/ 830 h 1090"/>
              <a:gd name="T18" fmla="*/ 723 w 1320"/>
              <a:gd name="T19" fmla="*/ 887 h 1090"/>
              <a:gd name="T20" fmla="*/ 690 w 1320"/>
              <a:gd name="T21" fmla="*/ 950 h 1090"/>
              <a:gd name="T22" fmla="*/ 666 w 1320"/>
              <a:gd name="T23" fmla="*/ 1019 h 1090"/>
              <a:gd name="T24" fmla="*/ 650 w 1320"/>
              <a:gd name="T25" fmla="*/ 1090 h 1090"/>
              <a:gd name="T26" fmla="*/ 321 w 1320"/>
              <a:gd name="T27" fmla="*/ 911 h 1090"/>
              <a:gd name="T28" fmla="*/ 0 w 1320"/>
              <a:gd name="T29" fmla="*/ 1088 h 1090"/>
              <a:gd name="T30" fmla="*/ 12 w 1320"/>
              <a:gd name="T31" fmla="*/ 968 h 1090"/>
              <a:gd name="T32" fmla="*/ 38 w 1320"/>
              <a:gd name="T33" fmla="*/ 852 h 1090"/>
              <a:gd name="T34" fmla="*/ 73 w 1320"/>
              <a:gd name="T35" fmla="*/ 742 h 1090"/>
              <a:gd name="T36" fmla="*/ 120 w 1320"/>
              <a:gd name="T37" fmla="*/ 638 h 1090"/>
              <a:gd name="T38" fmla="*/ 175 w 1320"/>
              <a:gd name="T39" fmla="*/ 538 h 1090"/>
              <a:gd name="T40" fmla="*/ 242 w 1320"/>
              <a:gd name="T41" fmla="*/ 445 h 1090"/>
              <a:gd name="T42" fmla="*/ 315 w 1320"/>
              <a:gd name="T43" fmla="*/ 359 h 1090"/>
              <a:gd name="T44" fmla="*/ 397 w 1320"/>
              <a:gd name="T45" fmla="*/ 280 h 1090"/>
              <a:gd name="T46" fmla="*/ 485 w 1320"/>
              <a:gd name="T47" fmla="*/ 210 h 1090"/>
              <a:gd name="T48" fmla="*/ 582 w 1320"/>
              <a:gd name="T49" fmla="*/ 149 h 1090"/>
              <a:gd name="T50" fmla="*/ 684 w 1320"/>
              <a:gd name="T51" fmla="*/ 98 h 1090"/>
              <a:gd name="T52" fmla="*/ 792 w 1320"/>
              <a:gd name="T53" fmla="*/ 57 h 1090"/>
              <a:gd name="T54" fmla="*/ 906 w 1320"/>
              <a:gd name="T55" fmla="*/ 27 h 1090"/>
              <a:gd name="T56" fmla="*/ 1022 w 1320"/>
              <a:gd name="T57" fmla="*/ 8 h 1090"/>
              <a:gd name="T58" fmla="*/ 1143 w 1320"/>
              <a:gd name="T59" fmla="*/ 0 h 10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320" h="1090">
                <a:moveTo>
                  <a:pt x="1143" y="0"/>
                </a:moveTo>
                <a:lnTo>
                  <a:pt x="1320" y="322"/>
                </a:lnTo>
                <a:lnTo>
                  <a:pt x="1141" y="650"/>
                </a:lnTo>
                <a:lnTo>
                  <a:pt x="1067" y="656"/>
                </a:lnTo>
                <a:lnTo>
                  <a:pt x="996" y="673"/>
                </a:lnTo>
                <a:lnTo>
                  <a:pt x="929" y="699"/>
                </a:lnTo>
                <a:lnTo>
                  <a:pt x="868" y="736"/>
                </a:lnTo>
                <a:lnTo>
                  <a:pt x="813" y="779"/>
                </a:lnTo>
                <a:lnTo>
                  <a:pt x="764" y="830"/>
                </a:lnTo>
                <a:lnTo>
                  <a:pt x="723" y="887"/>
                </a:lnTo>
                <a:lnTo>
                  <a:pt x="690" y="950"/>
                </a:lnTo>
                <a:lnTo>
                  <a:pt x="666" y="1019"/>
                </a:lnTo>
                <a:lnTo>
                  <a:pt x="650" y="1090"/>
                </a:lnTo>
                <a:lnTo>
                  <a:pt x="321" y="911"/>
                </a:lnTo>
                <a:lnTo>
                  <a:pt x="0" y="1088"/>
                </a:lnTo>
                <a:lnTo>
                  <a:pt x="12" y="968"/>
                </a:lnTo>
                <a:lnTo>
                  <a:pt x="38" y="852"/>
                </a:lnTo>
                <a:lnTo>
                  <a:pt x="73" y="742"/>
                </a:lnTo>
                <a:lnTo>
                  <a:pt x="120" y="638"/>
                </a:lnTo>
                <a:lnTo>
                  <a:pt x="175" y="538"/>
                </a:lnTo>
                <a:lnTo>
                  <a:pt x="242" y="445"/>
                </a:lnTo>
                <a:lnTo>
                  <a:pt x="315" y="359"/>
                </a:lnTo>
                <a:lnTo>
                  <a:pt x="397" y="280"/>
                </a:lnTo>
                <a:lnTo>
                  <a:pt x="485" y="210"/>
                </a:lnTo>
                <a:lnTo>
                  <a:pt x="582" y="149"/>
                </a:lnTo>
                <a:lnTo>
                  <a:pt x="684" y="98"/>
                </a:lnTo>
                <a:lnTo>
                  <a:pt x="792" y="57"/>
                </a:lnTo>
                <a:lnTo>
                  <a:pt x="906" y="27"/>
                </a:lnTo>
                <a:lnTo>
                  <a:pt x="1022" y="8"/>
                </a:lnTo>
                <a:lnTo>
                  <a:pt x="1143" y="0"/>
                </a:lnTo>
                <a:close/>
              </a:path>
            </a:pathLst>
          </a:custGeom>
          <a:solidFill>
            <a:srgbClr val="00B0F0"/>
          </a:solidFill>
          <a:ln w="0">
            <a:noFill/>
            <a:prstDash val="solid"/>
            <a:round/>
          </a:ln>
          <a:effectLst>
            <a:outerShdw blurRad="50800" dist="50800" dir="5400000" algn="ctr" rotWithShape="0">
              <a:srgbClr val="000000">
                <a:alpha val="79000"/>
              </a:srgbClr>
            </a:outerShdw>
          </a:effectLst>
        </p:spPr>
        <p:txBody>
          <a:bodyPr vert="horz" wrap="square" lIns="45143" tIns="22533" rIns="45143" bIns="22533" numCol="1" anchor="t" anchorCtr="0" compatLnSpc="1"/>
          <a:lstStyle/>
          <a:p>
            <a:pPr defTabSz="1191895"/>
            <a:endParaRPr lang="es-SV" sz="240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0" name="Freeform 265"/>
          <p:cNvSpPr/>
          <p:nvPr/>
        </p:nvSpPr>
        <p:spPr bwMode="auto">
          <a:xfrm>
            <a:off x="2372987" y="3687373"/>
            <a:ext cx="2137621" cy="1767745"/>
          </a:xfrm>
          <a:custGeom>
            <a:avLst/>
            <a:gdLst>
              <a:gd name="T0" fmla="*/ 668 w 1320"/>
              <a:gd name="T1" fmla="*/ 0 h 1090"/>
              <a:gd name="T2" fmla="*/ 1000 w 1320"/>
              <a:gd name="T3" fmla="*/ 179 h 1090"/>
              <a:gd name="T4" fmla="*/ 1320 w 1320"/>
              <a:gd name="T5" fmla="*/ 2 h 1090"/>
              <a:gd name="T6" fmla="*/ 1306 w 1320"/>
              <a:gd name="T7" fmla="*/ 122 h 1090"/>
              <a:gd name="T8" fmla="*/ 1283 w 1320"/>
              <a:gd name="T9" fmla="*/ 236 h 1090"/>
              <a:gd name="T10" fmla="*/ 1245 w 1320"/>
              <a:gd name="T11" fmla="*/ 348 h 1090"/>
              <a:gd name="T12" fmla="*/ 1200 w 1320"/>
              <a:gd name="T13" fmla="*/ 452 h 1090"/>
              <a:gd name="T14" fmla="*/ 1143 w 1320"/>
              <a:gd name="T15" fmla="*/ 552 h 1090"/>
              <a:gd name="T16" fmla="*/ 1078 w 1320"/>
              <a:gd name="T17" fmla="*/ 644 h 1090"/>
              <a:gd name="T18" fmla="*/ 1004 w 1320"/>
              <a:gd name="T19" fmla="*/ 731 h 1090"/>
              <a:gd name="T20" fmla="*/ 923 w 1320"/>
              <a:gd name="T21" fmla="*/ 809 h 1090"/>
              <a:gd name="T22" fmla="*/ 833 w 1320"/>
              <a:gd name="T23" fmla="*/ 878 h 1090"/>
              <a:gd name="T24" fmla="*/ 737 w 1320"/>
              <a:gd name="T25" fmla="*/ 941 h 1090"/>
              <a:gd name="T26" fmla="*/ 635 w 1320"/>
              <a:gd name="T27" fmla="*/ 992 h 1090"/>
              <a:gd name="T28" fmla="*/ 527 w 1320"/>
              <a:gd name="T29" fmla="*/ 1033 h 1090"/>
              <a:gd name="T30" fmla="*/ 415 w 1320"/>
              <a:gd name="T31" fmla="*/ 1063 h 1090"/>
              <a:gd name="T32" fmla="*/ 297 w 1320"/>
              <a:gd name="T33" fmla="*/ 1082 h 1090"/>
              <a:gd name="T34" fmla="*/ 177 w 1320"/>
              <a:gd name="T35" fmla="*/ 1090 h 1090"/>
              <a:gd name="T36" fmla="*/ 0 w 1320"/>
              <a:gd name="T37" fmla="*/ 768 h 1090"/>
              <a:gd name="T38" fmla="*/ 177 w 1320"/>
              <a:gd name="T39" fmla="*/ 440 h 1090"/>
              <a:gd name="T40" fmla="*/ 252 w 1320"/>
              <a:gd name="T41" fmla="*/ 434 h 1090"/>
              <a:gd name="T42" fmla="*/ 322 w 1320"/>
              <a:gd name="T43" fmla="*/ 416 h 1090"/>
              <a:gd name="T44" fmla="*/ 389 w 1320"/>
              <a:gd name="T45" fmla="*/ 389 h 1090"/>
              <a:gd name="T46" fmla="*/ 450 w 1320"/>
              <a:gd name="T47" fmla="*/ 354 h 1090"/>
              <a:gd name="T48" fmla="*/ 507 w 1320"/>
              <a:gd name="T49" fmla="*/ 310 h 1090"/>
              <a:gd name="T50" fmla="*/ 556 w 1320"/>
              <a:gd name="T51" fmla="*/ 259 h 1090"/>
              <a:gd name="T52" fmla="*/ 597 w 1320"/>
              <a:gd name="T53" fmla="*/ 202 h 1090"/>
              <a:gd name="T54" fmla="*/ 631 w 1320"/>
              <a:gd name="T55" fmla="*/ 140 h 1090"/>
              <a:gd name="T56" fmla="*/ 654 w 1320"/>
              <a:gd name="T57" fmla="*/ 71 h 1090"/>
              <a:gd name="T58" fmla="*/ 668 w 1320"/>
              <a:gd name="T59" fmla="*/ 0 h 10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320" h="1090">
                <a:moveTo>
                  <a:pt x="668" y="0"/>
                </a:moveTo>
                <a:lnTo>
                  <a:pt x="1000" y="179"/>
                </a:lnTo>
                <a:lnTo>
                  <a:pt x="1320" y="2"/>
                </a:lnTo>
                <a:lnTo>
                  <a:pt x="1306" y="122"/>
                </a:lnTo>
                <a:lnTo>
                  <a:pt x="1283" y="236"/>
                </a:lnTo>
                <a:lnTo>
                  <a:pt x="1245" y="348"/>
                </a:lnTo>
                <a:lnTo>
                  <a:pt x="1200" y="452"/>
                </a:lnTo>
                <a:lnTo>
                  <a:pt x="1143" y="552"/>
                </a:lnTo>
                <a:lnTo>
                  <a:pt x="1078" y="644"/>
                </a:lnTo>
                <a:lnTo>
                  <a:pt x="1004" y="731"/>
                </a:lnTo>
                <a:lnTo>
                  <a:pt x="923" y="809"/>
                </a:lnTo>
                <a:lnTo>
                  <a:pt x="833" y="878"/>
                </a:lnTo>
                <a:lnTo>
                  <a:pt x="737" y="941"/>
                </a:lnTo>
                <a:lnTo>
                  <a:pt x="635" y="992"/>
                </a:lnTo>
                <a:lnTo>
                  <a:pt x="527" y="1033"/>
                </a:lnTo>
                <a:lnTo>
                  <a:pt x="415" y="1063"/>
                </a:lnTo>
                <a:lnTo>
                  <a:pt x="297" y="1082"/>
                </a:lnTo>
                <a:lnTo>
                  <a:pt x="177" y="1090"/>
                </a:lnTo>
                <a:lnTo>
                  <a:pt x="0" y="768"/>
                </a:lnTo>
                <a:lnTo>
                  <a:pt x="177" y="440"/>
                </a:lnTo>
                <a:lnTo>
                  <a:pt x="252" y="434"/>
                </a:lnTo>
                <a:lnTo>
                  <a:pt x="322" y="416"/>
                </a:lnTo>
                <a:lnTo>
                  <a:pt x="389" y="389"/>
                </a:lnTo>
                <a:lnTo>
                  <a:pt x="450" y="354"/>
                </a:lnTo>
                <a:lnTo>
                  <a:pt x="507" y="310"/>
                </a:lnTo>
                <a:lnTo>
                  <a:pt x="556" y="259"/>
                </a:lnTo>
                <a:lnTo>
                  <a:pt x="597" y="202"/>
                </a:lnTo>
                <a:lnTo>
                  <a:pt x="631" y="140"/>
                </a:lnTo>
                <a:lnTo>
                  <a:pt x="654" y="71"/>
                </a:lnTo>
                <a:lnTo>
                  <a:pt x="668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0">
            <a:noFill/>
            <a:prstDash val="solid"/>
            <a:round/>
          </a:ln>
          <a:effectLst>
            <a:outerShdw blurRad="50800" dist="50800" dir="5400000" algn="ctr" rotWithShape="0">
              <a:srgbClr val="000000">
                <a:alpha val="79000"/>
              </a:srgbClr>
            </a:outerShdw>
          </a:effectLst>
        </p:spPr>
        <p:txBody>
          <a:bodyPr vert="horz" wrap="square" lIns="45143" tIns="22533" rIns="45143" bIns="22533" numCol="1" anchor="t" anchorCtr="0" compatLnSpc="1"/>
          <a:lstStyle/>
          <a:p>
            <a:pPr defTabSz="1191895"/>
            <a:endParaRPr lang="es-SV" sz="240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1" name="Freeform 266"/>
          <p:cNvSpPr/>
          <p:nvPr/>
        </p:nvSpPr>
        <p:spPr bwMode="auto">
          <a:xfrm>
            <a:off x="777075" y="3311119"/>
            <a:ext cx="1767836" cy="2140755"/>
          </a:xfrm>
          <a:custGeom>
            <a:avLst/>
            <a:gdLst>
              <a:gd name="T0" fmla="*/ 323 w 1090"/>
              <a:gd name="T1" fmla="*/ 0 h 1320"/>
              <a:gd name="T2" fmla="*/ 648 w 1090"/>
              <a:gd name="T3" fmla="*/ 177 h 1320"/>
              <a:gd name="T4" fmla="*/ 656 w 1090"/>
              <a:gd name="T5" fmla="*/ 252 h 1320"/>
              <a:gd name="T6" fmla="*/ 674 w 1090"/>
              <a:gd name="T7" fmla="*/ 323 h 1320"/>
              <a:gd name="T8" fmla="*/ 700 w 1090"/>
              <a:gd name="T9" fmla="*/ 389 h 1320"/>
              <a:gd name="T10" fmla="*/ 735 w 1090"/>
              <a:gd name="T11" fmla="*/ 452 h 1320"/>
              <a:gd name="T12" fmla="*/ 780 w 1090"/>
              <a:gd name="T13" fmla="*/ 507 h 1320"/>
              <a:gd name="T14" fmla="*/ 831 w 1090"/>
              <a:gd name="T15" fmla="*/ 556 h 1320"/>
              <a:gd name="T16" fmla="*/ 888 w 1090"/>
              <a:gd name="T17" fmla="*/ 597 h 1320"/>
              <a:gd name="T18" fmla="*/ 951 w 1090"/>
              <a:gd name="T19" fmla="*/ 631 h 1320"/>
              <a:gd name="T20" fmla="*/ 1020 w 1090"/>
              <a:gd name="T21" fmla="*/ 654 h 1320"/>
              <a:gd name="T22" fmla="*/ 1090 w 1090"/>
              <a:gd name="T23" fmla="*/ 668 h 1320"/>
              <a:gd name="T24" fmla="*/ 912 w 1090"/>
              <a:gd name="T25" fmla="*/ 1000 h 1320"/>
              <a:gd name="T26" fmla="*/ 1086 w 1090"/>
              <a:gd name="T27" fmla="*/ 1320 h 1320"/>
              <a:gd name="T28" fmla="*/ 969 w 1090"/>
              <a:gd name="T29" fmla="*/ 1306 h 1320"/>
              <a:gd name="T30" fmla="*/ 853 w 1090"/>
              <a:gd name="T31" fmla="*/ 1283 h 1320"/>
              <a:gd name="T32" fmla="*/ 743 w 1090"/>
              <a:gd name="T33" fmla="*/ 1247 h 1320"/>
              <a:gd name="T34" fmla="*/ 639 w 1090"/>
              <a:gd name="T35" fmla="*/ 1200 h 1320"/>
              <a:gd name="T36" fmla="*/ 539 w 1090"/>
              <a:gd name="T37" fmla="*/ 1143 h 1320"/>
              <a:gd name="T38" fmla="*/ 446 w 1090"/>
              <a:gd name="T39" fmla="*/ 1079 h 1320"/>
              <a:gd name="T40" fmla="*/ 360 w 1090"/>
              <a:gd name="T41" fmla="*/ 1006 h 1320"/>
              <a:gd name="T42" fmla="*/ 281 w 1090"/>
              <a:gd name="T43" fmla="*/ 923 h 1320"/>
              <a:gd name="T44" fmla="*/ 211 w 1090"/>
              <a:gd name="T45" fmla="*/ 833 h 1320"/>
              <a:gd name="T46" fmla="*/ 150 w 1090"/>
              <a:gd name="T47" fmla="*/ 737 h 1320"/>
              <a:gd name="T48" fmla="*/ 99 w 1090"/>
              <a:gd name="T49" fmla="*/ 635 h 1320"/>
              <a:gd name="T50" fmla="*/ 57 w 1090"/>
              <a:gd name="T51" fmla="*/ 527 h 1320"/>
              <a:gd name="T52" fmla="*/ 26 w 1090"/>
              <a:gd name="T53" fmla="*/ 415 h 1320"/>
              <a:gd name="T54" fmla="*/ 8 w 1090"/>
              <a:gd name="T55" fmla="*/ 299 h 1320"/>
              <a:gd name="T56" fmla="*/ 0 w 1090"/>
              <a:gd name="T57" fmla="*/ 177 h 1320"/>
              <a:gd name="T58" fmla="*/ 323 w 1090"/>
              <a:gd name="T59" fmla="*/ 0 h 1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090" h="1320">
                <a:moveTo>
                  <a:pt x="323" y="0"/>
                </a:moveTo>
                <a:lnTo>
                  <a:pt x="648" y="177"/>
                </a:lnTo>
                <a:lnTo>
                  <a:pt x="656" y="252"/>
                </a:lnTo>
                <a:lnTo>
                  <a:pt x="674" y="323"/>
                </a:lnTo>
                <a:lnTo>
                  <a:pt x="700" y="389"/>
                </a:lnTo>
                <a:lnTo>
                  <a:pt x="735" y="452"/>
                </a:lnTo>
                <a:lnTo>
                  <a:pt x="780" y="507"/>
                </a:lnTo>
                <a:lnTo>
                  <a:pt x="831" y="556"/>
                </a:lnTo>
                <a:lnTo>
                  <a:pt x="888" y="597"/>
                </a:lnTo>
                <a:lnTo>
                  <a:pt x="951" y="631"/>
                </a:lnTo>
                <a:lnTo>
                  <a:pt x="1020" y="654"/>
                </a:lnTo>
                <a:lnTo>
                  <a:pt x="1090" y="668"/>
                </a:lnTo>
                <a:lnTo>
                  <a:pt x="912" y="1000"/>
                </a:lnTo>
                <a:lnTo>
                  <a:pt x="1086" y="1320"/>
                </a:lnTo>
                <a:lnTo>
                  <a:pt x="969" y="1306"/>
                </a:lnTo>
                <a:lnTo>
                  <a:pt x="853" y="1283"/>
                </a:lnTo>
                <a:lnTo>
                  <a:pt x="743" y="1247"/>
                </a:lnTo>
                <a:lnTo>
                  <a:pt x="639" y="1200"/>
                </a:lnTo>
                <a:lnTo>
                  <a:pt x="539" y="1143"/>
                </a:lnTo>
                <a:lnTo>
                  <a:pt x="446" y="1079"/>
                </a:lnTo>
                <a:lnTo>
                  <a:pt x="360" y="1006"/>
                </a:lnTo>
                <a:lnTo>
                  <a:pt x="281" y="923"/>
                </a:lnTo>
                <a:lnTo>
                  <a:pt x="211" y="833"/>
                </a:lnTo>
                <a:lnTo>
                  <a:pt x="150" y="737"/>
                </a:lnTo>
                <a:lnTo>
                  <a:pt x="99" y="635"/>
                </a:lnTo>
                <a:lnTo>
                  <a:pt x="57" y="527"/>
                </a:lnTo>
                <a:lnTo>
                  <a:pt x="26" y="415"/>
                </a:lnTo>
                <a:lnTo>
                  <a:pt x="8" y="299"/>
                </a:lnTo>
                <a:lnTo>
                  <a:pt x="0" y="177"/>
                </a:lnTo>
                <a:lnTo>
                  <a:pt x="323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0">
            <a:noFill/>
            <a:prstDash val="solid"/>
            <a:round/>
          </a:ln>
          <a:effectLst>
            <a:outerShdw blurRad="50800" dist="50800" dir="5400000" algn="ctr" rotWithShape="0">
              <a:srgbClr val="000000">
                <a:alpha val="79000"/>
              </a:srgbClr>
            </a:outerShdw>
          </a:effectLst>
        </p:spPr>
        <p:txBody>
          <a:bodyPr vert="horz" wrap="square" lIns="45143" tIns="22533" rIns="45143" bIns="22533" numCol="1" anchor="t" anchorCtr="0" compatLnSpc="1"/>
          <a:lstStyle/>
          <a:p>
            <a:pPr defTabSz="1191895"/>
            <a:endParaRPr lang="es-SV" sz="240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2" name="4 Elipse"/>
          <p:cNvSpPr>
            <a:spLocks noChangeAspect="1"/>
          </p:cNvSpPr>
          <p:nvPr/>
        </p:nvSpPr>
        <p:spPr bwMode="auto">
          <a:xfrm>
            <a:off x="3755892" y="3243438"/>
            <a:ext cx="473963" cy="473916"/>
          </a:xfrm>
          <a:prstGeom prst="ellipse">
            <a:avLst/>
          </a:pr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168910">
              <a:defRPr/>
            </a:pPr>
            <a:r>
              <a:rPr lang="es-MX" sz="1735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01</a:t>
            </a:r>
          </a:p>
        </p:txBody>
      </p:sp>
      <p:sp>
        <p:nvSpPr>
          <p:cNvPr id="64" name="4 Elipse"/>
          <p:cNvSpPr>
            <a:spLocks noChangeAspect="1"/>
          </p:cNvSpPr>
          <p:nvPr/>
        </p:nvSpPr>
        <p:spPr bwMode="auto">
          <a:xfrm>
            <a:off x="2489144" y="4714769"/>
            <a:ext cx="473963" cy="473916"/>
          </a:xfrm>
          <a:prstGeom prst="ellipse">
            <a:avLst/>
          </a:pr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168910">
              <a:defRPr/>
            </a:pPr>
            <a:r>
              <a:rPr lang="es-MX" sz="1735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02</a:t>
            </a:r>
            <a:endParaRPr lang="es-SV" sz="1735" kern="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6" name="4 Elipse"/>
          <p:cNvSpPr>
            <a:spLocks noChangeAspect="1"/>
          </p:cNvSpPr>
          <p:nvPr/>
        </p:nvSpPr>
        <p:spPr bwMode="auto">
          <a:xfrm>
            <a:off x="1074204" y="3437522"/>
            <a:ext cx="473963" cy="473916"/>
          </a:xfrm>
          <a:prstGeom prst="ellipse">
            <a:avLst/>
          </a:pr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168910">
              <a:defRPr/>
            </a:pPr>
            <a:r>
              <a:rPr lang="es-MX" sz="1735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03</a:t>
            </a:r>
          </a:p>
        </p:txBody>
      </p:sp>
      <p:sp>
        <p:nvSpPr>
          <p:cNvPr id="68" name="4 Elipse"/>
          <p:cNvSpPr>
            <a:spLocks noChangeAspect="1"/>
          </p:cNvSpPr>
          <p:nvPr/>
        </p:nvSpPr>
        <p:spPr bwMode="auto">
          <a:xfrm>
            <a:off x="2311137" y="1997529"/>
            <a:ext cx="473963" cy="473916"/>
          </a:xfrm>
          <a:prstGeom prst="ellipse">
            <a:avLst/>
          </a:pr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168910">
              <a:defRPr/>
            </a:pPr>
            <a:r>
              <a:rPr lang="es-MX" sz="1735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04</a:t>
            </a:r>
            <a:endParaRPr lang="es-SV" sz="1735" kern="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" name="TextBox 76"/>
          <p:cNvSpPr txBox="1"/>
          <p:nvPr/>
        </p:nvSpPr>
        <p:spPr>
          <a:xfrm>
            <a:off x="1069023" y="2505710"/>
            <a:ext cx="13036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评估反馈</a:t>
            </a:r>
          </a:p>
        </p:txBody>
      </p:sp>
      <p:sp>
        <p:nvSpPr>
          <p:cNvPr id="4" name="TextBox 76"/>
          <p:cNvSpPr txBox="1"/>
          <p:nvPr/>
        </p:nvSpPr>
        <p:spPr>
          <a:xfrm>
            <a:off x="2978150" y="2505075"/>
            <a:ext cx="15354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感知分析</a:t>
            </a:r>
          </a:p>
        </p:txBody>
      </p:sp>
      <p:sp>
        <p:nvSpPr>
          <p:cNvPr id="9" name="TextBox 76"/>
          <p:cNvSpPr txBox="1"/>
          <p:nvPr/>
        </p:nvSpPr>
        <p:spPr>
          <a:xfrm>
            <a:off x="2977833" y="4344035"/>
            <a:ext cx="13036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洞察决策</a:t>
            </a:r>
          </a:p>
        </p:txBody>
      </p:sp>
      <p:sp>
        <p:nvSpPr>
          <p:cNvPr id="10" name="TextBox 76"/>
          <p:cNvSpPr txBox="1"/>
          <p:nvPr/>
        </p:nvSpPr>
        <p:spPr>
          <a:xfrm>
            <a:off x="1074103" y="4344035"/>
            <a:ext cx="13036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触达行动</a:t>
            </a:r>
          </a:p>
        </p:txBody>
      </p:sp>
      <p:sp>
        <p:nvSpPr>
          <p:cNvPr id="123" name="Oval 122"/>
          <p:cNvSpPr/>
          <p:nvPr/>
        </p:nvSpPr>
        <p:spPr>
          <a:xfrm>
            <a:off x="7581783" y="1422084"/>
            <a:ext cx="867226" cy="86722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8620769" y="1430806"/>
            <a:ext cx="2023110" cy="3619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全场景数据分析平台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620770" y="1792526"/>
            <a:ext cx="3321540" cy="699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全场景的用户与业务分析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实时、灵活、多维的用户行为分析与洞察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实时的用户标签和画像分析</a:t>
            </a:r>
          </a:p>
        </p:txBody>
      </p:sp>
      <p:sp>
        <p:nvSpPr>
          <p:cNvPr id="126" name="Oval 125"/>
          <p:cNvSpPr/>
          <p:nvPr/>
        </p:nvSpPr>
        <p:spPr>
          <a:xfrm>
            <a:off x="7581783" y="2514630"/>
            <a:ext cx="867226" cy="86722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8620769" y="2536687"/>
            <a:ext cx="22275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关键决策提供数据支持</a:t>
            </a:r>
          </a:p>
        </p:txBody>
      </p:sp>
      <p:sp>
        <p:nvSpPr>
          <p:cNvPr id="129" name="Oval 128"/>
          <p:cNvSpPr/>
          <p:nvPr/>
        </p:nvSpPr>
        <p:spPr>
          <a:xfrm>
            <a:off x="7581783" y="3607176"/>
            <a:ext cx="867226" cy="86722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8620769" y="3629233"/>
            <a:ext cx="161417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数字化营销平台</a:t>
            </a:r>
          </a:p>
          <a:p>
            <a:endParaRPr 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8620770" y="3977618"/>
            <a:ext cx="3321540" cy="699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全渠道的用户触达与互动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基于用户行为触发的自动化营销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优化流程，提高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漏斗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流程转化</a:t>
            </a:r>
          </a:p>
        </p:txBody>
      </p:sp>
      <p:sp>
        <p:nvSpPr>
          <p:cNvPr id="132" name="Oval 131"/>
          <p:cNvSpPr/>
          <p:nvPr/>
        </p:nvSpPr>
        <p:spPr>
          <a:xfrm>
            <a:off x="7581783" y="4699721"/>
            <a:ext cx="867226" cy="867226"/>
          </a:xfrm>
          <a:prstGeom prst="ellipse">
            <a:avLst/>
          </a:prstGeom>
          <a:solidFill>
            <a:srgbClr val="00B0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8620769" y="4721778"/>
            <a:ext cx="202311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业务赋能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，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敏捷迭代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620770" y="5070163"/>
            <a:ext cx="3321540" cy="699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完成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业务干预、效果评估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释放业务生产力和想象力，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提供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完整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运营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闭环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实现数据驱动业务迭代和增长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854104" y="2801941"/>
            <a:ext cx="322580" cy="2603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02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854104" y="1709395"/>
            <a:ext cx="322580" cy="2603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01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854104" y="3894487"/>
            <a:ext cx="322580" cy="2603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03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854104" y="4987032"/>
            <a:ext cx="322580" cy="2603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04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20760" y="2802255"/>
            <a:ext cx="5127625" cy="699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制定A/B策略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，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择优加码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全渠道推广效果归因，全局安排投放预算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获客效果优化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，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后续转化链路中洞悉用户价值</a:t>
            </a:r>
          </a:p>
        </p:txBody>
      </p:sp>
      <p:grpSp>
        <p:nvGrpSpPr>
          <p:cNvPr id="98" name="Group 224"/>
          <p:cNvGrpSpPr>
            <a:grpSpLocks noChangeAspect="1"/>
          </p:cNvGrpSpPr>
          <p:nvPr/>
        </p:nvGrpSpPr>
        <p:grpSpPr bwMode="auto">
          <a:xfrm>
            <a:off x="5730125" y="1556718"/>
            <a:ext cx="425520" cy="424836"/>
            <a:chOff x="4116" y="2102"/>
            <a:chExt cx="1242" cy="1240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100" name="Freeform 226"/>
            <p:cNvSpPr>
              <a:spLocks noEditPoints="1"/>
            </p:cNvSpPr>
            <p:nvPr/>
          </p:nvSpPr>
          <p:spPr bwMode="auto">
            <a:xfrm>
              <a:off x="4417" y="2402"/>
              <a:ext cx="941" cy="940"/>
            </a:xfrm>
            <a:custGeom>
              <a:avLst/>
              <a:gdLst>
                <a:gd name="T0" fmla="*/ 1140 w 2824"/>
                <a:gd name="T1" fmla="*/ 983 h 2818"/>
                <a:gd name="T2" fmla="*/ 935 w 2824"/>
                <a:gd name="T3" fmla="*/ 1239 h 2818"/>
                <a:gd name="T4" fmla="*/ 935 w 2824"/>
                <a:gd name="T5" fmla="*/ 1579 h 2818"/>
                <a:gd name="T6" fmla="*/ 1140 w 2824"/>
                <a:gd name="T7" fmla="*/ 1835 h 2818"/>
                <a:gd name="T8" fmla="*/ 1470 w 2824"/>
                <a:gd name="T9" fmla="*/ 1912 h 2818"/>
                <a:gd name="T10" fmla="*/ 1770 w 2824"/>
                <a:gd name="T11" fmla="*/ 1766 h 2818"/>
                <a:gd name="T12" fmla="*/ 1915 w 2824"/>
                <a:gd name="T13" fmla="*/ 1468 h 2818"/>
                <a:gd name="T14" fmla="*/ 1839 w 2824"/>
                <a:gd name="T15" fmla="*/ 1138 h 2818"/>
                <a:gd name="T16" fmla="*/ 1582 w 2824"/>
                <a:gd name="T17" fmla="*/ 932 h 2818"/>
                <a:gd name="T18" fmla="*/ 1557 w 2824"/>
                <a:gd name="T19" fmla="*/ 3 h 2818"/>
                <a:gd name="T20" fmla="*/ 1692 w 2824"/>
                <a:gd name="T21" fmla="*/ 138 h 2818"/>
                <a:gd name="T22" fmla="*/ 1731 w 2824"/>
                <a:gd name="T23" fmla="*/ 378 h 2818"/>
                <a:gd name="T24" fmla="*/ 1923 w 2824"/>
                <a:gd name="T25" fmla="*/ 456 h 2818"/>
                <a:gd name="T26" fmla="*/ 2109 w 2824"/>
                <a:gd name="T27" fmla="*/ 317 h 2818"/>
                <a:gd name="T28" fmla="*/ 2263 w 2824"/>
                <a:gd name="T29" fmla="*/ 293 h 2818"/>
                <a:gd name="T30" fmla="*/ 2523 w 2824"/>
                <a:gd name="T31" fmla="*/ 541 h 2818"/>
                <a:gd name="T32" fmla="*/ 2508 w 2824"/>
                <a:gd name="T33" fmla="*/ 711 h 2818"/>
                <a:gd name="T34" fmla="*/ 2367 w 2824"/>
                <a:gd name="T35" fmla="*/ 906 h 2818"/>
                <a:gd name="T36" fmla="*/ 2445 w 2824"/>
                <a:gd name="T37" fmla="*/ 1090 h 2818"/>
                <a:gd name="T38" fmla="*/ 2686 w 2824"/>
                <a:gd name="T39" fmla="*/ 1130 h 2818"/>
                <a:gd name="T40" fmla="*/ 2820 w 2824"/>
                <a:gd name="T41" fmla="*/ 1264 h 2818"/>
                <a:gd name="T42" fmla="*/ 2772 w 2824"/>
                <a:gd name="T43" fmla="*/ 1641 h 2818"/>
                <a:gd name="T44" fmla="*/ 2497 w 2824"/>
                <a:gd name="T45" fmla="*/ 1694 h 2818"/>
                <a:gd name="T46" fmla="*/ 2401 w 2824"/>
                <a:gd name="T47" fmla="*/ 1818 h 2818"/>
                <a:gd name="T48" fmla="*/ 2381 w 2824"/>
                <a:gd name="T49" fmla="*/ 1972 h 2818"/>
                <a:gd name="T50" fmla="*/ 2538 w 2824"/>
                <a:gd name="T51" fmla="*/ 2191 h 2818"/>
                <a:gd name="T52" fmla="*/ 2331 w 2824"/>
                <a:gd name="T53" fmla="*/ 2483 h 2818"/>
                <a:gd name="T54" fmla="*/ 2182 w 2824"/>
                <a:gd name="T55" fmla="*/ 2532 h 2818"/>
                <a:gd name="T56" fmla="*/ 1977 w 2824"/>
                <a:gd name="T57" fmla="*/ 2377 h 2818"/>
                <a:gd name="T58" fmla="*/ 1875 w 2824"/>
                <a:gd name="T59" fmla="*/ 2372 h 2818"/>
                <a:gd name="T60" fmla="*/ 1706 w 2824"/>
                <a:gd name="T61" fmla="*/ 2474 h 2818"/>
                <a:gd name="T62" fmla="*/ 1666 w 2824"/>
                <a:gd name="T63" fmla="*/ 2742 h 2818"/>
                <a:gd name="T64" fmla="*/ 1301 w 2824"/>
                <a:gd name="T65" fmla="*/ 2818 h 2818"/>
                <a:gd name="T66" fmla="*/ 1142 w 2824"/>
                <a:gd name="T67" fmla="*/ 2712 h 2818"/>
                <a:gd name="T68" fmla="*/ 1107 w 2824"/>
                <a:gd name="T69" fmla="*/ 2455 h 2818"/>
                <a:gd name="T70" fmla="*/ 927 w 2824"/>
                <a:gd name="T71" fmla="*/ 2365 h 2818"/>
                <a:gd name="T72" fmla="*/ 736 w 2824"/>
                <a:gd name="T73" fmla="*/ 2483 h 2818"/>
                <a:gd name="T74" fmla="*/ 586 w 2824"/>
                <a:gd name="T75" fmla="*/ 2532 h 2818"/>
                <a:gd name="T76" fmla="*/ 316 w 2824"/>
                <a:gd name="T77" fmla="*/ 2304 h 2818"/>
                <a:gd name="T78" fmla="*/ 301 w 2824"/>
                <a:gd name="T79" fmla="*/ 2134 h 2818"/>
                <a:gd name="T80" fmla="*/ 455 w 2824"/>
                <a:gd name="T81" fmla="*/ 1933 h 2818"/>
                <a:gd name="T82" fmla="*/ 392 w 2824"/>
                <a:gd name="T83" fmla="*/ 1745 h 2818"/>
                <a:gd name="T84" fmla="*/ 173 w 2824"/>
                <a:gd name="T85" fmla="*/ 1692 h 2818"/>
                <a:gd name="T86" fmla="*/ 14 w 2824"/>
                <a:gd name="T87" fmla="*/ 1587 h 2818"/>
                <a:gd name="T88" fmla="*/ 30 w 2824"/>
                <a:gd name="T89" fmla="*/ 1203 h 2818"/>
                <a:gd name="T90" fmla="*/ 309 w 2824"/>
                <a:gd name="T91" fmla="*/ 1126 h 2818"/>
                <a:gd name="T92" fmla="*/ 401 w 2824"/>
                <a:gd name="T93" fmla="*/ 1054 h 2818"/>
                <a:gd name="T94" fmla="*/ 451 w 2824"/>
                <a:gd name="T95" fmla="*/ 864 h 2818"/>
                <a:gd name="T96" fmla="*/ 293 w 2824"/>
                <a:gd name="T97" fmla="*/ 666 h 2818"/>
                <a:gd name="T98" fmla="*/ 318 w 2824"/>
                <a:gd name="T99" fmla="*/ 512 h 2818"/>
                <a:gd name="T100" fmla="*/ 586 w 2824"/>
                <a:gd name="T101" fmla="*/ 286 h 2818"/>
                <a:gd name="T102" fmla="*/ 736 w 2824"/>
                <a:gd name="T103" fmla="*/ 335 h 2818"/>
                <a:gd name="T104" fmla="*/ 919 w 2824"/>
                <a:gd name="T105" fmla="*/ 454 h 2818"/>
                <a:gd name="T106" fmla="*/ 1092 w 2824"/>
                <a:gd name="T107" fmla="*/ 378 h 2818"/>
                <a:gd name="T108" fmla="*/ 1132 w 2824"/>
                <a:gd name="T109" fmla="*/ 138 h 2818"/>
                <a:gd name="T110" fmla="*/ 1267 w 2824"/>
                <a:gd name="T111" fmla="*/ 3 h 2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824" h="2818">
                  <a:moveTo>
                    <a:pt x="1412" y="903"/>
                  </a:moveTo>
                  <a:lnTo>
                    <a:pt x="1353" y="906"/>
                  </a:lnTo>
                  <a:lnTo>
                    <a:pt x="1296" y="916"/>
                  </a:lnTo>
                  <a:lnTo>
                    <a:pt x="1241" y="932"/>
                  </a:lnTo>
                  <a:lnTo>
                    <a:pt x="1189" y="955"/>
                  </a:lnTo>
                  <a:lnTo>
                    <a:pt x="1140" y="983"/>
                  </a:lnTo>
                  <a:lnTo>
                    <a:pt x="1096" y="1014"/>
                  </a:lnTo>
                  <a:lnTo>
                    <a:pt x="1053" y="1052"/>
                  </a:lnTo>
                  <a:lnTo>
                    <a:pt x="1017" y="1093"/>
                  </a:lnTo>
                  <a:lnTo>
                    <a:pt x="984" y="1138"/>
                  </a:lnTo>
                  <a:lnTo>
                    <a:pt x="956" y="1187"/>
                  </a:lnTo>
                  <a:lnTo>
                    <a:pt x="935" y="1239"/>
                  </a:lnTo>
                  <a:lnTo>
                    <a:pt x="919" y="1293"/>
                  </a:lnTo>
                  <a:lnTo>
                    <a:pt x="908" y="1350"/>
                  </a:lnTo>
                  <a:lnTo>
                    <a:pt x="905" y="1409"/>
                  </a:lnTo>
                  <a:lnTo>
                    <a:pt x="908" y="1468"/>
                  </a:lnTo>
                  <a:lnTo>
                    <a:pt x="919" y="1525"/>
                  </a:lnTo>
                  <a:lnTo>
                    <a:pt x="935" y="1579"/>
                  </a:lnTo>
                  <a:lnTo>
                    <a:pt x="956" y="1631"/>
                  </a:lnTo>
                  <a:lnTo>
                    <a:pt x="984" y="1680"/>
                  </a:lnTo>
                  <a:lnTo>
                    <a:pt x="1017" y="1725"/>
                  </a:lnTo>
                  <a:lnTo>
                    <a:pt x="1053" y="1766"/>
                  </a:lnTo>
                  <a:lnTo>
                    <a:pt x="1096" y="1803"/>
                  </a:lnTo>
                  <a:lnTo>
                    <a:pt x="1140" y="1835"/>
                  </a:lnTo>
                  <a:lnTo>
                    <a:pt x="1189" y="1863"/>
                  </a:lnTo>
                  <a:lnTo>
                    <a:pt x="1241" y="1885"/>
                  </a:lnTo>
                  <a:lnTo>
                    <a:pt x="1296" y="1901"/>
                  </a:lnTo>
                  <a:lnTo>
                    <a:pt x="1353" y="1912"/>
                  </a:lnTo>
                  <a:lnTo>
                    <a:pt x="1412" y="1915"/>
                  </a:lnTo>
                  <a:lnTo>
                    <a:pt x="1470" y="1912"/>
                  </a:lnTo>
                  <a:lnTo>
                    <a:pt x="1527" y="1901"/>
                  </a:lnTo>
                  <a:lnTo>
                    <a:pt x="1582" y="1885"/>
                  </a:lnTo>
                  <a:lnTo>
                    <a:pt x="1635" y="1863"/>
                  </a:lnTo>
                  <a:lnTo>
                    <a:pt x="1683" y="1835"/>
                  </a:lnTo>
                  <a:lnTo>
                    <a:pt x="1728" y="1803"/>
                  </a:lnTo>
                  <a:lnTo>
                    <a:pt x="1770" y="1766"/>
                  </a:lnTo>
                  <a:lnTo>
                    <a:pt x="1807" y="1725"/>
                  </a:lnTo>
                  <a:lnTo>
                    <a:pt x="1839" y="1680"/>
                  </a:lnTo>
                  <a:lnTo>
                    <a:pt x="1867" y="1631"/>
                  </a:lnTo>
                  <a:lnTo>
                    <a:pt x="1888" y="1579"/>
                  </a:lnTo>
                  <a:lnTo>
                    <a:pt x="1905" y="1525"/>
                  </a:lnTo>
                  <a:lnTo>
                    <a:pt x="1915" y="1468"/>
                  </a:lnTo>
                  <a:lnTo>
                    <a:pt x="1918" y="1409"/>
                  </a:lnTo>
                  <a:lnTo>
                    <a:pt x="1915" y="1350"/>
                  </a:lnTo>
                  <a:lnTo>
                    <a:pt x="1905" y="1293"/>
                  </a:lnTo>
                  <a:lnTo>
                    <a:pt x="1888" y="1239"/>
                  </a:lnTo>
                  <a:lnTo>
                    <a:pt x="1867" y="1187"/>
                  </a:lnTo>
                  <a:lnTo>
                    <a:pt x="1839" y="1138"/>
                  </a:lnTo>
                  <a:lnTo>
                    <a:pt x="1807" y="1093"/>
                  </a:lnTo>
                  <a:lnTo>
                    <a:pt x="1770" y="1052"/>
                  </a:lnTo>
                  <a:lnTo>
                    <a:pt x="1728" y="1014"/>
                  </a:lnTo>
                  <a:lnTo>
                    <a:pt x="1683" y="983"/>
                  </a:lnTo>
                  <a:lnTo>
                    <a:pt x="1635" y="955"/>
                  </a:lnTo>
                  <a:lnTo>
                    <a:pt x="1582" y="932"/>
                  </a:lnTo>
                  <a:lnTo>
                    <a:pt x="1527" y="916"/>
                  </a:lnTo>
                  <a:lnTo>
                    <a:pt x="1470" y="906"/>
                  </a:lnTo>
                  <a:lnTo>
                    <a:pt x="1412" y="903"/>
                  </a:lnTo>
                  <a:close/>
                  <a:moveTo>
                    <a:pt x="1301" y="0"/>
                  </a:moveTo>
                  <a:lnTo>
                    <a:pt x="1522" y="0"/>
                  </a:lnTo>
                  <a:lnTo>
                    <a:pt x="1557" y="3"/>
                  </a:lnTo>
                  <a:lnTo>
                    <a:pt x="1589" y="14"/>
                  </a:lnTo>
                  <a:lnTo>
                    <a:pt x="1619" y="29"/>
                  </a:lnTo>
                  <a:lnTo>
                    <a:pt x="1644" y="50"/>
                  </a:lnTo>
                  <a:lnTo>
                    <a:pt x="1666" y="76"/>
                  </a:lnTo>
                  <a:lnTo>
                    <a:pt x="1682" y="106"/>
                  </a:lnTo>
                  <a:lnTo>
                    <a:pt x="1692" y="138"/>
                  </a:lnTo>
                  <a:lnTo>
                    <a:pt x="1695" y="172"/>
                  </a:lnTo>
                  <a:lnTo>
                    <a:pt x="1695" y="308"/>
                  </a:lnTo>
                  <a:lnTo>
                    <a:pt x="1698" y="326"/>
                  </a:lnTo>
                  <a:lnTo>
                    <a:pt x="1706" y="344"/>
                  </a:lnTo>
                  <a:lnTo>
                    <a:pt x="1717" y="362"/>
                  </a:lnTo>
                  <a:lnTo>
                    <a:pt x="1731" y="378"/>
                  </a:lnTo>
                  <a:lnTo>
                    <a:pt x="1748" y="391"/>
                  </a:lnTo>
                  <a:lnTo>
                    <a:pt x="1767" y="400"/>
                  </a:lnTo>
                  <a:lnTo>
                    <a:pt x="1822" y="422"/>
                  </a:lnTo>
                  <a:lnTo>
                    <a:pt x="1875" y="446"/>
                  </a:lnTo>
                  <a:lnTo>
                    <a:pt x="1897" y="452"/>
                  </a:lnTo>
                  <a:lnTo>
                    <a:pt x="1923" y="456"/>
                  </a:lnTo>
                  <a:lnTo>
                    <a:pt x="1943" y="454"/>
                  </a:lnTo>
                  <a:lnTo>
                    <a:pt x="1961" y="449"/>
                  </a:lnTo>
                  <a:lnTo>
                    <a:pt x="1977" y="441"/>
                  </a:lnTo>
                  <a:lnTo>
                    <a:pt x="1991" y="431"/>
                  </a:lnTo>
                  <a:lnTo>
                    <a:pt x="2087" y="335"/>
                  </a:lnTo>
                  <a:lnTo>
                    <a:pt x="2109" y="317"/>
                  </a:lnTo>
                  <a:lnTo>
                    <a:pt x="2132" y="303"/>
                  </a:lnTo>
                  <a:lnTo>
                    <a:pt x="2156" y="293"/>
                  </a:lnTo>
                  <a:lnTo>
                    <a:pt x="2182" y="286"/>
                  </a:lnTo>
                  <a:lnTo>
                    <a:pt x="2209" y="285"/>
                  </a:lnTo>
                  <a:lnTo>
                    <a:pt x="2237" y="286"/>
                  </a:lnTo>
                  <a:lnTo>
                    <a:pt x="2263" y="293"/>
                  </a:lnTo>
                  <a:lnTo>
                    <a:pt x="2288" y="303"/>
                  </a:lnTo>
                  <a:lnTo>
                    <a:pt x="2311" y="317"/>
                  </a:lnTo>
                  <a:lnTo>
                    <a:pt x="2331" y="335"/>
                  </a:lnTo>
                  <a:lnTo>
                    <a:pt x="2488" y="490"/>
                  </a:lnTo>
                  <a:lnTo>
                    <a:pt x="2508" y="514"/>
                  </a:lnTo>
                  <a:lnTo>
                    <a:pt x="2523" y="541"/>
                  </a:lnTo>
                  <a:lnTo>
                    <a:pt x="2532" y="569"/>
                  </a:lnTo>
                  <a:lnTo>
                    <a:pt x="2538" y="598"/>
                  </a:lnTo>
                  <a:lnTo>
                    <a:pt x="2538" y="627"/>
                  </a:lnTo>
                  <a:lnTo>
                    <a:pt x="2532" y="656"/>
                  </a:lnTo>
                  <a:lnTo>
                    <a:pt x="2523" y="685"/>
                  </a:lnTo>
                  <a:lnTo>
                    <a:pt x="2508" y="711"/>
                  </a:lnTo>
                  <a:lnTo>
                    <a:pt x="2488" y="735"/>
                  </a:lnTo>
                  <a:lnTo>
                    <a:pt x="2392" y="831"/>
                  </a:lnTo>
                  <a:lnTo>
                    <a:pt x="2381" y="846"/>
                  </a:lnTo>
                  <a:lnTo>
                    <a:pt x="2373" y="864"/>
                  </a:lnTo>
                  <a:lnTo>
                    <a:pt x="2368" y="884"/>
                  </a:lnTo>
                  <a:lnTo>
                    <a:pt x="2367" y="906"/>
                  </a:lnTo>
                  <a:lnTo>
                    <a:pt x="2370" y="927"/>
                  </a:lnTo>
                  <a:lnTo>
                    <a:pt x="2377" y="947"/>
                  </a:lnTo>
                  <a:lnTo>
                    <a:pt x="2401" y="1000"/>
                  </a:lnTo>
                  <a:lnTo>
                    <a:pt x="2422" y="1054"/>
                  </a:lnTo>
                  <a:lnTo>
                    <a:pt x="2432" y="1073"/>
                  </a:lnTo>
                  <a:lnTo>
                    <a:pt x="2445" y="1090"/>
                  </a:lnTo>
                  <a:lnTo>
                    <a:pt x="2461" y="1105"/>
                  </a:lnTo>
                  <a:lnTo>
                    <a:pt x="2478" y="1116"/>
                  </a:lnTo>
                  <a:lnTo>
                    <a:pt x="2497" y="1124"/>
                  </a:lnTo>
                  <a:lnTo>
                    <a:pt x="2515" y="1126"/>
                  </a:lnTo>
                  <a:lnTo>
                    <a:pt x="2650" y="1126"/>
                  </a:lnTo>
                  <a:lnTo>
                    <a:pt x="2686" y="1130"/>
                  </a:lnTo>
                  <a:lnTo>
                    <a:pt x="2718" y="1140"/>
                  </a:lnTo>
                  <a:lnTo>
                    <a:pt x="2747" y="1156"/>
                  </a:lnTo>
                  <a:lnTo>
                    <a:pt x="2772" y="1176"/>
                  </a:lnTo>
                  <a:lnTo>
                    <a:pt x="2794" y="1203"/>
                  </a:lnTo>
                  <a:lnTo>
                    <a:pt x="2810" y="1232"/>
                  </a:lnTo>
                  <a:lnTo>
                    <a:pt x="2820" y="1264"/>
                  </a:lnTo>
                  <a:lnTo>
                    <a:pt x="2824" y="1298"/>
                  </a:lnTo>
                  <a:lnTo>
                    <a:pt x="2824" y="1519"/>
                  </a:lnTo>
                  <a:lnTo>
                    <a:pt x="2820" y="1554"/>
                  </a:lnTo>
                  <a:lnTo>
                    <a:pt x="2810" y="1587"/>
                  </a:lnTo>
                  <a:lnTo>
                    <a:pt x="2794" y="1615"/>
                  </a:lnTo>
                  <a:lnTo>
                    <a:pt x="2772" y="1641"/>
                  </a:lnTo>
                  <a:lnTo>
                    <a:pt x="2747" y="1662"/>
                  </a:lnTo>
                  <a:lnTo>
                    <a:pt x="2718" y="1678"/>
                  </a:lnTo>
                  <a:lnTo>
                    <a:pt x="2686" y="1688"/>
                  </a:lnTo>
                  <a:lnTo>
                    <a:pt x="2650" y="1692"/>
                  </a:lnTo>
                  <a:lnTo>
                    <a:pt x="2515" y="1692"/>
                  </a:lnTo>
                  <a:lnTo>
                    <a:pt x="2497" y="1694"/>
                  </a:lnTo>
                  <a:lnTo>
                    <a:pt x="2478" y="1702"/>
                  </a:lnTo>
                  <a:lnTo>
                    <a:pt x="2461" y="1713"/>
                  </a:lnTo>
                  <a:lnTo>
                    <a:pt x="2445" y="1728"/>
                  </a:lnTo>
                  <a:lnTo>
                    <a:pt x="2432" y="1745"/>
                  </a:lnTo>
                  <a:lnTo>
                    <a:pt x="2423" y="1763"/>
                  </a:lnTo>
                  <a:lnTo>
                    <a:pt x="2401" y="1818"/>
                  </a:lnTo>
                  <a:lnTo>
                    <a:pt x="2377" y="1871"/>
                  </a:lnTo>
                  <a:lnTo>
                    <a:pt x="2370" y="1891"/>
                  </a:lnTo>
                  <a:lnTo>
                    <a:pt x="2368" y="1912"/>
                  </a:lnTo>
                  <a:lnTo>
                    <a:pt x="2368" y="1933"/>
                  </a:lnTo>
                  <a:lnTo>
                    <a:pt x="2373" y="1954"/>
                  </a:lnTo>
                  <a:lnTo>
                    <a:pt x="2381" y="1972"/>
                  </a:lnTo>
                  <a:lnTo>
                    <a:pt x="2392" y="1987"/>
                  </a:lnTo>
                  <a:lnTo>
                    <a:pt x="2488" y="2084"/>
                  </a:lnTo>
                  <a:lnTo>
                    <a:pt x="2508" y="2107"/>
                  </a:lnTo>
                  <a:lnTo>
                    <a:pt x="2523" y="2134"/>
                  </a:lnTo>
                  <a:lnTo>
                    <a:pt x="2532" y="2161"/>
                  </a:lnTo>
                  <a:lnTo>
                    <a:pt x="2538" y="2191"/>
                  </a:lnTo>
                  <a:lnTo>
                    <a:pt x="2538" y="2219"/>
                  </a:lnTo>
                  <a:lnTo>
                    <a:pt x="2532" y="2249"/>
                  </a:lnTo>
                  <a:lnTo>
                    <a:pt x="2523" y="2278"/>
                  </a:lnTo>
                  <a:lnTo>
                    <a:pt x="2508" y="2304"/>
                  </a:lnTo>
                  <a:lnTo>
                    <a:pt x="2488" y="2328"/>
                  </a:lnTo>
                  <a:lnTo>
                    <a:pt x="2331" y="2483"/>
                  </a:lnTo>
                  <a:lnTo>
                    <a:pt x="2311" y="2501"/>
                  </a:lnTo>
                  <a:lnTo>
                    <a:pt x="2288" y="2515"/>
                  </a:lnTo>
                  <a:lnTo>
                    <a:pt x="2263" y="2525"/>
                  </a:lnTo>
                  <a:lnTo>
                    <a:pt x="2237" y="2532"/>
                  </a:lnTo>
                  <a:lnTo>
                    <a:pt x="2209" y="2534"/>
                  </a:lnTo>
                  <a:lnTo>
                    <a:pt x="2182" y="2532"/>
                  </a:lnTo>
                  <a:lnTo>
                    <a:pt x="2156" y="2525"/>
                  </a:lnTo>
                  <a:lnTo>
                    <a:pt x="2132" y="2515"/>
                  </a:lnTo>
                  <a:lnTo>
                    <a:pt x="2109" y="2501"/>
                  </a:lnTo>
                  <a:lnTo>
                    <a:pt x="2087" y="2483"/>
                  </a:lnTo>
                  <a:lnTo>
                    <a:pt x="1991" y="2387"/>
                  </a:lnTo>
                  <a:lnTo>
                    <a:pt x="1977" y="2377"/>
                  </a:lnTo>
                  <a:lnTo>
                    <a:pt x="1961" y="2369"/>
                  </a:lnTo>
                  <a:lnTo>
                    <a:pt x="1942" y="2364"/>
                  </a:lnTo>
                  <a:lnTo>
                    <a:pt x="1923" y="2363"/>
                  </a:lnTo>
                  <a:lnTo>
                    <a:pt x="1905" y="2364"/>
                  </a:lnTo>
                  <a:lnTo>
                    <a:pt x="1889" y="2368"/>
                  </a:lnTo>
                  <a:lnTo>
                    <a:pt x="1875" y="2372"/>
                  </a:lnTo>
                  <a:lnTo>
                    <a:pt x="1822" y="2396"/>
                  </a:lnTo>
                  <a:lnTo>
                    <a:pt x="1767" y="2418"/>
                  </a:lnTo>
                  <a:lnTo>
                    <a:pt x="1748" y="2427"/>
                  </a:lnTo>
                  <a:lnTo>
                    <a:pt x="1731" y="2439"/>
                  </a:lnTo>
                  <a:lnTo>
                    <a:pt x="1717" y="2455"/>
                  </a:lnTo>
                  <a:lnTo>
                    <a:pt x="1706" y="2474"/>
                  </a:lnTo>
                  <a:lnTo>
                    <a:pt x="1698" y="2492"/>
                  </a:lnTo>
                  <a:lnTo>
                    <a:pt x="1695" y="2510"/>
                  </a:lnTo>
                  <a:lnTo>
                    <a:pt x="1695" y="2646"/>
                  </a:lnTo>
                  <a:lnTo>
                    <a:pt x="1692" y="2680"/>
                  </a:lnTo>
                  <a:lnTo>
                    <a:pt x="1682" y="2712"/>
                  </a:lnTo>
                  <a:lnTo>
                    <a:pt x="1666" y="2742"/>
                  </a:lnTo>
                  <a:lnTo>
                    <a:pt x="1644" y="2768"/>
                  </a:lnTo>
                  <a:lnTo>
                    <a:pt x="1619" y="2788"/>
                  </a:lnTo>
                  <a:lnTo>
                    <a:pt x="1589" y="2804"/>
                  </a:lnTo>
                  <a:lnTo>
                    <a:pt x="1557" y="2815"/>
                  </a:lnTo>
                  <a:lnTo>
                    <a:pt x="1522" y="2818"/>
                  </a:lnTo>
                  <a:lnTo>
                    <a:pt x="1301" y="2818"/>
                  </a:lnTo>
                  <a:lnTo>
                    <a:pt x="1267" y="2815"/>
                  </a:lnTo>
                  <a:lnTo>
                    <a:pt x="1234" y="2804"/>
                  </a:lnTo>
                  <a:lnTo>
                    <a:pt x="1205" y="2788"/>
                  </a:lnTo>
                  <a:lnTo>
                    <a:pt x="1179" y="2768"/>
                  </a:lnTo>
                  <a:lnTo>
                    <a:pt x="1158" y="2742"/>
                  </a:lnTo>
                  <a:lnTo>
                    <a:pt x="1142" y="2712"/>
                  </a:lnTo>
                  <a:lnTo>
                    <a:pt x="1132" y="2680"/>
                  </a:lnTo>
                  <a:lnTo>
                    <a:pt x="1129" y="2646"/>
                  </a:lnTo>
                  <a:lnTo>
                    <a:pt x="1129" y="2510"/>
                  </a:lnTo>
                  <a:lnTo>
                    <a:pt x="1125" y="2492"/>
                  </a:lnTo>
                  <a:lnTo>
                    <a:pt x="1118" y="2474"/>
                  </a:lnTo>
                  <a:lnTo>
                    <a:pt x="1107" y="2455"/>
                  </a:lnTo>
                  <a:lnTo>
                    <a:pt x="1092" y="2439"/>
                  </a:lnTo>
                  <a:lnTo>
                    <a:pt x="1075" y="2427"/>
                  </a:lnTo>
                  <a:lnTo>
                    <a:pt x="1057" y="2418"/>
                  </a:lnTo>
                  <a:lnTo>
                    <a:pt x="1002" y="2396"/>
                  </a:lnTo>
                  <a:lnTo>
                    <a:pt x="948" y="2372"/>
                  </a:lnTo>
                  <a:lnTo>
                    <a:pt x="927" y="2365"/>
                  </a:lnTo>
                  <a:lnTo>
                    <a:pt x="901" y="2363"/>
                  </a:lnTo>
                  <a:lnTo>
                    <a:pt x="881" y="2364"/>
                  </a:lnTo>
                  <a:lnTo>
                    <a:pt x="863" y="2369"/>
                  </a:lnTo>
                  <a:lnTo>
                    <a:pt x="846" y="2377"/>
                  </a:lnTo>
                  <a:lnTo>
                    <a:pt x="833" y="2387"/>
                  </a:lnTo>
                  <a:lnTo>
                    <a:pt x="736" y="2483"/>
                  </a:lnTo>
                  <a:lnTo>
                    <a:pt x="715" y="2501"/>
                  </a:lnTo>
                  <a:lnTo>
                    <a:pt x="692" y="2515"/>
                  </a:lnTo>
                  <a:lnTo>
                    <a:pt x="667" y="2525"/>
                  </a:lnTo>
                  <a:lnTo>
                    <a:pt x="641" y="2532"/>
                  </a:lnTo>
                  <a:lnTo>
                    <a:pt x="614" y="2534"/>
                  </a:lnTo>
                  <a:lnTo>
                    <a:pt x="586" y="2532"/>
                  </a:lnTo>
                  <a:lnTo>
                    <a:pt x="560" y="2525"/>
                  </a:lnTo>
                  <a:lnTo>
                    <a:pt x="536" y="2515"/>
                  </a:lnTo>
                  <a:lnTo>
                    <a:pt x="513" y="2501"/>
                  </a:lnTo>
                  <a:lnTo>
                    <a:pt x="491" y="2483"/>
                  </a:lnTo>
                  <a:lnTo>
                    <a:pt x="335" y="2327"/>
                  </a:lnTo>
                  <a:lnTo>
                    <a:pt x="316" y="2304"/>
                  </a:lnTo>
                  <a:lnTo>
                    <a:pt x="301" y="2278"/>
                  </a:lnTo>
                  <a:lnTo>
                    <a:pt x="290" y="2249"/>
                  </a:lnTo>
                  <a:lnTo>
                    <a:pt x="286" y="2219"/>
                  </a:lnTo>
                  <a:lnTo>
                    <a:pt x="286" y="2191"/>
                  </a:lnTo>
                  <a:lnTo>
                    <a:pt x="290" y="2161"/>
                  </a:lnTo>
                  <a:lnTo>
                    <a:pt x="301" y="2134"/>
                  </a:lnTo>
                  <a:lnTo>
                    <a:pt x="316" y="2107"/>
                  </a:lnTo>
                  <a:lnTo>
                    <a:pt x="335" y="2084"/>
                  </a:lnTo>
                  <a:lnTo>
                    <a:pt x="432" y="1987"/>
                  </a:lnTo>
                  <a:lnTo>
                    <a:pt x="443" y="1972"/>
                  </a:lnTo>
                  <a:lnTo>
                    <a:pt x="451" y="1954"/>
                  </a:lnTo>
                  <a:lnTo>
                    <a:pt x="455" y="1933"/>
                  </a:lnTo>
                  <a:lnTo>
                    <a:pt x="456" y="1912"/>
                  </a:lnTo>
                  <a:lnTo>
                    <a:pt x="453" y="1891"/>
                  </a:lnTo>
                  <a:lnTo>
                    <a:pt x="446" y="1871"/>
                  </a:lnTo>
                  <a:lnTo>
                    <a:pt x="422" y="1818"/>
                  </a:lnTo>
                  <a:lnTo>
                    <a:pt x="401" y="1763"/>
                  </a:lnTo>
                  <a:lnTo>
                    <a:pt x="392" y="1745"/>
                  </a:lnTo>
                  <a:lnTo>
                    <a:pt x="380" y="1728"/>
                  </a:lnTo>
                  <a:lnTo>
                    <a:pt x="364" y="1713"/>
                  </a:lnTo>
                  <a:lnTo>
                    <a:pt x="345" y="1702"/>
                  </a:lnTo>
                  <a:lnTo>
                    <a:pt x="327" y="1694"/>
                  </a:lnTo>
                  <a:lnTo>
                    <a:pt x="309" y="1692"/>
                  </a:lnTo>
                  <a:lnTo>
                    <a:pt x="173" y="1692"/>
                  </a:lnTo>
                  <a:lnTo>
                    <a:pt x="139" y="1688"/>
                  </a:lnTo>
                  <a:lnTo>
                    <a:pt x="105" y="1678"/>
                  </a:lnTo>
                  <a:lnTo>
                    <a:pt x="77" y="1662"/>
                  </a:lnTo>
                  <a:lnTo>
                    <a:pt x="51" y="1641"/>
                  </a:lnTo>
                  <a:lnTo>
                    <a:pt x="30" y="1615"/>
                  </a:lnTo>
                  <a:lnTo>
                    <a:pt x="14" y="1587"/>
                  </a:lnTo>
                  <a:lnTo>
                    <a:pt x="4" y="1554"/>
                  </a:lnTo>
                  <a:lnTo>
                    <a:pt x="0" y="1519"/>
                  </a:lnTo>
                  <a:lnTo>
                    <a:pt x="0" y="1298"/>
                  </a:lnTo>
                  <a:lnTo>
                    <a:pt x="4" y="1264"/>
                  </a:lnTo>
                  <a:lnTo>
                    <a:pt x="14" y="1231"/>
                  </a:lnTo>
                  <a:lnTo>
                    <a:pt x="30" y="1203"/>
                  </a:lnTo>
                  <a:lnTo>
                    <a:pt x="51" y="1176"/>
                  </a:lnTo>
                  <a:lnTo>
                    <a:pt x="77" y="1156"/>
                  </a:lnTo>
                  <a:lnTo>
                    <a:pt x="105" y="1140"/>
                  </a:lnTo>
                  <a:lnTo>
                    <a:pt x="139" y="1130"/>
                  </a:lnTo>
                  <a:lnTo>
                    <a:pt x="173" y="1126"/>
                  </a:lnTo>
                  <a:lnTo>
                    <a:pt x="309" y="1126"/>
                  </a:lnTo>
                  <a:lnTo>
                    <a:pt x="327" y="1124"/>
                  </a:lnTo>
                  <a:lnTo>
                    <a:pt x="345" y="1116"/>
                  </a:lnTo>
                  <a:lnTo>
                    <a:pt x="364" y="1105"/>
                  </a:lnTo>
                  <a:lnTo>
                    <a:pt x="380" y="1090"/>
                  </a:lnTo>
                  <a:lnTo>
                    <a:pt x="392" y="1073"/>
                  </a:lnTo>
                  <a:lnTo>
                    <a:pt x="401" y="1054"/>
                  </a:lnTo>
                  <a:lnTo>
                    <a:pt x="422" y="1000"/>
                  </a:lnTo>
                  <a:lnTo>
                    <a:pt x="446" y="947"/>
                  </a:lnTo>
                  <a:lnTo>
                    <a:pt x="453" y="927"/>
                  </a:lnTo>
                  <a:lnTo>
                    <a:pt x="456" y="906"/>
                  </a:lnTo>
                  <a:lnTo>
                    <a:pt x="455" y="884"/>
                  </a:lnTo>
                  <a:lnTo>
                    <a:pt x="451" y="864"/>
                  </a:lnTo>
                  <a:lnTo>
                    <a:pt x="443" y="846"/>
                  </a:lnTo>
                  <a:lnTo>
                    <a:pt x="432" y="831"/>
                  </a:lnTo>
                  <a:lnTo>
                    <a:pt x="335" y="735"/>
                  </a:lnTo>
                  <a:lnTo>
                    <a:pt x="318" y="713"/>
                  </a:lnTo>
                  <a:lnTo>
                    <a:pt x="303" y="691"/>
                  </a:lnTo>
                  <a:lnTo>
                    <a:pt x="293" y="666"/>
                  </a:lnTo>
                  <a:lnTo>
                    <a:pt x="287" y="639"/>
                  </a:lnTo>
                  <a:lnTo>
                    <a:pt x="285" y="613"/>
                  </a:lnTo>
                  <a:lnTo>
                    <a:pt x="287" y="586"/>
                  </a:lnTo>
                  <a:lnTo>
                    <a:pt x="293" y="560"/>
                  </a:lnTo>
                  <a:lnTo>
                    <a:pt x="303" y="535"/>
                  </a:lnTo>
                  <a:lnTo>
                    <a:pt x="318" y="512"/>
                  </a:lnTo>
                  <a:lnTo>
                    <a:pt x="335" y="491"/>
                  </a:lnTo>
                  <a:lnTo>
                    <a:pt x="491" y="335"/>
                  </a:lnTo>
                  <a:lnTo>
                    <a:pt x="512" y="317"/>
                  </a:lnTo>
                  <a:lnTo>
                    <a:pt x="536" y="303"/>
                  </a:lnTo>
                  <a:lnTo>
                    <a:pt x="560" y="293"/>
                  </a:lnTo>
                  <a:lnTo>
                    <a:pt x="586" y="286"/>
                  </a:lnTo>
                  <a:lnTo>
                    <a:pt x="614" y="284"/>
                  </a:lnTo>
                  <a:lnTo>
                    <a:pt x="641" y="286"/>
                  </a:lnTo>
                  <a:lnTo>
                    <a:pt x="667" y="293"/>
                  </a:lnTo>
                  <a:lnTo>
                    <a:pt x="692" y="303"/>
                  </a:lnTo>
                  <a:lnTo>
                    <a:pt x="715" y="317"/>
                  </a:lnTo>
                  <a:lnTo>
                    <a:pt x="736" y="335"/>
                  </a:lnTo>
                  <a:lnTo>
                    <a:pt x="832" y="431"/>
                  </a:lnTo>
                  <a:lnTo>
                    <a:pt x="846" y="441"/>
                  </a:lnTo>
                  <a:lnTo>
                    <a:pt x="863" y="449"/>
                  </a:lnTo>
                  <a:lnTo>
                    <a:pt x="881" y="454"/>
                  </a:lnTo>
                  <a:lnTo>
                    <a:pt x="901" y="456"/>
                  </a:lnTo>
                  <a:lnTo>
                    <a:pt x="919" y="454"/>
                  </a:lnTo>
                  <a:lnTo>
                    <a:pt x="935" y="450"/>
                  </a:lnTo>
                  <a:lnTo>
                    <a:pt x="948" y="446"/>
                  </a:lnTo>
                  <a:lnTo>
                    <a:pt x="1002" y="422"/>
                  </a:lnTo>
                  <a:lnTo>
                    <a:pt x="1056" y="400"/>
                  </a:lnTo>
                  <a:lnTo>
                    <a:pt x="1075" y="391"/>
                  </a:lnTo>
                  <a:lnTo>
                    <a:pt x="1092" y="378"/>
                  </a:lnTo>
                  <a:lnTo>
                    <a:pt x="1107" y="362"/>
                  </a:lnTo>
                  <a:lnTo>
                    <a:pt x="1118" y="344"/>
                  </a:lnTo>
                  <a:lnTo>
                    <a:pt x="1125" y="326"/>
                  </a:lnTo>
                  <a:lnTo>
                    <a:pt x="1129" y="308"/>
                  </a:lnTo>
                  <a:lnTo>
                    <a:pt x="1129" y="172"/>
                  </a:lnTo>
                  <a:lnTo>
                    <a:pt x="1132" y="138"/>
                  </a:lnTo>
                  <a:lnTo>
                    <a:pt x="1142" y="106"/>
                  </a:lnTo>
                  <a:lnTo>
                    <a:pt x="1158" y="76"/>
                  </a:lnTo>
                  <a:lnTo>
                    <a:pt x="1179" y="50"/>
                  </a:lnTo>
                  <a:lnTo>
                    <a:pt x="1205" y="29"/>
                  </a:lnTo>
                  <a:lnTo>
                    <a:pt x="1234" y="14"/>
                  </a:lnTo>
                  <a:lnTo>
                    <a:pt x="1267" y="3"/>
                  </a:lnTo>
                  <a:lnTo>
                    <a:pt x="13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101" name="Freeform 227"/>
            <p:cNvSpPr>
              <a:spLocks noEditPoints="1"/>
            </p:cNvSpPr>
            <p:nvPr/>
          </p:nvSpPr>
          <p:spPr bwMode="auto">
            <a:xfrm>
              <a:off x="4116" y="2102"/>
              <a:ext cx="490" cy="489"/>
            </a:xfrm>
            <a:custGeom>
              <a:avLst/>
              <a:gdLst>
                <a:gd name="T0" fmla="*/ 602 w 1469"/>
                <a:gd name="T1" fmla="*/ 552 h 1466"/>
                <a:gd name="T2" fmla="*/ 513 w 1469"/>
                <a:gd name="T3" fmla="*/ 697 h 1466"/>
                <a:gd name="T4" fmla="*/ 553 w 1469"/>
                <a:gd name="T5" fmla="*/ 866 h 1466"/>
                <a:gd name="T6" fmla="*/ 698 w 1469"/>
                <a:gd name="T7" fmla="*/ 954 h 1466"/>
                <a:gd name="T8" fmla="*/ 867 w 1469"/>
                <a:gd name="T9" fmla="*/ 915 h 1466"/>
                <a:gd name="T10" fmla="*/ 956 w 1469"/>
                <a:gd name="T11" fmla="*/ 770 h 1466"/>
                <a:gd name="T12" fmla="*/ 915 w 1469"/>
                <a:gd name="T13" fmla="*/ 601 h 1466"/>
                <a:gd name="T14" fmla="*/ 771 w 1469"/>
                <a:gd name="T15" fmla="*/ 512 h 1466"/>
                <a:gd name="T16" fmla="*/ 839 w 1469"/>
                <a:gd name="T17" fmla="*/ 12 h 1466"/>
                <a:gd name="T18" fmla="*/ 905 w 1469"/>
                <a:gd name="T19" fmla="*/ 115 h 1466"/>
                <a:gd name="T20" fmla="*/ 950 w 1469"/>
                <a:gd name="T21" fmla="*/ 213 h 1466"/>
                <a:gd name="T22" fmla="*/ 995 w 1469"/>
                <a:gd name="T23" fmla="*/ 227 h 1466"/>
                <a:gd name="T24" fmla="*/ 1069 w 1469"/>
                <a:gd name="T25" fmla="*/ 161 h 1466"/>
                <a:gd name="T26" fmla="*/ 1178 w 1469"/>
                <a:gd name="T27" fmla="*/ 151 h 1466"/>
                <a:gd name="T28" fmla="*/ 1320 w 1469"/>
                <a:gd name="T29" fmla="*/ 298 h 1466"/>
                <a:gd name="T30" fmla="*/ 1293 w 1469"/>
                <a:gd name="T31" fmla="*/ 416 h 1466"/>
                <a:gd name="T32" fmla="*/ 1255 w 1469"/>
                <a:gd name="T33" fmla="*/ 518 h 1466"/>
                <a:gd name="T34" fmla="*/ 1353 w 1469"/>
                <a:gd name="T35" fmla="*/ 563 h 1466"/>
                <a:gd name="T36" fmla="*/ 1457 w 1469"/>
                <a:gd name="T37" fmla="*/ 627 h 1466"/>
                <a:gd name="T38" fmla="*/ 1457 w 1469"/>
                <a:gd name="T39" fmla="*/ 839 h 1466"/>
                <a:gd name="T40" fmla="*/ 1353 w 1469"/>
                <a:gd name="T41" fmla="*/ 903 h 1466"/>
                <a:gd name="T42" fmla="*/ 1243 w 1469"/>
                <a:gd name="T43" fmla="*/ 977 h 1466"/>
                <a:gd name="T44" fmla="*/ 1309 w 1469"/>
                <a:gd name="T45" fmla="*/ 1071 h 1466"/>
                <a:gd name="T46" fmla="*/ 1309 w 1469"/>
                <a:gd name="T47" fmla="*/ 1192 h 1466"/>
                <a:gd name="T48" fmla="*/ 1156 w 1469"/>
                <a:gd name="T49" fmla="*/ 1323 h 1466"/>
                <a:gd name="T50" fmla="*/ 1052 w 1469"/>
                <a:gd name="T51" fmla="*/ 1291 h 1466"/>
                <a:gd name="T52" fmla="*/ 989 w 1469"/>
                <a:gd name="T53" fmla="*/ 1238 h 1466"/>
                <a:gd name="T54" fmla="*/ 922 w 1469"/>
                <a:gd name="T55" fmla="*/ 1265 h 1466"/>
                <a:gd name="T56" fmla="*/ 901 w 1469"/>
                <a:gd name="T57" fmla="*/ 1377 h 1466"/>
                <a:gd name="T58" fmla="*/ 816 w 1469"/>
                <a:gd name="T59" fmla="*/ 1463 h 1466"/>
                <a:gd name="T60" fmla="*/ 606 w 1469"/>
                <a:gd name="T61" fmla="*/ 1441 h 1466"/>
                <a:gd name="T62" fmla="*/ 563 w 1469"/>
                <a:gd name="T63" fmla="*/ 1284 h 1466"/>
                <a:gd name="T64" fmla="*/ 487 w 1469"/>
                <a:gd name="T65" fmla="*/ 1239 h 1466"/>
                <a:gd name="T66" fmla="*/ 466 w 1469"/>
                <a:gd name="T67" fmla="*/ 1242 h 1466"/>
                <a:gd name="T68" fmla="*/ 357 w 1469"/>
                <a:gd name="T69" fmla="*/ 1323 h 1466"/>
                <a:gd name="T70" fmla="*/ 254 w 1469"/>
                <a:gd name="T71" fmla="*/ 1291 h 1466"/>
                <a:gd name="T72" fmla="*/ 142 w 1469"/>
                <a:gd name="T73" fmla="*/ 1131 h 1466"/>
                <a:gd name="T74" fmla="*/ 224 w 1469"/>
                <a:gd name="T75" fmla="*/ 1002 h 1466"/>
                <a:gd name="T76" fmla="*/ 202 w 1469"/>
                <a:gd name="T77" fmla="*/ 920 h 1466"/>
                <a:gd name="T78" fmla="*/ 88 w 1469"/>
                <a:gd name="T79" fmla="*/ 901 h 1466"/>
                <a:gd name="T80" fmla="*/ 2 w 1469"/>
                <a:gd name="T81" fmla="*/ 814 h 1466"/>
                <a:gd name="T82" fmla="*/ 25 w 1469"/>
                <a:gd name="T83" fmla="*/ 607 h 1466"/>
                <a:gd name="T84" fmla="*/ 183 w 1469"/>
                <a:gd name="T85" fmla="*/ 563 h 1466"/>
                <a:gd name="T86" fmla="*/ 225 w 1469"/>
                <a:gd name="T87" fmla="*/ 489 h 1466"/>
                <a:gd name="T88" fmla="*/ 159 w 1469"/>
                <a:gd name="T89" fmla="*/ 396 h 1466"/>
                <a:gd name="T90" fmla="*/ 159 w 1469"/>
                <a:gd name="T91" fmla="*/ 275 h 1466"/>
                <a:gd name="T92" fmla="*/ 313 w 1469"/>
                <a:gd name="T93" fmla="*/ 144 h 1466"/>
                <a:gd name="T94" fmla="*/ 417 w 1469"/>
                <a:gd name="T95" fmla="*/ 176 h 1466"/>
                <a:gd name="T96" fmla="*/ 479 w 1469"/>
                <a:gd name="T97" fmla="*/ 228 h 1466"/>
                <a:gd name="T98" fmla="*/ 547 w 1469"/>
                <a:gd name="T99" fmla="*/ 202 h 1466"/>
                <a:gd name="T100" fmla="*/ 567 w 1469"/>
                <a:gd name="T101" fmla="*/ 89 h 1466"/>
                <a:gd name="T102" fmla="*/ 652 w 1469"/>
                <a:gd name="T103" fmla="*/ 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69" h="1466">
                  <a:moveTo>
                    <a:pt x="734" y="509"/>
                  </a:moveTo>
                  <a:lnTo>
                    <a:pt x="698" y="512"/>
                  </a:lnTo>
                  <a:lnTo>
                    <a:pt x="664" y="520"/>
                  </a:lnTo>
                  <a:lnTo>
                    <a:pt x="630" y="534"/>
                  </a:lnTo>
                  <a:lnTo>
                    <a:pt x="602" y="552"/>
                  </a:lnTo>
                  <a:lnTo>
                    <a:pt x="576" y="575"/>
                  </a:lnTo>
                  <a:lnTo>
                    <a:pt x="553" y="601"/>
                  </a:lnTo>
                  <a:lnTo>
                    <a:pt x="535" y="631"/>
                  </a:lnTo>
                  <a:lnTo>
                    <a:pt x="521" y="663"/>
                  </a:lnTo>
                  <a:lnTo>
                    <a:pt x="513" y="697"/>
                  </a:lnTo>
                  <a:lnTo>
                    <a:pt x="509" y="733"/>
                  </a:lnTo>
                  <a:lnTo>
                    <a:pt x="513" y="770"/>
                  </a:lnTo>
                  <a:lnTo>
                    <a:pt x="521" y="804"/>
                  </a:lnTo>
                  <a:lnTo>
                    <a:pt x="535" y="836"/>
                  </a:lnTo>
                  <a:lnTo>
                    <a:pt x="553" y="866"/>
                  </a:lnTo>
                  <a:lnTo>
                    <a:pt x="576" y="892"/>
                  </a:lnTo>
                  <a:lnTo>
                    <a:pt x="602" y="915"/>
                  </a:lnTo>
                  <a:lnTo>
                    <a:pt x="630" y="933"/>
                  </a:lnTo>
                  <a:lnTo>
                    <a:pt x="664" y="945"/>
                  </a:lnTo>
                  <a:lnTo>
                    <a:pt x="698" y="954"/>
                  </a:lnTo>
                  <a:lnTo>
                    <a:pt x="734" y="958"/>
                  </a:lnTo>
                  <a:lnTo>
                    <a:pt x="771" y="954"/>
                  </a:lnTo>
                  <a:lnTo>
                    <a:pt x="805" y="945"/>
                  </a:lnTo>
                  <a:lnTo>
                    <a:pt x="837" y="933"/>
                  </a:lnTo>
                  <a:lnTo>
                    <a:pt x="867" y="915"/>
                  </a:lnTo>
                  <a:lnTo>
                    <a:pt x="893" y="892"/>
                  </a:lnTo>
                  <a:lnTo>
                    <a:pt x="915" y="866"/>
                  </a:lnTo>
                  <a:lnTo>
                    <a:pt x="933" y="836"/>
                  </a:lnTo>
                  <a:lnTo>
                    <a:pt x="947" y="804"/>
                  </a:lnTo>
                  <a:lnTo>
                    <a:pt x="956" y="770"/>
                  </a:lnTo>
                  <a:lnTo>
                    <a:pt x="958" y="733"/>
                  </a:lnTo>
                  <a:lnTo>
                    <a:pt x="956" y="697"/>
                  </a:lnTo>
                  <a:lnTo>
                    <a:pt x="947" y="663"/>
                  </a:lnTo>
                  <a:lnTo>
                    <a:pt x="933" y="631"/>
                  </a:lnTo>
                  <a:lnTo>
                    <a:pt x="915" y="601"/>
                  </a:lnTo>
                  <a:lnTo>
                    <a:pt x="893" y="575"/>
                  </a:lnTo>
                  <a:lnTo>
                    <a:pt x="867" y="552"/>
                  </a:lnTo>
                  <a:lnTo>
                    <a:pt x="837" y="534"/>
                  </a:lnTo>
                  <a:lnTo>
                    <a:pt x="805" y="520"/>
                  </a:lnTo>
                  <a:lnTo>
                    <a:pt x="771" y="512"/>
                  </a:lnTo>
                  <a:lnTo>
                    <a:pt x="734" y="509"/>
                  </a:lnTo>
                  <a:close/>
                  <a:moveTo>
                    <a:pt x="678" y="0"/>
                  </a:moveTo>
                  <a:lnTo>
                    <a:pt x="789" y="0"/>
                  </a:lnTo>
                  <a:lnTo>
                    <a:pt x="816" y="3"/>
                  </a:lnTo>
                  <a:lnTo>
                    <a:pt x="839" y="12"/>
                  </a:lnTo>
                  <a:lnTo>
                    <a:pt x="861" y="25"/>
                  </a:lnTo>
                  <a:lnTo>
                    <a:pt x="879" y="44"/>
                  </a:lnTo>
                  <a:lnTo>
                    <a:pt x="893" y="64"/>
                  </a:lnTo>
                  <a:lnTo>
                    <a:pt x="901" y="89"/>
                  </a:lnTo>
                  <a:lnTo>
                    <a:pt x="905" y="115"/>
                  </a:lnTo>
                  <a:lnTo>
                    <a:pt x="905" y="183"/>
                  </a:lnTo>
                  <a:lnTo>
                    <a:pt x="907" y="189"/>
                  </a:lnTo>
                  <a:lnTo>
                    <a:pt x="913" y="196"/>
                  </a:lnTo>
                  <a:lnTo>
                    <a:pt x="922" y="202"/>
                  </a:lnTo>
                  <a:lnTo>
                    <a:pt x="950" y="213"/>
                  </a:lnTo>
                  <a:lnTo>
                    <a:pt x="978" y="226"/>
                  </a:lnTo>
                  <a:lnTo>
                    <a:pt x="981" y="227"/>
                  </a:lnTo>
                  <a:lnTo>
                    <a:pt x="986" y="227"/>
                  </a:lnTo>
                  <a:lnTo>
                    <a:pt x="989" y="228"/>
                  </a:lnTo>
                  <a:lnTo>
                    <a:pt x="995" y="227"/>
                  </a:lnTo>
                  <a:lnTo>
                    <a:pt x="998" y="226"/>
                  </a:lnTo>
                  <a:lnTo>
                    <a:pt x="1002" y="225"/>
                  </a:lnTo>
                  <a:lnTo>
                    <a:pt x="1004" y="224"/>
                  </a:lnTo>
                  <a:lnTo>
                    <a:pt x="1052" y="176"/>
                  </a:lnTo>
                  <a:lnTo>
                    <a:pt x="1069" y="161"/>
                  </a:lnTo>
                  <a:lnTo>
                    <a:pt x="1088" y="151"/>
                  </a:lnTo>
                  <a:lnTo>
                    <a:pt x="1110" y="144"/>
                  </a:lnTo>
                  <a:lnTo>
                    <a:pt x="1133" y="143"/>
                  </a:lnTo>
                  <a:lnTo>
                    <a:pt x="1156" y="144"/>
                  </a:lnTo>
                  <a:lnTo>
                    <a:pt x="1178" y="151"/>
                  </a:lnTo>
                  <a:lnTo>
                    <a:pt x="1197" y="161"/>
                  </a:lnTo>
                  <a:lnTo>
                    <a:pt x="1214" y="176"/>
                  </a:lnTo>
                  <a:lnTo>
                    <a:pt x="1293" y="253"/>
                  </a:lnTo>
                  <a:lnTo>
                    <a:pt x="1309" y="275"/>
                  </a:lnTo>
                  <a:lnTo>
                    <a:pt x="1320" y="298"/>
                  </a:lnTo>
                  <a:lnTo>
                    <a:pt x="1326" y="323"/>
                  </a:lnTo>
                  <a:lnTo>
                    <a:pt x="1326" y="348"/>
                  </a:lnTo>
                  <a:lnTo>
                    <a:pt x="1320" y="372"/>
                  </a:lnTo>
                  <a:lnTo>
                    <a:pt x="1309" y="396"/>
                  </a:lnTo>
                  <a:lnTo>
                    <a:pt x="1293" y="416"/>
                  </a:lnTo>
                  <a:lnTo>
                    <a:pt x="1245" y="464"/>
                  </a:lnTo>
                  <a:lnTo>
                    <a:pt x="1242" y="471"/>
                  </a:lnTo>
                  <a:lnTo>
                    <a:pt x="1240" y="480"/>
                  </a:lnTo>
                  <a:lnTo>
                    <a:pt x="1243" y="489"/>
                  </a:lnTo>
                  <a:lnTo>
                    <a:pt x="1255" y="518"/>
                  </a:lnTo>
                  <a:lnTo>
                    <a:pt x="1267" y="546"/>
                  </a:lnTo>
                  <a:lnTo>
                    <a:pt x="1271" y="554"/>
                  </a:lnTo>
                  <a:lnTo>
                    <a:pt x="1279" y="561"/>
                  </a:lnTo>
                  <a:lnTo>
                    <a:pt x="1286" y="563"/>
                  </a:lnTo>
                  <a:lnTo>
                    <a:pt x="1353" y="563"/>
                  </a:lnTo>
                  <a:lnTo>
                    <a:pt x="1380" y="566"/>
                  </a:lnTo>
                  <a:lnTo>
                    <a:pt x="1404" y="575"/>
                  </a:lnTo>
                  <a:lnTo>
                    <a:pt x="1425" y="588"/>
                  </a:lnTo>
                  <a:lnTo>
                    <a:pt x="1444" y="607"/>
                  </a:lnTo>
                  <a:lnTo>
                    <a:pt x="1457" y="627"/>
                  </a:lnTo>
                  <a:lnTo>
                    <a:pt x="1465" y="652"/>
                  </a:lnTo>
                  <a:lnTo>
                    <a:pt x="1469" y="679"/>
                  </a:lnTo>
                  <a:lnTo>
                    <a:pt x="1469" y="788"/>
                  </a:lnTo>
                  <a:lnTo>
                    <a:pt x="1465" y="814"/>
                  </a:lnTo>
                  <a:lnTo>
                    <a:pt x="1457" y="839"/>
                  </a:lnTo>
                  <a:lnTo>
                    <a:pt x="1444" y="860"/>
                  </a:lnTo>
                  <a:lnTo>
                    <a:pt x="1425" y="878"/>
                  </a:lnTo>
                  <a:lnTo>
                    <a:pt x="1404" y="892"/>
                  </a:lnTo>
                  <a:lnTo>
                    <a:pt x="1380" y="901"/>
                  </a:lnTo>
                  <a:lnTo>
                    <a:pt x="1353" y="903"/>
                  </a:lnTo>
                  <a:lnTo>
                    <a:pt x="1286" y="903"/>
                  </a:lnTo>
                  <a:lnTo>
                    <a:pt x="1279" y="905"/>
                  </a:lnTo>
                  <a:lnTo>
                    <a:pt x="1271" y="912"/>
                  </a:lnTo>
                  <a:lnTo>
                    <a:pt x="1267" y="920"/>
                  </a:lnTo>
                  <a:lnTo>
                    <a:pt x="1243" y="977"/>
                  </a:lnTo>
                  <a:lnTo>
                    <a:pt x="1240" y="986"/>
                  </a:lnTo>
                  <a:lnTo>
                    <a:pt x="1242" y="995"/>
                  </a:lnTo>
                  <a:lnTo>
                    <a:pt x="1245" y="1002"/>
                  </a:lnTo>
                  <a:lnTo>
                    <a:pt x="1293" y="1050"/>
                  </a:lnTo>
                  <a:lnTo>
                    <a:pt x="1309" y="1071"/>
                  </a:lnTo>
                  <a:lnTo>
                    <a:pt x="1320" y="1094"/>
                  </a:lnTo>
                  <a:lnTo>
                    <a:pt x="1326" y="1119"/>
                  </a:lnTo>
                  <a:lnTo>
                    <a:pt x="1326" y="1144"/>
                  </a:lnTo>
                  <a:lnTo>
                    <a:pt x="1320" y="1169"/>
                  </a:lnTo>
                  <a:lnTo>
                    <a:pt x="1309" y="1192"/>
                  </a:lnTo>
                  <a:lnTo>
                    <a:pt x="1293" y="1213"/>
                  </a:lnTo>
                  <a:lnTo>
                    <a:pt x="1214" y="1291"/>
                  </a:lnTo>
                  <a:lnTo>
                    <a:pt x="1197" y="1306"/>
                  </a:lnTo>
                  <a:lnTo>
                    <a:pt x="1178" y="1316"/>
                  </a:lnTo>
                  <a:lnTo>
                    <a:pt x="1156" y="1323"/>
                  </a:lnTo>
                  <a:lnTo>
                    <a:pt x="1133" y="1324"/>
                  </a:lnTo>
                  <a:lnTo>
                    <a:pt x="1110" y="1323"/>
                  </a:lnTo>
                  <a:lnTo>
                    <a:pt x="1088" y="1316"/>
                  </a:lnTo>
                  <a:lnTo>
                    <a:pt x="1069" y="1306"/>
                  </a:lnTo>
                  <a:lnTo>
                    <a:pt x="1052" y="1291"/>
                  </a:lnTo>
                  <a:lnTo>
                    <a:pt x="1004" y="1243"/>
                  </a:lnTo>
                  <a:lnTo>
                    <a:pt x="1002" y="1242"/>
                  </a:lnTo>
                  <a:lnTo>
                    <a:pt x="998" y="1241"/>
                  </a:lnTo>
                  <a:lnTo>
                    <a:pt x="995" y="1239"/>
                  </a:lnTo>
                  <a:lnTo>
                    <a:pt x="989" y="1238"/>
                  </a:lnTo>
                  <a:lnTo>
                    <a:pt x="986" y="1239"/>
                  </a:lnTo>
                  <a:lnTo>
                    <a:pt x="981" y="1239"/>
                  </a:lnTo>
                  <a:lnTo>
                    <a:pt x="978" y="1241"/>
                  </a:lnTo>
                  <a:lnTo>
                    <a:pt x="950" y="1253"/>
                  </a:lnTo>
                  <a:lnTo>
                    <a:pt x="922" y="1265"/>
                  </a:lnTo>
                  <a:lnTo>
                    <a:pt x="913" y="1270"/>
                  </a:lnTo>
                  <a:lnTo>
                    <a:pt x="907" y="1277"/>
                  </a:lnTo>
                  <a:lnTo>
                    <a:pt x="905" y="1284"/>
                  </a:lnTo>
                  <a:lnTo>
                    <a:pt x="905" y="1351"/>
                  </a:lnTo>
                  <a:lnTo>
                    <a:pt x="901" y="1377"/>
                  </a:lnTo>
                  <a:lnTo>
                    <a:pt x="893" y="1402"/>
                  </a:lnTo>
                  <a:lnTo>
                    <a:pt x="879" y="1423"/>
                  </a:lnTo>
                  <a:lnTo>
                    <a:pt x="861" y="1441"/>
                  </a:lnTo>
                  <a:lnTo>
                    <a:pt x="839" y="1455"/>
                  </a:lnTo>
                  <a:lnTo>
                    <a:pt x="816" y="1463"/>
                  </a:lnTo>
                  <a:lnTo>
                    <a:pt x="789" y="1466"/>
                  </a:lnTo>
                  <a:lnTo>
                    <a:pt x="678" y="1466"/>
                  </a:lnTo>
                  <a:lnTo>
                    <a:pt x="652" y="1463"/>
                  </a:lnTo>
                  <a:lnTo>
                    <a:pt x="628" y="1455"/>
                  </a:lnTo>
                  <a:lnTo>
                    <a:pt x="606" y="1441"/>
                  </a:lnTo>
                  <a:lnTo>
                    <a:pt x="589" y="1423"/>
                  </a:lnTo>
                  <a:lnTo>
                    <a:pt x="576" y="1402"/>
                  </a:lnTo>
                  <a:lnTo>
                    <a:pt x="567" y="1377"/>
                  </a:lnTo>
                  <a:lnTo>
                    <a:pt x="563" y="1351"/>
                  </a:lnTo>
                  <a:lnTo>
                    <a:pt x="563" y="1284"/>
                  </a:lnTo>
                  <a:lnTo>
                    <a:pt x="561" y="1277"/>
                  </a:lnTo>
                  <a:lnTo>
                    <a:pt x="555" y="1270"/>
                  </a:lnTo>
                  <a:lnTo>
                    <a:pt x="547" y="1265"/>
                  </a:lnTo>
                  <a:lnTo>
                    <a:pt x="490" y="1241"/>
                  </a:lnTo>
                  <a:lnTo>
                    <a:pt x="487" y="1239"/>
                  </a:lnTo>
                  <a:lnTo>
                    <a:pt x="483" y="1239"/>
                  </a:lnTo>
                  <a:lnTo>
                    <a:pt x="479" y="1238"/>
                  </a:lnTo>
                  <a:lnTo>
                    <a:pt x="474" y="1239"/>
                  </a:lnTo>
                  <a:lnTo>
                    <a:pt x="469" y="1241"/>
                  </a:lnTo>
                  <a:lnTo>
                    <a:pt x="466" y="1242"/>
                  </a:lnTo>
                  <a:lnTo>
                    <a:pt x="465" y="1243"/>
                  </a:lnTo>
                  <a:lnTo>
                    <a:pt x="417" y="1291"/>
                  </a:lnTo>
                  <a:lnTo>
                    <a:pt x="399" y="1306"/>
                  </a:lnTo>
                  <a:lnTo>
                    <a:pt x="379" y="1316"/>
                  </a:lnTo>
                  <a:lnTo>
                    <a:pt x="357" y="1323"/>
                  </a:lnTo>
                  <a:lnTo>
                    <a:pt x="335" y="1324"/>
                  </a:lnTo>
                  <a:lnTo>
                    <a:pt x="313" y="1323"/>
                  </a:lnTo>
                  <a:lnTo>
                    <a:pt x="291" y="1316"/>
                  </a:lnTo>
                  <a:lnTo>
                    <a:pt x="271" y="1306"/>
                  </a:lnTo>
                  <a:lnTo>
                    <a:pt x="254" y="1291"/>
                  </a:lnTo>
                  <a:lnTo>
                    <a:pt x="176" y="1213"/>
                  </a:lnTo>
                  <a:lnTo>
                    <a:pt x="161" y="1195"/>
                  </a:lnTo>
                  <a:lnTo>
                    <a:pt x="151" y="1176"/>
                  </a:lnTo>
                  <a:lnTo>
                    <a:pt x="144" y="1154"/>
                  </a:lnTo>
                  <a:lnTo>
                    <a:pt x="142" y="1131"/>
                  </a:lnTo>
                  <a:lnTo>
                    <a:pt x="144" y="1108"/>
                  </a:lnTo>
                  <a:lnTo>
                    <a:pt x="151" y="1088"/>
                  </a:lnTo>
                  <a:lnTo>
                    <a:pt x="161" y="1067"/>
                  </a:lnTo>
                  <a:lnTo>
                    <a:pt x="176" y="1050"/>
                  </a:lnTo>
                  <a:lnTo>
                    <a:pt x="224" y="1002"/>
                  </a:lnTo>
                  <a:lnTo>
                    <a:pt x="226" y="995"/>
                  </a:lnTo>
                  <a:lnTo>
                    <a:pt x="227" y="986"/>
                  </a:lnTo>
                  <a:lnTo>
                    <a:pt x="225" y="977"/>
                  </a:lnTo>
                  <a:lnTo>
                    <a:pt x="212" y="949"/>
                  </a:lnTo>
                  <a:lnTo>
                    <a:pt x="202" y="920"/>
                  </a:lnTo>
                  <a:lnTo>
                    <a:pt x="196" y="912"/>
                  </a:lnTo>
                  <a:lnTo>
                    <a:pt x="188" y="905"/>
                  </a:lnTo>
                  <a:lnTo>
                    <a:pt x="183" y="903"/>
                  </a:lnTo>
                  <a:lnTo>
                    <a:pt x="114" y="903"/>
                  </a:lnTo>
                  <a:lnTo>
                    <a:pt x="88" y="901"/>
                  </a:lnTo>
                  <a:lnTo>
                    <a:pt x="64" y="892"/>
                  </a:lnTo>
                  <a:lnTo>
                    <a:pt x="42" y="878"/>
                  </a:lnTo>
                  <a:lnTo>
                    <a:pt x="25" y="860"/>
                  </a:lnTo>
                  <a:lnTo>
                    <a:pt x="11" y="839"/>
                  </a:lnTo>
                  <a:lnTo>
                    <a:pt x="2" y="814"/>
                  </a:lnTo>
                  <a:lnTo>
                    <a:pt x="0" y="788"/>
                  </a:lnTo>
                  <a:lnTo>
                    <a:pt x="0" y="679"/>
                  </a:lnTo>
                  <a:lnTo>
                    <a:pt x="2" y="652"/>
                  </a:lnTo>
                  <a:lnTo>
                    <a:pt x="11" y="627"/>
                  </a:lnTo>
                  <a:lnTo>
                    <a:pt x="25" y="607"/>
                  </a:lnTo>
                  <a:lnTo>
                    <a:pt x="42" y="588"/>
                  </a:lnTo>
                  <a:lnTo>
                    <a:pt x="64" y="575"/>
                  </a:lnTo>
                  <a:lnTo>
                    <a:pt x="88" y="566"/>
                  </a:lnTo>
                  <a:lnTo>
                    <a:pt x="114" y="563"/>
                  </a:lnTo>
                  <a:lnTo>
                    <a:pt x="183" y="563"/>
                  </a:lnTo>
                  <a:lnTo>
                    <a:pt x="188" y="561"/>
                  </a:lnTo>
                  <a:lnTo>
                    <a:pt x="196" y="554"/>
                  </a:lnTo>
                  <a:lnTo>
                    <a:pt x="202" y="546"/>
                  </a:lnTo>
                  <a:lnTo>
                    <a:pt x="212" y="518"/>
                  </a:lnTo>
                  <a:lnTo>
                    <a:pt x="225" y="489"/>
                  </a:lnTo>
                  <a:lnTo>
                    <a:pt x="227" y="480"/>
                  </a:lnTo>
                  <a:lnTo>
                    <a:pt x="226" y="471"/>
                  </a:lnTo>
                  <a:lnTo>
                    <a:pt x="224" y="464"/>
                  </a:lnTo>
                  <a:lnTo>
                    <a:pt x="176" y="416"/>
                  </a:lnTo>
                  <a:lnTo>
                    <a:pt x="159" y="396"/>
                  </a:lnTo>
                  <a:lnTo>
                    <a:pt x="148" y="372"/>
                  </a:lnTo>
                  <a:lnTo>
                    <a:pt x="143" y="348"/>
                  </a:lnTo>
                  <a:lnTo>
                    <a:pt x="143" y="323"/>
                  </a:lnTo>
                  <a:lnTo>
                    <a:pt x="148" y="298"/>
                  </a:lnTo>
                  <a:lnTo>
                    <a:pt x="159" y="275"/>
                  </a:lnTo>
                  <a:lnTo>
                    <a:pt x="176" y="253"/>
                  </a:lnTo>
                  <a:lnTo>
                    <a:pt x="254" y="176"/>
                  </a:lnTo>
                  <a:lnTo>
                    <a:pt x="271" y="161"/>
                  </a:lnTo>
                  <a:lnTo>
                    <a:pt x="291" y="151"/>
                  </a:lnTo>
                  <a:lnTo>
                    <a:pt x="313" y="144"/>
                  </a:lnTo>
                  <a:lnTo>
                    <a:pt x="335" y="143"/>
                  </a:lnTo>
                  <a:lnTo>
                    <a:pt x="357" y="144"/>
                  </a:lnTo>
                  <a:lnTo>
                    <a:pt x="379" y="151"/>
                  </a:lnTo>
                  <a:lnTo>
                    <a:pt x="399" y="161"/>
                  </a:lnTo>
                  <a:lnTo>
                    <a:pt x="417" y="176"/>
                  </a:lnTo>
                  <a:lnTo>
                    <a:pt x="465" y="224"/>
                  </a:lnTo>
                  <a:lnTo>
                    <a:pt x="466" y="225"/>
                  </a:lnTo>
                  <a:lnTo>
                    <a:pt x="469" y="226"/>
                  </a:lnTo>
                  <a:lnTo>
                    <a:pt x="474" y="227"/>
                  </a:lnTo>
                  <a:lnTo>
                    <a:pt x="479" y="228"/>
                  </a:lnTo>
                  <a:lnTo>
                    <a:pt x="483" y="227"/>
                  </a:lnTo>
                  <a:lnTo>
                    <a:pt x="487" y="227"/>
                  </a:lnTo>
                  <a:lnTo>
                    <a:pt x="490" y="226"/>
                  </a:lnTo>
                  <a:lnTo>
                    <a:pt x="519" y="213"/>
                  </a:lnTo>
                  <a:lnTo>
                    <a:pt x="547" y="202"/>
                  </a:lnTo>
                  <a:lnTo>
                    <a:pt x="555" y="196"/>
                  </a:lnTo>
                  <a:lnTo>
                    <a:pt x="561" y="189"/>
                  </a:lnTo>
                  <a:lnTo>
                    <a:pt x="563" y="183"/>
                  </a:lnTo>
                  <a:lnTo>
                    <a:pt x="563" y="115"/>
                  </a:lnTo>
                  <a:lnTo>
                    <a:pt x="567" y="89"/>
                  </a:lnTo>
                  <a:lnTo>
                    <a:pt x="576" y="64"/>
                  </a:lnTo>
                  <a:lnTo>
                    <a:pt x="589" y="44"/>
                  </a:lnTo>
                  <a:lnTo>
                    <a:pt x="606" y="25"/>
                  </a:lnTo>
                  <a:lnTo>
                    <a:pt x="628" y="12"/>
                  </a:lnTo>
                  <a:lnTo>
                    <a:pt x="652" y="3"/>
                  </a:lnTo>
                  <a:lnTo>
                    <a:pt x="6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53" name="Group 192"/>
          <p:cNvGrpSpPr>
            <a:grpSpLocks noChangeAspect="1"/>
          </p:cNvGrpSpPr>
          <p:nvPr/>
        </p:nvGrpSpPr>
        <p:grpSpPr bwMode="auto">
          <a:xfrm>
            <a:off x="6678937" y="1660208"/>
            <a:ext cx="436865" cy="313500"/>
            <a:chOff x="4283" y="2577"/>
            <a:chExt cx="3134" cy="2249"/>
          </a:xfrm>
          <a:solidFill>
            <a:schemeClr val="accent1"/>
          </a:solidFill>
        </p:grpSpPr>
        <p:sp>
          <p:nvSpPr>
            <p:cNvPr id="54" name="Freeform 194"/>
            <p:cNvSpPr/>
            <p:nvPr/>
          </p:nvSpPr>
          <p:spPr bwMode="auto">
            <a:xfrm>
              <a:off x="4718" y="2723"/>
              <a:ext cx="958" cy="1276"/>
            </a:xfrm>
            <a:custGeom>
              <a:avLst/>
              <a:gdLst>
                <a:gd name="T0" fmla="*/ 1134 w 1917"/>
                <a:gd name="T1" fmla="*/ 13 h 2554"/>
                <a:gd name="T2" fmla="*/ 1314 w 1917"/>
                <a:gd name="T3" fmla="*/ 74 h 2554"/>
                <a:gd name="T4" fmla="*/ 1459 w 1917"/>
                <a:gd name="T5" fmla="*/ 164 h 2554"/>
                <a:gd name="T6" fmla="*/ 1548 w 1917"/>
                <a:gd name="T7" fmla="*/ 253 h 2554"/>
                <a:gd name="T8" fmla="*/ 1586 w 1917"/>
                <a:gd name="T9" fmla="*/ 306 h 2554"/>
                <a:gd name="T10" fmla="*/ 1598 w 1917"/>
                <a:gd name="T11" fmla="*/ 312 h 2554"/>
                <a:gd name="T12" fmla="*/ 1634 w 1917"/>
                <a:gd name="T13" fmla="*/ 321 h 2554"/>
                <a:gd name="T14" fmla="*/ 1687 w 1917"/>
                <a:gd name="T15" fmla="*/ 350 h 2554"/>
                <a:gd name="T16" fmla="*/ 1750 w 1917"/>
                <a:gd name="T17" fmla="*/ 407 h 2554"/>
                <a:gd name="T18" fmla="*/ 1807 w 1917"/>
                <a:gd name="T19" fmla="*/ 500 h 2554"/>
                <a:gd name="T20" fmla="*/ 1849 w 1917"/>
                <a:gd name="T21" fmla="*/ 639 h 2554"/>
                <a:gd name="T22" fmla="*/ 1862 w 1917"/>
                <a:gd name="T23" fmla="*/ 835 h 2554"/>
                <a:gd name="T24" fmla="*/ 1835 w 1917"/>
                <a:gd name="T25" fmla="*/ 1097 h 2554"/>
                <a:gd name="T26" fmla="*/ 1822 w 1917"/>
                <a:gd name="T27" fmla="*/ 1217 h 2554"/>
                <a:gd name="T28" fmla="*/ 1872 w 1917"/>
                <a:gd name="T29" fmla="*/ 1230 h 2554"/>
                <a:gd name="T30" fmla="*/ 1908 w 1917"/>
                <a:gd name="T31" fmla="*/ 1280 h 2554"/>
                <a:gd name="T32" fmla="*/ 1915 w 1917"/>
                <a:gd name="T33" fmla="*/ 1380 h 2554"/>
                <a:gd name="T34" fmla="*/ 1883 w 1917"/>
                <a:gd name="T35" fmla="*/ 1546 h 2554"/>
                <a:gd name="T36" fmla="*/ 1816 w 1917"/>
                <a:gd name="T37" fmla="*/ 1726 h 2554"/>
                <a:gd name="T38" fmla="*/ 1757 w 1917"/>
                <a:gd name="T39" fmla="*/ 1808 h 2554"/>
                <a:gd name="T40" fmla="*/ 1710 w 1917"/>
                <a:gd name="T41" fmla="*/ 1888 h 2554"/>
                <a:gd name="T42" fmla="*/ 1632 w 1917"/>
                <a:gd name="T43" fmla="*/ 2092 h 2554"/>
                <a:gd name="T44" fmla="*/ 1497 w 1917"/>
                <a:gd name="T45" fmla="*/ 2284 h 2554"/>
                <a:gd name="T46" fmla="*/ 1312 w 1917"/>
                <a:gd name="T47" fmla="*/ 2443 h 2554"/>
                <a:gd name="T48" fmla="*/ 1096 w 1917"/>
                <a:gd name="T49" fmla="*/ 2536 h 2554"/>
                <a:gd name="T50" fmla="*/ 888 w 1917"/>
                <a:gd name="T51" fmla="*/ 2550 h 2554"/>
                <a:gd name="T52" fmla="*/ 673 w 1917"/>
                <a:gd name="T53" fmla="*/ 2485 h 2554"/>
                <a:gd name="T54" fmla="*/ 472 w 1917"/>
                <a:gd name="T55" fmla="*/ 2344 h 2554"/>
                <a:gd name="T56" fmla="*/ 322 w 1917"/>
                <a:gd name="T57" fmla="*/ 2160 h 2554"/>
                <a:gd name="T58" fmla="*/ 226 w 1917"/>
                <a:gd name="T59" fmla="*/ 1957 h 2554"/>
                <a:gd name="T60" fmla="*/ 177 w 1917"/>
                <a:gd name="T61" fmla="*/ 1822 h 2554"/>
                <a:gd name="T62" fmla="*/ 120 w 1917"/>
                <a:gd name="T63" fmla="*/ 1766 h 2554"/>
                <a:gd name="T64" fmla="*/ 57 w 1917"/>
                <a:gd name="T65" fmla="*/ 1620 h 2554"/>
                <a:gd name="T66" fmla="*/ 8 w 1917"/>
                <a:gd name="T67" fmla="*/ 1428 h 2554"/>
                <a:gd name="T68" fmla="*/ 4 w 1917"/>
                <a:gd name="T69" fmla="*/ 1308 h 2554"/>
                <a:gd name="T70" fmla="*/ 32 w 1917"/>
                <a:gd name="T71" fmla="*/ 1244 h 2554"/>
                <a:gd name="T72" fmla="*/ 78 w 1917"/>
                <a:gd name="T73" fmla="*/ 1219 h 2554"/>
                <a:gd name="T74" fmla="*/ 95 w 1917"/>
                <a:gd name="T75" fmla="*/ 1156 h 2554"/>
                <a:gd name="T76" fmla="*/ 61 w 1917"/>
                <a:gd name="T77" fmla="*/ 935 h 2554"/>
                <a:gd name="T78" fmla="*/ 80 w 1917"/>
                <a:gd name="T79" fmla="*/ 709 h 2554"/>
                <a:gd name="T80" fmla="*/ 169 w 1917"/>
                <a:gd name="T81" fmla="*/ 489 h 2554"/>
                <a:gd name="T82" fmla="*/ 306 w 1917"/>
                <a:gd name="T83" fmla="*/ 314 h 2554"/>
                <a:gd name="T84" fmla="*/ 514 w 1917"/>
                <a:gd name="T85" fmla="*/ 141 h 2554"/>
                <a:gd name="T86" fmla="*/ 717 w 1917"/>
                <a:gd name="T87" fmla="*/ 38 h 2554"/>
                <a:gd name="T88" fmla="*/ 902 w 1917"/>
                <a:gd name="T89" fmla="*/ 4 h 2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17" h="2554">
                  <a:moveTo>
                    <a:pt x="983" y="0"/>
                  </a:moveTo>
                  <a:lnTo>
                    <a:pt x="1061" y="4"/>
                  </a:lnTo>
                  <a:lnTo>
                    <a:pt x="1134" y="13"/>
                  </a:lnTo>
                  <a:lnTo>
                    <a:pt x="1198" y="29"/>
                  </a:lnTo>
                  <a:lnTo>
                    <a:pt x="1259" y="49"/>
                  </a:lnTo>
                  <a:lnTo>
                    <a:pt x="1314" y="74"/>
                  </a:lnTo>
                  <a:lnTo>
                    <a:pt x="1364" y="101"/>
                  </a:lnTo>
                  <a:lnTo>
                    <a:pt x="1415" y="131"/>
                  </a:lnTo>
                  <a:lnTo>
                    <a:pt x="1459" y="164"/>
                  </a:lnTo>
                  <a:lnTo>
                    <a:pt x="1495" y="196"/>
                  </a:lnTo>
                  <a:lnTo>
                    <a:pt x="1525" y="224"/>
                  </a:lnTo>
                  <a:lnTo>
                    <a:pt x="1548" y="253"/>
                  </a:lnTo>
                  <a:lnTo>
                    <a:pt x="1567" y="276"/>
                  </a:lnTo>
                  <a:lnTo>
                    <a:pt x="1579" y="295"/>
                  </a:lnTo>
                  <a:lnTo>
                    <a:pt x="1586" y="306"/>
                  </a:lnTo>
                  <a:lnTo>
                    <a:pt x="1588" y="310"/>
                  </a:lnTo>
                  <a:lnTo>
                    <a:pt x="1590" y="310"/>
                  </a:lnTo>
                  <a:lnTo>
                    <a:pt x="1598" y="312"/>
                  </a:lnTo>
                  <a:lnTo>
                    <a:pt x="1605" y="314"/>
                  </a:lnTo>
                  <a:lnTo>
                    <a:pt x="1619" y="316"/>
                  </a:lnTo>
                  <a:lnTo>
                    <a:pt x="1634" y="321"/>
                  </a:lnTo>
                  <a:lnTo>
                    <a:pt x="1649" y="329"/>
                  </a:lnTo>
                  <a:lnTo>
                    <a:pt x="1668" y="338"/>
                  </a:lnTo>
                  <a:lnTo>
                    <a:pt x="1687" y="350"/>
                  </a:lnTo>
                  <a:lnTo>
                    <a:pt x="1708" y="365"/>
                  </a:lnTo>
                  <a:lnTo>
                    <a:pt x="1729" y="384"/>
                  </a:lnTo>
                  <a:lnTo>
                    <a:pt x="1750" y="407"/>
                  </a:lnTo>
                  <a:lnTo>
                    <a:pt x="1771" y="432"/>
                  </a:lnTo>
                  <a:lnTo>
                    <a:pt x="1790" y="464"/>
                  </a:lnTo>
                  <a:lnTo>
                    <a:pt x="1807" y="500"/>
                  </a:lnTo>
                  <a:lnTo>
                    <a:pt x="1824" y="540"/>
                  </a:lnTo>
                  <a:lnTo>
                    <a:pt x="1837" y="588"/>
                  </a:lnTo>
                  <a:lnTo>
                    <a:pt x="1849" y="639"/>
                  </a:lnTo>
                  <a:lnTo>
                    <a:pt x="1856" y="698"/>
                  </a:lnTo>
                  <a:lnTo>
                    <a:pt x="1862" y="762"/>
                  </a:lnTo>
                  <a:lnTo>
                    <a:pt x="1862" y="835"/>
                  </a:lnTo>
                  <a:lnTo>
                    <a:pt x="1858" y="915"/>
                  </a:lnTo>
                  <a:lnTo>
                    <a:pt x="1851" y="1002"/>
                  </a:lnTo>
                  <a:lnTo>
                    <a:pt x="1835" y="1097"/>
                  </a:lnTo>
                  <a:lnTo>
                    <a:pt x="1822" y="1156"/>
                  </a:lnTo>
                  <a:lnTo>
                    <a:pt x="1805" y="1217"/>
                  </a:lnTo>
                  <a:lnTo>
                    <a:pt x="1822" y="1217"/>
                  </a:lnTo>
                  <a:lnTo>
                    <a:pt x="1839" y="1217"/>
                  </a:lnTo>
                  <a:lnTo>
                    <a:pt x="1856" y="1223"/>
                  </a:lnTo>
                  <a:lnTo>
                    <a:pt x="1872" y="1230"/>
                  </a:lnTo>
                  <a:lnTo>
                    <a:pt x="1885" y="1242"/>
                  </a:lnTo>
                  <a:lnTo>
                    <a:pt x="1898" y="1259"/>
                  </a:lnTo>
                  <a:lnTo>
                    <a:pt x="1908" y="1280"/>
                  </a:lnTo>
                  <a:lnTo>
                    <a:pt x="1913" y="1306"/>
                  </a:lnTo>
                  <a:lnTo>
                    <a:pt x="1917" y="1340"/>
                  </a:lnTo>
                  <a:lnTo>
                    <a:pt x="1915" y="1380"/>
                  </a:lnTo>
                  <a:lnTo>
                    <a:pt x="1910" y="1428"/>
                  </a:lnTo>
                  <a:lnTo>
                    <a:pt x="1900" y="1483"/>
                  </a:lnTo>
                  <a:lnTo>
                    <a:pt x="1883" y="1546"/>
                  </a:lnTo>
                  <a:lnTo>
                    <a:pt x="1860" y="1620"/>
                  </a:lnTo>
                  <a:lnTo>
                    <a:pt x="1839" y="1679"/>
                  </a:lnTo>
                  <a:lnTo>
                    <a:pt x="1816" y="1726"/>
                  </a:lnTo>
                  <a:lnTo>
                    <a:pt x="1795" y="1765"/>
                  </a:lnTo>
                  <a:lnTo>
                    <a:pt x="1776" y="1791"/>
                  </a:lnTo>
                  <a:lnTo>
                    <a:pt x="1757" y="1808"/>
                  </a:lnTo>
                  <a:lnTo>
                    <a:pt x="1740" y="1820"/>
                  </a:lnTo>
                  <a:lnTo>
                    <a:pt x="1723" y="1823"/>
                  </a:lnTo>
                  <a:lnTo>
                    <a:pt x="1710" y="1888"/>
                  </a:lnTo>
                  <a:lnTo>
                    <a:pt x="1691" y="1957"/>
                  </a:lnTo>
                  <a:lnTo>
                    <a:pt x="1664" y="2023"/>
                  </a:lnTo>
                  <a:lnTo>
                    <a:pt x="1632" y="2092"/>
                  </a:lnTo>
                  <a:lnTo>
                    <a:pt x="1592" y="2158"/>
                  </a:lnTo>
                  <a:lnTo>
                    <a:pt x="1548" y="2223"/>
                  </a:lnTo>
                  <a:lnTo>
                    <a:pt x="1497" y="2284"/>
                  </a:lnTo>
                  <a:lnTo>
                    <a:pt x="1440" y="2343"/>
                  </a:lnTo>
                  <a:lnTo>
                    <a:pt x="1379" y="2396"/>
                  </a:lnTo>
                  <a:lnTo>
                    <a:pt x="1312" y="2443"/>
                  </a:lnTo>
                  <a:lnTo>
                    <a:pt x="1240" y="2483"/>
                  </a:lnTo>
                  <a:lnTo>
                    <a:pt x="1162" y="2517"/>
                  </a:lnTo>
                  <a:lnTo>
                    <a:pt x="1096" y="2536"/>
                  </a:lnTo>
                  <a:lnTo>
                    <a:pt x="1027" y="2550"/>
                  </a:lnTo>
                  <a:lnTo>
                    <a:pt x="957" y="2554"/>
                  </a:lnTo>
                  <a:lnTo>
                    <a:pt x="888" y="2550"/>
                  </a:lnTo>
                  <a:lnTo>
                    <a:pt x="820" y="2536"/>
                  </a:lnTo>
                  <a:lnTo>
                    <a:pt x="753" y="2517"/>
                  </a:lnTo>
                  <a:lnTo>
                    <a:pt x="673" y="2485"/>
                  </a:lnTo>
                  <a:lnTo>
                    <a:pt x="601" y="2445"/>
                  </a:lnTo>
                  <a:lnTo>
                    <a:pt x="535" y="2398"/>
                  </a:lnTo>
                  <a:lnTo>
                    <a:pt x="472" y="2344"/>
                  </a:lnTo>
                  <a:lnTo>
                    <a:pt x="417" y="2285"/>
                  </a:lnTo>
                  <a:lnTo>
                    <a:pt x="365" y="2225"/>
                  </a:lnTo>
                  <a:lnTo>
                    <a:pt x="322" y="2160"/>
                  </a:lnTo>
                  <a:lnTo>
                    <a:pt x="284" y="2093"/>
                  </a:lnTo>
                  <a:lnTo>
                    <a:pt x="251" y="2025"/>
                  </a:lnTo>
                  <a:lnTo>
                    <a:pt x="226" y="1957"/>
                  </a:lnTo>
                  <a:lnTo>
                    <a:pt x="206" y="1890"/>
                  </a:lnTo>
                  <a:lnTo>
                    <a:pt x="192" y="1825"/>
                  </a:lnTo>
                  <a:lnTo>
                    <a:pt x="177" y="1822"/>
                  </a:lnTo>
                  <a:lnTo>
                    <a:pt x="158" y="1810"/>
                  </a:lnTo>
                  <a:lnTo>
                    <a:pt x="139" y="1793"/>
                  </a:lnTo>
                  <a:lnTo>
                    <a:pt x="120" y="1766"/>
                  </a:lnTo>
                  <a:lnTo>
                    <a:pt x="99" y="1728"/>
                  </a:lnTo>
                  <a:lnTo>
                    <a:pt x="78" y="1681"/>
                  </a:lnTo>
                  <a:lnTo>
                    <a:pt x="57" y="1620"/>
                  </a:lnTo>
                  <a:lnTo>
                    <a:pt x="34" y="1546"/>
                  </a:lnTo>
                  <a:lnTo>
                    <a:pt x="17" y="1483"/>
                  </a:lnTo>
                  <a:lnTo>
                    <a:pt x="8" y="1428"/>
                  </a:lnTo>
                  <a:lnTo>
                    <a:pt x="2" y="1380"/>
                  </a:lnTo>
                  <a:lnTo>
                    <a:pt x="0" y="1340"/>
                  </a:lnTo>
                  <a:lnTo>
                    <a:pt x="4" y="1308"/>
                  </a:lnTo>
                  <a:lnTo>
                    <a:pt x="10" y="1280"/>
                  </a:lnTo>
                  <a:lnTo>
                    <a:pt x="19" y="1259"/>
                  </a:lnTo>
                  <a:lnTo>
                    <a:pt x="32" y="1244"/>
                  </a:lnTo>
                  <a:lnTo>
                    <a:pt x="46" y="1230"/>
                  </a:lnTo>
                  <a:lnTo>
                    <a:pt x="63" y="1223"/>
                  </a:lnTo>
                  <a:lnTo>
                    <a:pt x="78" y="1219"/>
                  </a:lnTo>
                  <a:lnTo>
                    <a:pt x="95" y="1217"/>
                  </a:lnTo>
                  <a:lnTo>
                    <a:pt x="114" y="1217"/>
                  </a:lnTo>
                  <a:lnTo>
                    <a:pt x="95" y="1156"/>
                  </a:lnTo>
                  <a:lnTo>
                    <a:pt x="82" y="1097"/>
                  </a:lnTo>
                  <a:lnTo>
                    <a:pt x="69" y="1015"/>
                  </a:lnTo>
                  <a:lnTo>
                    <a:pt x="61" y="935"/>
                  </a:lnTo>
                  <a:lnTo>
                    <a:pt x="59" y="859"/>
                  </a:lnTo>
                  <a:lnTo>
                    <a:pt x="65" y="783"/>
                  </a:lnTo>
                  <a:lnTo>
                    <a:pt x="80" y="709"/>
                  </a:lnTo>
                  <a:lnTo>
                    <a:pt x="103" y="631"/>
                  </a:lnTo>
                  <a:lnTo>
                    <a:pt x="133" y="557"/>
                  </a:lnTo>
                  <a:lnTo>
                    <a:pt x="169" y="489"/>
                  </a:lnTo>
                  <a:lnTo>
                    <a:pt x="211" y="426"/>
                  </a:lnTo>
                  <a:lnTo>
                    <a:pt x="257" y="367"/>
                  </a:lnTo>
                  <a:lnTo>
                    <a:pt x="306" y="314"/>
                  </a:lnTo>
                  <a:lnTo>
                    <a:pt x="371" y="251"/>
                  </a:lnTo>
                  <a:lnTo>
                    <a:pt x="441" y="192"/>
                  </a:lnTo>
                  <a:lnTo>
                    <a:pt x="514" y="141"/>
                  </a:lnTo>
                  <a:lnTo>
                    <a:pt x="576" y="101"/>
                  </a:lnTo>
                  <a:lnTo>
                    <a:pt x="645" y="67"/>
                  </a:lnTo>
                  <a:lnTo>
                    <a:pt x="717" y="38"/>
                  </a:lnTo>
                  <a:lnTo>
                    <a:pt x="776" y="21"/>
                  </a:lnTo>
                  <a:lnTo>
                    <a:pt x="837" y="10"/>
                  </a:lnTo>
                  <a:lnTo>
                    <a:pt x="902" y="4"/>
                  </a:lnTo>
                  <a:lnTo>
                    <a:pt x="9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55" name="Freeform 195"/>
            <p:cNvSpPr/>
            <p:nvPr/>
          </p:nvSpPr>
          <p:spPr bwMode="auto">
            <a:xfrm>
              <a:off x="4283" y="3981"/>
              <a:ext cx="1831" cy="845"/>
            </a:xfrm>
            <a:custGeom>
              <a:avLst/>
              <a:gdLst>
                <a:gd name="T0" fmla="*/ 1531 w 3661"/>
                <a:gd name="T1" fmla="*/ 1090 h 1691"/>
                <a:gd name="T2" fmla="*/ 1733 w 3661"/>
                <a:gd name="T3" fmla="*/ 801 h 1691"/>
                <a:gd name="T4" fmla="*/ 1653 w 3661"/>
                <a:gd name="T5" fmla="*/ 677 h 1691"/>
                <a:gd name="T6" fmla="*/ 1607 w 3661"/>
                <a:gd name="T7" fmla="*/ 575 h 1691"/>
                <a:gd name="T8" fmla="*/ 1586 w 3661"/>
                <a:gd name="T9" fmla="*/ 493 h 1691"/>
                <a:gd name="T10" fmla="*/ 1588 w 3661"/>
                <a:gd name="T11" fmla="*/ 426 h 1691"/>
                <a:gd name="T12" fmla="*/ 1607 w 3661"/>
                <a:gd name="T13" fmla="*/ 377 h 1691"/>
                <a:gd name="T14" fmla="*/ 1639 w 3661"/>
                <a:gd name="T15" fmla="*/ 339 h 1691"/>
                <a:gd name="T16" fmla="*/ 1679 w 3661"/>
                <a:gd name="T17" fmla="*/ 314 h 1691"/>
                <a:gd name="T18" fmla="*/ 1723 w 3661"/>
                <a:gd name="T19" fmla="*/ 297 h 1691"/>
                <a:gd name="T20" fmla="*/ 1765 w 3661"/>
                <a:gd name="T21" fmla="*/ 288 h 1691"/>
                <a:gd name="T22" fmla="*/ 1801 w 3661"/>
                <a:gd name="T23" fmla="*/ 284 h 1691"/>
                <a:gd name="T24" fmla="*/ 1826 w 3661"/>
                <a:gd name="T25" fmla="*/ 282 h 1691"/>
                <a:gd name="T26" fmla="*/ 1843 w 3661"/>
                <a:gd name="T27" fmla="*/ 284 h 1691"/>
                <a:gd name="T28" fmla="*/ 1873 w 3661"/>
                <a:gd name="T29" fmla="*/ 286 h 1691"/>
                <a:gd name="T30" fmla="*/ 1913 w 3661"/>
                <a:gd name="T31" fmla="*/ 291 h 1691"/>
                <a:gd name="T32" fmla="*/ 1957 w 3661"/>
                <a:gd name="T33" fmla="*/ 305 h 1691"/>
                <a:gd name="T34" fmla="*/ 1999 w 3661"/>
                <a:gd name="T35" fmla="*/ 326 h 1691"/>
                <a:gd name="T36" fmla="*/ 2037 w 3661"/>
                <a:gd name="T37" fmla="*/ 356 h 1691"/>
                <a:gd name="T38" fmla="*/ 2063 w 3661"/>
                <a:gd name="T39" fmla="*/ 400 h 1691"/>
                <a:gd name="T40" fmla="*/ 2073 w 3661"/>
                <a:gd name="T41" fmla="*/ 457 h 1691"/>
                <a:gd name="T42" fmla="*/ 2065 w 3661"/>
                <a:gd name="T43" fmla="*/ 531 h 1691"/>
                <a:gd name="T44" fmla="*/ 2031 w 3661"/>
                <a:gd name="T45" fmla="*/ 624 h 1691"/>
                <a:gd name="T46" fmla="*/ 1968 w 3661"/>
                <a:gd name="T47" fmla="*/ 736 h 1691"/>
                <a:gd name="T48" fmla="*/ 2081 w 3661"/>
                <a:gd name="T49" fmla="*/ 1240 h 1691"/>
                <a:gd name="T50" fmla="*/ 2472 w 3661"/>
                <a:gd name="T51" fmla="*/ 0 h 1691"/>
                <a:gd name="T52" fmla="*/ 2488 w 3661"/>
                <a:gd name="T53" fmla="*/ 10 h 1691"/>
                <a:gd name="T54" fmla="*/ 2535 w 3661"/>
                <a:gd name="T55" fmla="*/ 38 h 1691"/>
                <a:gd name="T56" fmla="*/ 2613 w 3661"/>
                <a:gd name="T57" fmla="*/ 82 h 1691"/>
                <a:gd name="T58" fmla="*/ 2718 w 3661"/>
                <a:gd name="T59" fmla="*/ 137 h 1691"/>
                <a:gd name="T60" fmla="*/ 2851 w 3661"/>
                <a:gd name="T61" fmla="*/ 202 h 1691"/>
                <a:gd name="T62" fmla="*/ 3007 w 3661"/>
                <a:gd name="T63" fmla="*/ 272 h 1691"/>
                <a:gd name="T64" fmla="*/ 3187 w 3661"/>
                <a:gd name="T65" fmla="*/ 345 h 1691"/>
                <a:gd name="T66" fmla="*/ 3334 w 3661"/>
                <a:gd name="T67" fmla="*/ 413 h 1691"/>
                <a:gd name="T68" fmla="*/ 3446 w 3661"/>
                <a:gd name="T69" fmla="*/ 501 h 1691"/>
                <a:gd name="T70" fmla="*/ 3528 w 3661"/>
                <a:gd name="T71" fmla="*/ 605 h 1691"/>
                <a:gd name="T72" fmla="*/ 3585 w 3661"/>
                <a:gd name="T73" fmla="*/ 731 h 1691"/>
                <a:gd name="T74" fmla="*/ 3621 w 3661"/>
                <a:gd name="T75" fmla="*/ 875 h 1691"/>
                <a:gd name="T76" fmla="*/ 3644 w 3661"/>
                <a:gd name="T77" fmla="*/ 1044 h 1691"/>
                <a:gd name="T78" fmla="*/ 3653 w 3661"/>
                <a:gd name="T79" fmla="*/ 1234 h 1691"/>
                <a:gd name="T80" fmla="*/ 3657 w 3661"/>
                <a:gd name="T81" fmla="*/ 1449 h 1691"/>
                <a:gd name="T82" fmla="*/ 3661 w 3661"/>
                <a:gd name="T83" fmla="*/ 1691 h 1691"/>
                <a:gd name="T84" fmla="*/ 2 w 3661"/>
                <a:gd name="T85" fmla="*/ 1567 h 1691"/>
                <a:gd name="T86" fmla="*/ 4 w 3661"/>
                <a:gd name="T87" fmla="*/ 1339 h 1691"/>
                <a:gd name="T88" fmla="*/ 11 w 3661"/>
                <a:gd name="T89" fmla="*/ 1136 h 1691"/>
                <a:gd name="T90" fmla="*/ 27 w 3661"/>
                <a:gd name="T91" fmla="*/ 957 h 1691"/>
                <a:gd name="T92" fmla="*/ 55 w 3661"/>
                <a:gd name="T93" fmla="*/ 801 h 1691"/>
                <a:gd name="T94" fmla="*/ 103 w 3661"/>
                <a:gd name="T95" fmla="*/ 664 h 1691"/>
                <a:gd name="T96" fmla="*/ 171 w 3661"/>
                <a:gd name="T97" fmla="*/ 550 h 1691"/>
                <a:gd name="T98" fmla="*/ 266 w 3661"/>
                <a:gd name="T99" fmla="*/ 455 h 1691"/>
                <a:gd name="T100" fmla="*/ 396 w 3661"/>
                <a:gd name="T101" fmla="*/ 377 h 1691"/>
                <a:gd name="T102" fmla="*/ 567 w 3661"/>
                <a:gd name="T103" fmla="*/ 308 h 1691"/>
                <a:gd name="T104" fmla="*/ 736 w 3661"/>
                <a:gd name="T105" fmla="*/ 236 h 1691"/>
                <a:gd name="T106" fmla="*/ 881 w 3661"/>
                <a:gd name="T107" fmla="*/ 170 h 1691"/>
                <a:gd name="T108" fmla="*/ 998 w 3661"/>
                <a:gd name="T109" fmla="*/ 109 h 1691"/>
                <a:gd name="T110" fmla="*/ 1090 w 3661"/>
                <a:gd name="T111" fmla="*/ 59 h 1691"/>
                <a:gd name="T112" fmla="*/ 1153 w 3661"/>
                <a:gd name="T113" fmla="*/ 21 h 1691"/>
                <a:gd name="T114" fmla="*/ 1185 w 3661"/>
                <a:gd name="T115" fmla="*/ 2 h 1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661" h="1691">
                  <a:moveTo>
                    <a:pt x="1189" y="0"/>
                  </a:moveTo>
                  <a:lnTo>
                    <a:pt x="1531" y="1090"/>
                  </a:lnTo>
                  <a:lnTo>
                    <a:pt x="1579" y="1240"/>
                  </a:lnTo>
                  <a:lnTo>
                    <a:pt x="1733" y="801"/>
                  </a:lnTo>
                  <a:lnTo>
                    <a:pt x="1689" y="736"/>
                  </a:lnTo>
                  <a:lnTo>
                    <a:pt x="1653" y="677"/>
                  </a:lnTo>
                  <a:lnTo>
                    <a:pt x="1626" y="624"/>
                  </a:lnTo>
                  <a:lnTo>
                    <a:pt x="1607" y="575"/>
                  </a:lnTo>
                  <a:lnTo>
                    <a:pt x="1594" y="531"/>
                  </a:lnTo>
                  <a:lnTo>
                    <a:pt x="1586" y="493"/>
                  </a:lnTo>
                  <a:lnTo>
                    <a:pt x="1584" y="459"/>
                  </a:lnTo>
                  <a:lnTo>
                    <a:pt x="1588" y="426"/>
                  </a:lnTo>
                  <a:lnTo>
                    <a:pt x="1596" y="400"/>
                  </a:lnTo>
                  <a:lnTo>
                    <a:pt x="1607" y="377"/>
                  </a:lnTo>
                  <a:lnTo>
                    <a:pt x="1622" y="356"/>
                  </a:lnTo>
                  <a:lnTo>
                    <a:pt x="1639" y="339"/>
                  </a:lnTo>
                  <a:lnTo>
                    <a:pt x="1658" y="326"/>
                  </a:lnTo>
                  <a:lnTo>
                    <a:pt x="1679" y="314"/>
                  </a:lnTo>
                  <a:lnTo>
                    <a:pt x="1700" y="305"/>
                  </a:lnTo>
                  <a:lnTo>
                    <a:pt x="1723" y="297"/>
                  </a:lnTo>
                  <a:lnTo>
                    <a:pt x="1744" y="291"/>
                  </a:lnTo>
                  <a:lnTo>
                    <a:pt x="1765" y="288"/>
                  </a:lnTo>
                  <a:lnTo>
                    <a:pt x="1784" y="286"/>
                  </a:lnTo>
                  <a:lnTo>
                    <a:pt x="1801" y="284"/>
                  </a:lnTo>
                  <a:lnTo>
                    <a:pt x="1816" y="284"/>
                  </a:lnTo>
                  <a:lnTo>
                    <a:pt x="1826" y="282"/>
                  </a:lnTo>
                  <a:lnTo>
                    <a:pt x="1831" y="282"/>
                  </a:lnTo>
                  <a:lnTo>
                    <a:pt x="1843" y="284"/>
                  </a:lnTo>
                  <a:lnTo>
                    <a:pt x="1856" y="284"/>
                  </a:lnTo>
                  <a:lnTo>
                    <a:pt x="1873" y="286"/>
                  </a:lnTo>
                  <a:lnTo>
                    <a:pt x="1892" y="288"/>
                  </a:lnTo>
                  <a:lnTo>
                    <a:pt x="1913" y="291"/>
                  </a:lnTo>
                  <a:lnTo>
                    <a:pt x="1934" y="297"/>
                  </a:lnTo>
                  <a:lnTo>
                    <a:pt x="1957" y="305"/>
                  </a:lnTo>
                  <a:lnTo>
                    <a:pt x="1978" y="314"/>
                  </a:lnTo>
                  <a:lnTo>
                    <a:pt x="1999" y="326"/>
                  </a:lnTo>
                  <a:lnTo>
                    <a:pt x="2020" y="339"/>
                  </a:lnTo>
                  <a:lnTo>
                    <a:pt x="2037" y="356"/>
                  </a:lnTo>
                  <a:lnTo>
                    <a:pt x="2050" y="377"/>
                  </a:lnTo>
                  <a:lnTo>
                    <a:pt x="2063" y="400"/>
                  </a:lnTo>
                  <a:lnTo>
                    <a:pt x="2071" y="426"/>
                  </a:lnTo>
                  <a:lnTo>
                    <a:pt x="2073" y="457"/>
                  </a:lnTo>
                  <a:lnTo>
                    <a:pt x="2073" y="493"/>
                  </a:lnTo>
                  <a:lnTo>
                    <a:pt x="2065" y="531"/>
                  </a:lnTo>
                  <a:lnTo>
                    <a:pt x="2052" y="575"/>
                  </a:lnTo>
                  <a:lnTo>
                    <a:pt x="2031" y="624"/>
                  </a:lnTo>
                  <a:lnTo>
                    <a:pt x="2005" y="677"/>
                  </a:lnTo>
                  <a:lnTo>
                    <a:pt x="1968" y="736"/>
                  </a:lnTo>
                  <a:lnTo>
                    <a:pt x="1925" y="801"/>
                  </a:lnTo>
                  <a:lnTo>
                    <a:pt x="2081" y="1240"/>
                  </a:lnTo>
                  <a:lnTo>
                    <a:pt x="2128" y="1090"/>
                  </a:lnTo>
                  <a:lnTo>
                    <a:pt x="2472" y="0"/>
                  </a:lnTo>
                  <a:lnTo>
                    <a:pt x="2476" y="2"/>
                  </a:lnTo>
                  <a:lnTo>
                    <a:pt x="2488" y="10"/>
                  </a:lnTo>
                  <a:lnTo>
                    <a:pt x="2508" y="21"/>
                  </a:lnTo>
                  <a:lnTo>
                    <a:pt x="2535" y="38"/>
                  </a:lnTo>
                  <a:lnTo>
                    <a:pt x="2571" y="59"/>
                  </a:lnTo>
                  <a:lnTo>
                    <a:pt x="2613" y="82"/>
                  </a:lnTo>
                  <a:lnTo>
                    <a:pt x="2663" y="109"/>
                  </a:lnTo>
                  <a:lnTo>
                    <a:pt x="2718" y="137"/>
                  </a:lnTo>
                  <a:lnTo>
                    <a:pt x="2780" y="170"/>
                  </a:lnTo>
                  <a:lnTo>
                    <a:pt x="2851" y="202"/>
                  </a:lnTo>
                  <a:lnTo>
                    <a:pt x="2927" y="236"/>
                  </a:lnTo>
                  <a:lnTo>
                    <a:pt x="3007" y="272"/>
                  </a:lnTo>
                  <a:lnTo>
                    <a:pt x="3094" y="308"/>
                  </a:lnTo>
                  <a:lnTo>
                    <a:pt x="3187" y="345"/>
                  </a:lnTo>
                  <a:lnTo>
                    <a:pt x="3265" y="377"/>
                  </a:lnTo>
                  <a:lnTo>
                    <a:pt x="3334" y="413"/>
                  </a:lnTo>
                  <a:lnTo>
                    <a:pt x="3393" y="455"/>
                  </a:lnTo>
                  <a:lnTo>
                    <a:pt x="3446" y="501"/>
                  </a:lnTo>
                  <a:lnTo>
                    <a:pt x="3490" y="550"/>
                  </a:lnTo>
                  <a:lnTo>
                    <a:pt x="3528" y="605"/>
                  </a:lnTo>
                  <a:lnTo>
                    <a:pt x="3558" y="664"/>
                  </a:lnTo>
                  <a:lnTo>
                    <a:pt x="3585" y="731"/>
                  </a:lnTo>
                  <a:lnTo>
                    <a:pt x="3606" y="801"/>
                  </a:lnTo>
                  <a:lnTo>
                    <a:pt x="3621" y="875"/>
                  </a:lnTo>
                  <a:lnTo>
                    <a:pt x="3634" y="957"/>
                  </a:lnTo>
                  <a:lnTo>
                    <a:pt x="3644" y="1044"/>
                  </a:lnTo>
                  <a:lnTo>
                    <a:pt x="3650" y="1136"/>
                  </a:lnTo>
                  <a:lnTo>
                    <a:pt x="3653" y="1234"/>
                  </a:lnTo>
                  <a:lnTo>
                    <a:pt x="3657" y="1339"/>
                  </a:lnTo>
                  <a:lnTo>
                    <a:pt x="3657" y="1449"/>
                  </a:lnTo>
                  <a:lnTo>
                    <a:pt x="3659" y="1567"/>
                  </a:lnTo>
                  <a:lnTo>
                    <a:pt x="3661" y="1691"/>
                  </a:lnTo>
                  <a:lnTo>
                    <a:pt x="0" y="1691"/>
                  </a:lnTo>
                  <a:lnTo>
                    <a:pt x="2" y="1567"/>
                  </a:lnTo>
                  <a:lnTo>
                    <a:pt x="2" y="1449"/>
                  </a:lnTo>
                  <a:lnTo>
                    <a:pt x="4" y="1339"/>
                  </a:lnTo>
                  <a:lnTo>
                    <a:pt x="8" y="1234"/>
                  </a:lnTo>
                  <a:lnTo>
                    <a:pt x="11" y="1136"/>
                  </a:lnTo>
                  <a:lnTo>
                    <a:pt x="17" y="1044"/>
                  </a:lnTo>
                  <a:lnTo>
                    <a:pt x="27" y="957"/>
                  </a:lnTo>
                  <a:lnTo>
                    <a:pt x="38" y="875"/>
                  </a:lnTo>
                  <a:lnTo>
                    <a:pt x="55" y="801"/>
                  </a:lnTo>
                  <a:lnTo>
                    <a:pt x="76" y="731"/>
                  </a:lnTo>
                  <a:lnTo>
                    <a:pt x="103" y="664"/>
                  </a:lnTo>
                  <a:lnTo>
                    <a:pt x="133" y="605"/>
                  </a:lnTo>
                  <a:lnTo>
                    <a:pt x="171" y="550"/>
                  </a:lnTo>
                  <a:lnTo>
                    <a:pt x="215" y="501"/>
                  </a:lnTo>
                  <a:lnTo>
                    <a:pt x="266" y="455"/>
                  </a:lnTo>
                  <a:lnTo>
                    <a:pt x="327" y="413"/>
                  </a:lnTo>
                  <a:lnTo>
                    <a:pt x="396" y="377"/>
                  </a:lnTo>
                  <a:lnTo>
                    <a:pt x="474" y="345"/>
                  </a:lnTo>
                  <a:lnTo>
                    <a:pt x="567" y="308"/>
                  </a:lnTo>
                  <a:lnTo>
                    <a:pt x="654" y="272"/>
                  </a:lnTo>
                  <a:lnTo>
                    <a:pt x="736" y="236"/>
                  </a:lnTo>
                  <a:lnTo>
                    <a:pt x="810" y="202"/>
                  </a:lnTo>
                  <a:lnTo>
                    <a:pt x="881" y="170"/>
                  </a:lnTo>
                  <a:lnTo>
                    <a:pt x="943" y="137"/>
                  </a:lnTo>
                  <a:lnTo>
                    <a:pt x="998" y="109"/>
                  </a:lnTo>
                  <a:lnTo>
                    <a:pt x="1048" y="82"/>
                  </a:lnTo>
                  <a:lnTo>
                    <a:pt x="1090" y="59"/>
                  </a:lnTo>
                  <a:lnTo>
                    <a:pt x="1126" y="38"/>
                  </a:lnTo>
                  <a:lnTo>
                    <a:pt x="1153" y="21"/>
                  </a:lnTo>
                  <a:lnTo>
                    <a:pt x="1172" y="10"/>
                  </a:lnTo>
                  <a:lnTo>
                    <a:pt x="1185" y="2"/>
                  </a:lnTo>
                  <a:lnTo>
                    <a:pt x="11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93" name="Freeform 196"/>
            <p:cNvSpPr/>
            <p:nvPr/>
          </p:nvSpPr>
          <p:spPr bwMode="auto">
            <a:xfrm>
              <a:off x="5653" y="3148"/>
              <a:ext cx="841" cy="828"/>
            </a:xfrm>
            <a:custGeom>
              <a:avLst/>
              <a:gdLst>
                <a:gd name="T0" fmla="*/ 1150 w 1681"/>
                <a:gd name="T1" fmla="*/ 0 h 1656"/>
                <a:gd name="T2" fmla="*/ 1259 w 1681"/>
                <a:gd name="T3" fmla="*/ 6 h 1656"/>
                <a:gd name="T4" fmla="*/ 1367 w 1681"/>
                <a:gd name="T5" fmla="*/ 19 h 1656"/>
                <a:gd name="T6" fmla="*/ 1473 w 1681"/>
                <a:gd name="T7" fmla="*/ 44 h 1656"/>
                <a:gd name="T8" fmla="*/ 1578 w 1681"/>
                <a:gd name="T9" fmla="*/ 78 h 1656"/>
                <a:gd name="T10" fmla="*/ 1681 w 1681"/>
                <a:gd name="T11" fmla="*/ 122 h 1656"/>
                <a:gd name="T12" fmla="*/ 1356 w 1681"/>
                <a:gd name="T13" fmla="*/ 447 h 1656"/>
                <a:gd name="T14" fmla="*/ 1272 w 1681"/>
                <a:gd name="T15" fmla="*/ 430 h 1656"/>
                <a:gd name="T16" fmla="*/ 1186 w 1681"/>
                <a:gd name="T17" fmla="*/ 420 h 1656"/>
                <a:gd name="T18" fmla="*/ 1101 w 1681"/>
                <a:gd name="T19" fmla="*/ 418 h 1656"/>
                <a:gd name="T20" fmla="*/ 1015 w 1681"/>
                <a:gd name="T21" fmla="*/ 428 h 1656"/>
                <a:gd name="T22" fmla="*/ 931 w 1681"/>
                <a:gd name="T23" fmla="*/ 445 h 1656"/>
                <a:gd name="T24" fmla="*/ 850 w 1681"/>
                <a:gd name="T25" fmla="*/ 469 h 1656"/>
                <a:gd name="T26" fmla="*/ 770 w 1681"/>
                <a:gd name="T27" fmla="*/ 504 h 1656"/>
                <a:gd name="T28" fmla="*/ 692 w 1681"/>
                <a:gd name="T29" fmla="*/ 547 h 1656"/>
                <a:gd name="T30" fmla="*/ 620 w 1681"/>
                <a:gd name="T31" fmla="*/ 601 h 1656"/>
                <a:gd name="T32" fmla="*/ 551 w 1681"/>
                <a:gd name="T33" fmla="*/ 662 h 1656"/>
                <a:gd name="T34" fmla="*/ 488 w 1681"/>
                <a:gd name="T35" fmla="*/ 732 h 1656"/>
                <a:gd name="T36" fmla="*/ 435 w 1681"/>
                <a:gd name="T37" fmla="*/ 806 h 1656"/>
                <a:gd name="T38" fmla="*/ 391 w 1681"/>
                <a:gd name="T39" fmla="*/ 886 h 1656"/>
                <a:gd name="T40" fmla="*/ 357 w 1681"/>
                <a:gd name="T41" fmla="*/ 968 h 1656"/>
                <a:gd name="T42" fmla="*/ 332 w 1681"/>
                <a:gd name="T43" fmla="*/ 1053 h 1656"/>
                <a:gd name="T44" fmla="*/ 315 w 1681"/>
                <a:gd name="T45" fmla="*/ 1141 h 1656"/>
                <a:gd name="T46" fmla="*/ 310 w 1681"/>
                <a:gd name="T47" fmla="*/ 1228 h 1656"/>
                <a:gd name="T48" fmla="*/ 311 w 1681"/>
                <a:gd name="T49" fmla="*/ 1317 h 1656"/>
                <a:gd name="T50" fmla="*/ 323 w 1681"/>
                <a:gd name="T51" fmla="*/ 1405 h 1656"/>
                <a:gd name="T52" fmla="*/ 346 w 1681"/>
                <a:gd name="T53" fmla="*/ 1491 h 1656"/>
                <a:gd name="T54" fmla="*/ 376 w 1681"/>
                <a:gd name="T55" fmla="*/ 1574 h 1656"/>
                <a:gd name="T56" fmla="*/ 416 w 1681"/>
                <a:gd name="T57" fmla="*/ 1656 h 1656"/>
                <a:gd name="T58" fmla="*/ 327 w 1681"/>
                <a:gd name="T59" fmla="*/ 1618 h 1656"/>
                <a:gd name="T60" fmla="*/ 245 w 1681"/>
                <a:gd name="T61" fmla="*/ 1580 h 1656"/>
                <a:gd name="T62" fmla="*/ 171 w 1681"/>
                <a:gd name="T63" fmla="*/ 1544 h 1656"/>
                <a:gd name="T64" fmla="*/ 106 w 1681"/>
                <a:gd name="T65" fmla="*/ 1511 h 1656"/>
                <a:gd name="T66" fmla="*/ 49 w 1681"/>
                <a:gd name="T67" fmla="*/ 1481 h 1656"/>
                <a:gd name="T68" fmla="*/ 0 w 1681"/>
                <a:gd name="T69" fmla="*/ 1456 h 1656"/>
                <a:gd name="T70" fmla="*/ 34 w 1681"/>
                <a:gd name="T71" fmla="*/ 1382 h 1656"/>
                <a:gd name="T72" fmla="*/ 66 w 1681"/>
                <a:gd name="T73" fmla="*/ 1306 h 1656"/>
                <a:gd name="T74" fmla="*/ 93 w 1681"/>
                <a:gd name="T75" fmla="*/ 1224 h 1656"/>
                <a:gd name="T76" fmla="*/ 129 w 1681"/>
                <a:gd name="T77" fmla="*/ 1192 h 1656"/>
                <a:gd name="T78" fmla="*/ 163 w 1681"/>
                <a:gd name="T79" fmla="*/ 1154 h 1656"/>
                <a:gd name="T80" fmla="*/ 197 w 1681"/>
                <a:gd name="T81" fmla="*/ 1108 h 1656"/>
                <a:gd name="T82" fmla="*/ 233 w 1681"/>
                <a:gd name="T83" fmla="*/ 1046 h 1656"/>
                <a:gd name="T84" fmla="*/ 268 w 1681"/>
                <a:gd name="T85" fmla="*/ 973 h 1656"/>
                <a:gd name="T86" fmla="*/ 298 w 1681"/>
                <a:gd name="T87" fmla="*/ 890 h 1656"/>
                <a:gd name="T88" fmla="*/ 329 w 1681"/>
                <a:gd name="T89" fmla="*/ 793 h 1656"/>
                <a:gd name="T90" fmla="*/ 349 w 1681"/>
                <a:gd name="T91" fmla="*/ 717 h 1656"/>
                <a:gd name="T92" fmla="*/ 363 w 1681"/>
                <a:gd name="T93" fmla="*/ 646 h 1656"/>
                <a:gd name="T94" fmla="*/ 372 w 1681"/>
                <a:gd name="T95" fmla="*/ 580 h 1656"/>
                <a:gd name="T96" fmla="*/ 376 w 1681"/>
                <a:gd name="T97" fmla="*/ 519 h 1656"/>
                <a:gd name="T98" fmla="*/ 374 w 1681"/>
                <a:gd name="T99" fmla="*/ 460 h 1656"/>
                <a:gd name="T100" fmla="*/ 368 w 1681"/>
                <a:gd name="T101" fmla="*/ 407 h 1656"/>
                <a:gd name="T102" fmla="*/ 353 w 1681"/>
                <a:gd name="T103" fmla="*/ 348 h 1656"/>
                <a:gd name="T104" fmla="*/ 332 w 1681"/>
                <a:gd name="T105" fmla="*/ 293 h 1656"/>
                <a:gd name="T106" fmla="*/ 424 w 1681"/>
                <a:gd name="T107" fmla="*/ 224 h 1656"/>
                <a:gd name="T108" fmla="*/ 519 w 1681"/>
                <a:gd name="T109" fmla="*/ 163 h 1656"/>
                <a:gd name="T110" fmla="*/ 620 w 1681"/>
                <a:gd name="T111" fmla="*/ 112 h 1656"/>
                <a:gd name="T112" fmla="*/ 720 w 1681"/>
                <a:gd name="T113" fmla="*/ 70 h 1656"/>
                <a:gd name="T114" fmla="*/ 827 w 1681"/>
                <a:gd name="T115" fmla="*/ 38 h 1656"/>
                <a:gd name="T116" fmla="*/ 933 w 1681"/>
                <a:gd name="T117" fmla="*/ 15 h 1656"/>
                <a:gd name="T118" fmla="*/ 1042 w 1681"/>
                <a:gd name="T119" fmla="*/ 4 h 1656"/>
                <a:gd name="T120" fmla="*/ 1150 w 1681"/>
                <a:gd name="T121" fmla="*/ 0 h 1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81" h="1656">
                  <a:moveTo>
                    <a:pt x="1150" y="0"/>
                  </a:moveTo>
                  <a:lnTo>
                    <a:pt x="1259" y="6"/>
                  </a:lnTo>
                  <a:lnTo>
                    <a:pt x="1367" y="19"/>
                  </a:lnTo>
                  <a:lnTo>
                    <a:pt x="1473" y="44"/>
                  </a:lnTo>
                  <a:lnTo>
                    <a:pt x="1578" y="78"/>
                  </a:lnTo>
                  <a:lnTo>
                    <a:pt x="1681" y="122"/>
                  </a:lnTo>
                  <a:lnTo>
                    <a:pt x="1356" y="447"/>
                  </a:lnTo>
                  <a:lnTo>
                    <a:pt x="1272" y="430"/>
                  </a:lnTo>
                  <a:lnTo>
                    <a:pt x="1186" y="420"/>
                  </a:lnTo>
                  <a:lnTo>
                    <a:pt x="1101" y="418"/>
                  </a:lnTo>
                  <a:lnTo>
                    <a:pt x="1015" y="428"/>
                  </a:lnTo>
                  <a:lnTo>
                    <a:pt x="931" y="445"/>
                  </a:lnTo>
                  <a:lnTo>
                    <a:pt x="850" y="469"/>
                  </a:lnTo>
                  <a:lnTo>
                    <a:pt x="770" y="504"/>
                  </a:lnTo>
                  <a:lnTo>
                    <a:pt x="692" y="547"/>
                  </a:lnTo>
                  <a:lnTo>
                    <a:pt x="620" y="601"/>
                  </a:lnTo>
                  <a:lnTo>
                    <a:pt x="551" y="662"/>
                  </a:lnTo>
                  <a:lnTo>
                    <a:pt x="488" y="732"/>
                  </a:lnTo>
                  <a:lnTo>
                    <a:pt x="435" y="806"/>
                  </a:lnTo>
                  <a:lnTo>
                    <a:pt x="391" y="886"/>
                  </a:lnTo>
                  <a:lnTo>
                    <a:pt x="357" y="968"/>
                  </a:lnTo>
                  <a:lnTo>
                    <a:pt x="332" y="1053"/>
                  </a:lnTo>
                  <a:lnTo>
                    <a:pt x="315" y="1141"/>
                  </a:lnTo>
                  <a:lnTo>
                    <a:pt x="310" y="1228"/>
                  </a:lnTo>
                  <a:lnTo>
                    <a:pt x="311" y="1317"/>
                  </a:lnTo>
                  <a:lnTo>
                    <a:pt x="323" y="1405"/>
                  </a:lnTo>
                  <a:lnTo>
                    <a:pt x="346" y="1491"/>
                  </a:lnTo>
                  <a:lnTo>
                    <a:pt x="376" y="1574"/>
                  </a:lnTo>
                  <a:lnTo>
                    <a:pt x="416" y="1656"/>
                  </a:lnTo>
                  <a:lnTo>
                    <a:pt x="327" y="1618"/>
                  </a:lnTo>
                  <a:lnTo>
                    <a:pt x="245" y="1580"/>
                  </a:lnTo>
                  <a:lnTo>
                    <a:pt x="171" y="1544"/>
                  </a:lnTo>
                  <a:lnTo>
                    <a:pt x="106" y="1511"/>
                  </a:lnTo>
                  <a:lnTo>
                    <a:pt x="49" y="1481"/>
                  </a:lnTo>
                  <a:lnTo>
                    <a:pt x="0" y="1456"/>
                  </a:lnTo>
                  <a:lnTo>
                    <a:pt x="34" y="1382"/>
                  </a:lnTo>
                  <a:lnTo>
                    <a:pt x="66" y="1306"/>
                  </a:lnTo>
                  <a:lnTo>
                    <a:pt x="93" y="1224"/>
                  </a:lnTo>
                  <a:lnTo>
                    <a:pt x="129" y="1192"/>
                  </a:lnTo>
                  <a:lnTo>
                    <a:pt x="163" y="1154"/>
                  </a:lnTo>
                  <a:lnTo>
                    <a:pt x="197" y="1108"/>
                  </a:lnTo>
                  <a:lnTo>
                    <a:pt x="233" y="1046"/>
                  </a:lnTo>
                  <a:lnTo>
                    <a:pt x="268" y="973"/>
                  </a:lnTo>
                  <a:lnTo>
                    <a:pt x="298" y="890"/>
                  </a:lnTo>
                  <a:lnTo>
                    <a:pt x="329" y="793"/>
                  </a:lnTo>
                  <a:lnTo>
                    <a:pt x="349" y="717"/>
                  </a:lnTo>
                  <a:lnTo>
                    <a:pt x="363" y="646"/>
                  </a:lnTo>
                  <a:lnTo>
                    <a:pt x="372" y="580"/>
                  </a:lnTo>
                  <a:lnTo>
                    <a:pt x="376" y="519"/>
                  </a:lnTo>
                  <a:lnTo>
                    <a:pt x="374" y="460"/>
                  </a:lnTo>
                  <a:lnTo>
                    <a:pt x="368" y="407"/>
                  </a:lnTo>
                  <a:lnTo>
                    <a:pt x="353" y="348"/>
                  </a:lnTo>
                  <a:lnTo>
                    <a:pt x="332" y="293"/>
                  </a:lnTo>
                  <a:lnTo>
                    <a:pt x="424" y="224"/>
                  </a:lnTo>
                  <a:lnTo>
                    <a:pt x="519" y="163"/>
                  </a:lnTo>
                  <a:lnTo>
                    <a:pt x="620" y="112"/>
                  </a:lnTo>
                  <a:lnTo>
                    <a:pt x="720" y="70"/>
                  </a:lnTo>
                  <a:lnTo>
                    <a:pt x="827" y="38"/>
                  </a:lnTo>
                  <a:lnTo>
                    <a:pt x="933" y="15"/>
                  </a:lnTo>
                  <a:lnTo>
                    <a:pt x="1042" y="4"/>
                  </a:lnTo>
                  <a:lnTo>
                    <a:pt x="11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94" name="Freeform 197"/>
            <p:cNvSpPr/>
            <p:nvPr/>
          </p:nvSpPr>
          <p:spPr bwMode="auto">
            <a:xfrm>
              <a:off x="6172" y="3502"/>
              <a:ext cx="677" cy="895"/>
            </a:xfrm>
            <a:custGeom>
              <a:avLst/>
              <a:gdLst>
                <a:gd name="T0" fmla="*/ 1228 w 1352"/>
                <a:gd name="T1" fmla="*/ 0 h 1789"/>
                <a:gd name="T2" fmla="*/ 1272 w 1352"/>
                <a:gd name="T3" fmla="*/ 101 h 1789"/>
                <a:gd name="T4" fmla="*/ 1306 w 1352"/>
                <a:gd name="T5" fmla="*/ 206 h 1789"/>
                <a:gd name="T6" fmla="*/ 1331 w 1352"/>
                <a:gd name="T7" fmla="*/ 310 h 1789"/>
                <a:gd name="T8" fmla="*/ 1346 w 1352"/>
                <a:gd name="T9" fmla="*/ 418 h 1789"/>
                <a:gd name="T10" fmla="*/ 1352 w 1352"/>
                <a:gd name="T11" fmla="*/ 527 h 1789"/>
                <a:gd name="T12" fmla="*/ 1348 w 1352"/>
                <a:gd name="T13" fmla="*/ 635 h 1789"/>
                <a:gd name="T14" fmla="*/ 1335 w 1352"/>
                <a:gd name="T15" fmla="*/ 742 h 1789"/>
                <a:gd name="T16" fmla="*/ 1314 w 1352"/>
                <a:gd name="T17" fmla="*/ 848 h 1789"/>
                <a:gd name="T18" fmla="*/ 1282 w 1352"/>
                <a:gd name="T19" fmla="*/ 953 h 1789"/>
                <a:gd name="T20" fmla="*/ 1242 w 1352"/>
                <a:gd name="T21" fmla="*/ 1055 h 1789"/>
                <a:gd name="T22" fmla="*/ 1192 w 1352"/>
                <a:gd name="T23" fmla="*/ 1154 h 1789"/>
                <a:gd name="T24" fmla="*/ 1133 w 1352"/>
                <a:gd name="T25" fmla="*/ 1249 h 1789"/>
                <a:gd name="T26" fmla="*/ 1065 w 1352"/>
                <a:gd name="T27" fmla="*/ 1339 h 1789"/>
                <a:gd name="T28" fmla="*/ 987 w 1352"/>
                <a:gd name="T29" fmla="*/ 1424 h 1789"/>
                <a:gd name="T30" fmla="*/ 909 w 1352"/>
                <a:gd name="T31" fmla="*/ 1498 h 1789"/>
                <a:gd name="T32" fmla="*/ 825 w 1352"/>
                <a:gd name="T33" fmla="*/ 1563 h 1789"/>
                <a:gd name="T34" fmla="*/ 738 w 1352"/>
                <a:gd name="T35" fmla="*/ 1618 h 1789"/>
                <a:gd name="T36" fmla="*/ 647 w 1352"/>
                <a:gd name="T37" fmla="*/ 1668 h 1789"/>
                <a:gd name="T38" fmla="*/ 553 w 1352"/>
                <a:gd name="T39" fmla="*/ 1708 h 1789"/>
                <a:gd name="T40" fmla="*/ 456 w 1352"/>
                <a:gd name="T41" fmla="*/ 1740 h 1789"/>
                <a:gd name="T42" fmla="*/ 359 w 1352"/>
                <a:gd name="T43" fmla="*/ 1765 h 1789"/>
                <a:gd name="T44" fmla="*/ 260 w 1352"/>
                <a:gd name="T45" fmla="*/ 1782 h 1789"/>
                <a:gd name="T46" fmla="*/ 160 w 1352"/>
                <a:gd name="T47" fmla="*/ 1789 h 1789"/>
                <a:gd name="T48" fmla="*/ 143 w 1352"/>
                <a:gd name="T49" fmla="*/ 1706 h 1789"/>
                <a:gd name="T50" fmla="*/ 122 w 1352"/>
                <a:gd name="T51" fmla="*/ 1624 h 1789"/>
                <a:gd name="T52" fmla="*/ 87 w 1352"/>
                <a:gd name="T53" fmla="*/ 1531 h 1789"/>
                <a:gd name="T54" fmla="*/ 47 w 1352"/>
                <a:gd name="T55" fmla="*/ 1445 h 1789"/>
                <a:gd name="T56" fmla="*/ 0 w 1352"/>
                <a:gd name="T57" fmla="*/ 1365 h 1789"/>
                <a:gd name="T58" fmla="*/ 82 w 1352"/>
                <a:gd name="T59" fmla="*/ 1371 h 1789"/>
                <a:gd name="T60" fmla="*/ 165 w 1352"/>
                <a:gd name="T61" fmla="*/ 1369 h 1789"/>
                <a:gd name="T62" fmla="*/ 247 w 1352"/>
                <a:gd name="T63" fmla="*/ 1358 h 1789"/>
                <a:gd name="T64" fmla="*/ 327 w 1352"/>
                <a:gd name="T65" fmla="*/ 1341 h 1789"/>
                <a:gd name="T66" fmla="*/ 405 w 1352"/>
                <a:gd name="T67" fmla="*/ 1314 h 1789"/>
                <a:gd name="T68" fmla="*/ 481 w 1352"/>
                <a:gd name="T69" fmla="*/ 1280 h 1789"/>
                <a:gd name="T70" fmla="*/ 555 w 1352"/>
                <a:gd name="T71" fmla="*/ 1238 h 1789"/>
                <a:gd name="T72" fmla="*/ 624 w 1352"/>
                <a:gd name="T73" fmla="*/ 1187 h 1789"/>
                <a:gd name="T74" fmla="*/ 690 w 1352"/>
                <a:gd name="T75" fmla="*/ 1128 h 1789"/>
                <a:gd name="T76" fmla="*/ 751 w 1352"/>
                <a:gd name="T77" fmla="*/ 1059 h 1789"/>
                <a:gd name="T78" fmla="*/ 802 w 1352"/>
                <a:gd name="T79" fmla="*/ 987 h 1789"/>
                <a:gd name="T80" fmla="*/ 846 w 1352"/>
                <a:gd name="T81" fmla="*/ 911 h 1789"/>
                <a:gd name="T82" fmla="*/ 880 w 1352"/>
                <a:gd name="T83" fmla="*/ 831 h 1789"/>
                <a:gd name="T84" fmla="*/ 905 w 1352"/>
                <a:gd name="T85" fmla="*/ 749 h 1789"/>
                <a:gd name="T86" fmla="*/ 922 w 1352"/>
                <a:gd name="T87" fmla="*/ 664 h 1789"/>
                <a:gd name="T88" fmla="*/ 932 w 1352"/>
                <a:gd name="T89" fmla="*/ 580 h 1789"/>
                <a:gd name="T90" fmla="*/ 930 w 1352"/>
                <a:gd name="T91" fmla="*/ 495 h 1789"/>
                <a:gd name="T92" fmla="*/ 922 w 1352"/>
                <a:gd name="T93" fmla="*/ 409 h 1789"/>
                <a:gd name="T94" fmla="*/ 903 w 1352"/>
                <a:gd name="T95" fmla="*/ 325 h 1789"/>
                <a:gd name="T96" fmla="*/ 1228 w 1352"/>
                <a:gd name="T97" fmla="*/ 0 h 17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52" h="1789">
                  <a:moveTo>
                    <a:pt x="1228" y="0"/>
                  </a:moveTo>
                  <a:lnTo>
                    <a:pt x="1272" y="101"/>
                  </a:lnTo>
                  <a:lnTo>
                    <a:pt x="1306" y="206"/>
                  </a:lnTo>
                  <a:lnTo>
                    <a:pt x="1331" y="310"/>
                  </a:lnTo>
                  <a:lnTo>
                    <a:pt x="1346" y="418"/>
                  </a:lnTo>
                  <a:lnTo>
                    <a:pt x="1352" y="527"/>
                  </a:lnTo>
                  <a:lnTo>
                    <a:pt x="1348" y="635"/>
                  </a:lnTo>
                  <a:lnTo>
                    <a:pt x="1335" y="742"/>
                  </a:lnTo>
                  <a:lnTo>
                    <a:pt x="1314" y="848"/>
                  </a:lnTo>
                  <a:lnTo>
                    <a:pt x="1282" y="953"/>
                  </a:lnTo>
                  <a:lnTo>
                    <a:pt x="1242" y="1055"/>
                  </a:lnTo>
                  <a:lnTo>
                    <a:pt x="1192" y="1154"/>
                  </a:lnTo>
                  <a:lnTo>
                    <a:pt x="1133" y="1249"/>
                  </a:lnTo>
                  <a:lnTo>
                    <a:pt x="1065" y="1339"/>
                  </a:lnTo>
                  <a:lnTo>
                    <a:pt x="987" y="1424"/>
                  </a:lnTo>
                  <a:lnTo>
                    <a:pt x="909" y="1498"/>
                  </a:lnTo>
                  <a:lnTo>
                    <a:pt x="825" y="1563"/>
                  </a:lnTo>
                  <a:lnTo>
                    <a:pt x="738" y="1618"/>
                  </a:lnTo>
                  <a:lnTo>
                    <a:pt x="647" y="1668"/>
                  </a:lnTo>
                  <a:lnTo>
                    <a:pt x="553" y="1708"/>
                  </a:lnTo>
                  <a:lnTo>
                    <a:pt x="456" y="1740"/>
                  </a:lnTo>
                  <a:lnTo>
                    <a:pt x="359" y="1765"/>
                  </a:lnTo>
                  <a:lnTo>
                    <a:pt x="260" y="1782"/>
                  </a:lnTo>
                  <a:lnTo>
                    <a:pt x="160" y="1789"/>
                  </a:lnTo>
                  <a:lnTo>
                    <a:pt x="143" y="1706"/>
                  </a:lnTo>
                  <a:lnTo>
                    <a:pt x="122" y="1624"/>
                  </a:lnTo>
                  <a:lnTo>
                    <a:pt x="87" y="1531"/>
                  </a:lnTo>
                  <a:lnTo>
                    <a:pt x="47" y="1445"/>
                  </a:lnTo>
                  <a:lnTo>
                    <a:pt x="0" y="1365"/>
                  </a:lnTo>
                  <a:lnTo>
                    <a:pt x="82" y="1371"/>
                  </a:lnTo>
                  <a:lnTo>
                    <a:pt x="165" y="1369"/>
                  </a:lnTo>
                  <a:lnTo>
                    <a:pt x="247" y="1358"/>
                  </a:lnTo>
                  <a:lnTo>
                    <a:pt x="327" y="1341"/>
                  </a:lnTo>
                  <a:lnTo>
                    <a:pt x="405" y="1314"/>
                  </a:lnTo>
                  <a:lnTo>
                    <a:pt x="481" y="1280"/>
                  </a:lnTo>
                  <a:lnTo>
                    <a:pt x="555" y="1238"/>
                  </a:lnTo>
                  <a:lnTo>
                    <a:pt x="624" y="1187"/>
                  </a:lnTo>
                  <a:lnTo>
                    <a:pt x="690" y="1128"/>
                  </a:lnTo>
                  <a:lnTo>
                    <a:pt x="751" y="1059"/>
                  </a:lnTo>
                  <a:lnTo>
                    <a:pt x="802" y="987"/>
                  </a:lnTo>
                  <a:lnTo>
                    <a:pt x="846" y="911"/>
                  </a:lnTo>
                  <a:lnTo>
                    <a:pt x="880" y="831"/>
                  </a:lnTo>
                  <a:lnTo>
                    <a:pt x="905" y="749"/>
                  </a:lnTo>
                  <a:lnTo>
                    <a:pt x="922" y="664"/>
                  </a:lnTo>
                  <a:lnTo>
                    <a:pt x="932" y="580"/>
                  </a:lnTo>
                  <a:lnTo>
                    <a:pt x="930" y="495"/>
                  </a:lnTo>
                  <a:lnTo>
                    <a:pt x="922" y="409"/>
                  </a:lnTo>
                  <a:lnTo>
                    <a:pt x="903" y="325"/>
                  </a:lnTo>
                  <a:lnTo>
                    <a:pt x="12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95" name="Freeform 198"/>
            <p:cNvSpPr/>
            <p:nvPr/>
          </p:nvSpPr>
          <p:spPr bwMode="auto">
            <a:xfrm>
              <a:off x="6268" y="3188"/>
              <a:ext cx="1008" cy="1637"/>
            </a:xfrm>
            <a:custGeom>
              <a:avLst/>
              <a:gdLst>
                <a:gd name="T0" fmla="*/ 1736 w 2016"/>
                <a:gd name="T1" fmla="*/ 119 h 3274"/>
                <a:gd name="T2" fmla="*/ 1858 w 2016"/>
                <a:gd name="T3" fmla="*/ 369 h 3274"/>
                <a:gd name="T4" fmla="*/ 1946 w 2016"/>
                <a:gd name="T5" fmla="*/ 627 h 3274"/>
                <a:gd name="T6" fmla="*/ 1999 w 2016"/>
                <a:gd name="T7" fmla="*/ 893 h 3274"/>
                <a:gd name="T8" fmla="*/ 2016 w 2016"/>
                <a:gd name="T9" fmla="*/ 1163 h 3274"/>
                <a:gd name="T10" fmla="*/ 2001 w 2016"/>
                <a:gd name="T11" fmla="*/ 1433 h 3274"/>
                <a:gd name="T12" fmla="*/ 1949 w 2016"/>
                <a:gd name="T13" fmla="*/ 1700 h 3274"/>
                <a:gd name="T14" fmla="*/ 1864 w 2016"/>
                <a:gd name="T15" fmla="*/ 1960 h 3274"/>
                <a:gd name="T16" fmla="*/ 1744 w 2016"/>
                <a:gd name="T17" fmla="*/ 2207 h 3274"/>
                <a:gd name="T18" fmla="*/ 1588 w 2016"/>
                <a:gd name="T19" fmla="*/ 2443 h 3274"/>
                <a:gd name="T20" fmla="*/ 1400 w 2016"/>
                <a:gd name="T21" fmla="*/ 2660 h 3274"/>
                <a:gd name="T22" fmla="*/ 1177 w 2016"/>
                <a:gd name="T23" fmla="*/ 2852 h 3274"/>
                <a:gd name="T24" fmla="*/ 938 w 2016"/>
                <a:gd name="T25" fmla="*/ 3010 h 3274"/>
                <a:gd name="T26" fmla="*/ 683 w 2016"/>
                <a:gd name="T27" fmla="*/ 3129 h 3274"/>
                <a:gd name="T28" fmla="*/ 418 w 2016"/>
                <a:gd name="T29" fmla="*/ 3215 h 3274"/>
                <a:gd name="T30" fmla="*/ 145 w 2016"/>
                <a:gd name="T31" fmla="*/ 3262 h 3274"/>
                <a:gd name="T32" fmla="*/ 8 w 2016"/>
                <a:gd name="T33" fmla="*/ 3272 h 3274"/>
                <a:gd name="T34" fmla="*/ 6 w 2016"/>
                <a:gd name="T35" fmla="*/ 3127 h 3274"/>
                <a:gd name="T36" fmla="*/ 0 w 2016"/>
                <a:gd name="T37" fmla="*/ 2814 h 3274"/>
                <a:gd name="T38" fmla="*/ 234 w 2016"/>
                <a:gd name="T39" fmla="*/ 2785 h 3274"/>
                <a:gd name="T40" fmla="*/ 462 w 2016"/>
                <a:gd name="T41" fmla="*/ 2721 h 3274"/>
                <a:gd name="T42" fmla="*/ 681 w 2016"/>
                <a:gd name="T43" fmla="*/ 2626 h 3274"/>
                <a:gd name="T44" fmla="*/ 886 w 2016"/>
                <a:gd name="T45" fmla="*/ 2496 h 3274"/>
                <a:gd name="T46" fmla="*/ 1075 w 2016"/>
                <a:gd name="T47" fmla="*/ 2335 h 3274"/>
                <a:gd name="T48" fmla="*/ 1240 w 2016"/>
                <a:gd name="T49" fmla="*/ 2143 h 3274"/>
                <a:gd name="T50" fmla="*/ 1369 w 2016"/>
                <a:gd name="T51" fmla="*/ 1935 h 3274"/>
                <a:gd name="T52" fmla="*/ 1466 w 2016"/>
                <a:gd name="T53" fmla="*/ 1715 h 3274"/>
                <a:gd name="T54" fmla="*/ 1529 w 2016"/>
                <a:gd name="T55" fmla="*/ 1485 h 3274"/>
                <a:gd name="T56" fmla="*/ 1558 w 2016"/>
                <a:gd name="T57" fmla="*/ 1249 h 3274"/>
                <a:gd name="T58" fmla="*/ 1552 w 2016"/>
                <a:gd name="T59" fmla="*/ 1011 h 3274"/>
                <a:gd name="T60" fmla="*/ 1512 w 2016"/>
                <a:gd name="T61" fmla="*/ 777 h 3274"/>
                <a:gd name="T62" fmla="*/ 1440 w 2016"/>
                <a:gd name="T63" fmla="*/ 549 h 3274"/>
                <a:gd name="T64" fmla="*/ 1331 w 2016"/>
                <a:gd name="T65" fmla="*/ 332 h 3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16" h="3274">
                  <a:moveTo>
                    <a:pt x="1664" y="0"/>
                  </a:moveTo>
                  <a:lnTo>
                    <a:pt x="1736" y="119"/>
                  </a:lnTo>
                  <a:lnTo>
                    <a:pt x="1803" y="241"/>
                  </a:lnTo>
                  <a:lnTo>
                    <a:pt x="1858" y="369"/>
                  </a:lnTo>
                  <a:lnTo>
                    <a:pt x="1908" y="496"/>
                  </a:lnTo>
                  <a:lnTo>
                    <a:pt x="1946" y="627"/>
                  </a:lnTo>
                  <a:lnTo>
                    <a:pt x="1976" y="758"/>
                  </a:lnTo>
                  <a:lnTo>
                    <a:pt x="1999" y="893"/>
                  </a:lnTo>
                  <a:lnTo>
                    <a:pt x="2012" y="1028"/>
                  </a:lnTo>
                  <a:lnTo>
                    <a:pt x="2016" y="1163"/>
                  </a:lnTo>
                  <a:lnTo>
                    <a:pt x="2012" y="1298"/>
                  </a:lnTo>
                  <a:lnTo>
                    <a:pt x="2001" y="1433"/>
                  </a:lnTo>
                  <a:lnTo>
                    <a:pt x="1978" y="1566"/>
                  </a:lnTo>
                  <a:lnTo>
                    <a:pt x="1949" y="1700"/>
                  </a:lnTo>
                  <a:lnTo>
                    <a:pt x="1911" y="1831"/>
                  </a:lnTo>
                  <a:lnTo>
                    <a:pt x="1864" y="1960"/>
                  </a:lnTo>
                  <a:lnTo>
                    <a:pt x="1807" y="2086"/>
                  </a:lnTo>
                  <a:lnTo>
                    <a:pt x="1744" y="2207"/>
                  </a:lnTo>
                  <a:lnTo>
                    <a:pt x="1670" y="2327"/>
                  </a:lnTo>
                  <a:lnTo>
                    <a:pt x="1588" y="2443"/>
                  </a:lnTo>
                  <a:lnTo>
                    <a:pt x="1499" y="2553"/>
                  </a:lnTo>
                  <a:lnTo>
                    <a:pt x="1400" y="2660"/>
                  </a:lnTo>
                  <a:lnTo>
                    <a:pt x="1291" y="2761"/>
                  </a:lnTo>
                  <a:lnTo>
                    <a:pt x="1177" y="2852"/>
                  </a:lnTo>
                  <a:lnTo>
                    <a:pt x="1059" y="2935"/>
                  </a:lnTo>
                  <a:lnTo>
                    <a:pt x="938" y="3010"/>
                  </a:lnTo>
                  <a:lnTo>
                    <a:pt x="812" y="3074"/>
                  </a:lnTo>
                  <a:lnTo>
                    <a:pt x="683" y="3129"/>
                  </a:lnTo>
                  <a:lnTo>
                    <a:pt x="552" y="3177"/>
                  </a:lnTo>
                  <a:lnTo>
                    <a:pt x="418" y="3215"/>
                  </a:lnTo>
                  <a:lnTo>
                    <a:pt x="281" y="3243"/>
                  </a:lnTo>
                  <a:lnTo>
                    <a:pt x="145" y="3262"/>
                  </a:lnTo>
                  <a:lnTo>
                    <a:pt x="8" y="3274"/>
                  </a:lnTo>
                  <a:lnTo>
                    <a:pt x="8" y="3272"/>
                  </a:lnTo>
                  <a:lnTo>
                    <a:pt x="6" y="3198"/>
                  </a:lnTo>
                  <a:lnTo>
                    <a:pt x="6" y="3127"/>
                  </a:lnTo>
                  <a:lnTo>
                    <a:pt x="4" y="2966"/>
                  </a:lnTo>
                  <a:lnTo>
                    <a:pt x="0" y="2814"/>
                  </a:lnTo>
                  <a:lnTo>
                    <a:pt x="118" y="2804"/>
                  </a:lnTo>
                  <a:lnTo>
                    <a:pt x="234" y="2785"/>
                  </a:lnTo>
                  <a:lnTo>
                    <a:pt x="348" y="2757"/>
                  </a:lnTo>
                  <a:lnTo>
                    <a:pt x="462" y="2721"/>
                  </a:lnTo>
                  <a:lnTo>
                    <a:pt x="572" y="2677"/>
                  </a:lnTo>
                  <a:lnTo>
                    <a:pt x="681" y="2626"/>
                  </a:lnTo>
                  <a:lnTo>
                    <a:pt x="785" y="2565"/>
                  </a:lnTo>
                  <a:lnTo>
                    <a:pt x="886" y="2496"/>
                  </a:lnTo>
                  <a:lnTo>
                    <a:pt x="983" y="2418"/>
                  </a:lnTo>
                  <a:lnTo>
                    <a:pt x="1075" y="2335"/>
                  </a:lnTo>
                  <a:lnTo>
                    <a:pt x="1162" y="2241"/>
                  </a:lnTo>
                  <a:lnTo>
                    <a:pt x="1240" y="2143"/>
                  </a:lnTo>
                  <a:lnTo>
                    <a:pt x="1308" y="2042"/>
                  </a:lnTo>
                  <a:lnTo>
                    <a:pt x="1369" y="1935"/>
                  </a:lnTo>
                  <a:lnTo>
                    <a:pt x="1423" y="1827"/>
                  </a:lnTo>
                  <a:lnTo>
                    <a:pt x="1466" y="1715"/>
                  </a:lnTo>
                  <a:lnTo>
                    <a:pt x="1501" y="1601"/>
                  </a:lnTo>
                  <a:lnTo>
                    <a:pt x="1529" y="1485"/>
                  </a:lnTo>
                  <a:lnTo>
                    <a:pt x="1546" y="1367"/>
                  </a:lnTo>
                  <a:lnTo>
                    <a:pt x="1558" y="1249"/>
                  </a:lnTo>
                  <a:lnTo>
                    <a:pt x="1558" y="1129"/>
                  </a:lnTo>
                  <a:lnTo>
                    <a:pt x="1552" y="1011"/>
                  </a:lnTo>
                  <a:lnTo>
                    <a:pt x="1537" y="893"/>
                  </a:lnTo>
                  <a:lnTo>
                    <a:pt x="1512" y="777"/>
                  </a:lnTo>
                  <a:lnTo>
                    <a:pt x="1480" y="663"/>
                  </a:lnTo>
                  <a:lnTo>
                    <a:pt x="1440" y="549"/>
                  </a:lnTo>
                  <a:lnTo>
                    <a:pt x="1390" y="439"/>
                  </a:lnTo>
                  <a:lnTo>
                    <a:pt x="1331" y="332"/>
                  </a:lnTo>
                  <a:lnTo>
                    <a:pt x="16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96" name="Freeform 199"/>
            <p:cNvSpPr/>
            <p:nvPr/>
          </p:nvSpPr>
          <p:spPr bwMode="auto">
            <a:xfrm>
              <a:off x="6008" y="2577"/>
              <a:ext cx="1409" cy="1410"/>
            </a:xfrm>
            <a:custGeom>
              <a:avLst/>
              <a:gdLst>
                <a:gd name="T0" fmla="*/ 2351 w 2818"/>
                <a:gd name="T1" fmla="*/ 0 h 2820"/>
                <a:gd name="T2" fmla="*/ 2406 w 2818"/>
                <a:gd name="T3" fmla="*/ 413 h 2820"/>
                <a:gd name="T4" fmla="*/ 2818 w 2818"/>
                <a:gd name="T5" fmla="*/ 468 h 2820"/>
                <a:gd name="T6" fmla="*/ 2273 w 2818"/>
                <a:gd name="T7" fmla="*/ 1014 h 2820"/>
                <a:gd name="T8" fmla="*/ 2067 w 2818"/>
                <a:gd name="T9" fmla="*/ 987 h 2820"/>
                <a:gd name="T10" fmla="*/ 827 w 2818"/>
                <a:gd name="T11" fmla="*/ 2225 h 2820"/>
                <a:gd name="T12" fmla="*/ 848 w 2818"/>
                <a:gd name="T13" fmla="*/ 2286 h 2820"/>
                <a:gd name="T14" fmla="*/ 858 w 2818"/>
                <a:gd name="T15" fmla="*/ 2346 h 2820"/>
                <a:gd name="T16" fmla="*/ 860 w 2818"/>
                <a:gd name="T17" fmla="*/ 2409 h 2820"/>
                <a:gd name="T18" fmla="*/ 852 w 2818"/>
                <a:gd name="T19" fmla="*/ 2472 h 2820"/>
                <a:gd name="T20" fmla="*/ 837 w 2818"/>
                <a:gd name="T21" fmla="*/ 2531 h 2820"/>
                <a:gd name="T22" fmla="*/ 812 w 2818"/>
                <a:gd name="T23" fmla="*/ 2590 h 2820"/>
                <a:gd name="T24" fmla="*/ 778 w 2818"/>
                <a:gd name="T25" fmla="*/ 2645 h 2820"/>
                <a:gd name="T26" fmla="*/ 734 w 2818"/>
                <a:gd name="T27" fmla="*/ 2694 h 2820"/>
                <a:gd name="T28" fmla="*/ 686 w 2818"/>
                <a:gd name="T29" fmla="*/ 2736 h 2820"/>
                <a:gd name="T30" fmla="*/ 633 w 2818"/>
                <a:gd name="T31" fmla="*/ 2770 h 2820"/>
                <a:gd name="T32" fmla="*/ 578 w 2818"/>
                <a:gd name="T33" fmla="*/ 2795 h 2820"/>
                <a:gd name="T34" fmla="*/ 519 w 2818"/>
                <a:gd name="T35" fmla="*/ 2812 h 2820"/>
                <a:gd name="T36" fmla="*/ 460 w 2818"/>
                <a:gd name="T37" fmla="*/ 2820 h 2820"/>
                <a:gd name="T38" fmla="*/ 399 w 2818"/>
                <a:gd name="T39" fmla="*/ 2820 h 2820"/>
                <a:gd name="T40" fmla="*/ 340 w 2818"/>
                <a:gd name="T41" fmla="*/ 2812 h 2820"/>
                <a:gd name="T42" fmla="*/ 281 w 2818"/>
                <a:gd name="T43" fmla="*/ 2795 h 2820"/>
                <a:gd name="T44" fmla="*/ 226 w 2818"/>
                <a:gd name="T45" fmla="*/ 2770 h 2820"/>
                <a:gd name="T46" fmla="*/ 173 w 2818"/>
                <a:gd name="T47" fmla="*/ 2736 h 2820"/>
                <a:gd name="T48" fmla="*/ 125 w 2818"/>
                <a:gd name="T49" fmla="*/ 2694 h 2820"/>
                <a:gd name="T50" fmla="*/ 84 w 2818"/>
                <a:gd name="T51" fmla="*/ 2647 h 2820"/>
                <a:gd name="T52" fmla="*/ 49 w 2818"/>
                <a:gd name="T53" fmla="*/ 2594 h 2820"/>
                <a:gd name="T54" fmla="*/ 25 w 2818"/>
                <a:gd name="T55" fmla="*/ 2538 h 2820"/>
                <a:gd name="T56" fmla="*/ 8 w 2818"/>
                <a:gd name="T57" fmla="*/ 2480 h 2820"/>
                <a:gd name="T58" fmla="*/ 0 w 2818"/>
                <a:gd name="T59" fmla="*/ 2421 h 2820"/>
                <a:gd name="T60" fmla="*/ 0 w 2818"/>
                <a:gd name="T61" fmla="*/ 2360 h 2820"/>
                <a:gd name="T62" fmla="*/ 8 w 2818"/>
                <a:gd name="T63" fmla="*/ 2301 h 2820"/>
                <a:gd name="T64" fmla="*/ 25 w 2818"/>
                <a:gd name="T65" fmla="*/ 2242 h 2820"/>
                <a:gd name="T66" fmla="*/ 49 w 2818"/>
                <a:gd name="T67" fmla="*/ 2187 h 2820"/>
                <a:gd name="T68" fmla="*/ 84 w 2818"/>
                <a:gd name="T69" fmla="*/ 2133 h 2820"/>
                <a:gd name="T70" fmla="*/ 125 w 2818"/>
                <a:gd name="T71" fmla="*/ 2086 h 2820"/>
                <a:gd name="T72" fmla="*/ 175 w 2818"/>
                <a:gd name="T73" fmla="*/ 2042 h 2820"/>
                <a:gd name="T74" fmla="*/ 230 w 2818"/>
                <a:gd name="T75" fmla="*/ 2008 h 2820"/>
                <a:gd name="T76" fmla="*/ 287 w 2818"/>
                <a:gd name="T77" fmla="*/ 1983 h 2820"/>
                <a:gd name="T78" fmla="*/ 348 w 2818"/>
                <a:gd name="T79" fmla="*/ 1968 h 2820"/>
                <a:gd name="T80" fmla="*/ 411 w 2818"/>
                <a:gd name="T81" fmla="*/ 1960 h 2820"/>
                <a:gd name="T82" fmla="*/ 473 w 2818"/>
                <a:gd name="T83" fmla="*/ 1962 h 2820"/>
                <a:gd name="T84" fmla="*/ 534 w 2818"/>
                <a:gd name="T85" fmla="*/ 1972 h 2820"/>
                <a:gd name="T86" fmla="*/ 595 w 2818"/>
                <a:gd name="T87" fmla="*/ 1993 h 2820"/>
                <a:gd name="T88" fmla="*/ 1831 w 2818"/>
                <a:gd name="T89" fmla="*/ 753 h 2820"/>
                <a:gd name="T90" fmla="*/ 1805 w 2818"/>
                <a:gd name="T91" fmla="*/ 548 h 2820"/>
                <a:gd name="T92" fmla="*/ 2351 w 2818"/>
                <a:gd name="T93" fmla="*/ 0 h 2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818" h="2820">
                  <a:moveTo>
                    <a:pt x="2351" y="0"/>
                  </a:moveTo>
                  <a:lnTo>
                    <a:pt x="2406" y="413"/>
                  </a:lnTo>
                  <a:lnTo>
                    <a:pt x="2818" y="468"/>
                  </a:lnTo>
                  <a:lnTo>
                    <a:pt x="2273" y="1014"/>
                  </a:lnTo>
                  <a:lnTo>
                    <a:pt x="2067" y="987"/>
                  </a:lnTo>
                  <a:lnTo>
                    <a:pt x="827" y="2225"/>
                  </a:lnTo>
                  <a:lnTo>
                    <a:pt x="848" y="2286"/>
                  </a:lnTo>
                  <a:lnTo>
                    <a:pt x="858" y="2346"/>
                  </a:lnTo>
                  <a:lnTo>
                    <a:pt x="860" y="2409"/>
                  </a:lnTo>
                  <a:lnTo>
                    <a:pt x="852" y="2472"/>
                  </a:lnTo>
                  <a:lnTo>
                    <a:pt x="837" y="2531"/>
                  </a:lnTo>
                  <a:lnTo>
                    <a:pt x="812" y="2590"/>
                  </a:lnTo>
                  <a:lnTo>
                    <a:pt x="778" y="2645"/>
                  </a:lnTo>
                  <a:lnTo>
                    <a:pt x="734" y="2694"/>
                  </a:lnTo>
                  <a:lnTo>
                    <a:pt x="686" y="2736"/>
                  </a:lnTo>
                  <a:lnTo>
                    <a:pt x="633" y="2770"/>
                  </a:lnTo>
                  <a:lnTo>
                    <a:pt x="578" y="2795"/>
                  </a:lnTo>
                  <a:lnTo>
                    <a:pt x="519" y="2812"/>
                  </a:lnTo>
                  <a:lnTo>
                    <a:pt x="460" y="2820"/>
                  </a:lnTo>
                  <a:lnTo>
                    <a:pt x="399" y="2820"/>
                  </a:lnTo>
                  <a:lnTo>
                    <a:pt x="340" y="2812"/>
                  </a:lnTo>
                  <a:lnTo>
                    <a:pt x="281" y="2795"/>
                  </a:lnTo>
                  <a:lnTo>
                    <a:pt x="226" y="2770"/>
                  </a:lnTo>
                  <a:lnTo>
                    <a:pt x="173" y="2736"/>
                  </a:lnTo>
                  <a:lnTo>
                    <a:pt x="125" y="2694"/>
                  </a:lnTo>
                  <a:lnTo>
                    <a:pt x="84" y="2647"/>
                  </a:lnTo>
                  <a:lnTo>
                    <a:pt x="49" y="2594"/>
                  </a:lnTo>
                  <a:lnTo>
                    <a:pt x="25" y="2538"/>
                  </a:lnTo>
                  <a:lnTo>
                    <a:pt x="8" y="2480"/>
                  </a:lnTo>
                  <a:lnTo>
                    <a:pt x="0" y="2421"/>
                  </a:lnTo>
                  <a:lnTo>
                    <a:pt x="0" y="2360"/>
                  </a:lnTo>
                  <a:lnTo>
                    <a:pt x="8" y="2301"/>
                  </a:lnTo>
                  <a:lnTo>
                    <a:pt x="25" y="2242"/>
                  </a:lnTo>
                  <a:lnTo>
                    <a:pt x="49" y="2187"/>
                  </a:lnTo>
                  <a:lnTo>
                    <a:pt x="84" y="2133"/>
                  </a:lnTo>
                  <a:lnTo>
                    <a:pt x="125" y="2086"/>
                  </a:lnTo>
                  <a:lnTo>
                    <a:pt x="175" y="2042"/>
                  </a:lnTo>
                  <a:lnTo>
                    <a:pt x="230" y="2008"/>
                  </a:lnTo>
                  <a:lnTo>
                    <a:pt x="287" y="1983"/>
                  </a:lnTo>
                  <a:lnTo>
                    <a:pt x="348" y="1968"/>
                  </a:lnTo>
                  <a:lnTo>
                    <a:pt x="411" y="1960"/>
                  </a:lnTo>
                  <a:lnTo>
                    <a:pt x="473" y="1962"/>
                  </a:lnTo>
                  <a:lnTo>
                    <a:pt x="534" y="1972"/>
                  </a:lnTo>
                  <a:lnTo>
                    <a:pt x="595" y="1993"/>
                  </a:lnTo>
                  <a:lnTo>
                    <a:pt x="1831" y="753"/>
                  </a:lnTo>
                  <a:lnTo>
                    <a:pt x="1805" y="548"/>
                  </a:lnTo>
                  <a:lnTo>
                    <a:pt x="23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97" name="Freeform 200"/>
            <p:cNvSpPr/>
            <p:nvPr/>
          </p:nvSpPr>
          <p:spPr bwMode="auto">
            <a:xfrm>
              <a:off x="5745" y="2720"/>
              <a:ext cx="1063" cy="342"/>
            </a:xfrm>
            <a:custGeom>
              <a:avLst/>
              <a:gdLst>
                <a:gd name="T0" fmla="*/ 1002 w 2126"/>
                <a:gd name="T1" fmla="*/ 0 h 685"/>
                <a:gd name="T2" fmla="*/ 1151 w 2126"/>
                <a:gd name="T3" fmla="*/ 8 h 685"/>
                <a:gd name="T4" fmla="*/ 1297 w 2126"/>
                <a:gd name="T5" fmla="*/ 27 h 685"/>
                <a:gd name="T6" fmla="*/ 1442 w 2126"/>
                <a:gd name="T7" fmla="*/ 55 h 685"/>
                <a:gd name="T8" fmla="*/ 1584 w 2126"/>
                <a:gd name="T9" fmla="*/ 93 h 685"/>
                <a:gd name="T10" fmla="*/ 1725 w 2126"/>
                <a:gd name="T11" fmla="*/ 143 h 685"/>
                <a:gd name="T12" fmla="*/ 1864 w 2126"/>
                <a:gd name="T13" fmla="*/ 202 h 685"/>
                <a:gd name="T14" fmla="*/ 1997 w 2126"/>
                <a:gd name="T15" fmla="*/ 272 h 685"/>
                <a:gd name="T16" fmla="*/ 2126 w 2126"/>
                <a:gd name="T17" fmla="*/ 352 h 685"/>
                <a:gd name="T18" fmla="*/ 1794 w 2126"/>
                <a:gd name="T19" fmla="*/ 685 h 685"/>
                <a:gd name="T20" fmla="*/ 1677 w 2126"/>
                <a:gd name="T21" fmla="*/ 622 h 685"/>
                <a:gd name="T22" fmla="*/ 1556 w 2126"/>
                <a:gd name="T23" fmla="*/ 569 h 685"/>
                <a:gd name="T24" fmla="*/ 1432 w 2126"/>
                <a:gd name="T25" fmla="*/ 527 h 685"/>
                <a:gd name="T26" fmla="*/ 1305 w 2126"/>
                <a:gd name="T27" fmla="*/ 495 h 685"/>
                <a:gd name="T28" fmla="*/ 1177 w 2126"/>
                <a:gd name="T29" fmla="*/ 472 h 685"/>
                <a:gd name="T30" fmla="*/ 1048 w 2126"/>
                <a:gd name="T31" fmla="*/ 460 h 685"/>
                <a:gd name="T32" fmla="*/ 919 w 2126"/>
                <a:gd name="T33" fmla="*/ 459 h 685"/>
                <a:gd name="T34" fmla="*/ 789 w 2126"/>
                <a:gd name="T35" fmla="*/ 466 h 685"/>
                <a:gd name="T36" fmla="*/ 660 w 2126"/>
                <a:gd name="T37" fmla="*/ 485 h 685"/>
                <a:gd name="T38" fmla="*/ 533 w 2126"/>
                <a:gd name="T39" fmla="*/ 514 h 685"/>
                <a:gd name="T40" fmla="*/ 407 w 2126"/>
                <a:gd name="T41" fmla="*/ 552 h 685"/>
                <a:gd name="T42" fmla="*/ 285 w 2126"/>
                <a:gd name="T43" fmla="*/ 601 h 685"/>
                <a:gd name="T44" fmla="*/ 166 w 2126"/>
                <a:gd name="T45" fmla="*/ 660 h 685"/>
                <a:gd name="T46" fmla="*/ 150 w 2126"/>
                <a:gd name="T47" fmla="*/ 561 h 685"/>
                <a:gd name="T48" fmla="*/ 126 w 2126"/>
                <a:gd name="T49" fmla="*/ 472 h 685"/>
                <a:gd name="T50" fmla="*/ 93 w 2126"/>
                <a:gd name="T51" fmla="*/ 388 h 685"/>
                <a:gd name="T52" fmla="*/ 55 w 2126"/>
                <a:gd name="T53" fmla="*/ 310 h 685"/>
                <a:gd name="T54" fmla="*/ 10 w 2126"/>
                <a:gd name="T55" fmla="*/ 240 h 685"/>
                <a:gd name="T56" fmla="*/ 0 w 2126"/>
                <a:gd name="T57" fmla="*/ 228 h 685"/>
                <a:gd name="T58" fmla="*/ 137 w 2126"/>
                <a:gd name="T59" fmla="*/ 166 h 685"/>
                <a:gd name="T60" fmla="*/ 276 w 2126"/>
                <a:gd name="T61" fmla="*/ 112 h 685"/>
                <a:gd name="T62" fmla="*/ 418 w 2126"/>
                <a:gd name="T63" fmla="*/ 69 h 685"/>
                <a:gd name="T64" fmla="*/ 563 w 2126"/>
                <a:gd name="T65" fmla="*/ 36 h 685"/>
                <a:gd name="T66" fmla="*/ 708 w 2126"/>
                <a:gd name="T67" fmla="*/ 14 h 685"/>
                <a:gd name="T68" fmla="*/ 856 w 2126"/>
                <a:gd name="T69" fmla="*/ 2 h 685"/>
                <a:gd name="T70" fmla="*/ 1002 w 2126"/>
                <a:gd name="T71" fmla="*/ 0 h 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26" h="685">
                  <a:moveTo>
                    <a:pt x="1002" y="0"/>
                  </a:moveTo>
                  <a:lnTo>
                    <a:pt x="1151" y="8"/>
                  </a:lnTo>
                  <a:lnTo>
                    <a:pt x="1297" y="27"/>
                  </a:lnTo>
                  <a:lnTo>
                    <a:pt x="1442" y="55"/>
                  </a:lnTo>
                  <a:lnTo>
                    <a:pt x="1584" y="93"/>
                  </a:lnTo>
                  <a:lnTo>
                    <a:pt x="1725" y="143"/>
                  </a:lnTo>
                  <a:lnTo>
                    <a:pt x="1864" y="202"/>
                  </a:lnTo>
                  <a:lnTo>
                    <a:pt x="1997" y="272"/>
                  </a:lnTo>
                  <a:lnTo>
                    <a:pt x="2126" y="352"/>
                  </a:lnTo>
                  <a:lnTo>
                    <a:pt x="1794" y="685"/>
                  </a:lnTo>
                  <a:lnTo>
                    <a:pt x="1677" y="622"/>
                  </a:lnTo>
                  <a:lnTo>
                    <a:pt x="1556" y="569"/>
                  </a:lnTo>
                  <a:lnTo>
                    <a:pt x="1432" y="527"/>
                  </a:lnTo>
                  <a:lnTo>
                    <a:pt x="1305" y="495"/>
                  </a:lnTo>
                  <a:lnTo>
                    <a:pt x="1177" y="472"/>
                  </a:lnTo>
                  <a:lnTo>
                    <a:pt x="1048" y="460"/>
                  </a:lnTo>
                  <a:lnTo>
                    <a:pt x="919" y="459"/>
                  </a:lnTo>
                  <a:lnTo>
                    <a:pt x="789" y="466"/>
                  </a:lnTo>
                  <a:lnTo>
                    <a:pt x="660" y="485"/>
                  </a:lnTo>
                  <a:lnTo>
                    <a:pt x="533" y="514"/>
                  </a:lnTo>
                  <a:lnTo>
                    <a:pt x="407" y="552"/>
                  </a:lnTo>
                  <a:lnTo>
                    <a:pt x="285" y="601"/>
                  </a:lnTo>
                  <a:lnTo>
                    <a:pt x="166" y="660"/>
                  </a:lnTo>
                  <a:lnTo>
                    <a:pt x="150" y="561"/>
                  </a:lnTo>
                  <a:lnTo>
                    <a:pt x="126" y="472"/>
                  </a:lnTo>
                  <a:lnTo>
                    <a:pt x="93" y="388"/>
                  </a:lnTo>
                  <a:lnTo>
                    <a:pt x="55" y="310"/>
                  </a:lnTo>
                  <a:lnTo>
                    <a:pt x="10" y="240"/>
                  </a:lnTo>
                  <a:lnTo>
                    <a:pt x="0" y="228"/>
                  </a:lnTo>
                  <a:lnTo>
                    <a:pt x="137" y="166"/>
                  </a:lnTo>
                  <a:lnTo>
                    <a:pt x="276" y="112"/>
                  </a:lnTo>
                  <a:lnTo>
                    <a:pt x="418" y="69"/>
                  </a:lnTo>
                  <a:lnTo>
                    <a:pt x="563" y="36"/>
                  </a:lnTo>
                  <a:lnTo>
                    <a:pt x="708" y="14"/>
                  </a:lnTo>
                  <a:lnTo>
                    <a:pt x="856" y="2"/>
                  </a:lnTo>
                  <a:lnTo>
                    <a:pt x="10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103" name="Group 4"/>
          <p:cNvGrpSpPr>
            <a:grpSpLocks noChangeAspect="1"/>
          </p:cNvGrpSpPr>
          <p:nvPr/>
        </p:nvGrpSpPr>
        <p:grpSpPr bwMode="auto">
          <a:xfrm>
            <a:off x="6806132" y="2735237"/>
            <a:ext cx="291207" cy="291844"/>
            <a:chOff x="2803" y="828"/>
            <a:chExt cx="1372" cy="1375"/>
          </a:xfrm>
          <a:solidFill>
            <a:schemeClr val="accent2"/>
          </a:solidFill>
        </p:grpSpPr>
        <p:sp>
          <p:nvSpPr>
            <p:cNvPr id="104" name="Freeform 6"/>
            <p:cNvSpPr/>
            <p:nvPr/>
          </p:nvSpPr>
          <p:spPr bwMode="auto">
            <a:xfrm>
              <a:off x="2826" y="828"/>
              <a:ext cx="1038" cy="562"/>
            </a:xfrm>
            <a:custGeom>
              <a:avLst/>
              <a:gdLst>
                <a:gd name="T0" fmla="*/ 2023 w 3115"/>
                <a:gd name="T1" fmla="*/ 0 h 1686"/>
                <a:gd name="T2" fmla="*/ 3087 w 3115"/>
                <a:gd name="T3" fmla="*/ 3 h 1686"/>
                <a:gd name="T4" fmla="*/ 3098 w 3115"/>
                <a:gd name="T5" fmla="*/ 4 h 1686"/>
                <a:gd name="T6" fmla="*/ 3105 w 3115"/>
                <a:gd name="T7" fmla="*/ 10 h 1686"/>
                <a:gd name="T8" fmla="*/ 3112 w 3115"/>
                <a:gd name="T9" fmla="*/ 18 h 1686"/>
                <a:gd name="T10" fmla="*/ 3115 w 3115"/>
                <a:gd name="T11" fmla="*/ 28 h 1686"/>
                <a:gd name="T12" fmla="*/ 3114 w 3115"/>
                <a:gd name="T13" fmla="*/ 38 h 1686"/>
                <a:gd name="T14" fmla="*/ 3109 w 3115"/>
                <a:gd name="T15" fmla="*/ 48 h 1686"/>
                <a:gd name="T16" fmla="*/ 2462 w 3115"/>
                <a:gd name="T17" fmla="*/ 891 h 1686"/>
                <a:gd name="T18" fmla="*/ 2455 w 3115"/>
                <a:gd name="T19" fmla="*/ 897 h 1686"/>
                <a:gd name="T20" fmla="*/ 2445 w 3115"/>
                <a:gd name="T21" fmla="*/ 901 h 1686"/>
                <a:gd name="T22" fmla="*/ 2435 w 3115"/>
                <a:gd name="T23" fmla="*/ 899 h 1686"/>
                <a:gd name="T24" fmla="*/ 2426 w 3115"/>
                <a:gd name="T25" fmla="*/ 894 h 1686"/>
                <a:gd name="T26" fmla="*/ 2420 w 3115"/>
                <a:gd name="T27" fmla="*/ 887 h 1686"/>
                <a:gd name="T28" fmla="*/ 2417 w 3115"/>
                <a:gd name="T29" fmla="*/ 877 h 1686"/>
                <a:gd name="T30" fmla="*/ 2393 w 3115"/>
                <a:gd name="T31" fmla="*/ 526 h 1686"/>
                <a:gd name="T32" fmla="*/ 1620 w 3115"/>
                <a:gd name="T33" fmla="*/ 906 h 1686"/>
                <a:gd name="T34" fmla="*/ 1197 w 3115"/>
                <a:gd name="T35" fmla="*/ 1619 h 1686"/>
                <a:gd name="T36" fmla="*/ 1180 w 3115"/>
                <a:gd name="T37" fmla="*/ 1641 h 1686"/>
                <a:gd name="T38" fmla="*/ 1157 w 3115"/>
                <a:gd name="T39" fmla="*/ 1661 h 1686"/>
                <a:gd name="T40" fmla="*/ 1133 w 3115"/>
                <a:gd name="T41" fmla="*/ 1675 h 1686"/>
                <a:gd name="T42" fmla="*/ 1106 w 3115"/>
                <a:gd name="T43" fmla="*/ 1682 h 1686"/>
                <a:gd name="T44" fmla="*/ 1078 w 3115"/>
                <a:gd name="T45" fmla="*/ 1686 h 1686"/>
                <a:gd name="T46" fmla="*/ 1051 w 3115"/>
                <a:gd name="T47" fmla="*/ 1684 h 1686"/>
                <a:gd name="T48" fmla="*/ 1024 w 3115"/>
                <a:gd name="T49" fmla="*/ 1675 h 1686"/>
                <a:gd name="T50" fmla="*/ 85 w 3115"/>
                <a:gd name="T51" fmla="*/ 1288 h 1686"/>
                <a:gd name="T52" fmla="*/ 60 w 3115"/>
                <a:gd name="T53" fmla="*/ 1275 h 1686"/>
                <a:gd name="T54" fmla="*/ 40 w 3115"/>
                <a:gd name="T55" fmla="*/ 1258 h 1686"/>
                <a:gd name="T56" fmla="*/ 23 w 3115"/>
                <a:gd name="T57" fmla="*/ 1236 h 1686"/>
                <a:gd name="T58" fmla="*/ 10 w 3115"/>
                <a:gd name="T59" fmla="*/ 1214 h 1686"/>
                <a:gd name="T60" fmla="*/ 2 w 3115"/>
                <a:gd name="T61" fmla="*/ 1188 h 1686"/>
                <a:gd name="T62" fmla="*/ 0 w 3115"/>
                <a:gd name="T63" fmla="*/ 1161 h 1686"/>
                <a:gd name="T64" fmla="*/ 2 w 3115"/>
                <a:gd name="T65" fmla="*/ 1134 h 1686"/>
                <a:gd name="T66" fmla="*/ 10 w 3115"/>
                <a:gd name="T67" fmla="*/ 1107 h 1686"/>
                <a:gd name="T68" fmla="*/ 24 w 3115"/>
                <a:gd name="T69" fmla="*/ 1082 h 1686"/>
                <a:gd name="T70" fmla="*/ 40 w 3115"/>
                <a:gd name="T71" fmla="*/ 1061 h 1686"/>
                <a:gd name="T72" fmla="*/ 61 w 3115"/>
                <a:gd name="T73" fmla="*/ 1045 h 1686"/>
                <a:gd name="T74" fmla="*/ 85 w 3115"/>
                <a:gd name="T75" fmla="*/ 1032 h 1686"/>
                <a:gd name="T76" fmla="*/ 110 w 3115"/>
                <a:gd name="T77" fmla="*/ 1025 h 1686"/>
                <a:gd name="T78" fmla="*/ 137 w 3115"/>
                <a:gd name="T79" fmla="*/ 1021 h 1686"/>
                <a:gd name="T80" fmla="*/ 164 w 3115"/>
                <a:gd name="T81" fmla="*/ 1023 h 1686"/>
                <a:gd name="T82" fmla="*/ 192 w 3115"/>
                <a:gd name="T83" fmla="*/ 1032 h 1686"/>
                <a:gd name="T84" fmla="*/ 1019 w 3115"/>
                <a:gd name="T85" fmla="*/ 1373 h 1686"/>
                <a:gd name="T86" fmla="*/ 1403 w 3115"/>
                <a:gd name="T87" fmla="*/ 729 h 1686"/>
                <a:gd name="T88" fmla="*/ 1418 w 3115"/>
                <a:gd name="T89" fmla="*/ 708 h 1686"/>
                <a:gd name="T90" fmla="*/ 1438 w 3115"/>
                <a:gd name="T91" fmla="*/ 690 h 1686"/>
                <a:gd name="T92" fmla="*/ 1461 w 3115"/>
                <a:gd name="T93" fmla="*/ 675 h 1686"/>
                <a:gd name="T94" fmla="*/ 2270 w 3115"/>
                <a:gd name="T95" fmla="*/ 277 h 1686"/>
                <a:gd name="T96" fmla="*/ 2007 w 3115"/>
                <a:gd name="T97" fmla="*/ 44 h 1686"/>
                <a:gd name="T98" fmla="*/ 2001 w 3115"/>
                <a:gd name="T99" fmla="*/ 36 h 1686"/>
                <a:gd name="T100" fmla="*/ 1998 w 3115"/>
                <a:gd name="T101" fmla="*/ 26 h 1686"/>
                <a:gd name="T102" fmla="*/ 2000 w 3115"/>
                <a:gd name="T103" fmla="*/ 16 h 1686"/>
                <a:gd name="T104" fmla="*/ 2006 w 3115"/>
                <a:gd name="T105" fmla="*/ 8 h 1686"/>
                <a:gd name="T106" fmla="*/ 2013 w 3115"/>
                <a:gd name="T107" fmla="*/ 3 h 1686"/>
                <a:gd name="T108" fmla="*/ 2023 w 3115"/>
                <a:gd name="T109" fmla="*/ 0 h 1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115" h="1686">
                  <a:moveTo>
                    <a:pt x="2023" y="0"/>
                  </a:moveTo>
                  <a:lnTo>
                    <a:pt x="3087" y="3"/>
                  </a:lnTo>
                  <a:lnTo>
                    <a:pt x="3098" y="4"/>
                  </a:lnTo>
                  <a:lnTo>
                    <a:pt x="3105" y="10"/>
                  </a:lnTo>
                  <a:lnTo>
                    <a:pt x="3112" y="18"/>
                  </a:lnTo>
                  <a:lnTo>
                    <a:pt x="3115" y="28"/>
                  </a:lnTo>
                  <a:lnTo>
                    <a:pt x="3114" y="38"/>
                  </a:lnTo>
                  <a:lnTo>
                    <a:pt x="3109" y="48"/>
                  </a:lnTo>
                  <a:lnTo>
                    <a:pt x="2462" y="891"/>
                  </a:lnTo>
                  <a:lnTo>
                    <a:pt x="2455" y="897"/>
                  </a:lnTo>
                  <a:lnTo>
                    <a:pt x="2445" y="901"/>
                  </a:lnTo>
                  <a:lnTo>
                    <a:pt x="2435" y="899"/>
                  </a:lnTo>
                  <a:lnTo>
                    <a:pt x="2426" y="894"/>
                  </a:lnTo>
                  <a:lnTo>
                    <a:pt x="2420" y="887"/>
                  </a:lnTo>
                  <a:lnTo>
                    <a:pt x="2417" y="877"/>
                  </a:lnTo>
                  <a:lnTo>
                    <a:pt x="2393" y="526"/>
                  </a:lnTo>
                  <a:lnTo>
                    <a:pt x="1620" y="906"/>
                  </a:lnTo>
                  <a:lnTo>
                    <a:pt x="1197" y="1619"/>
                  </a:lnTo>
                  <a:lnTo>
                    <a:pt x="1180" y="1641"/>
                  </a:lnTo>
                  <a:lnTo>
                    <a:pt x="1157" y="1661"/>
                  </a:lnTo>
                  <a:lnTo>
                    <a:pt x="1133" y="1675"/>
                  </a:lnTo>
                  <a:lnTo>
                    <a:pt x="1106" y="1682"/>
                  </a:lnTo>
                  <a:lnTo>
                    <a:pt x="1078" y="1686"/>
                  </a:lnTo>
                  <a:lnTo>
                    <a:pt x="1051" y="1684"/>
                  </a:lnTo>
                  <a:lnTo>
                    <a:pt x="1024" y="1675"/>
                  </a:lnTo>
                  <a:lnTo>
                    <a:pt x="85" y="1288"/>
                  </a:lnTo>
                  <a:lnTo>
                    <a:pt x="60" y="1275"/>
                  </a:lnTo>
                  <a:lnTo>
                    <a:pt x="40" y="1258"/>
                  </a:lnTo>
                  <a:lnTo>
                    <a:pt x="23" y="1236"/>
                  </a:lnTo>
                  <a:lnTo>
                    <a:pt x="10" y="1214"/>
                  </a:lnTo>
                  <a:lnTo>
                    <a:pt x="2" y="1188"/>
                  </a:lnTo>
                  <a:lnTo>
                    <a:pt x="0" y="1161"/>
                  </a:lnTo>
                  <a:lnTo>
                    <a:pt x="2" y="1134"/>
                  </a:lnTo>
                  <a:lnTo>
                    <a:pt x="10" y="1107"/>
                  </a:lnTo>
                  <a:lnTo>
                    <a:pt x="24" y="1082"/>
                  </a:lnTo>
                  <a:lnTo>
                    <a:pt x="40" y="1061"/>
                  </a:lnTo>
                  <a:lnTo>
                    <a:pt x="61" y="1045"/>
                  </a:lnTo>
                  <a:lnTo>
                    <a:pt x="85" y="1032"/>
                  </a:lnTo>
                  <a:lnTo>
                    <a:pt x="110" y="1025"/>
                  </a:lnTo>
                  <a:lnTo>
                    <a:pt x="137" y="1021"/>
                  </a:lnTo>
                  <a:lnTo>
                    <a:pt x="164" y="1023"/>
                  </a:lnTo>
                  <a:lnTo>
                    <a:pt x="192" y="1032"/>
                  </a:lnTo>
                  <a:lnTo>
                    <a:pt x="1019" y="1373"/>
                  </a:lnTo>
                  <a:lnTo>
                    <a:pt x="1403" y="729"/>
                  </a:lnTo>
                  <a:lnTo>
                    <a:pt x="1418" y="708"/>
                  </a:lnTo>
                  <a:lnTo>
                    <a:pt x="1438" y="690"/>
                  </a:lnTo>
                  <a:lnTo>
                    <a:pt x="1461" y="675"/>
                  </a:lnTo>
                  <a:lnTo>
                    <a:pt x="2270" y="277"/>
                  </a:lnTo>
                  <a:lnTo>
                    <a:pt x="2007" y="44"/>
                  </a:lnTo>
                  <a:lnTo>
                    <a:pt x="2001" y="36"/>
                  </a:lnTo>
                  <a:lnTo>
                    <a:pt x="1998" y="26"/>
                  </a:lnTo>
                  <a:lnTo>
                    <a:pt x="2000" y="16"/>
                  </a:lnTo>
                  <a:lnTo>
                    <a:pt x="2006" y="8"/>
                  </a:lnTo>
                  <a:lnTo>
                    <a:pt x="2013" y="3"/>
                  </a:lnTo>
                  <a:lnTo>
                    <a:pt x="20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105" name="Freeform 7"/>
            <p:cNvSpPr/>
            <p:nvPr/>
          </p:nvSpPr>
          <p:spPr bwMode="auto">
            <a:xfrm>
              <a:off x="2803" y="2064"/>
              <a:ext cx="1372" cy="139"/>
            </a:xfrm>
            <a:custGeom>
              <a:avLst/>
              <a:gdLst>
                <a:gd name="T0" fmla="*/ 208 w 4117"/>
                <a:gd name="T1" fmla="*/ 0 h 416"/>
                <a:gd name="T2" fmla="*/ 3909 w 4117"/>
                <a:gd name="T3" fmla="*/ 0 h 416"/>
                <a:gd name="T4" fmla="*/ 3945 w 4117"/>
                <a:gd name="T5" fmla="*/ 3 h 416"/>
                <a:gd name="T6" fmla="*/ 3982 w 4117"/>
                <a:gd name="T7" fmla="*/ 13 h 416"/>
                <a:gd name="T8" fmla="*/ 4013 w 4117"/>
                <a:gd name="T9" fmla="*/ 28 h 416"/>
                <a:gd name="T10" fmla="*/ 4043 w 4117"/>
                <a:gd name="T11" fmla="*/ 49 h 416"/>
                <a:gd name="T12" fmla="*/ 4068 w 4117"/>
                <a:gd name="T13" fmla="*/ 74 h 416"/>
                <a:gd name="T14" fmla="*/ 4088 w 4117"/>
                <a:gd name="T15" fmla="*/ 103 h 416"/>
                <a:gd name="T16" fmla="*/ 4103 w 4117"/>
                <a:gd name="T17" fmla="*/ 135 h 416"/>
                <a:gd name="T18" fmla="*/ 4113 w 4117"/>
                <a:gd name="T19" fmla="*/ 170 h 416"/>
                <a:gd name="T20" fmla="*/ 4117 w 4117"/>
                <a:gd name="T21" fmla="*/ 208 h 416"/>
                <a:gd name="T22" fmla="*/ 4113 w 4117"/>
                <a:gd name="T23" fmla="*/ 246 h 416"/>
                <a:gd name="T24" fmla="*/ 4103 w 4117"/>
                <a:gd name="T25" fmla="*/ 281 h 416"/>
                <a:gd name="T26" fmla="*/ 4088 w 4117"/>
                <a:gd name="T27" fmla="*/ 312 h 416"/>
                <a:gd name="T28" fmla="*/ 4068 w 4117"/>
                <a:gd name="T29" fmla="*/ 342 h 416"/>
                <a:gd name="T30" fmla="*/ 4043 w 4117"/>
                <a:gd name="T31" fmla="*/ 367 h 416"/>
                <a:gd name="T32" fmla="*/ 4013 w 4117"/>
                <a:gd name="T33" fmla="*/ 387 h 416"/>
                <a:gd name="T34" fmla="*/ 3982 w 4117"/>
                <a:gd name="T35" fmla="*/ 402 h 416"/>
                <a:gd name="T36" fmla="*/ 3945 w 4117"/>
                <a:gd name="T37" fmla="*/ 412 h 416"/>
                <a:gd name="T38" fmla="*/ 3909 w 4117"/>
                <a:gd name="T39" fmla="*/ 416 h 416"/>
                <a:gd name="T40" fmla="*/ 208 w 4117"/>
                <a:gd name="T41" fmla="*/ 416 h 416"/>
                <a:gd name="T42" fmla="*/ 170 w 4117"/>
                <a:gd name="T43" fmla="*/ 412 h 416"/>
                <a:gd name="T44" fmla="*/ 135 w 4117"/>
                <a:gd name="T45" fmla="*/ 402 h 416"/>
                <a:gd name="T46" fmla="*/ 104 w 4117"/>
                <a:gd name="T47" fmla="*/ 387 h 416"/>
                <a:gd name="T48" fmla="*/ 74 w 4117"/>
                <a:gd name="T49" fmla="*/ 367 h 416"/>
                <a:gd name="T50" fmla="*/ 49 w 4117"/>
                <a:gd name="T51" fmla="*/ 342 h 416"/>
                <a:gd name="T52" fmla="*/ 29 w 4117"/>
                <a:gd name="T53" fmla="*/ 312 h 416"/>
                <a:gd name="T54" fmla="*/ 14 w 4117"/>
                <a:gd name="T55" fmla="*/ 281 h 416"/>
                <a:gd name="T56" fmla="*/ 4 w 4117"/>
                <a:gd name="T57" fmla="*/ 246 h 416"/>
                <a:gd name="T58" fmla="*/ 0 w 4117"/>
                <a:gd name="T59" fmla="*/ 208 h 416"/>
                <a:gd name="T60" fmla="*/ 4 w 4117"/>
                <a:gd name="T61" fmla="*/ 170 h 416"/>
                <a:gd name="T62" fmla="*/ 14 w 4117"/>
                <a:gd name="T63" fmla="*/ 135 h 416"/>
                <a:gd name="T64" fmla="*/ 29 w 4117"/>
                <a:gd name="T65" fmla="*/ 103 h 416"/>
                <a:gd name="T66" fmla="*/ 49 w 4117"/>
                <a:gd name="T67" fmla="*/ 74 h 416"/>
                <a:gd name="T68" fmla="*/ 74 w 4117"/>
                <a:gd name="T69" fmla="*/ 49 h 416"/>
                <a:gd name="T70" fmla="*/ 104 w 4117"/>
                <a:gd name="T71" fmla="*/ 28 h 416"/>
                <a:gd name="T72" fmla="*/ 135 w 4117"/>
                <a:gd name="T73" fmla="*/ 13 h 416"/>
                <a:gd name="T74" fmla="*/ 170 w 4117"/>
                <a:gd name="T75" fmla="*/ 3 h 416"/>
                <a:gd name="T76" fmla="*/ 208 w 4117"/>
                <a:gd name="T77" fmla="*/ 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17" h="416">
                  <a:moveTo>
                    <a:pt x="208" y="0"/>
                  </a:moveTo>
                  <a:lnTo>
                    <a:pt x="3909" y="0"/>
                  </a:lnTo>
                  <a:lnTo>
                    <a:pt x="3945" y="3"/>
                  </a:lnTo>
                  <a:lnTo>
                    <a:pt x="3982" y="13"/>
                  </a:lnTo>
                  <a:lnTo>
                    <a:pt x="4013" y="28"/>
                  </a:lnTo>
                  <a:lnTo>
                    <a:pt x="4043" y="49"/>
                  </a:lnTo>
                  <a:lnTo>
                    <a:pt x="4068" y="74"/>
                  </a:lnTo>
                  <a:lnTo>
                    <a:pt x="4088" y="103"/>
                  </a:lnTo>
                  <a:lnTo>
                    <a:pt x="4103" y="135"/>
                  </a:lnTo>
                  <a:lnTo>
                    <a:pt x="4113" y="170"/>
                  </a:lnTo>
                  <a:lnTo>
                    <a:pt x="4117" y="208"/>
                  </a:lnTo>
                  <a:lnTo>
                    <a:pt x="4113" y="246"/>
                  </a:lnTo>
                  <a:lnTo>
                    <a:pt x="4103" y="281"/>
                  </a:lnTo>
                  <a:lnTo>
                    <a:pt x="4088" y="312"/>
                  </a:lnTo>
                  <a:lnTo>
                    <a:pt x="4068" y="342"/>
                  </a:lnTo>
                  <a:lnTo>
                    <a:pt x="4043" y="367"/>
                  </a:lnTo>
                  <a:lnTo>
                    <a:pt x="4013" y="387"/>
                  </a:lnTo>
                  <a:lnTo>
                    <a:pt x="3982" y="402"/>
                  </a:lnTo>
                  <a:lnTo>
                    <a:pt x="3945" y="412"/>
                  </a:lnTo>
                  <a:lnTo>
                    <a:pt x="3909" y="416"/>
                  </a:lnTo>
                  <a:lnTo>
                    <a:pt x="208" y="416"/>
                  </a:lnTo>
                  <a:lnTo>
                    <a:pt x="170" y="412"/>
                  </a:lnTo>
                  <a:lnTo>
                    <a:pt x="135" y="402"/>
                  </a:lnTo>
                  <a:lnTo>
                    <a:pt x="104" y="387"/>
                  </a:lnTo>
                  <a:lnTo>
                    <a:pt x="74" y="367"/>
                  </a:lnTo>
                  <a:lnTo>
                    <a:pt x="49" y="342"/>
                  </a:lnTo>
                  <a:lnTo>
                    <a:pt x="29" y="312"/>
                  </a:lnTo>
                  <a:lnTo>
                    <a:pt x="14" y="281"/>
                  </a:lnTo>
                  <a:lnTo>
                    <a:pt x="4" y="246"/>
                  </a:lnTo>
                  <a:lnTo>
                    <a:pt x="0" y="208"/>
                  </a:lnTo>
                  <a:lnTo>
                    <a:pt x="4" y="170"/>
                  </a:lnTo>
                  <a:lnTo>
                    <a:pt x="14" y="135"/>
                  </a:lnTo>
                  <a:lnTo>
                    <a:pt x="29" y="103"/>
                  </a:lnTo>
                  <a:lnTo>
                    <a:pt x="49" y="74"/>
                  </a:lnTo>
                  <a:lnTo>
                    <a:pt x="74" y="49"/>
                  </a:lnTo>
                  <a:lnTo>
                    <a:pt x="104" y="28"/>
                  </a:lnTo>
                  <a:lnTo>
                    <a:pt x="135" y="13"/>
                  </a:lnTo>
                  <a:lnTo>
                    <a:pt x="170" y="3"/>
                  </a:lnTo>
                  <a:lnTo>
                    <a:pt x="2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106" name="Freeform 8"/>
            <p:cNvSpPr/>
            <p:nvPr/>
          </p:nvSpPr>
          <p:spPr bwMode="auto">
            <a:xfrm>
              <a:off x="2912" y="1500"/>
              <a:ext cx="220" cy="471"/>
            </a:xfrm>
            <a:custGeom>
              <a:avLst/>
              <a:gdLst>
                <a:gd name="T0" fmla="*/ 84 w 660"/>
                <a:gd name="T1" fmla="*/ 0 h 1414"/>
                <a:gd name="T2" fmla="*/ 576 w 660"/>
                <a:gd name="T3" fmla="*/ 0 h 1414"/>
                <a:gd name="T4" fmla="*/ 599 w 660"/>
                <a:gd name="T5" fmla="*/ 2 h 1414"/>
                <a:gd name="T6" fmla="*/ 619 w 660"/>
                <a:gd name="T7" fmla="*/ 11 h 1414"/>
                <a:gd name="T8" fmla="*/ 635 w 660"/>
                <a:gd name="T9" fmla="*/ 23 h 1414"/>
                <a:gd name="T10" fmla="*/ 649 w 660"/>
                <a:gd name="T11" fmla="*/ 41 h 1414"/>
                <a:gd name="T12" fmla="*/ 657 w 660"/>
                <a:gd name="T13" fmla="*/ 61 h 1414"/>
                <a:gd name="T14" fmla="*/ 660 w 660"/>
                <a:gd name="T15" fmla="*/ 84 h 1414"/>
                <a:gd name="T16" fmla="*/ 660 w 660"/>
                <a:gd name="T17" fmla="*/ 1330 h 1414"/>
                <a:gd name="T18" fmla="*/ 657 w 660"/>
                <a:gd name="T19" fmla="*/ 1353 h 1414"/>
                <a:gd name="T20" fmla="*/ 649 w 660"/>
                <a:gd name="T21" fmla="*/ 1373 h 1414"/>
                <a:gd name="T22" fmla="*/ 635 w 660"/>
                <a:gd name="T23" fmla="*/ 1390 h 1414"/>
                <a:gd name="T24" fmla="*/ 619 w 660"/>
                <a:gd name="T25" fmla="*/ 1403 h 1414"/>
                <a:gd name="T26" fmla="*/ 599 w 660"/>
                <a:gd name="T27" fmla="*/ 1411 h 1414"/>
                <a:gd name="T28" fmla="*/ 576 w 660"/>
                <a:gd name="T29" fmla="*/ 1414 h 1414"/>
                <a:gd name="T30" fmla="*/ 84 w 660"/>
                <a:gd name="T31" fmla="*/ 1414 h 1414"/>
                <a:gd name="T32" fmla="*/ 62 w 660"/>
                <a:gd name="T33" fmla="*/ 1411 h 1414"/>
                <a:gd name="T34" fmla="*/ 42 w 660"/>
                <a:gd name="T35" fmla="*/ 1403 h 1414"/>
                <a:gd name="T36" fmla="*/ 26 w 660"/>
                <a:gd name="T37" fmla="*/ 1390 h 1414"/>
                <a:gd name="T38" fmla="*/ 12 w 660"/>
                <a:gd name="T39" fmla="*/ 1373 h 1414"/>
                <a:gd name="T40" fmla="*/ 4 w 660"/>
                <a:gd name="T41" fmla="*/ 1353 h 1414"/>
                <a:gd name="T42" fmla="*/ 0 w 660"/>
                <a:gd name="T43" fmla="*/ 1330 h 1414"/>
                <a:gd name="T44" fmla="*/ 0 w 660"/>
                <a:gd name="T45" fmla="*/ 84 h 1414"/>
                <a:gd name="T46" fmla="*/ 4 w 660"/>
                <a:gd name="T47" fmla="*/ 61 h 1414"/>
                <a:gd name="T48" fmla="*/ 12 w 660"/>
                <a:gd name="T49" fmla="*/ 41 h 1414"/>
                <a:gd name="T50" fmla="*/ 26 w 660"/>
                <a:gd name="T51" fmla="*/ 23 h 1414"/>
                <a:gd name="T52" fmla="*/ 42 w 660"/>
                <a:gd name="T53" fmla="*/ 11 h 1414"/>
                <a:gd name="T54" fmla="*/ 62 w 660"/>
                <a:gd name="T55" fmla="*/ 2 h 1414"/>
                <a:gd name="T56" fmla="*/ 84 w 660"/>
                <a:gd name="T57" fmla="*/ 0 h 1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60" h="1414">
                  <a:moveTo>
                    <a:pt x="84" y="0"/>
                  </a:moveTo>
                  <a:lnTo>
                    <a:pt x="576" y="0"/>
                  </a:lnTo>
                  <a:lnTo>
                    <a:pt x="599" y="2"/>
                  </a:lnTo>
                  <a:lnTo>
                    <a:pt x="619" y="11"/>
                  </a:lnTo>
                  <a:lnTo>
                    <a:pt x="635" y="23"/>
                  </a:lnTo>
                  <a:lnTo>
                    <a:pt x="649" y="41"/>
                  </a:lnTo>
                  <a:lnTo>
                    <a:pt x="657" y="61"/>
                  </a:lnTo>
                  <a:lnTo>
                    <a:pt x="660" y="84"/>
                  </a:lnTo>
                  <a:lnTo>
                    <a:pt x="660" y="1330"/>
                  </a:lnTo>
                  <a:lnTo>
                    <a:pt x="657" y="1353"/>
                  </a:lnTo>
                  <a:lnTo>
                    <a:pt x="649" y="1373"/>
                  </a:lnTo>
                  <a:lnTo>
                    <a:pt x="635" y="1390"/>
                  </a:lnTo>
                  <a:lnTo>
                    <a:pt x="619" y="1403"/>
                  </a:lnTo>
                  <a:lnTo>
                    <a:pt x="599" y="1411"/>
                  </a:lnTo>
                  <a:lnTo>
                    <a:pt x="576" y="1414"/>
                  </a:lnTo>
                  <a:lnTo>
                    <a:pt x="84" y="1414"/>
                  </a:lnTo>
                  <a:lnTo>
                    <a:pt x="62" y="1411"/>
                  </a:lnTo>
                  <a:lnTo>
                    <a:pt x="42" y="1403"/>
                  </a:lnTo>
                  <a:lnTo>
                    <a:pt x="26" y="1390"/>
                  </a:lnTo>
                  <a:lnTo>
                    <a:pt x="12" y="1373"/>
                  </a:lnTo>
                  <a:lnTo>
                    <a:pt x="4" y="1353"/>
                  </a:lnTo>
                  <a:lnTo>
                    <a:pt x="0" y="1330"/>
                  </a:lnTo>
                  <a:lnTo>
                    <a:pt x="0" y="84"/>
                  </a:lnTo>
                  <a:lnTo>
                    <a:pt x="4" y="61"/>
                  </a:lnTo>
                  <a:lnTo>
                    <a:pt x="12" y="41"/>
                  </a:lnTo>
                  <a:lnTo>
                    <a:pt x="26" y="23"/>
                  </a:lnTo>
                  <a:lnTo>
                    <a:pt x="42" y="11"/>
                  </a:lnTo>
                  <a:lnTo>
                    <a:pt x="62" y="2"/>
                  </a:lnTo>
                  <a:lnTo>
                    <a:pt x="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107" name="Freeform 9"/>
            <p:cNvSpPr/>
            <p:nvPr/>
          </p:nvSpPr>
          <p:spPr bwMode="auto">
            <a:xfrm>
              <a:off x="3845" y="1028"/>
              <a:ext cx="220" cy="943"/>
            </a:xfrm>
            <a:custGeom>
              <a:avLst/>
              <a:gdLst>
                <a:gd name="T0" fmla="*/ 84 w 659"/>
                <a:gd name="T1" fmla="*/ 0 h 2830"/>
                <a:gd name="T2" fmla="*/ 575 w 659"/>
                <a:gd name="T3" fmla="*/ 0 h 2830"/>
                <a:gd name="T4" fmla="*/ 598 w 659"/>
                <a:gd name="T5" fmla="*/ 3 h 2830"/>
                <a:gd name="T6" fmla="*/ 618 w 659"/>
                <a:gd name="T7" fmla="*/ 11 h 2830"/>
                <a:gd name="T8" fmla="*/ 634 w 659"/>
                <a:gd name="T9" fmla="*/ 24 h 2830"/>
                <a:gd name="T10" fmla="*/ 648 w 659"/>
                <a:gd name="T11" fmla="*/ 41 h 2830"/>
                <a:gd name="T12" fmla="*/ 656 w 659"/>
                <a:gd name="T13" fmla="*/ 61 h 2830"/>
                <a:gd name="T14" fmla="*/ 659 w 659"/>
                <a:gd name="T15" fmla="*/ 84 h 2830"/>
                <a:gd name="T16" fmla="*/ 659 w 659"/>
                <a:gd name="T17" fmla="*/ 2746 h 2830"/>
                <a:gd name="T18" fmla="*/ 656 w 659"/>
                <a:gd name="T19" fmla="*/ 2769 h 2830"/>
                <a:gd name="T20" fmla="*/ 648 w 659"/>
                <a:gd name="T21" fmla="*/ 2789 h 2830"/>
                <a:gd name="T22" fmla="*/ 634 w 659"/>
                <a:gd name="T23" fmla="*/ 2806 h 2830"/>
                <a:gd name="T24" fmla="*/ 618 w 659"/>
                <a:gd name="T25" fmla="*/ 2819 h 2830"/>
                <a:gd name="T26" fmla="*/ 598 w 659"/>
                <a:gd name="T27" fmla="*/ 2827 h 2830"/>
                <a:gd name="T28" fmla="*/ 575 w 659"/>
                <a:gd name="T29" fmla="*/ 2830 h 2830"/>
                <a:gd name="T30" fmla="*/ 84 w 659"/>
                <a:gd name="T31" fmla="*/ 2830 h 2830"/>
                <a:gd name="T32" fmla="*/ 61 w 659"/>
                <a:gd name="T33" fmla="*/ 2827 h 2830"/>
                <a:gd name="T34" fmla="*/ 41 w 659"/>
                <a:gd name="T35" fmla="*/ 2819 h 2830"/>
                <a:gd name="T36" fmla="*/ 25 w 659"/>
                <a:gd name="T37" fmla="*/ 2806 h 2830"/>
                <a:gd name="T38" fmla="*/ 11 w 659"/>
                <a:gd name="T39" fmla="*/ 2789 h 2830"/>
                <a:gd name="T40" fmla="*/ 2 w 659"/>
                <a:gd name="T41" fmla="*/ 2769 h 2830"/>
                <a:gd name="T42" fmla="*/ 0 w 659"/>
                <a:gd name="T43" fmla="*/ 2746 h 2830"/>
                <a:gd name="T44" fmla="*/ 0 w 659"/>
                <a:gd name="T45" fmla="*/ 84 h 2830"/>
                <a:gd name="T46" fmla="*/ 2 w 659"/>
                <a:gd name="T47" fmla="*/ 61 h 2830"/>
                <a:gd name="T48" fmla="*/ 11 w 659"/>
                <a:gd name="T49" fmla="*/ 41 h 2830"/>
                <a:gd name="T50" fmla="*/ 25 w 659"/>
                <a:gd name="T51" fmla="*/ 24 h 2830"/>
                <a:gd name="T52" fmla="*/ 41 w 659"/>
                <a:gd name="T53" fmla="*/ 11 h 2830"/>
                <a:gd name="T54" fmla="*/ 61 w 659"/>
                <a:gd name="T55" fmla="*/ 3 h 2830"/>
                <a:gd name="T56" fmla="*/ 84 w 659"/>
                <a:gd name="T57" fmla="*/ 0 h 2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9" h="2830">
                  <a:moveTo>
                    <a:pt x="84" y="0"/>
                  </a:moveTo>
                  <a:lnTo>
                    <a:pt x="575" y="0"/>
                  </a:lnTo>
                  <a:lnTo>
                    <a:pt x="598" y="3"/>
                  </a:lnTo>
                  <a:lnTo>
                    <a:pt x="618" y="11"/>
                  </a:lnTo>
                  <a:lnTo>
                    <a:pt x="634" y="24"/>
                  </a:lnTo>
                  <a:lnTo>
                    <a:pt x="648" y="41"/>
                  </a:lnTo>
                  <a:lnTo>
                    <a:pt x="656" y="61"/>
                  </a:lnTo>
                  <a:lnTo>
                    <a:pt x="659" y="84"/>
                  </a:lnTo>
                  <a:lnTo>
                    <a:pt x="659" y="2746"/>
                  </a:lnTo>
                  <a:lnTo>
                    <a:pt x="656" y="2769"/>
                  </a:lnTo>
                  <a:lnTo>
                    <a:pt x="648" y="2789"/>
                  </a:lnTo>
                  <a:lnTo>
                    <a:pt x="634" y="2806"/>
                  </a:lnTo>
                  <a:lnTo>
                    <a:pt x="618" y="2819"/>
                  </a:lnTo>
                  <a:lnTo>
                    <a:pt x="598" y="2827"/>
                  </a:lnTo>
                  <a:lnTo>
                    <a:pt x="575" y="2830"/>
                  </a:lnTo>
                  <a:lnTo>
                    <a:pt x="84" y="2830"/>
                  </a:lnTo>
                  <a:lnTo>
                    <a:pt x="61" y="2827"/>
                  </a:lnTo>
                  <a:lnTo>
                    <a:pt x="41" y="2819"/>
                  </a:lnTo>
                  <a:lnTo>
                    <a:pt x="25" y="2806"/>
                  </a:lnTo>
                  <a:lnTo>
                    <a:pt x="11" y="2789"/>
                  </a:lnTo>
                  <a:lnTo>
                    <a:pt x="2" y="2769"/>
                  </a:lnTo>
                  <a:lnTo>
                    <a:pt x="0" y="2746"/>
                  </a:lnTo>
                  <a:lnTo>
                    <a:pt x="0" y="84"/>
                  </a:lnTo>
                  <a:lnTo>
                    <a:pt x="2" y="61"/>
                  </a:lnTo>
                  <a:lnTo>
                    <a:pt x="11" y="41"/>
                  </a:lnTo>
                  <a:lnTo>
                    <a:pt x="25" y="24"/>
                  </a:lnTo>
                  <a:lnTo>
                    <a:pt x="41" y="11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108" name="Freeform 10"/>
            <p:cNvSpPr/>
            <p:nvPr/>
          </p:nvSpPr>
          <p:spPr bwMode="auto">
            <a:xfrm>
              <a:off x="3534" y="1275"/>
              <a:ext cx="220" cy="696"/>
            </a:xfrm>
            <a:custGeom>
              <a:avLst/>
              <a:gdLst>
                <a:gd name="T0" fmla="*/ 84 w 659"/>
                <a:gd name="T1" fmla="*/ 0 h 2088"/>
                <a:gd name="T2" fmla="*/ 575 w 659"/>
                <a:gd name="T3" fmla="*/ 0 h 2088"/>
                <a:gd name="T4" fmla="*/ 598 w 659"/>
                <a:gd name="T5" fmla="*/ 3 h 2088"/>
                <a:gd name="T6" fmla="*/ 618 w 659"/>
                <a:gd name="T7" fmla="*/ 12 h 2088"/>
                <a:gd name="T8" fmla="*/ 634 w 659"/>
                <a:gd name="T9" fmla="*/ 25 h 2088"/>
                <a:gd name="T10" fmla="*/ 648 w 659"/>
                <a:gd name="T11" fmla="*/ 42 h 2088"/>
                <a:gd name="T12" fmla="*/ 656 w 659"/>
                <a:gd name="T13" fmla="*/ 62 h 2088"/>
                <a:gd name="T14" fmla="*/ 659 w 659"/>
                <a:gd name="T15" fmla="*/ 84 h 2088"/>
                <a:gd name="T16" fmla="*/ 659 w 659"/>
                <a:gd name="T17" fmla="*/ 2004 h 2088"/>
                <a:gd name="T18" fmla="*/ 656 w 659"/>
                <a:gd name="T19" fmla="*/ 2027 h 2088"/>
                <a:gd name="T20" fmla="*/ 648 w 659"/>
                <a:gd name="T21" fmla="*/ 2047 h 2088"/>
                <a:gd name="T22" fmla="*/ 634 w 659"/>
                <a:gd name="T23" fmla="*/ 2064 h 2088"/>
                <a:gd name="T24" fmla="*/ 618 w 659"/>
                <a:gd name="T25" fmla="*/ 2077 h 2088"/>
                <a:gd name="T26" fmla="*/ 598 w 659"/>
                <a:gd name="T27" fmla="*/ 2085 h 2088"/>
                <a:gd name="T28" fmla="*/ 575 w 659"/>
                <a:gd name="T29" fmla="*/ 2088 h 2088"/>
                <a:gd name="T30" fmla="*/ 84 w 659"/>
                <a:gd name="T31" fmla="*/ 2088 h 2088"/>
                <a:gd name="T32" fmla="*/ 61 w 659"/>
                <a:gd name="T33" fmla="*/ 2085 h 2088"/>
                <a:gd name="T34" fmla="*/ 41 w 659"/>
                <a:gd name="T35" fmla="*/ 2077 h 2088"/>
                <a:gd name="T36" fmla="*/ 25 w 659"/>
                <a:gd name="T37" fmla="*/ 2064 h 2088"/>
                <a:gd name="T38" fmla="*/ 11 w 659"/>
                <a:gd name="T39" fmla="*/ 2047 h 2088"/>
                <a:gd name="T40" fmla="*/ 3 w 659"/>
                <a:gd name="T41" fmla="*/ 2027 h 2088"/>
                <a:gd name="T42" fmla="*/ 0 w 659"/>
                <a:gd name="T43" fmla="*/ 2004 h 2088"/>
                <a:gd name="T44" fmla="*/ 0 w 659"/>
                <a:gd name="T45" fmla="*/ 84 h 2088"/>
                <a:gd name="T46" fmla="*/ 3 w 659"/>
                <a:gd name="T47" fmla="*/ 62 h 2088"/>
                <a:gd name="T48" fmla="*/ 11 w 659"/>
                <a:gd name="T49" fmla="*/ 42 h 2088"/>
                <a:gd name="T50" fmla="*/ 25 w 659"/>
                <a:gd name="T51" fmla="*/ 25 h 2088"/>
                <a:gd name="T52" fmla="*/ 41 w 659"/>
                <a:gd name="T53" fmla="*/ 12 h 2088"/>
                <a:gd name="T54" fmla="*/ 61 w 659"/>
                <a:gd name="T55" fmla="*/ 3 h 2088"/>
                <a:gd name="T56" fmla="*/ 84 w 659"/>
                <a:gd name="T57" fmla="*/ 0 h 2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9" h="2088">
                  <a:moveTo>
                    <a:pt x="84" y="0"/>
                  </a:moveTo>
                  <a:lnTo>
                    <a:pt x="575" y="0"/>
                  </a:lnTo>
                  <a:lnTo>
                    <a:pt x="598" y="3"/>
                  </a:lnTo>
                  <a:lnTo>
                    <a:pt x="618" y="12"/>
                  </a:lnTo>
                  <a:lnTo>
                    <a:pt x="634" y="25"/>
                  </a:lnTo>
                  <a:lnTo>
                    <a:pt x="648" y="42"/>
                  </a:lnTo>
                  <a:lnTo>
                    <a:pt x="656" y="62"/>
                  </a:lnTo>
                  <a:lnTo>
                    <a:pt x="659" y="84"/>
                  </a:lnTo>
                  <a:lnTo>
                    <a:pt x="659" y="2004"/>
                  </a:lnTo>
                  <a:lnTo>
                    <a:pt x="656" y="2027"/>
                  </a:lnTo>
                  <a:lnTo>
                    <a:pt x="648" y="2047"/>
                  </a:lnTo>
                  <a:lnTo>
                    <a:pt x="634" y="2064"/>
                  </a:lnTo>
                  <a:lnTo>
                    <a:pt x="618" y="2077"/>
                  </a:lnTo>
                  <a:lnTo>
                    <a:pt x="598" y="2085"/>
                  </a:lnTo>
                  <a:lnTo>
                    <a:pt x="575" y="2088"/>
                  </a:lnTo>
                  <a:lnTo>
                    <a:pt x="84" y="2088"/>
                  </a:lnTo>
                  <a:lnTo>
                    <a:pt x="61" y="2085"/>
                  </a:lnTo>
                  <a:lnTo>
                    <a:pt x="41" y="2077"/>
                  </a:lnTo>
                  <a:lnTo>
                    <a:pt x="25" y="2064"/>
                  </a:lnTo>
                  <a:lnTo>
                    <a:pt x="11" y="2047"/>
                  </a:lnTo>
                  <a:lnTo>
                    <a:pt x="3" y="2027"/>
                  </a:lnTo>
                  <a:lnTo>
                    <a:pt x="0" y="2004"/>
                  </a:lnTo>
                  <a:lnTo>
                    <a:pt x="0" y="84"/>
                  </a:lnTo>
                  <a:lnTo>
                    <a:pt x="3" y="62"/>
                  </a:lnTo>
                  <a:lnTo>
                    <a:pt x="11" y="42"/>
                  </a:lnTo>
                  <a:lnTo>
                    <a:pt x="25" y="25"/>
                  </a:lnTo>
                  <a:lnTo>
                    <a:pt x="41" y="12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109" name="Freeform 11"/>
            <p:cNvSpPr/>
            <p:nvPr/>
          </p:nvSpPr>
          <p:spPr bwMode="auto">
            <a:xfrm>
              <a:off x="3223" y="1623"/>
              <a:ext cx="220" cy="348"/>
            </a:xfrm>
            <a:custGeom>
              <a:avLst/>
              <a:gdLst>
                <a:gd name="T0" fmla="*/ 84 w 660"/>
                <a:gd name="T1" fmla="*/ 0 h 1044"/>
                <a:gd name="T2" fmla="*/ 576 w 660"/>
                <a:gd name="T3" fmla="*/ 0 h 1044"/>
                <a:gd name="T4" fmla="*/ 598 w 660"/>
                <a:gd name="T5" fmla="*/ 3 h 1044"/>
                <a:gd name="T6" fmla="*/ 618 w 660"/>
                <a:gd name="T7" fmla="*/ 12 h 1044"/>
                <a:gd name="T8" fmla="*/ 635 w 660"/>
                <a:gd name="T9" fmla="*/ 24 h 1044"/>
                <a:gd name="T10" fmla="*/ 648 w 660"/>
                <a:gd name="T11" fmla="*/ 42 h 1044"/>
                <a:gd name="T12" fmla="*/ 656 w 660"/>
                <a:gd name="T13" fmla="*/ 62 h 1044"/>
                <a:gd name="T14" fmla="*/ 660 w 660"/>
                <a:gd name="T15" fmla="*/ 84 h 1044"/>
                <a:gd name="T16" fmla="*/ 660 w 660"/>
                <a:gd name="T17" fmla="*/ 960 h 1044"/>
                <a:gd name="T18" fmla="*/ 656 w 660"/>
                <a:gd name="T19" fmla="*/ 983 h 1044"/>
                <a:gd name="T20" fmla="*/ 648 w 660"/>
                <a:gd name="T21" fmla="*/ 1003 h 1044"/>
                <a:gd name="T22" fmla="*/ 635 w 660"/>
                <a:gd name="T23" fmla="*/ 1020 h 1044"/>
                <a:gd name="T24" fmla="*/ 618 w 660"/>
                <a:gd name="T25" fmla="*/ 1033 h 1044"/>
                <a:gd name="T26" fmla="*/ 598 w 660"/>
                <a:gd name="T27" fmla="*/ 1041 h 1044"/>
                <a:gd name="T28" fmla="*/ 576 w 660"/>
                <a:gd name="T29" fmla="*/ 1044 h 1044"/>
                <a:gd name="T30" fmla="*/ 84 w 660"/>
                <a:gd name="T31" fmla="*/ 1044 h 1044"/>
                <a:gd name="T32" fmla="*/ 62 w 660"/>
                <a:gd name="T33" fmla="*/ 1041 h 1044"/>
                <a:gd name="T34" fmla="*/ 42 w 660"/>
                <a:gd name="T35" fmla="*/ 1033 h 1044"/>
                <a:gd name="T36" fmla="*/ 25 w 660"/>
                <a:gd name="T37" fmla="*/ 1020 h 1044"/>
                <a:gd name="T38" fmla="*/ 12 w 660"/>
                <a:gd name="T39" fmla="*/ 1003 h 1044"/>
                <a:gd name="T40" fmla="*/ 4 w 660"/>
                <a:gd name="T41" fmla="*/ 983 h 1044"/>
                <a:gd name="T42" fmla="*/ 0 w 660"/>
                <a:gd name="T43" fmla="*/ 960 h 1044"/>
                <a:gd name="T44" fmla="*/ 0 w 660"/>
                <a:gd name="T45" fmla="*/ 84 h 1044"/>
                <a:gd name="T46" fmla="*/ 4 w 660"/>
                <a:gd name="T47" fmla="*/ 62 h 1044"/>
                <a:gd name="T48" fmla="*/ 12 w 660"/>
                <a:gd name="T49" fmla="*/ 42 h 1044"/>
                <a:gd name="T50" fmla="*/ 25 w 660"/>
                <a:gd name="T51" fmla="*/ 24 h 1044"/>
                <a:gd name="T52" fmla="*/ 42 w 660"/>
                <a:gd name="T53" fmla="*/ 12 h 1044"/>
                <a:gd name="T54" fmla="*/ 62 w 660"/>
                <a:gd name="T55" fmla="*/ 3 h 1044"/>
                <a:gd name="T56" fmla="*/ 84 w 660"/>
                <a:gd name="T57" fmla="*/ 0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60" h="1044">
                  <a:moveTo>
                    <a:pt x="84" y="0"/>
                  </a:moveTo>
                  <a:lnTo>
                    <a:pt x="576" y="0"/>
                  </a:lnTo>
                  <a:lnTo>
                    <a:pt x="598" y="3"/>
                  </a:lnTo>
                  <a:lnTo>
                    <a:pt x="618" y="12"/>
                  </a:lnTo>
                  <a:lnTo>
                    <a:pt x="635" y="24"/>
                  </a:lnTo>
                  <a:lnTo>
                    <a:pt x="648" y="42"/>
                  </a:lnTo>
                  <a:lnTo>
                    <a:pt x="656" y="62"/>
                  </a:lnTo>
                  <a:lnTo>
                    <a:pt x="660" y="84"/>
                  </a:lnTo>
                  <a:lnTo>
                    <a:pt x="660" y="960"/>
                  </a:lnTo>
                  <a:lnTo>
                    <a:pt x="656" y="983"/>
                  </a:lnTo>
                  <a:lnTo>
                    <a:pt x="648" y="1003"/>
                  </a:lnTo>
                  <a:lnTo>
                    <a:pt x="635" y="1020"/>
                  </a:lnTo>
                  <a:lnTo>
                    <a:pt x="618" y="1033"/>
                  </a:lnTo>
                  <a:lnTo>
                    <a:pt x="598" y="1041"/>
                  </a:lnTo>
                  <a:lnTo>
                    <a:pt x="576" y="1044"/>
                  </a:lnTo>
                  <a:lnTo>
                    <a:pt x="84" y="1044"/>
                  </a:lnTo>
                  <a:lnTo>
                    <a:pt x="62" y="1041"/>
                  </a:lnTo>
                  <a:lnTo>
                    <a:pt x="42" y="1033"/>
                  </a:lnTo>
                  <a:lnTo>
                    <a:pt x="25" y="1020"/>
                  </a:lnTo>
                  <a:lnTo>
                    <a:pt x="12" y="1003"/>
                  </a:lnTo>
                  <a:lnTo>
                    <a:pt x="4" y="983"/>
                  </a:lnTo>
                  <a:lnTo>
                    <a:pt x="0" y="960"/>
                  </a:lnTo>
                  <a:lnTo>
                    <a:pt x="0" y="84"/>
                  </a:lnTo>
                  <a:lnTo>
                    <a:pt x="4" y="62"/>
                  </a:lnTo>
                  <a:lnTo>
                    <a:pt x="12" y="42"/>
                  </a:lnTo>
                  <a:lnTo>
                    <a:pt x="25" y="24"/>
                  </a:lnTo>
                  <a:lnTo>
                    <a:pt x="42" y="12"/>
                  </a:lnTo>
                  <a:lnTo>
                    <a:pt x="62" y="3"/>
                  </a:lnTo>
                  <a:lnTo>
                    <a:pt x="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41" name="Group 173"/>
          <p:cNvGrpSpPr>
            <a:grpSpLocks noChangeAspect="1"/>
          </p:cNvGrpSpPr>
          <p:nvPr/>
        </p:nvGrpSpPr>
        <p:grpSpPr bwMode="auto">
          <a:xfrm>
            <a:off x="5790017" y="2690864"/>
            <a:ext cx="412575" cy="416827"/>
            <a:chOff x="4910" y="1317"/>
            <a:chExt cx="4270" cy="4314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42" name="Freeform 175"/>
            <p:cNvSpPr/>
            <p:nvPr/>
          </p:nvSpPr>
          <p:spPr bwMode="auto">
            <a:xfrm>
              <a:off x="4910" y="2197"/>
              <a:ext cx="1219" cy="952"/>
            </a:xfrm>
            <a:custGeom>
              <a:avLst/>
              <a:gdLst>
                <a:gd name="T0" fmla="*/ 124 w 1219"/>
                <a:gd name="T1" fmla="*/ 0 h 952"/>
                <a:gd name="T2" fmla="*/ 269 w 1219"/>
                <a:gd name="T3" fmla="*/ 0 h 952"/>
                <a:gd name="T4" fmla="*/ 288 w 1219"/>
                <a:gd name="T5" fmla="*/ 3 h 952"/>
                <a:gd name="T6" fmla="*/ 305 w 1219"/>
                <a:gd name="T7" fmla="*/ 9 h 952"/>
                <a:gd name="T8" fmla="*/ 319 w 1219"/>
                <a:gd name="T9" fmla="*/ 20 h 952"/>
                <a:gd name="T10" fmla="*/ 331 w 1219"/>
                <a:gd name="T11" fmla="*/ 33 h 952"/>
                <a:gd name="T12" fmla="*/ 530 w 1219"/>
                <a:gd name="T13" fmla="*/ 319 h 952"/>
                <a:gd name="T14" fmla="*/ 578 w 1219"/>
                <a:gd name="T15" fmla="*/ 216 h 952"/>
                <a:gd name="T16" fmla="*/ 500 w 1219"/>
                <a:gd name="T17" fmla="*/ 50 h 952"/>
                <a:gd name="T18" fmla="*/ 496 w 1219"/>
                <a:gd name="T19" fmla="*/ 35 h 952"/>
                <a:gd name="T20" fmla="*/ 499 w 1219"/>
                <a:gd name="T21" fmla="*/ 22 h 952"/>
                <a:gd name="T22" fmla="*/ 506 w 1219"/>
                <a:gd name="T23" fmla="*/ 12 h 952"/>
                <a:gd name="T24" fmla="*/ 517 w 1219"/>
                <a:gd name="T25" fmla="*/ 4 h 952"/>
                <a:gd name="T26" fmla="*/ 531 w 1219"/>
                <a:gd name="T27" fmla="*/ 0 h 952"/>
                <a:gd name="T28" fmla="*/ 690 w 1219"/>
                <a:gd name="T29" fmla="*/ 0 h 952"/>
                <a:gd name="T30" fmla="*/ 703 w 1219"/>
                <a:gd name="T31" fmla="*/ 4 h 952"/>
                <a:gd name="T32" fmla="*/ 713 w 1219"/>
                <a:gd name="T33" fmla="*/ 12 h 952"/>
                <a:gd name="T34" fmla="*/ 721 w 1219"/>
                <a:gd name="T35" fmla="*/ 22 h 952"/>
                <a:gd name="T36" fmla="*/ 724 w 1219"/>
                <a:gd name="T37" fmla="*/ 35 h 952"/>
                <a:gd name="T38" fmla="*/ 720 w 1219"/>
                <a:gd name="T39" fmla="*/ 50 h 952"/>
                <a:gd name="T40" fmla="*/ 641 w 1219"/>
                <a:gd name="T41" fmla="*/ 216 h 952"/>
                <a:gd name="T42" fmla="*/ 691 w 1219"/>
                <a:gd name="T43" fmla="*/ 321 h 952"/>
                <a:gd name="T44" fmla="*/ 894 w 1219"/>
                <a:gd name="T45" fmla="*/ 33 h 952"/>
                <a:gd name="T46" fmla="*/ 906 w 1219"/>
                <a:gd name="T47" fmla="*/ 18 h 952"/>
                <a:gd name="T48" fmla="*/ 922 w 1219"/>
                <a:gd name="T49" fmla="*/ 9 h 952"/>
                <a:gd name="T50" fmla="*/ 937 w 1219"/>
                <a:gd name="T51" fmla="*/ 3 h 952"/>
                <a:gd name="T52" fmla="*/ 956 w 1219"/>
                <a:gd name="T53" fmla="*/ 0 h 952"/>
                <a:gd name="T54" fmla="*/ 1094 w 1219"/>
                <a:gd name="T55" fmla="*/ 0 h 952"/>
                <a:gd name="T56" fmla="*/ 1122 w 1219"/>
                <a:gd name="T57" fmla="*/ 4 h 952"/>
                <a:gd name="T58" fmla="*/ 1148 w 1219"/>
                <a:gd name="T59" fmla="*/ 13 h 952"/>
                <a:gd name="T60" fmla="*/ 1172 w 1219"/>
                <a:gd name="T61" fmla="*/ 28 h 952"/>
                <a:gd name="T62" fmla="*/ 1191 w 1219"/>
                <a:gd name="T63" fmla="*/ 47 h 952"/>
                <a:gd name="T64" fmla="*/ 1206 w 1219"/>
                <a:gd name="T65" fmla="*/ 71 h 952"/>
                <a:gd name="T66" fmla="*/ 1215 w 1219"/>
                <a:gd name="T67" fmla="*/ 97 h 952"/>
                <a:gd name="T68" fmla="*/ 1219 w 1219"/>
                <a:gd name="T69" fmla="*/ 124 h 952"/>
                <a:gd name="T70" fmla="*/ 1219 w 1219"/>
                <a:gd name="T71" fmla="*/ 154 h 952"/>
                <a:gd name="T72" fmla="*/ 1124 w 1219"/>
                <a:gd name="T73" fmla="*/ 213 h 952"/>
                <a:gd name="T74" fmla="*/ 1035 w 1219"/>
                <a:gd name="T75" fmla="*/ 279 h 952"/>
                <a:gd name="T76" fmla="*/ 949 w 1219"/>
                <a:gd name="T77" fmla="*/ 350 h 952"/>
                <a:gd name="T78" fmla="*/ 868 w 1219"/>
                <a:gd name="T79" fmla="*/ 427 h 952"/>
                <a:gd name="T80" fmla="*/ 825 w 1219"/>
                <a:gd name="T81" fmla="*/ 471 h 952"/>
                <a:gd name="T82" fmla="*/ 783 w 1219"/>
                <a:gd name="T83" fmla="*/ 517 h 952"/>
                <a:gd name="T84" fmla="*/ 753 w 1219"/>
                <a:gd name="T85" fmla="*/ 554 h 952"/>
                <a:gd name="T86" fmla="*/ 722 w 1219"/>
                <a:gd name="T87" fmla="*/ 590 h 952"/>
                <a:gd name="T88" fmla="*/ 660 w 1219"/>
                <a:gd name="T89" fmla="*/ 676 h 952"/>
                <a:gd name="T90" fmla="*/ 602 w 1219"/>
                <a:gd name="T91" fmla="*/ 765 h 952"/>
                <a:gd name="T92" fmla="*/ 551 w 1219"/>
                <a:gd name="T93" fmla="*/ 856 h 952"/>
                <a:gd name="T94" fmla="*/ 504 w 1219"/>
                <a:gd name="T95" fmla="*/ 952 h 952"/>
                <a:gd name="T96" fmla="*/ 0 w 1219"/>
                <a:gd name="T97" fmla="*/ 952 h 952"/>
                <a:gd name="T98" fmla="*/ 0 w 1219"/>
                <a:gd name="T99" fmla="*/ 124 h 952"/>
                <a:gd name="T100" fmla="*/ 4 w 1219"/>
                <a:gd name="T101" fmla="*/ 97 h 952"/>
                <a:gd name="T102" fmla="*/ 13 w 1219"/>
                <a:gd name="T103" fmla="*/ 71 h 952"/>
                <a:gd name="T104" fmla="*/ 27 w 1219"/>
                <a:gd name="T105" fmla="*/ 47 h 952"/>
                <a:gd name="T106" fmla="*/ 47 w 1219"/>
                <a:gd name="T107" fmla="*/ 28 h 952"/>
                <a:gd name="T108" fmla="*/ 69 w 1219"/>
                <a:gd name="T109" fmla="*/ 13 h 952"/>
                <a:gd name="T110" fmla="*/ 95 w 1219"/>
                <a:gd name="T111" fmla="*/ 4 h 952"/>
                <a:gd name="T112" fmla="*/ 124 w 1219"/>
                <a:gd name="T113" fmla="*/ 0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19" h="952">
                  <a:moveTo>
                    <a:pt x="124" y="0"/>
                  </a:moveTo>
                  <a:lnTo>
                    <a:pt x="269" y="0"/>
                  </a:lnTo>
                  <a:lnTo>
                    <a:pt x="288" y="3"/>
                  </a:lnTo>
                  <a:lnTo>
                    <a:pt x="305" y="9"/>
                  </a:lnTo>
                  <a:lnTo>
                    <a:pt x="319" y="20"/>
                  </a:lnTo>
                  <a:lnTo>
                    <a:pt x="331" y="33"/>
                  </a:lnTo>
                  <a:lnTo>
                    <a:pt x="530" y="319"/>
                  </a:lnTo>
                  <a:lnTo>
                    <a:pt x="578" y="216"/>
                  </a:lnTo>
                  <a:lnTo>
                    <a:pt x="500" y="50"/>
                  </a:lnTo>
                  <a:lnTo>
                    <a:pt x="496" y="35"/>
                  </a:lnTo>
                  <a:lnTo>
                    <a:pt x="499" y="22"/>
                  </a:lnTo>
                  <a:lnTo>
                    <a:pt x="506" y="12"/>
                  </a:lnTo>
                  <a:lnTo>
                    <a:pt x="517" y="4"/>
                  </a:lnTo>
                  <a:lnTo>
                    <a:pt x="531" y="0"/>
                  </a:lnTo>
                  <a:lnTo>
                    <a:pt x="690" y="0"/>
                  </a:lnTo>
                  <a:lnTo>
                    <a:pt x="703" y="4"/>
                  </a:lnTo>
                  <a:lnTo>
                    <a:pt x="713" y="12"/>
                  </a:lnTo>
                  <a:lnTo>
                    <a:pt x="721" y="22"/>
                  </a:lnTo>
                  <a:lnTo>
                    <a:pt x="724" y="35"/>
                  </a:lnTo>
                  <a:lnTo>
                    <a:pt x="720" y="50"/>
                  </a:lnTo>
                  <a:lnTo>
                    <a:pt x="641" y="216"/>
                  </a:lnTo>
                  <a:lnTo>
                    <a:pt x="691" y="321"/>
                  </a:lnTo>
                  <a:lnTo>
                    <a:pt x="894" y="33"/>
                  </a:lnTo>
                  <a:lnTo>
                    <a:pt x="906" y="18"/>
                  </a:lnTo>
                  <a:lnTo>
                    <a:pt x="922" y="9"/>
                  </a:lnTo>
                  <a:lnTo>
                    <a:pt x="937" y="3"/>
                  </a:lnTo>
                  <a:lnTo>
                    <a:pt x="956" y="0"/>
                  </a:lnTo>
                  <a:lnTo>
                    <a:pt x="1094" y="0"/>
                  </a:lnTo>
                  <a:lnTo>
                    <a:pt x="1122" y="4"/>
                  </a:lnTo>
                  <a:lnTo>
                    <a:pt x="1148" y="13"/>
                  </a:lnTo>
                  <a:lnTo>
                    <a:pt x="1172" y="28"/>
                  </a:lnTo>
                  <a:lnTo>
                    <a:pt x="1191" y="47"/>
                  </a:lnTo>
                  <a:lnTo>
                    <a:pt x="1206" y="71"/>
                  </a:lnTo>
                  <a:lnTo>
                    <a:pt x="1215" y="97"/>
                  </a:lnTo>
                  <a:lnTo>
                    <a:pt x="1219" y="124"/>
                  </a:lnTo>
                  <a:lnTo>
                    <a:pt x="1219" y="154"/>
                  </a:lnTo>
                  <a:lnTo>
                    <a:pt x="1124" y="213"/>
                  </a:lnTo>
                  <a:lnTo>
                    <a:pt x="1035" y="279"/>
                  </a:lnTo>
                  <a:lnTo>
                    <a:pt x="949" y="350"/>
                  </a:lnTo>
                  <a:lnTo>
                    <a:pt x="868" y="427"/>
                  </a:lnTo>
                  <a:lnTo>
                    <a:pt x="825" y="471"/>
                  </a:lnTo>
                  <a:lnTo>
                    <a:pt x="783" y="517"/>
                  </a:lnTo>
                  <a:lnTo>
                    <a:pt x="753" y="554"/>
                  </a:lnTo>
                  <a:lnTo>
                    <a:pt x="722" y="590"/>
                  </a:lnTo>
                  <a:lnTo>
                    <a:pt x="660" y="676"/>
                  </a:lnTo>
                  <a:lnTo>
                    <a:pt x="602" y="765"/>
                  </a:lnTo>
                  <a:lnTo>
                    <a:pt x="551" y="856"/>
                  </a:lnTo>
                  <a:lnTo>
                    <a:pt x="504" y="952"/>
                  </a:lnTo>
                  <a:lnTo>
                    <a:pt x="0" y="952"/>
                  </a:lnTo>
                  <a:lnTo>
                    <a:pt x="0" y="124"/>
                  </a:lnTo>
                  <a:lnTo>
                    <a:pt x="4" y="97"/>
                  </a:lnTo>
                  <a:lnTo>
                    <a:pt x="13" y="71"/>
                  </a:lnTo>
                  <a:lnTo>
                    <a:pt x="27" y="47"/>
                  </a:lnTo>
                  <a:lnTo>
                    <a:pt x="47" y="28"/>
                  </a:lnTo>
                  <a:lnTo>
                    <a:pt x="69" y="13"/>
                  </a:lnTo>
                  <a:lnTo>
                    <a:pt x="95" y="4"/>
                  </a:lnTo>
                  <a:lnTo>
                    <a:pt x="1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43" name="Freeform 176"/>
            <p:cNvSpPr/>
            <p:nvPr/>
          </p:nvSpPr>
          <p:spPr bwMode="auto">
            <a:xfrm>
              <a:off x="5118" y="1317"/>
              <a:ext cx="801" cy="801"/>
            </a:xfrm>
            <a:custGeom>
              <a:avLst/>
              <a:gdLst>
                <a:gd name="T0" fmla="*/ 401 w 801"/>
                <a:gd name="T1" fmla="*/ 0 h 801"/>
                <a:gd name="T2" fmla="*/ 454 w 801"/>
                <a:gd name="T3" fmla="*/ 3 h 801"/>
                <a:gd name="T4" fmla="*/ 507 w 801"/>
                <a:gd name="T5" fmla="*/ 15 h 801"/>
                <a:gd name="T6" fmla="*/ 556 w 801"/>
                <a:gd name="T7" fmla="*/ 32 h 801"/>
                <a:gd name="T8" fmla="*/ 602 w 801"/>
                <a:gd name="T9" fmla="*/ 55 h 801"/>
                <a:gd name="T10" fmla="*/ 645 w 801"/>
                <a:gd name="T11" fmla="*/ 84 h 801"/>
                <a:gd name="T12" fmla="*/ 683 w 801"/>
                <a:gd name="T13" fmla="*/ 117 h 801"/>
                <a:gd name="T14" fmla="*/ 717 w 801"/>
                <a:gd name="T15" fmla="*/ 156 h 801"/>
                <a:gd name="T16" fmla="*/ 746 w 801"/>
                <a:gd name="T17" fmla="*/ 198 h 801"/>
                <a:gd name="T18" fmla="*/ 770 w 801"/>
                <a:gd name="T19" fmla="*/ 245 h 801"/>
                <a:gd name="T20" fmla="*/ 787 w 801"/>
                <a:gd name="T21" fmla="*/ 294 h 801"/>
                <a:gd name="T22" fmla="*/ 797 w 801"/>
                <a:gd name="T23" fmla="*/ 346 h 801"/>
                <a:gd name="T24" fmla="*/ 801 w 801"/>
                <a:gd name="T25" fmla="*/ 401 h 801"/>
                <a:gd name="T26" fmla="*/ 797 w 801"/>
                <a:gd name="T27" fmla="*/ 455 h 801"/>
                <a:gd name="T28" fmla="*/ 787 w 801"/>
                <a:gd name="T29" fmla="*/ 507 h 801"/>
                <a:gd name="T30" fmla="*/ 770 w 801"/>
                <a:gd name="T31" fmla="*/ 557 h 801"/>
                <a:gd name="T32" fmla="*/ 746 w 801"/>
                <a:gd name="T33" fmla="*/ 602 h 801"/>
                <a:gd name="T34" fmla="*/ 717 w 801"/>
                <a:gd name="T35" fmla="*/ 646 h 801"/>
                <a:gd name="T36" fmla="*/ 683 w 801"/>
                <a:gd name="T37" fmla="*/ 684 h 801"/>
                <a:gd name="T38" fmla="*/ 645 w 801"/>
                <a:gd name="T39" fmla="*/ 718 h 801"/>
                <a:gd name="T40" fmla="*/ 602 w 801"/>
                <a:gd name="T41" fmla="*/ 746 h 801"/>
                <a:gd name="T42" fmla="*/ 556 w 801"/>
                <a:gd name="T43" fmla="*/ 770 h 801"/>
                <a:gd name="T44" fmla="*/ 507 w 801"/>
                <a:gd name="T45" fmla="*/ 787 h 801"/>
                <a:gd name="T46" fmla="*/ 454 w 801"/>
                <a:gd name="T47" fmla="*/ 798 h 801"/>
                <a:gd name="T48" fmla="*/ 401 w 801"/>
                <a:gd name="T49" fmla="*/ 801 h 801"/>
                <a:gd name="T50" fmla="*/ 347 w 801"/>
                <a:gd name="T51" fmla="*/ 798 h 801"/>
                <a:gd name="T52" fmla="*/ 295 w 801"/>
                <a:gd name="T53" fmla="*/ 787 h 801"/>
                <a:gd name="T54" fmla="*/ 245 w 801"/>
                <a:gd name="T55" fmla="*/ 770 h 801"/>
                <a:gd name="T56" fmla="*/ 199 w 801"/>
                <a:gd name="T57" fmla="*/ 746 h 801"/>
                <a:gd name="T58" fmla="*/ 156 w 801"/>
                <a:gd name="T59" fmla="*/ 718 h 801"/>
                <a:gd name="T60" fmla="*/ 118 w 801"/>
                <a:gd name="T61" fmla="*/ 684 h 801"/>
                <a:gd name="T62" fmla="*/ 84 w 801"/>
                <a:gd name="T63" fmla="*/ 646 h 801"/>
                <a:gd name="T64" fmla="*/ 55 w 801"/>
                <a:gd name="T65" fmla="*/ 602 h 801"/>
                <a:gd name="T66" fmla="*/ 31 w 801"/>
                <a:gd name="T67" fmla="*/ 557 h 801"/>
                <a:gd name="T68" fmla="*/ 14 w 801"/>
                <a:gd name="T69" fmla="*/ 507 h 801"/>
                <a:gd name="T70" fmla="*/ 4 w 801"/>
                <a:gd name="T71" fmla="*/ 455 h 801"/>
                <a:gd name="T72" fmla="*/ 0 w 801"/>
                <a:gd name="T73" fmla="*/ 401 h 801"/>
                <a:gd name="T74" fmla="*/ 4 w 801"/>
                <a:gd name="T75" fmla="*/ 346 h 801"/>
                <a:gd name="T76" fmla="*/ 14 w 801"/>
                <a:gd name="T77" fmla="*/ 294 h 801"/>
                <a:gd name="T78" fmla="*/ 31 w 801"/>
                <a:gd name="T79" fmla="*/ 245 h 801"/>
                <a:gd name="T80" fmla="*/ 55 w 801"/>
                <a:gd name="T81" fmla="*/ 198 h 801"/>
                <a:gd name="T82" fmla="*/ 84 w 801"/>
                <a:gd name="T83" fmla="*/ 156 h 801"/>
                <a:gd name="T84" fmla="*/ 118 w 801"/>
                <a:gd name="T85" fmla="*/ 117 h 801"/>
                <a:gd name="T86" fmla="*/ 156 w 801"/>
                <a:gd name="T87" fmla="*/ 84 h 801"/>
                <a:gd name="T88" fmla="*/ 199 w 801"/>
                <a:gd name="T89" fmla="*/ 55 h 801"/>
                <a:gd name="T90" fmla="*/ 245 w 801"/>
                <a:gd name="T91" fmla="*/ 32 h 801"/>
                <a:gd name="T92" fmla="*/ 295 w 801"/>
                <a:gd name="T93" fmla="*/ 15 h 801"/>
                <a:gd name="T94" fmla="*/ 347 w 801"/>
                <a:gd name="T95" fmla="*/ 3 h 801"/>
                <a:gd name="T96" fmla="*/ 401 w 801"/>
                <a:gd name="T97" fmla="*/ 0 h 801"/>
                <a:gd name="T98" fmla="*/ 401 w 801"/>
                <a:gd name="T99" fmla="*/ 0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01" h="801">
                  <a:moveTo>
                    <a:pt x="401" y="0"/>
                  </a:moveTo>
                  <a:lnTo>
                    <a:pt x="454" y="3"/>
                  </a:lnTo>
                  <a:lnTo>
                    <a:pt x="507" y="15"/>
                  </a:lnTo>
                  <a:lnTo>
                    <a:pt x="556" y="32"/>
                  </a:lnTo>
                  <a:lnTo>
                    <a:pt x="602" y="55"/>
                  </a:lnTo>
                  <a:lnTo>
                    <a:pt x="645" y="84"/>
                  </a:lnTo>
                  <a:lnTo>
                    <a:pt x="683" y="117"/>
                  </a:lnTo>
                  <a:lnTo>
                    <a:pt x="717" y="156"/>
                  </a:lnTo>
                  <a:lnTo>
                    <a:pt x="746" y="198"/>
                  </a:lnTo>
                  <a:lnTo>
                    <a:pt x="770" y="245"/>
                  </a:lnTo>
                  <a:lnTo>
                    <a:pt x="787" y="294"/>
                  </a:lnTo>
                  <a:lnTo>
                    <a:pt x="797" y="346"/>
                  </a:lnTo>
                  <a:lnTo>
                    <a:pt x="801" y="401"/>
                  </a:lnTo>
                  <a:lnTo>
                    <a:pt x="797" y="455"/>
                  </a:lnTo>
                  <a:lnTo>
                    <a:pt x="787" y="507"/>
                  </a:lnTo>
                  <a:lnTo>
                    <a:pt x="770" y="557"/>
                  </a:lnTo>
                  <a:lnTo>
                    <a:pt x="746" y="602"/>
                  </a:lnTo>
                  <a:lnTo>
                    <a:pt x="717" y="646"/>
                  </a:lnTo>
                  <a:lnTo>
                    <a:pt x="683" y="684"/>
                  </a:lnTo>
                  <a:lnTo>
                    <a:pt x="645" y="718"/>
                  </a:lnTo>
                  <a:lnTo>
                    <a:pt x="602" y="746"/>
                  </a:lnTo>
                  <a:lnTo>
                    <a:pt x="556" y="770"/>
                  </a:lnTo>
                  <a:lnTo>
                    <a:pt x="507" y="787"/>
                  </a:lnTo>
                  <a:lnTo>
                    <a:pt x="454" y="798"/>
                  </a:lnTo>
                  <a:lnTo>
                    <a:pt x="401" y="801"/>
                  </a:lnTo>
                  <a:lnTo>
                    <a:pt x="347" y="798"/>
                  </a:lnTo>
                  <a:lnTo>
                    <a:pt x="295" y="787"/>
                  </a:lnTo>
                  <a:lnTo>
                    <a:pt x="245" y="770"/>
                  </a:lnTo>
                  <a:lnTo>
                    <a:pt x="199" y="746"/>
                  </a:lnTo>
                  <a:lnTo>
                    <a:pt x="156" y="718"/>
                  </a:lnTo>
                  <a:lnTo>
                    <a:pt x="118" y="684"/>
                  </a:lnTo>
                  <a:lnTo>
                    <a:pt x="84" y="646"/>
                  </a:lnTo>
                  <a:lnTo>
                    <a:pt x="55" y="602"/>
                  </a:lnTo>
                  <a:lnTo>
                    <a:pt x="31" y="557"/>
                  </a:lnTo>
                  <a:lnTo>
                    <a:pt x="14" y="507"/>
                  </a:lnTo>
                  <a:lnTo>
                    <a:pt x="4" y="455"/>
                  </a:lnTo>
                  <a:lnTo>
                    <a:pt x="0" y="401"/>
                  </a:lnTo>
                  <a:lnTo>
                    <a:pt x="4" y="346"/>
                  </a:lnTo>
                  <a:lnTo>
                    <a:pt x="14" y="294"/>
                  </a:lnTo>
                  <a:lnTo>
                    <a:pt x="31" y="245"/>
                  </a:lnTo>
                  <a:lnTo>
                    <a:pt x="55" y="198"/>
                  </a:lnTo>
                  <a:lnTo>
                    <a:pt x="84" y="156"/>
                  </a:lnTo>
                  <a:lnTo>
                    <a:pt x="118" y="117"/>
                  </a:lnTo>
                  <a:lnTo>
                    <a:pt x="156" y="84"/>
                  </a:lnTo>
                  <a:lnTo>
                    <a:pt x="199" y="55"/>
                  </a:lnTo>
                  <a:lnTo>
                    <a:pt x="245" y="32"/>
                  </a:lnTo>
                  <a:lnTo>
                    <a:pt x="295" y="15"/>
                  </a:lnTo>
                  <a:lnTo>
                    <a:pt x="347" y="3"/>
                  </a:lnTo>
                  <a:lnTo>
                    <a:pt x="401" y="0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44" name="Freeform 177"/>
            <p:cNvSpPr/>
            <p:nvPr/>
          </p:nvSpPr>
          <p:spPr bwMode="auto">
            <a:xfrm>
              <a:off x="7941" y="2197"/>
              <a:ext cx="1218" cy="952"/>
            </a:xfrm>
            <a:custGeom>
              <a:avLst/>
              <a:gdLst>
                <a:gd name="T0" fmla="*/ 124 w 1218"/>
                <a:gd name="T1" fmla="*/ 0 h 952"/>
                <a:gd name="T2" fmla="*/ 270 w 1218"/>
                <a:gd name="T3" fmla="*/ 0 h 952"/>
                <a:gd name="T4" fmla="*/ 287 w 1218"/>
                <a:gd name="T5" fmla="*/ 3 h 952"/>
                <a:gd name="T6" fmla="*/ 304 w 1218"/>
                <a:gd name="T7" fmla="*/ 9 h 952"/>
                <a:gd name="T8" fmla="*/ 319 w 1218"/>
                <a:gd name="T9" fmla="*/ 20 h 952"/>
                <a:gd name="T10" fmla="*/ 331 w 1218"/>
                <a:gd name="T11" fmla="*/ 33 h 952"/>
                <a:gd name="T12" fmla="*/ 529 w 1218"/>
                <a:gd name="T13" fmla="*/ 319 h 952"/>
                <a:gd name="T14" fmla="*/ 579 w 1218"/>
                <a:gd name="T15" fmla="*/ 216 h 952"/>
                <a:gd name="T16" fmla="*/ 499 w 1218"/>
                <a:gd name="T17" fmla="*/ 50 h 952"/>
                <a:gd name="T18" fmla="*/ 496 w 1218"/>
                <a:gd name="T19" fmla="*/ 35 h 952"/>
                <a:gd name="T20" fmla="*/ 498 w 1218"/>
                <a:gd name="T21" fmla="*/ 22 h 952"/>
                <a:gd name="T22" fmla="*/ 505 w 1218"/>
                <a:gd name="T23" fmla="*/ 12 h 952"/>
                <a:gd name="T24" fmla="*/ 516 w 1218"/>
                <a:gd name="T25" fmla="*/ 4 h 952"/>
                <a:gd name="T26" fmla="*/ 530 w 1218"/>
                <a:gd name="T27" fmla="*/ 0 h 952"/>
                <a:gd name="T28" fmla="*/ 689 w 1218"/>
                <a:gd name="T29" fmla="*/ 0 h 952"/>
                <a:gd name="T30" fmla="*/ 702 w 1218"/>
                <a:gd name="T31" fmla="*/ 4 h 952"/>
                <a:gd name="T32" fmla="*/ 714 w 1218"/>
                <a:gd name="T33" fmla="*/ 12 h 952"/>
                <a:gd name="T34" fmla="*/ 720 w 1218"/>
                <a:gd name="T35" fmla="*/ 22 h 952"/>
                <a:gd name="T36" fmla="*/ 723 w 1218"/>
                <a:gd name="T37" fmla="*/ 35 h 952"/>
                <a:gd name="T38" fmla="*/ 719 w 1218"/>
                <a:gd name="T39" fmla="*/ 50 h 952"/>
                <a:gd name="T40" fmla="*/ 640 w 1218"/>
                <a:gd name="T41" fmla="*/ 216 h 952"/>
                <a:gd name="T42" fmla="*/ 690 w 1218"/>
                <a:gd name="T43" fmla="*/ 321 h 952"/>
                <a:gd name="T44" fmla="*/ 893 w 1218"/>
                <a:gd name="T45" fmla="*/ 33 h 952"/>
                <a:gd name="T46" fmla="*/ 906 w 1218"/>
                <a:gd name="T47" fmla="*/ 18 h 952"/>
                <a:gd name="T48" fmla="*/ 921 w 1218"/>
                <a:gd name="T49" fmla="*/ 9 h 952"/>
                <a:gd name="T50" fmla="*/ 936 w 1218"/>
                <a:gd name="T51" fmla="*/ 3 h 952"/>
                <a:gd name="T52" fmla="*/ 955 w 1218"/>
                <a:gd name="T53" fmla="*/ 0 h 952"/>
                <a:gd name="T54" fmla="*/ 1093 w 1218"/>
                <a:gd name="T55" fmla="*/ 0 h 952"/>
                <a:gd name="T56" fmla="*/ 1121 w 1218"/>
                <a:gd name="T57" fmla="*/ 4 h 952"/>
                <a:gd name="T58" fmla="*/ 1147 w 1218"/>
                <a:gd name="T59" fmla="*/ 13 h 952"/>
                <a:gd name="T60" fmla="*/ 1171 w 1218"/>
                <a:gd name="T61" fmla="*/ 28 h 952"/>
                <a:gd name="T62" fmla="*/ 1190 w 1218"/>
                <a:gd name="T63" fmla="*/ 47 h 952"/>
                <a:gd name="T64" fmla="*/ 1205 w 1218"/>
                <a:gd name="T65" fmla="*/ 71 h 952"/>
                <a:gd name="T66" fmla="*/ 1214 w 1218"/>
                <a:gd name="T67" fmla="*/ 97 h 952"/>
                <a:gd name="T68" fmla="*/ 1218 w 1218"/>
                <a:gd name="T69" fmla="*/ 124 h 952"/>
                <a:gd name="T70" fmla="*/ 1218 w 1218"/>
                <a:gd name="T71" fmla="*/ 952 h 952"/>
                <a:gd name="T72" fmla="*/ 708 w 1218"/>
                <a:gd name="T73" fmla="*/ 952 h 952"/>
                <a:gd name="T74" fmla="*/ 663 w 1218"/>
                <a:gd name="T75" fmla="*/ 856 h 952"/>
                <a:gd name="T76" fmla="*/ 610 w 1218"/>
                <a:gd name="T77" fmla="*/ 763 h 952"/>
                <a:gd name="T78" fmla="*/ 553 w 1218"/>
                <a:gd name="T79" fmla="*/ 676 h 952"/>
                <a:gd name="T80" fmla="*/ 491 w 1218"/>
                <a:gd name="T81" fmla="*/ 590 h 952"/>
                <a:gd name="T82" fmla="*/ 433 w 1218"/>
                <a:gd name="T83" fmla="*/ 520 h 952"/>
                <a:gd name="T84" fmla="*/ 390 w 1218"/>
                <a:gd name="T85" fmla="*/ 473 h 952"/>
                <a:gd name="T86" fmla="*/ 346 w 1218"/>
                <a:gd name="T87" fmla="*/ 427 h 952"/>
                <a:gd name="T88" fmla="*/ 266 w 1218"/>
                <a:gd name="T89" fmla="*/ 351 h 952"/>
                <a:gd name="T90" fmla="*/ 181 w 1218"/>
                <a:gd name="T91" fmla="*/ 280 h 952"/>
                <a:gd name="T92" fmla="*/ 92 w 1218"/>
                <a:gd name="T93" fmla="*/ 216 h 952"/>
                <a:gd name="T94" fmla="*/ 0 w 1218"/>
                <a:gd name="T95" fmla="*/ 157 h 952"/>
                <a:gd name="T96" fmla="*/ 0 w 1218"/>
                <a:gd name="T97" fmla="*/ 124 h 952"/>
                <a:gd name="T98" fmla="*/ 3 w 1218"/>
                <a:gd name="T99" fmla="*/ 97 h 952"/>
                <a:gd name="T100" fmla="*/ 12 w 1218"/>
                <a:gd name="T101" fmla="*/ 71 h 952"/>
                <a:gd name="T102" fmla="*/ 27 w 1218"/>
                <a:gd name="T103" fmla="*/ 47 h 952"/>
                <a:gd name="T104" fmla="*/ 46 w 1218"/>
                <a:gd name="T105" fmla="*/ 28 h 952"/>
                <a:gd name="T106" fmla="*/ 69 w 1218"/>
                <a:gd name="T107" fmla="*/ 13 h 952"/>
                <a:gd name="T108" fmla="*/ 96 w 1218"/>
                <a:gd name="T109" fmla="*/ 4 h 952"/>
                <a:gd name="T110" fmla="*/ 124 w 1218"/>
                <a:gd name="T111" fmla="*/ 0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218" h="952">
                  <a:moveTo>
                    <a:pt x="124" y="0"/>
                  </a:moveTo>
                  <a:lnTo>
                    <a:pt x="270" y="0"/>
                  </a:lnTo>
                  <a:lnTo>
                    <a:pt x="287" y="3"/>
                  </a:lnTo>
                  <a:lnTo>
                    <a:pt x="304" y="9"/>
                  </a:lnTo>
                  <a:lnTo>
                    <a:pt x="319" y="20"/>
                  </a:lnTo>
                  <a:lnTo>
                    <a:pt x="331" y="33"/>
                  </a:lnTo>
                  <a:lnTo>
                    <a:pt x="529" y="319"/>
                  </a:lnTo>
                  <a:lnTo>
                    <a:pt x="579" y="216"/>
                  </a:lnTo>
                  <a:lnTo>
                    <a:pt x="499" y="50"/>
                  </a:lnTo>
                  <a:lnTo>
                    <a:pt x="496" y="35"/>
                  </a:lnTo>
                  <a:lnTo>
                    <a:pt x="498" y="22"/>
                  </a:lnTo>
                  <a:lnTo>
                    <a:pt x="505" y="12"/>
                  </a:lnTo>
                  <a:lnTo>
                    <a:pt x="516" y="4"/>
                  </a:lnTo>
                  <a:lnTo>
                    <a:pt x="530" y="0"/>
                  </a:lnTo>
                  <a:lnTo>
                    <a:pt x="689" y="0"/>
                  </a:lnTo>
                  <a:lnTo>
                    <a:pt x="702" y="4"/>
                  </a:lnTo>
                  <a:lnTo>
                    <a:pt x="714" y="12"/>
                  </a:lnTo>
                  <a:lnTo>
                    <a:pt x="720" y="22"/>
                  </a:lnTo>
                  <a:lnTo>
                    <a:pt x="723" y="35"/>
                  </a:lnTo>
                  <a:lnTo>
                    <a:pt x="719" y="50"/>
                  </a:lnTo>
                  <a:lnTo>
                    <a:pt x="640" y="216"/>
                  </a:lnTo>
                  <a:lnTo>
                    <a:pt x="690" y="321"/>
                  </a:lnTo>
                  <a:lnTo>
                    <a:pt x="893" y="33"/>
                  </a:lnTo>
                  <a:lnTo>
                    <a:pt x="906" y="18"/>
                  </a:lnTo>
                  <a:lnTo>
                    <a:pt x="921" y="9"/>
                  </a:lnTo>
                  <a:lnTo>
                    <a:pt x="936" y="3"/>
                  </a:lnTo>
                  <a:lnTo>
                    <a:pt x="955" y="0"/>
                  </a:lnTo>
                  <a:lnTo>
                    <a:pt x="1093" y="0"/>
                  </a:lnTo>
                  <a:lnTo>
                    <a:pt x="1121" y="4"/>
                  </a:lnTo>
                  <a:lnTo>
                    <a:pt x="1147" y="13"/>
                  </a:lnTo>
                  <a:lnTo>
                    <a:pt x="1171" y="28"/>
                  </a:lnTo>
                  <a:lnTo>
                    <a:pt x="1190" y="47"/>
                  </a:lnTo>
                  <a:lnTo>
                    <a:pt x="1205" y="71"/>
                  </a:lnTo>
                  <a:lnTo>
                    <a:pt x="1214" y="97"/>
                  </a:lnTo>
                  <a:lnTo>
                    <a:pt x="1218" y="124"/>
                  </a:lnTo>
                  <a:lnTo>
                    <a:pt x="1218" y="952"/>
                  </a:lnTo>
                  <a:lnTo>
                    <a:pt x="708" y="952"/>
                  </a:lnTo>
                  <a:lnTo>
                    <a:pt x="663" y="856"/>
                  </a:lnTo>
                  <a:lnTo>
                    <a:pt x="610" y="763"/>
                  </a:lnTo>
                  <a:lnTo>
                    <a:pt x="553" y="676"/>
                  </a:lnTo>
                  <a:lnTo>
                    <a:pt x="491" y="590"/>
                  </a:lnTo>
                  <a:lnTo>
                    <a:pt x="433" y="520"/>
                  </a:lnTo>
                  <a:lnTo>
                    <a:pt x="390" y="473"/>
                  </a:lnTo>
                  <a:lnTo>
                    <a:pt x="346" y="427"/>
                  </a:lnTo>
                  <a:lnTo>
                    <a:pt x="266" y="351"/>
                  </a:lnTo>
                  <a:lnTo>
                    <a:pt x="181" y="280"/>
                  </a:lnTo>
                  <a:lnTo>
                    <a:pt x="92" y="216"/>
                  </a:lnTo>
                  <a:lnTo>
                    <a:pt x="0" y="157"/>
                  </a:lnTo>
                  <a:lnTo>
                    <a:pt x="0" y="124"/>
                  </a:lnTo>
                  <a:lnTo>
                    <a:pt x="3" y="97"/>
                  </a:lnTo>
                  <a:lnTo>
                    <a:pt x="12" y="71"/>
                  </a:lnTo>
                  <a:lnTo>
                    <a:pt x="27" y="47"/>
                  </a:lnTo>
                  <a:lnTo>
                    <a:pt x="46" y="28"/>
                  </a:lnTo>
                  <a:lnTo>
                    <a:pt x="69" y="13"/>
                  </a:lnTo>
                  <a:lnTo>
                    <a:pt x="96" y="4"/>
                  </a:lnTo>
                  <a:lnTo>
                    <a:pt x="1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45" name="Freeform 178"/>
            <p:cNvSpPr/>
            <p:nvPr/>
          </p:nvSpPr>
          <p:spPr bwMode="auto">
            <a:xfrm>
              <a:off x="8149" y="1317"/>
              <a:ext cx="802" cy="801"/>
            </a:xfrm>
            <a:custGeom>
              <a:avLst/>
              <a:gdLst>
                <a:gd name="T0" fmla="*/ 401 w 802"/>
                <a:gd name="T1" fmla="*/ 0 h 801"/>
                <a:gd name="T2" fmla="*/ 455 w 802"/>
                <a:gd name="T3" fmla="*/ 3 h 801"/>
                <a:gd name="T4" fmla="*/ 507 w 802"/>
                <a:gd name="T5" fmla="*/ 15 h 801"/>
                <a:gd name="T6" fmla="*/ 557 w 802"/>
                <a:gd name="T7" fmla="*/ 32 h 801"/>
                <a:gd name="T8" fmla="*/ 603 w 802"/>
                <a:gd name="T9" fmla="*/ 55 h 801"/>
                <a:gd name="T10" fmla="*/ 644 w 802"/>
                <a:gd name="T11" fmla="*/ 84 h 801"/>
                <a:gd name="T12" fmla="*/ 684 w 802"/>
                <a:gd name="T13" fmla="*/ 117 h 801"/>
                <a:gd name="T14" fmla="*/ 718 w 802"/>
                <a:gd name="T15" fmla="*/ 156 h 801"/>
                <a:gd name="T16" fmla="*/ 747 w 802"/>
                <a:gd name="T17" fmla="*/ 198 h 801"/>
                <a:gd name="T18" fmla="*/ 769 w 802"/>
                <a:gd name="T19" fmla="*/ 245 h 801"/>
                <a:gd name="T20" fmla="*/ 787 w 802"/>
                <a:gd name="T21" fmla="*/ 294 h 801"/>
                <a:gd name="T22" fmla="*/ 798 w 802"/>
                <a:gd name="T23" fmla="*/ 346 h 801"/>
                <a:gd name="T24" fmla="*/ 802 w 802"/>
                <a:gd name="T25" fmla="*/ 401 h 801"/>
                <a:gd name="T26" fmla="*/ 798 w 802"/>
                <a:gd name="T27" fmla="*/ 455 h 801"/>
                <a:gd name="T28" fmla="*/ 787 w 802"/>
                <a:gd name="T29" fmla="*/ 507 h 801"/>
                <a:gd name="T30" fmla="*/ 769 w 802"/>
                <a:gd name="T31" fmla="*/ 557 h 801"/>
                <a:gd name="T32" fmla="*/ 747 w 802"/>
                <a:gd name="T33" fmla="*/ 602 h 801"/>
                <a:gd name="T34" fmla="*/ 718 w 802"/>
                <a:gd name="T35" fmla="*/ 646 h 801"/>
                <a:gd name="T36" fmla="*/ 684 w 802"/>
                <a:gd name="T37" fmla="*/ 684 h 801"/>
                <a:gd name="T38" fmla="*/ 644 w 802"/>
                <a:gd name="T39" fmla="*/ 718 h 801"/>
                <a:gd name="T40" fmla="*/ 603 w 802"/>
                <a:gd name="T41" fmla="*/ 746 h 801"/>
                <a:gd name="T42" fmla="*/ 557 w 802"/>
                <a:gd name="T43" fmla="*/ 770 h 801"/>
                <a:gd name="T44" fmla="*/ 507 w 802"/>
                <a:gd name="T45" fmla="*/ 787 h 801"/>
                <a:gd name="T46" fmla="*/ 455 w 802"/>
                <a:gd name="T47" fmla="*/ 798 h 801"/>
                <a:gd name="T48" fmla="*/ 401 w 802"/>
                <a:gd name="T49" fmla="*/ 801 h 801"/>
                <a:gd name="T50" fmla="*/ 346 w 802"/>
                <a:gd name="T51" fmla="*/ 798 h 801"/>
                <a:gd name="T52" fmla="*/ 293 w 802"/>
                <a:gd name="T53" fmla="*/ 787 h 801"/>
                <a:gd name="T54" fmla="*/ 245 w 802"/>
                <a:gd name="T55" fmla="*/ 770 h 801"/>
                <a:gd name="T56" fmla="*/ 198 w 802"/>
                <a:gd name="T57" fmla="*/ 746 h 801"/>
                <a:gd name="T58" fmla="*/ 156 w 802"/>
                <a:gd name="T59" fmla="*/ 718 h 801"/>
                <a:gd name="T60" fmla="*/ 117 w 802"/>
                <a:gd name="T61" fmla="*/ 684 h 801"/>
                <a:gd name="T62" fmla="*/ 83 w 802"/>
                <a:gd name="T63" fmla="*/ 646 h 801"/>
                <a:gd name="T64" fmla="*/ 54 w 802"/>
                <a:gd name="T65" fmla="*/ 602 h 801"/>
                <a:gd name="T66" fmla="*/ 32 w 802"/>
                <a:gd name="T67" fmla="*/ 557 h 801"/>
                <a:gd name="T68" fmla="*/ 13 w 802"/>
                <a:gd name="T69" fmla="*/ 507 h 801"/>
                <a:gd name="T70" fmla="*/ 3 w 802"/>
                <a:gd name="T71" fmla="*/ 455 h 801"/>
                <a:gd name="T72" fmla="*/ 0 w 802"/>
                <a:gd name="T73" fmla="*/ 401 h 801"/>
                <a:gd name="T74" fmla="*/ 3 w 802"/>
                <a:gd name="T75" fmla="*/ 346 h 801"/>
                <a:gd name="T76" fmla="*/ 13 w 802"/>
                <a:gd name="T77" fmla="*/ 294 h 801"/>
                <a:gd name="T78" fmla="*/ 32 w 802"/>
                <a:gd name="T79" fmla="*/ 245 h 801"/>
                <a:gd name="T80" fmla="*/ 54 w 802"/>
                <a:gd name="T81" fmla="*/ 198 h 801"/>
                <a:gd name="T82" fmla="*/ 83 w 802"/>
                <a:gd name="T83" fmla="*/ 156 h 801"/>
                <a:gd name="T84" fmla="*/ 117 w 802"/>
                <a:gd name="T85" fmla="*/ 117 h 801"/>
                <a:gd name="T86" fmla="*/ 156 w 802"/>
                <a:gd name="T87" fmla="*/ 84 h 801"/>
                <a:gd name="T88" fmla="*/ 198 w 802"/>
                <a:gd name="T89" fmla="*/ 55 h 801"/>
                <a:gd name="T90" fmla="*/ 245 w 802"/>
                <a:gd name="T91" fmla="*/ 32 h 801"/>
                <a:gd name="T92" fmla="*/ 293 w 802"/>
                <a:gd name="T93" fmla="*/ 15 h 801"/>
                <a:gd name="T94" fmla="*/ 346 w 802"/>
                <a:gd name="T95" fmla="*/ 3 h 801"/>
                <a:gd name="T96" fmla="*/ 401 w 802"/>
                <a:gd name="T97" fmla="*/ 0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2" h="801">
                  <a:moveTo>
                    <a:pt x="401" y="0"/>
                  </a:moveTo>
                  <a:lnTo>
                    <a:pt x="455" y="3"/>
                  </a:lnTo>
                  <a:lnTo>
                    <a:pt x="507" y="15"/>
                  </a:lnTo>
                  <a:lnTo>
                    <a:pt x="557" y="32"/>
                  </a:lnTo>
                  <a:lnTo>
                    <a:pt x="603" y="55"/>
                  </a:lnTo>
                  <a:lnTo>
                    <a:pt x="644" y="84"/>
                  </a:lnTo>
                  <a:lnTo>
                    <a:pt x="684" y="117"/>
                  </a:lnTo>
                  <a:lnTo>
                    <a:pt x="718" y="156"/>
                  </a:lnTo>
                  <a:lnTo>
                    <a:pt x="747" y="198"/>
                  </a:lnTo>
                  <a:lnTo>
                    <a:pt x="769" y="245"/>
                  </a:lnTo>
                  <a:lnTo>
                    <a:pt x="787" y="294"/>
                  </a:lnTo>
                  <a:lnTo>
                    <a:pt x="798" y="346"/>
                  </a:lnTo>
                  <a:lnTo>
                    <a:pt x="802" y="401"/>
                  </a:lnTo>
                  <a:lnTo>
                    <a:pt x="798" y="455"/>
                  </a:lnTo>
                  <a:lnTo>
                    <a:pt x="787" y="507"/>
                  </a:lnTo>
                  <a:lnTo>
                    <a:pt x="769" y="557"/>
                  </a:lnTo>
                  <a:lnTo>
                    <a:pt x="747" y="602"/>
                  </a:lnTo>
                  <a:lnTo>
                    <a:pt x="718" y="646"/>
                  </a:lnTo>
                  <a:lnTo>
                    <a:pt x="684" y="684"/>
                  </a:lnTo>
                  <a:lnTo>
                    <a:pt x="644" y="718"/>
                  </a:lnTo>
                  <a:lnTo>
                    <a:pt x="603" y="746"/>
                  </a:lnTo>
                  <a:lnTo>
                    <a:pt x="557" y="770"/>
                  </a:lnTo>
                  <a:lnTo>
                    <a:pt x="507" y="787"/>
                  </a:lnTo>
                  <a:lnTo>
                    <a:pt x="455" y="798"/>
                  </a:lnTo>
                  <a:lnTo>
                    <a:pt x="401" y="801"/>
                  </a:lnTo>
                  <a:lnTo>
                    <a:pt x="346" y="798"/>
                  </a:lnTo>
                  <a:lnTo>
                    <a:pt x="293" y="787"/>
                  </a:lnTo>
                  <a:lnTo>
                    <a:pt x="245" y="770"/>
                  </a:lnTo>
                  <a:lnTo>
                    <a:pt x="198" y="746"/>
                  </a:lnTo>
                  <a:lnTo>
                    <a:pt x="156" y="718"/>
                  </a:lnTo>
                  <a:lnTo>
                    <a:pt x="117" y="684"/>
                  </a:lnTo>
                  <a:lnTo>
                    <a:pt x="83" y="646"/>
                  </a:lnTo>
                  <a:lnTo>
                    <a:pt x="54" y="602"/>
                  </a:lnTo>
                  <a:lnTo>
                    <a:pt x="32" y="557"/>
                  </a:lnTo>
                  <a:lnTo>
                    <a:pt x="13" y="507"/>
                  </a:lnTo>
                  <a:lnTo>
                    <a:pt x="3" y="455"/>
                  </a:lnTo>
                  <a:lnTo>
                    <a:pt x="0" y="401"/>
                  </a:lnTo>
                  <a:lnTo>
                    <a:pt x="3" y="346"/>
                  </a:lnTo>
                  <a:lnTo>
                    <a:pt x="13" y="294"/>
                  </a:lnTo>
                  <a:lnTo>
                    <a:pt x="32" y="245"/>
                  </a:lnTo>
                  <a:lnTo>
                    <a:pt x="54" y="198"/>
                  </a:lnTo>
                  <a:lnTo>
                    <a:pt x="83" y="156"/>
                  </a:lnTo>
                  <a:lnTo>
                    <a:pt x="117" y="117"/>
                  </a:lnTo>
                  <a:lnTo>
                    <a:pt x="156" y="84"/>
                  </a:lnTo>
                  <a:lnTo>
                    <a:pt x="198" y="55"/>
                  </a:lnTo>
                  <a:lnTo>
                    <a:pt x="245" y="32"/>
                  </a:lnTo>
                  <a:lnTo>
                    <a:pt x="293" y="15"/>
                  </a:lnTo>
                  <a:lnTo>
                    <a:pt x="346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46" name="Freeform 179"/>
            <p:cNvSpPr/>
            <p:nvPr/>
          </p:nvSpPr>
          <p:spPr bwMode="auto">
            <a:xfrm>
              <a:off x="8262" y="4809"/>
              <a:ext cx="918" cy="822"/>
            </a:xfrm>
            <a:custGeom>
              <a:avLst/>
              <a:gdLst>
                <a:gd name="T0" fmla="*/ 281 w 918"/>
                <a:gd name="T1" fmla="*/ 0 h 822"/>
                <a:gd name="T2" fmla="*/ 830 w 918"/>
                <a:gd name="T3" fmla="*/ 421 h 822"/>
                <a:gd name="T4" fmla="*/ 857 w 918"/>
                <a:gd name="T5" fmla="*/ 445 h 822"/>
                <a:gd name="T6" fmla="*/ 880 w 918"/>
                <a:gd name="T7" fmla="*/ 472 h 822"/>
                <a:gd name="T8" fmla="*/ 897 w 918"/>
                <a:gd name="T9" fmla="*/ 504 h 822"/>
                <a:gd name="T10" fmla="*/ 909 w 918"/>
                <a:gd name="T11" fmla="*/ 535 h 822"/>
                <a:gd name="T12" fmla="*/ 916 w 918"/>
                <a:gd name="T13" fmla="*/ 569 h 822"/>
                <a:gd name="T14" fmla="*/ 918 w 918"/>
                <a:gd name="T15" fmla="*/ 603 h 822"/>
                <a:gd name="T16" fmla="*/ 915 w 918"/>
                <a:gd name="T17" fmla="*/ 637 h 822"/>
                <a:gd name="T18" fmla="*/ 906 w 918"/>
                <a:gd name="T19" fmla="*/ 671 h 822"/>
                <a:gd name="T20" fmla="*/ 892 w 918"/>
                <a:gd name="T21" fmla="*/ 704 h 822"/>
                <a:gd name="T22" fmla="*/ 872 w 918"/>
                <a:gd name="T23" fmla="*/ 734 h 822"/>
                <a:gd name="T24" fmla="*/ 848 w 918"/>
                <a:gd name="T25" fmla="*/ 760 h 822"/>
                <a:gd name="T26" fmla="*/ 821 w 918"/>
                <a:gd name="T27" fmla="*/ 782 h 822"/>
                <a:gd name="T28" fmla="*/ 792 w 918"/>
                <a:gd name="T29" fmla="*/ 800 h 822"/>
                <a:gd name="T30" fmla="*/ 761 w 918"/>
                <a:gd name="T31" fmla="*/ 811 h 822"/>
                <a:gd name="T32" fmla="*/ 728 w 918"/>
                <a:gd name="T33" fmla="*/ 819 h 822"/>
                <a:gd name="T34" fmla="*/ 694 w 918"/>
                <a:gd name="T35" fmla="*/ 822 h 822"/>
                <a:gd name="T36" fmla="*/ 658 w 918"/>
                <a:gd name="T37" fmla="*/ 819 h 822"/>
                <a:gd name="T38" fmla="*/ 624 w 918"/>
                <a:gd name="T39" fmla="*/ 810 h 822"/>
                <a:gd name="T40" fmla="*/ 590 w 918"/>
                <a:gd name="T41" fmla="*/ 796 h 822"/>
                <a:gd name="T42" fmla="*/ 559 w 918"/>
                <a:gd name="T43" fmla="*/ 776 h 822"/>
                <a:gd name="T44" fmla="*/ 0 w 918"/>
                <a:gd name="T45" fmla="*/ 348 h 822"/>
                <a:gd name="T46" fmla="*/ 25 w 918"/>
                <a:gd name="T47" fmla="*/ 323 h 822"/>
                <a:gd name="T48" fmla="*/ 97 w 918"/>
                <a:gd name="T49" fmla="*/ 248 h 822"/>
                <a:gd name="T50" fmla="*/ 162 w 918"/>
                <a:gd name="T51" fmla="*/ 169 h 822"/>
                <a:gd name="T52" fmla="*/ 225 w 918"/>
                <a:gd name="T53" fmla="*/ 86 h 822"/>
                <a:gd name="T54" fmla="*/ 281 w 918"/>
                <a:gd name="T55" fmla="*/ 0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18" h="822">
                  <a:moveTo>
                    <a:pt x="281" y="0"/>
                  </a:moveTo>
                  <a:lnTo>
                    <a:pt x="830" y="421"/>
                  </a:lnTo>
                  <a:lnTo>
                    <a:pt x="857" y="445"/>
                  </a:lnTo>
                  <a:lnTo>
                    <a:pt x="880" y="472"/>
                  </a:lnTo>
                  <a:lnTo>
                    <a:pt x="897" y="504"/>
                  </a:lnTo>
                  <a:lnTo>
                    <a:pt x="909" y="535"/>
                  </a:lnTo>
                  <a:lnTo>
                    <a:pt x="916" y="569"/>
                  </a:lnTo>
                  <a:lnTo>
                    <a:pt x="918" y="603"/>
                  </a:lnTo>
                  <a:lnTo>
                    <a:pt x="915" y="637"/>
                  </a:lnTo>
                  <a:lnTo>
                    <a:pt x="906" y="671"/>
                  </a:lnTo>
                  <a:lnTo>
                    <a:pt x="892" y="704"/>
                  </a:lnTo>
                  <a:lnTo>
                    <a:pt x="872" y="734"/>
                  </a:lnTo>
                  <a:lnTo>
                    <a:pt x="848" y="760"/>
                  </a:lnTo>
                  <a:lnTo>
                    <a:pt x="821" y="782"/>
                  </a:lnTo>
                  <a:lnTo>
                    <a:pt x="792" y="800"/>
                  </a:lnTo>
                  <a:lnTo>
                    <a:pt x="761" y="811"/>
                  </a:lnTo>
                  <a:lnTo>
                    <a:pt x="728" y="819"/>
                  </a:lnTo>
                  <a:lnTo>
                    <a:pt x="694" y="822"/>
                  </a:lnTo>
                  <a:lnTo>
                    <a:pt x="658" y="819"/>
                  </a:lnTo>
                  <a:lnTo>
                    <a:pt x="624" y="810"/>
                  </a:lnTo>
                  <a:lnTo>
                    <a:pt x="590" y="796"/>
                  </a:lnTo>
                  <a:lnTo>
                    <a:pt x="559" y="776"/>
                  </a:lnTo>
                  <a:lnTo>
                    <a:pt x="0" y="348"/>
                  </a:lnTo>
                  <a:lnTo>
                    <a:pt x="25" y="323"/>
                  </a:lnTo>
                  <a:lnTo>
                    <a:pt x="97" y="248"/>
                  </a:lnTo>
                  <a:lnTo>
                    <a:pt x="162" y="169"/>
                  </a:lnTo>
                  <a:lnTo>
                    <a:pt x="225" y="86"/>
                  </a:lnTo>
                  <a:lnTo>
                    <a:pt x="2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47" name="Freeform 180"/>
            <p:cNvSpPr/>
            <p:nvPr/>
          </p:nvSpPr>
          <p:spPr bwMode="auto">
            <a:xfrm>
              <a:off x="6426" y="3746"/>
              <a:ext cx="1218" cy="950"/>
            </a:xfrm>
            <a:custGeom>
              <a:avLst/>
              <a:gdLst>
                <a:gd name="T0" fmla="*/ 124 w 1218"/>
                <a:gd name="T1" fmla="*/ 0 h 950"/>
                <a:gd name="T2" fmla="*/ 270 w 1218"/>
                <a:gd name="T3" fmla="*/ 0 h 950"/>
                <a:gd name="T4" fmla="*/ 287 w 1218"/>
                <a:gd name="T5" fmla="*/ 2 h 950"/>
                <a:gd name="T6" fmla="*/ 304 w 1218"/>
                <a:gd name="T7" fmla="*/ 9 h 950"/>
                <a:gd name="T8" fmla="*/ 319 w 1218"/>
                <a:gd name="T9" fmla="*/ 18 h 950"/>
                <a:gd name="T10" fmla="*/ 331 w 1218"/>
                <a:gd name="T11" fmla="*/ 32 h 950"/>
                <a:gd name="T12" fmla="*/ 529 w 1218"/>
                <a:gd name="T13" fmla="*/ 318 h 950"/>
                <a:gd name="T14" fmla="*/ 577 w 1218"/>
                <a:gd name="T15" fmla="*/ 214 h 950"/>
                <a:gd name="T16" fmla="*/ 499 w 1218"/>
                <a:gd name="T17" fmla="*/ 48 h 950"/>
                <a:gd name="T18" fmla="*/ 495 w 1218"/>
                <a:gd name="T19" fmla="*/ 35 h 950"/>
                <a:gd name="T20" fmla="*/ 498 w 1218"/>
                <a:gd name="T21" fmla="*/ 22 h 950"/>
                <a:gd name="T22" fmla="*/ 504 w 1218"/>
                <a:gd name="T23" fmla="*/ 10 h 950"/>
                <a:gd name="T24" fmla="*/ 516 w 1218"/>
                <a:gd name="T25" fmla="*/ 2 h 950"/>
                <a:gd name="T26" fmla="*/ 529 w 1218"/>
                <a:gd name="T27" fmla="*/ 0 h 950"/>
                <a:gd name="T28" fmla="*/ 687 w 1218"/>
                <a:gd name="T29" fmla="*/ 0 h 950"/>
                <a:gd name="T30" fmla="*/ 702 w 1218"/>
                <a:gd name="T31" fmla="*/ 2 h 950"/>
                <a:gd name="T32" fmla="*/ 712 w 1218"/>
                <a:gd name="T33" fmla="*/ 10 h 950"/>
                <a:gd name="T34" fmla="*/ 720 w 1218"/>
                <a:gd name="T35" fmla="*/ 22 h 950"/>
                <a:gd name="T36" fmla="*/ 721 w 1218"/>
                <a:gd name="T37" fmla="*/ 35 h 950"/>
                <a:gd name="T38" fmla="*/ 719 w 1218"/>
                <a:gd name="T39" fmla="*/ 48 h 950"/>
                <a:gd name="T40" fmla="*/ 639 w 1218"/>
                <a:gd name="T41" fmla="*/ 214 h 950"/>
                <a:gd name="T42" fmla="*/ 689 w 1218"/>
                <a:gd name="T43" fmla="*/ 319 h 950"/>
                <a:gd name="T44" fmla="*/ 893 w 1218"/>
                <a:gd name="T45" fmla="*/ 31 h 950"/>
                <a:gd name="T46" fmla="*/ 905 w 1218"/>
                <a:gd name="T47" fmla="*/ 18 h 950"/>
                <a:gd name="T48" fmla="*/ 919 w 1218"/>
                <a:gd name="T49" fmla="*/ 8 h 950"/>
                <a:gd name="T50" fmla="*/ 936 w 1218"/>
                <a:gd name="T51" fmla="*/ 1 h 950"/>
                <a:gd name="T52" fmla="*/ 955 w 1218"/>
                <a:gd name="T53" fmla="*/ 0 h 950"/>
                <a:gd name="T54" fmla="*/ 1092 w 1218"/>
                <a:gd name="T55" fmla="*/ 0 h 950"/>
                <a:gd name="T56" fmla="*/ 1121 w 1218"/>
                <a:gd name="T57" fmla="*/ 2 h 950"/>
                <a:gd name="T58" fmla="*/ 1147 w 1218"/>
                <a:gd name="T59" fmla="*/ 11 h 950"/>
                <a:gd name="T60" fmla="*/ 1171 w 1218"/>
                <a:gd name="T61" fmla="*/ 27 h 950"/>
                <a:gd name="T62" fmla="*/ 1189 w 1218"/>
                <a:gd name="T63" fmla="*/ 45 h 950"/>
                <a:gd name="T64" fmla="*/ 1205 w 1218"/>
                <a:gd name="T65" fmla="*/ 69 h 950"/>
                <a:gd name="T66" fmla="*/ 1214 w 1218"/>
                <a:gd name="T67" fmla="*/ 95 h 950"/>
                <a:gd name="T68" fmla="*/ 1216 w 1218"/>
                <a:gd name="T69" fmla="*/ 124 h 950"/>
                <a:gd name="T70" fmla="*/ 1218 w 1218"/>
                <a:gd name="T71" fmla="*/ 124 h 950"/>
                <a:gd name="T72" fmla="*/ 1218 w 1218"/>
                <a:gd name="T73" fmla="*/ 950 h 950"/>
                <a:gd name="T74" fmla="*/ 0 w 1218"/>
                <a:gd name="T75" fmla="*/ 950 h 950"/>
                <a:gd name="T76" fmla="*/ 0 w 1218"/>
                <a:gd name="T77" fmla="*/ 124 h 950"/>
                <a:gd name="T78" fmla="*/ 3 w 1218"/>
                <a:gd name="T79" fmla="*/ 95 h 950"/>
                <a:gd name="T80" fmla="*/ 12 w 1218"/>
                <a:gd name="T81" fmla="*/ 69 h 950"/>
                <a:gd name="T82" fmla="*/ 26 w 1218"/>
                <a:gd name="T83" fmla="*/ 45 h 950"/>
                <a:gd name="T84" fmla="*/ 46 w 1218"/>
                <a:gd name="T85" fmla="*/ 27 h 950"/>
                <a:gd name="T86" fmla="*/ 69 w 1218"/>
                <a:gd name="T87" fmla="*/ 13 h 950"/>
                <a:gd name="T88" fmla="*/ 96 w 1218"/>
                <a:gd name="T89" fmla="*/ 2 h 950"/>
                <a:gd name="T90" fmla="*/ 124 w 1218"/>
                <a:gd name="T91" fmla="*/ 0 h 9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18" h="950">
                  <a:moveTo>
                    <a:pt x="124" y="0"/>
                  </a:moveTo>
                  <a:lnTo>
                    <a:pt x="270" y="0"/>
                  </a:lnTo>
                  <a:lnTo>
                    <a:pt x="287" y="2"/>
                  </a:lnTo>
                  <a:lnTo>
                    <a:pt x="304" y="9"/>
                  </a:lnTo>
                  <a:lnTo>
                    <a:pt x="319" y="18"/>
                  </a:lnTo>
                  <a:lnTo>
                    <a:pt x="331" y="32"/>
                  </a:lnTo>
                  <a:lnTo>
                    <a:pt x="529" y="318"/>
                  </a:lnTo>
                  <a:lnTo>
                    <a:pt x="577" y="214"/>
                  </a:lnTo>
                  <a:lnTo>
                    <a:pt x="499" y="48"/>
                  </a:lnTo>
                  <a:lnTo>
                    <a:pt x="495" y="35"/>
                  </a:lnTo>
                  <a:lnTo>
                    <a:pt x="498" y="22"/>
                  </a:lnTo>
                  <a:lnTo>
                    <a:pt x="504" y="10"/>
                  </a:lnTo>
                  <a:lnTo>
                    <a:pt x="516" y="2"/>
                  </a:lnTo>
                  <a:lnTo>
                    <a:pt x="529" y="0"/>
                  </a:lnTo>
                  <a:lnTo>
                    <a:pt x="687" y="0"/>
                  </a:lnTo>
                  <a:lnTo>
                    <a:pt x="702" y="2"/>
                  </a:lnTo>
                  <a:lnTo>
                    <a:pt x="712" y="10"/>
                  </a:lnTo>
                  <a:lnTo>
                    <a:pt x="720" y="22"/>
                  </a:lnTo>
                  <a:lnTo>
                    <a:pt x="721" y="35"/>
                  </a:lnTo>
                  <a:lnTo>
                    <a:pt x="719" y="48"/>
                  </a:lnTo>
                  <a:lnTo>
                    <a:pt x="639" y="214"/>
                  </a:lnTo>
                  <a:lnTo>
                    <a:pt x="689" y="319"/>
                  </a:lnTo>
                  <a:lnTo>
                    <a:pt x="893" y="31"/>
                  </a:lnTo>
                  <a:lnTo>
                    <a:pt x="905" y="18"/>
                  </a:lnTo>
                  <a:lnTo>
                    <a:pt x="919" y="8"/>
                  </a:lnTo>
                  <a:lnTo>
                    <a:pt x="936" y="1"/>
                  </a:lnTo>
                  <a:lnTo>
                    <a:pt x="955" y="0"/>
                  </a:lnTo>
                  <a:lnTo>
                    <a:pt x="1092" y="0"/>
                  </a:lnTo>
                  <a:lnTo>
                    <a:pt x="1121" y="2"/>
                  </a:lnTo>
                  <a:lnTo>
                    <a:pt x="1147" y="11"/>
                  </a:lnTo>
                  <a:lnTo>
                    <a:pt x="1171" y="27"/>
                  </a:lnTo>
                  <a:lnTo>
                    <a:pt x="1189" y="45"/>
                  </a:lnTo>
                  <a:lnTo>
                    <a:pt x="1205" y="69"/>
                  </a:lnTo>
                  <a:lnTo>
                    <a:pt x="1214" y="95"/>
                  </a:lnTo>
                  <a:lnTo>
                    <a:pt x="1216" y="124"/>
                  </a:lnTo>
                  <a:lnTo>
                    <a:pt x="1218" y="124"/>
                  </a:lnTo>
                  <a:lnTo>
                    <a:pt x="1218" y="950"/>
                  </a:lnTo>
                  <a:lnTo>
                    <a:pt x="0" y="950"/>
                  </a:lnTo>
                  <a:lnTo>
                    <a:pt x="0" y="124"/>
                  </a:lnTo>
                  <a:lnTo>
                    <a:pt x="3" y="95"/>
                  </a:lnTo>
                  <a:lnTo>
                    <a:pt x="12" y="69"/>
                  </a:lnTo>
                  <a:lnTo>
                    <a:pt x="26" y="45"/>
                  </a:lnTo>
                  <a:lnTo>
                    <a:pt x="46" y="27"/>
                  </a:lnTo>
                  <a:lnTo>
                    <a:pt x="69" y="13"/>
                  </a:lnTo>
                  <a:lnTo>
                    <a:pt x="96" y="2"/>
                  </a:lnTo>
                  <a:lnTo>
                    <a:pt x="1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48" name="Freeform 181"/>
            <p:cNvSpPr/>
            <p:nvPr/>
          </p:nvSpPr>
          <p:spPr bwMode="auto">
            <a:xfrm>
              <a:off x="6633" y="2865"/>
              <a:ext cx="801" cy="801"/>
            </a:xfrm>
            <a:custGeom>
              <a:avLst/>
              <a:gdLst>
                <a:gd name="T0" fmla="*/ 401 w 801"/>
                <a:gd name="T1" fmla="*/ 0 h 801"/>
                <a:gd name="T2" fmla="*/ 456 w 801"/>
                <a:gd name="T3" fmla="*/ 4 h 801"/>
                <a:gd name="T4" fmla="*/ 508 w 801"/>
                <a:gd name="T5" fmla="*/ 14 h 801"/>
                <a:gd name="T6" fmla="*/ 556 w 801"/>
                <a:gd name="T7" fmla="*/ 31 h 801"/>
                <a:gd name="T8" fmla="*/ 604 w 801"/>
                <a:gd name="T9" fmla="*/ 55 h 801"/>
                <a:gd name="T10" fmla="*/ 645 w 801"/>
                <a:gd name="T11" fmla="*/ 83 h 801"/>
                <a:gd name="T12" fmla="*/ 685 w 801"/>
                <a:gd name="T13" fmla="*/ 117 h 801"/>
                <a:gd name="T14" fmla="*/ 719 w 801"/>
                <a:gd name="T15" fmla="*/ 157 h 801"/>
                <a:gd name="T16" fmla="*/ 748 w 801"/>
                <a:gd name="T17" fmla="*/ 199 h 801"/>
                <a:gd name="T18" fmla="*/ 770 w 801"/>
                <a:gd name="T19" fmla="*/ 244 h 801"/>
                <a:gd name="T20" fmla="*/ 788 w 801"/>
                <a:gd name="T21" fmla="*/ 294 h 801"/>
                <a:gd name="T22" fmla="*/ 799 w 801"/>
                <a:gd name="T23" fmla="*/ 347 h 801"/>
                <a:gd name="T24" fmla="*/ 801 w 801"/>
                <a:gd name="T25" fmla="*/ 400 h 801"/>
                <a:gd name="T26" fmla="*/ 799 w 801"/>
                <a:gd name="T27" fmla="*/ 455 h 801"/>
                <a:gd name="T28" fmla="*/ 788 w 801"/>
                <a:gd name="T29" fmla="*/ 508 h 801"/>
                <a:gd name="T30" fmla="*/ 770 w 801"/>
                <a:gd name="T31" fmla="*/ 556 h 801"/>
                <a:gd name="T32" fmla="*/ 748 w 801"/>
                <a:gd name="T33" fmla="*/ 603 h 801"/>
                <a:gd name="T34" fmla="*/ 719 w 801"/>
                <a:gd name="T35" fmla="*/ 645 h 801"/>
                <a:gd name="T36" fmla="*/ 685 w 801"/>
                <a:gd name="T37" fmla="*/ 684 h 801"/>
                <a:gd name="T38" fmla="*/ 645 w 801"/>
                <a:gd name="T39" fmla="*/ 718 h 801"/>
                <a:gd name="T40" fmla="*/ 604 w 801"/>
                <a:gd name="T41" fmla="*/ 747 h 801"/>
                <a:gd name="T42" fmla="*/ 556 w 801"/>
                <a:gd name="T43" fmla="*/ 769 h 801"/>
                <a:gd name="T44" fmla="*/ 508 w 801"/>
                <a:gd name="T45" fmla="*/ 786 h 801"/>
                <a:gd name="T46" fmla="*/ 456 w 801"/>
                <a:gd name="T47" fmla="*/ 798 h 801"/>
                <a:gd name="T48" fmla="*/ 401 w 801"/>
                <a:gd name="T49" fmla="*/ 801 h 801"/>
                <a:gd name="T50" fmla="*/ 347 w 801"/>
                <a:gd name="T51" fmla="*/ 798 h 801"/>
                <a:gd name="T52" fmla="*/ 294 w 801"/>
                <a:gd name="T53" fmla="*/ 786 h 801"/>
                <a:gd name="T54" fmla="*/ 245 w 801"/>
                <a:gd name="T55" fmla="*/ 769 h 801"/>
                <a:gd name="T56" fmla="*/ 199 w 801"/>
                <a:gd name="T57" fmla="*/ 747 h 801"/>
                <a:gd name="T58" fmla="*/ 157 w 801"/>
                <a:gd name="T59" fmla="*/ 718 h 801"/>
                <a:gd name="T60" fmla="*/ 118 w 801"/>
                <a:gd name="T61" fmla="*/ 684 h 801"/>
                <a:gd name="T62" fmla="*/ 84 w 801"/>
                <a:gd name="T63" fmla="*/ 645 h 801"/>
                <a:gd name="T64" fmla="*/ 55 w 801"/>
                <a:gd name="T65" fmla="*/ 603 h 801"/>
                <a:gd name="T66" fmla="*/ 33 w 801"/>
                <a:gd name="T67" fmla="*/ 556 h 801"/>
                <a:gd name="T68" fmla="*/ 14 w 801"/>
                <a:gd name="T69" fmla="*/ 508 h 801"/>
                <a:gd name="T70" fmla="*/ 4 w 801"/>
                <a:gd name="T71" fmla="*/ 455 h 801"/>
                <a:gd name="T72" fmla="*/ 0 w 801"/>
                <a:gd name="T73" fmla="*/ 400 h 801"/>
                <a:gd name="T74" fmla="*/ 4 w 801"/>
                <a:gd name="T75" fmla="*/ 347 h 801"/>
                <a:gd name="T76" fmla="*/ 14 w 801"/>
                <a:gd name="T77" fmla="*/ 294 h 801"/>
                <a:gd name="T78" fmla="*/ 33 w 801"/>
                <a:gd name="T79" fmla="*/ 244 h 801"/>
                <a:gd name="T80" fmla="*/ 55 w 801"/>
                <a:gd name="T81" fmla="*/ 199 h 801"/>
                <a:gd name="T82" fmla="*/ 84 w 801"/>
                <a:gd name="T83" fmla="*/ 157 h 801"/>
                <a:gd name="T84" fmla="*/ 118 w 801"/>
                <a:gd name="T85" fmla="*/ 117 h 801"/>
                <a:gd name="T86" fmla="*/ 157 w 801"/>
                <a:gd name="T87" fmla="*/ 83 h 801"/>
                <a:gd name="T88" fmla="*/ 199 w 801"/>
                <a:gd name="T89" fmla="*/ 55 h 801"/>
                <a:gd name="T90" fmla="*/ 245 w 801"/>
                <a:gd name="T91" fmla="*/ 31 h 801"/>
                <a:gd name="T92" fmla="*/ 294 w 801"/>
                <a:gd name="T93" fmla="*/ 14 h 801"/>
                <a:gd name="T94" fmla="*/ 347 w 801"/>
                <a:gd name="T95" fmla="*/ 4 h 801"/>
                <a:gd name="T96" fmla="*/ 401 w 801"/>
                <a:gd name="T97" fmla="*/ 0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1" h="801">
                  <a:moveTo>
                    <a:pt x="401" y="0"/>
                  </a:moveTo>
                  <a:lnTo>
                    <a:pt x="456" y="4"/>
                  </a:lnTo>
                  <a:lnTo>
                    <a:pt x="508" y="14"/>
                  </a:lnTo>
                  <a:lnTo>
                    <a:pt x="556" y="31"/>
                  </a:lnTo>
                  <a:lnTo>
                    <a:pt x="604" y="55"/>
                  </a:lnTo>
                  <a:lnTo>
                    <a:pt x="645" y="83"/>
                  </a:lnTo>
                  <a:lnTo>
                    <a:pt x="685" y="117"/>
                  </a:lnTo>
                  <a:lnTo>
                    <a:pt x="719" y="157"/>
                  </a:lnTo>
                  <a:lnTo>
                    <a:pt x="748" y="199"/>
                  </a:lnTo>
                  <a:lnTo>
                    <a:pt x="770" y="244"/>
                  </a:lnTo>
                  <a:lnTo>
                    <a:pt x="788" y="294"/>
                  </a:lnTo>
                  <a:lnTo>
                    <a:pt x="799" y="347"/>
                  </a:lnTo>
                  <a:lnTo>
                    <a:pt x="801" y="400"/>
                  </a:lnTo>
                  <a:lnTo>
                    <a:pt x="799" y="455"/>
                  </a:lnTo>
                  <a:lnTo>
                    <a:pt x="788" y="508"/>
                  </a:lnTo>
                  <a:lnTo>
                    <a:pt x="770" y="556"/>
                  </a:lnTo>
                  <a:lnTo>
                    <a:pt x="748" y="603"/>
                  </a:lnTo>
                  <a:lnTo>
                    <a:pt x="719" y="645"/>
                  </a:lnTo>
                  <a:lnTo>
                    <a:pt x="685" y="684"/>
                  </a:lnTo>
                  <a:lnTo>
                    <a:pt x="645" y="718"/>
                  </a:lnTo>
                  <a:lnTo>
                    <a:pt x="604" y="747"/>
                  </a:lnTo>
                  <a:lnTo>
                    <a:pt x="556" y="769"/>
                  </a:lnTo>
                  <a:lnTo>
                    <a:pt x="508" y="786"/>
                  </a:lnTo>
                  <a:lnTo>
                    <a:pt x="456" y="798"/>
                  </a:lnTo>
                  <a:lnTo>
                    <a:pt x="401" y="801"/>
                  </a:lnTo>
                  <a:lnTo>
                    <a:pt x="347" y="798"/>
                  </a:lnTo>
                  <a:lnTo>
                    <a:pt x="294" y="786"/>
                  </a:lnTo>
                  <a:lnTo>
                    <a:pt x="245" y="769"/>
                  </a:lnTo>
                  <a:lnTo>
                    <a:pt x="199" y="747"/>
                  </a:lnTo>
                  <a:lnTo>
                    <a:pt x="157" y="718"/>
                  </a:lnTo>
                  <a:lnTo>
                    <a:pt x="118" y="684"/>
                  </a:lnTo>
                  <a:lnTo>
                    <a:pt x="84" y="645"/>
                  </a:lnTo>
                  <a:lnTo>
                    <a:pt x="55" y="603"/>
                  </a:lnTo>
                  <a:lnTo>
                    <a:pt x="33" y="556"/>
                  </a:lnTo>
                  <a:lnTo>
                    <a:pt x="14" y="508"/>
                  </a:lnTo>
                  <a:lnTo>
                    <a:pt x="4" y="455"/>
                  </a:lnTo>
                  <a:lnTo>
                    <a:pt x="0" y="400"/>
                  </a:lnTo>
                  <a:lnTo>
                    <a:pt x="4" y="347"/>
                  </a:lnTo>
                  <a:lnTo>
                    <a:pt x="14" y="294"/>
                  </a:lnTo>
                  <a:lnTo>
                    <a:pt x="33" y="244"/>
                  </a:lnTo>
                  <a:lnTo>
                    <a:pt x="55" y="199"/>
                  </a:lnTo>
                  <a:lnTo>
                    <a:pt x="84" y="157"/>
                  </a:lnTo>
                  <a:lnTo>
                    <a:pt x="118" y="117"/>
                  </a:lnTo>
                  <a:lnTo>
                    <a:pt x="157" y="83"/>
                  </a:lnTo>
                  <a:lnTo>
                    <a:pt x="199" y="55"/>
                  </a:lnTo>
                  <a:lnTo>
                    <a:pt x="245" y="31"/>
                  </a:lnTo>
                  <a:lnTo>
                    <a:pt x="294" y="14"/>
                  </a:lnTo>
                  <a:lnTo>
                    <a:pt x="347" y="4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49" name="Freeform 182"/>
            <p:cNvSpPr>
              <a:spLocks noEditPoints="1"/>
            </p:cNvSpPr>
            <p:nvPr/>
          </p:nvSpPr>
          <p:spPr bwMode="auto">
            <a:xfrm>
              <a:off x="5369" y="2215"/>
              <a:ext cx="3325" cy="3325"/>
            </a:xfrm>
            <a:custGeom>
              <a:avLst/>
              <a:gdLst>
                <a:gd name="T0" fmla="*/ 1476 w 3325"/>
                <a:gd name="T1" fmla="*/ 495 h 3325"/>
                <a:gd name="T2" fmla="*/ 1210 w 3325"/>
                <a:gd name="T3" fmla="*/ 570 h 3325"/>
                <a:gd name="T4" fmla="*/ 969 w 3325"/>
                <a:gd name="T5" fmla="*/ 705 h 3325"/>
                <a:gd name="T6" fmla="*/ 791 w 3325"/>
                <a:gd name="T7" fmla="*/ 863 h 3325"/>
                <a:gd name="T8" fmla="*/ 680 w 3325"/>
                <a:gd name="T9" fmla="*/ 1004 h 3325"/>
                <a:gd name="T10" fmla="*/ 559 w 3325"/>
                <a:gd name="T11" fmla="*/ 1235 h 3325"/>
                <a:gd name="T12" fmla="*/ 493 w 3325"/>
                <a:gd name="T13" fmla="*/ 1487 h 3325"/>
                <a:gd name="T14" fmla="*/ 485 w 3325"/>
                <a:gd name="T15" fmla="*/ 1757 h 3325"/>
                <a:gd name="T16" fmla="*/ 538 w 3325"/>
                <a:gd name="T17" fmla="*/ 2029 h 3325"/>
                <a:gd name="T18" fmla="*/ 654 w 3325"/>
                <a:gd name="T19" fmla="*/ 2281 h 3325"/>
                <a:gd name="T20" fmla="*/ 827 w 3325"/>
                <a:gd name="T21" fmla="*/ 2499 h 3325"/>
                <a:gd name="T22" fmla="*/ 1026 w 3325"/>
                <a:gd name="T23" fmla="*/ 2660 h 3325"/>
                <a:gd name="T24" fmla="*/ 1249 w 3325"/>
                <a:gd name="T25" fmla="*/ 2772 h 3325"/>
                <a:gd name="T26" fmla="*/ 1493 w 3325"/>
                <a:gd name="T27" fmla="*/ 2835 h 3325"/>
                <a:gd name="T28" fmla="*/ 1758 w 3325"/>
                <a:gd name="T29" fmla="*/ 2842 h 3325"/>
                <a:gd name="T30" fmla="*/ 2030 w 3325"/>
                <a:gd name="T31" fmla="*/ 2789 h 3325"/>
                <a:gd name="T32" fmla="*/ 2280 w 3325"/>
                <a:gd name="T33" fmla="*/ 2674 h 3325"/>
                <a:gd name="T34" fmla="*/ 2500 w 3325"/>
                <a:gd name="T35" fmla="*/ 2499 h 3325"/>
                <a:gd name="T36" fmla="*/ 2673 w 3325"/>
                <a:gd name="T37" fmla="*/ 2281 h 3325"/>
                <a:gd name="T38" fmla="*/ 2788 w 3325"/>
                <a:gd name="T39" fmla="*/ 2029 h 3325"/>
                <a:gd name="T40" fmla="*/ 2843 w 3325"/>
                <a:gd name="T41" fmla="*/ 1757 h 3325"/>
                <a:gd name="T42" fmla="*/ 2834 w 3325"/>
                <a:gd name="T43" fmla="*/ 1487 h 3325"/>
                <a:gd name="T44" fmla="*/ 2767 w 3325"/>
                <a:gd name="T45" fmla="*/ 1235 h 3325"/>
                <a:gd name="T46" fmla="*/ 2647 w 3325"/>
                <a:gd name="T47" fmla="*/ 1004 h 3325"/>
                <a:gd name="T48" fmla="*/ 2537 w 3325"/>
                <a:gd name="T49" fmla="*/ 866 h 3325"/>
                <a:gd name="T50" fmla="*/ 2357 w 3325"/>
                <a:gd name="T51" fmla="*/ 705 h 3325"/>
                <a:gd name="T52" fmla="*/ 2116 w 3325"/>
                <a:gd name="T53" fmla="*/ 570 h 3325"/>
                <a:gd name="T54" fmla="*/ 1850 w 3325"/>
                <a:gd name="T55" fmla="*/ 495 h 3325"/>
                <a:gd name="T56" fmla="*/ 1662 w 3325"/>
                <a:gd name="T57" fmla="*/ 0 h 3325"/>
                <a:gd name="T58" fmla="*/ 1993 w 3325"/>
                <a:gd name="T59" fmla="*/ 34 h 3325"/>
                <a:gd name="T60" fmla="*/ 2310 w 3325"/>
                <a:gd name="T61" fmla="*/ 131 h 3325"/>
                <a:gd name="T62" fmla="*/ 2571 w 3325"/>
                <a:gd name="T63" fmla="*/ 271 h 3325"/>
                <a:gd name="T64" fmla="*/ 2775 w 3325"/>
                <a:gd name="T65" fmla="*/ 428 h 3325"/>
                <a:gd name="T66" fmla="*/ 2984 w 3325"/>
                <a:gd name="T67" fmla="*/ 654 h 3325"/>
                <a:gd name="T68" fmla="*/ 3157 w 3325"/>
                <a:gd name="T69" fmla="*/ 934 h 3325"/>
                <a:gd name="T70" fmla="*/ 3235 w 3325"/>
                <a:gd name="T71" fmla="*/ 1120 h 3325"/>
                <a:gd name="T72" fmla="*/ 3310 w 3325"/>
                <a:gd name="T73" fmla="*/ 1442 h 3325"/>
                <a:gd name="T74" fmla="*/ 3321 w 3325"/>
                <a:gd name="T75" fmla="*/ 1774 h 3325"/>
                <a:gd name="T76" fmla="*/ 3267 w 3325"/>
                <a:gd name="T77" fmla="*/ 2101 h 3325"/>
                <a:gd name="T78" fmla="*/ 3161 w 3325"/>
                <a:gd name="T79" fmla="*/ 2384 h 3325"/>
                <a:gd name="T80" fmla="*/ 3030 w 3325"/>
                <a:gd name="T81" fmla="*/ 2609 h 3325"/>
                <a:gd name="T82" fmla="*/ 2839 w 3325"/>
                <a:gd name="T83" fmla="*/ 2838 h 3325"/>
                <a:gd name="T84" fmla="*/ 2652 w 3325"/>
                <a:gd name="T85" fmla="*/ 2999 h 3325"/>
                <a:gd name="T86" fmla="*/ 2400 w 3325"/>
                <a:gd name="T87" fmla="*/ 3154 h 3325"/>
                <a:gd name="T88" fmla="*/ 2101 w 3325"/>
                <a:gd name="T89" fmla="*/ 3267 h 3325"/>
                <a:gd name="T90" fmla="*/ 1775 w 3325"/>
                <a:gd name="T91" fmla="*/ 3322 h 3325"/>
                <a:gd name="T92" fmla="*/ 1441 w 3325"/>
                <a:gd name="T93" fmla="*/ 3311 h 3325"/>
                <a:gd name="T94" fmla="*/ 1120 w 3325"/>
                <a:gd name="T95" fmla="*/ 3234 h 3325"/>
                <a:gd name="T96" fmla="*/ 825 w 3325"/>
                <a:gd name="T97" fmla="*/ 3099 h 3325"/>
                <a:gd name="T98" fmla="*/ 566 w 3325"/>
                <a:gd name="T99" fmla="*/ 2912 h 3325"/>
                <a:gd name="T100" fmla="*/ 345 w 3325"/>
                <a:gd name="T101" fmla="*/ 2677 h 3325"/>
                <a:gd name="T102" fmla="*/ 176 w 3325"/>
                <a:gd name="T103" fmla="*/ 2406 h 3325"/>
                <a:gd name="T104" fmla="*/ 58 w 3325"/>
                <a:gd name="T105" fmla="*/ 2101 h 3325"/>
                <a:gd name="T106" fmla="*/ 3 w 3325"/>
                <a:gd name="T107" fmla="*/ 1774 h 3325"/>
                <a:gd name="T108" fmla="*/ 15 w 3325"/>
                <a:gd name="T109" fmla="*/ 1442 h 3325"/>
                <a:gd name="T110" fmla="*/ 91 w 3325"/>
                <a:gd name="T111" fmla="*/ 1120 h 3325"/>
                <a:gd name="T112" fmla="*/ 219 w 3325"/>
                <a:gd name="T113" fmla="*/ 837 h 3325"/>
                <a:gd name="T114" fmla="*/ 411 w 3325"/>
                <a:gd name="T115" fmla="*/ 568 h 3325"/>
                <a:gd name="T116" fmla="*/ 617 w 3325"/>
                <a:gd name="T117" fmla="*/ 370 h 3325"/>
                <a:gd name="T118" fmla="*/ 841 w 3325"/>
                <a:gd name="T119" fmla="*/ 218 h 3325"/>
                <a:gd name="T120" fmla="*/ 1119 w 3325"/>
                <a:gd name="T121" fmla="*/ 92 h 3325"/>
                <a:gd name="T122" fmla="*/ 1441 w 3325"/>
                <a:gd name="T123" fmla="*/ 16 h 3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5" h="3325">
                  <a:moveTo>
                    <a:pt x="1663" y="481"/>
                  </a:moveTo>
                  <a:lnTo>
                    <a:pt x="1569" y="483"/>
                  </a:lnTo>
                  <a:lnTo>
                    <a:pt x="1476" y="495"/>
                  </a:lnTo>
                  <a:lnTo>
                    <a:pt x="1386" y="514"/>
                  </a:lnTo>
                  <a:lnTo>
                    <a:pt x="1297" y="538"/>
                  </a:lnTo>
                  <a:lnTo>
                    <a:pt x="1210" y="570"/>
                  </a:lnTo>
                  <a:lnTo>
                    <a:pt x="1126" y="608"/>
                  </a:lnTo>
                  <a:lnTo>
                    <a:pt x="1047" y="654"/>
                  </a:lnTo>
                  <a:lnTo>
                    <a:pt x="969" y="705"/>
                  </a:lnTo>
                  <a:lnTo>
                    <a:pt x="896" y="762"/>
                  </a:lnTo>
                  <a:lnTo>
                    <a:pt x="827" y="826"/>
                  </a:lnTo>
                  <a:lnTo>
                    <a:pt x="791" y="863"/>
                  </a:lnTo>
                  <a:lnTo>
                    <a:pt x="758" y="901"/>
                  </a:lnTo>
                  <a:lnTo>
                    <a:pt x="731" y="934"/>
                  </a:lnTo>
                  <a:lnTo>
                    <a:pt x="680" y="1004"/>
                  </a:lnTo>
                  <a:lnTo>
                    <a:pt x="634" y="1079"/>
                  </a:lnTo>
                  <a:lnTo>
                    <a:pt x="593" y="1155"/>
                  </a:lnTo>
                  <a:lnTo>
                    <a:pt x="559" y="1235"/>
                  </a:lnTo>
                  <a:lnTo>
                    <a:pt x="532" y="1317"/>
                  </a:lnTo>
                  <a:lnTo>
                    <a:pt x="510" y="1401"/>
                  </a:lnTo>
                  <a:lnTo>
                    <a:pt x="493" y="1487"/>
                  </a:lnTo>
                  <a:lnTo>
                    <a:pt x="483" y="1574"/>
                  </a:lnTo>
                  <a:lnTo>
                    <a:pt x="481" y="1663"/>
                  </a:lnTo>
                  <a:lnTo>
                    <a:pt x="485" y="1757"/>
                  </a:lnTo>
                  <a:lnTo>
                    <a:pt x="495" y="1850"/>
                  </a:lnTo>
                  <a:lnTo>
                    <a:pt x="514" y="1942"/>
                  </a:lnTo>
                  <a:lnTo>
                    <a:pt x="538" y="2029"/>
                  </a:lnTo>
                  <a:lnTo>
                    <a:pt x="570" y="2116"/>
                  </a:lnTo>
                  <a:lnTo>
                    <a:pt x="608" y="2200"/>
                  </a:lnTo>
                  <a:lnTo>
                    <a:pt x="654" y="2281"/>
                  </a:lnTo>
                  <a:lnTo>
                    <a:pt x="705" y="2357"/>
                  </a:lnTo>
                  <a:lnTo>
                    <a:pt x="764" y="2430"/>
                  </a:lnTo>
                  <a:lnTo>
                    <a:pt x="827" y="2499"/>
                  </a:lnTo>
                  <a:lnTo>
                    <a:pt x="889" y="2558"/>
                  </a:lnTo>
                  <a:lnTo>
                    <a:pt x="956" y="2612"/>
                  </a:lnTo>
                  <a:lnTo>
                    <a:pt x="1026" y="2660"/>
                  </a:lnTo>
                  <a:lnTo>
                    <a:pt x="1098" y="2702"/>
                  </a:lnTo>
                  <a:lnTo>
                    <a:pt x="1172" y="2740"/>
                  </a:lnTo>
                  <a:lnTo>
                    <a:pt x="1249" y="2772"/>
                  </a:lnTo>
                  <a:lnTo>
                    <a:pt x="1329" y="2799"/>
                  </a:lnTo>
                  <a:lnTo>
                    <a:pt x="1411" y="2819"/>
                  </a:lnTo>
                  <a:lnTo>
                    <a:pt x="1493" y="2835"/>
                  </a:lnTo>
                  <a:lnTo>
                    <a:pt x="1578" y="2844"/>
                  </a:lnTo>
                  <a:lnTo>
                    <a:pt x="1663" y="2846"/>
                  </a:lnTo>
                  <a:lnTo>
                    <a:pt x="1758" y="2842"/>
                  </a:lnTo>
                  <a:lnTo>
                    <a:pt x="1850" y="2832"/>
                  </a:lnTo>
                  <a:lnTo>
                    <a:pt x="1941" y="2814"/>
                  </a:lnTo>
                  <a:lnTo>
                    <a:pt x="2030" y="2789"/>
                  </a:lnTo>
                  <a:lnTo>
                    <a:pt x="2116" y="2757"/>
                  </a:lnTo>
                  <a:lnTo>
                    <a:pt x="2200" y="2718"/>
                  </a:lnTo>
                  <a:lnTo>
                    <a:pt x="2280" y="2674"/>
                  </a:lnTo>
                  <a:lnTo>
                    <a:pt x="2357" y="2621"/>
                  </a:lnTo>
                  <a:lnTo>
                    <a:pt x="2431" y="2564"/>
                  </a:lnTo>
                  <a:lnTo>
                    <a:pt x="2500" y="2499"/>
                  </a:lnTo>
                  <a:lnTo>
                    <a:pt x="2564" y="2430"/>
                  </a:lnTo>
                  <a:lnTo>
                    <a:pt x="2622" y="2357"/>
                  </a:lnTo>
                  <a:lnTo>
                    <a:pt x="2673" y="2281"/>
                  </a:lnTo>
                  <a:lnTo>
                    <a:pt x="2719" y="2200"/>
                  </a:lnTo>
                  <a:lnTo>
                    <a:pt x="2757" y="2116"/>
                  </a:lnTo>
                  <a:lnTo>
                    <a:pt x="2788" y="2029"/>
                  </a:lnTo>
                  <a:lnTo>
                    <a:pt x="2814" y="1942"/>
                  </a:lnTo>
                  <a:lnTo>
                    <a:pt x="2831" y="1850"/>
                  </a:lnTo>
                  <a:lnTo>
                    <a:pt x="2843" y="1757"/>
                  </a:lnTo>
                  <a:lnTo>
                    <a:pt x="2846" y="1663"/>
                  </a:lnTo>
                  <a:lnTo>
                    <a:pt x="2843" y="1575"/>
                  </a:lnTo>
                  <a:lnTo>
                    <a:pt x="2834" y="1487"/>
                  </a:lnTo>
                  <a:lnTo>
                    <a:pt x="2817" y="1401"/>
                  </a:lnTo>
                  <a:lnTo>
                    <a:pt x="2795" y="1317"/>
                  </a:lnTo>
                  <a:lnTo>
                    <a:pt x="2767" y="1235"/>
                  </a:lnTo>
                  <a:lnTo>
                    <a:pt x="2733" y="1156"/>
                  </a:lnTo>
                  <a:lnTo>
                    <a:pt x="2692" y="1079"/>
                  </a:lnTo>
                  <a:lnTo>
                    <a:pt x="2647" y="1004"/>
                  </a:lnTo>
                  <a:lnTo>
                    <a:pt x="2594" y="934"/>
                  </a:lnTo>
                  <a:lnTo>
                    <a:pt x="2572" y="906"/>
                  </a:lnTo>
                  <a:lnTo>
                    <a:pt x="2537" y="866"/>
                  </a:lnTo>
                  <a:lnTo>
                    <a:pt x="2500" y="826"/>
                  </a:lnTo>
                  <a:lnTo>
                    <a:pt x="2431" y="762"/>
                  </a:lnTo>
                  <a:lnTo>
                    <a:pt x="2357" y="705"/>
                  </a:lnTo>
                  <a:lnTo>
                    <a:pt x="2280" y="654"/>
                  </a:lnTo>
                  <a:lnTo>
                    <a:pt x="2200" y="608"/>
                  </a:lnTo>
                  <a:lnTo>
                    <a:pt x="2116" y="570"/>
                  </a:lnTo>
                  <a:lnTo>
                    <a:pt x="2030" y="538"/>
                  </a:lnTo>
                  <a:lnTo>
                    <a:pt x="1941" y="514"/>
                  </a:lnTo>
                  <a:lnTo>
                    <a:pt x="1850" y="495"/>
                  </a:lnTo>
                  <a:lnTo>
                    <a:pt x="1758" y="483"/>
                  </a:lnTo>
                  <a:lnTo>
                    <a:pt x="1663" y="481"/>
                  </a:lnTo>
                  <a:close/>
                  <a:moveTo>
                    <a:pt x="1662" y="0"/>
                  </a:moveTo>
                  <a:lnTo>
                    <a:pt x="1775" y="4"/>
                  </a:lnTo>
                  <a:lnTo>
                    <a:pt x="1885" y="16"/>
                  </a:lnTo>
                  <a:lnTo>
                    <a:pt x="1993" y="34"/>
                  </a:lnTo>
                  <a:lnTo>
                    <a:pt x="2101" y="59"/>
                  </a:lnTo>
                  <a:lnTo>
                    <a:pt x="2205" y="92"/>
                  </a:lnTo>
                  <a:lnTo>
                    <a:pt x="2310" y="131"/>
                  </a:lnTo>
                  <a:lnTo>
                    <a:pt x="2399" y="173"/>
                  </a:lnTo>
                  <a:lnTo>
                    <a:pt x="2487" y="219"/>
                  </a:lnTo>
                  <a:lnTo>
                    <a:pt x="2571" y="271"/>
                  </a:lnTo>
                  <a:lnTo>
                    <a:pt x="2641" y="320"/>
                  </a:lnTo>
                  <a:lnTo>
                    <a:pt x="2709" y="372"/>
                  </a:lnTo>
                  <a:lnTo>
                    <a:pt x="2775" y="428"/>
                  </a:lnTo>
                  <a:lnTo>
                    <a:pt x="2838" y="487"/>
                  </a:lnTo>
                  <a:lnTo>
                    <a:pt x="2914" y="568"/>
                  </a:lnTo>
                  <a:lnTo>
                    <a:pt x="2984" y="654"/>
                  </a:lnTo>
                  <a:lnTo>
                    <a:pt x="3047" y="744"/>
                  </a:lnTo>
                  <a:lnTo>
                    <a:pt x="3105" y="837"/>
                  </a:lnTo>
                  <a:lnTo>
                    <a:pt x="3157" y="934"/>
                  </a:lnTo>
                  <a:lnTo>
                    <a:pt x="3177" y="974"/>
                  </a:lnTo>
                  <a:lnTo>
                    <a:pt x="3194" y="1016"/>
                  </a:lnTo>
                  <a:lnTo>
                    <a:pt x="3235" y="1120"/>
                  </a:lnTo>
                  <a:lnTo>
                    <a:pt x="3267" y="1226"/>
                  </a:lnTo>
                  <a:lnTo>
                    <a:pt x="3292" y="1333"/>
                  </a:lnTo>
                  <a:lnTo>
                    <a:pt x="3310" y="1442"/>
                  </a:lnTo>
                  <a:lnTo>
                    <a:pt x="3321" y="1552"/>
                  </a:lnTo>
                  <a:lnTo>
                    <a:pt x="3325" y="1663"/>
                  </a:lnTo>
                  <a:lnTo>
                    <a:pt x="3321" y="1774"/>
                  </a:lnTo>
                  <a:lnTo>
                    <a:pt x="3310" y="1885"/>
                  </a:lnTo>
                  <a:lnTo>
                    <a:pt x="3292" y="1994"/>
                  </a:lnTo>
                  <a:lnTo>
                    <a:pt x="3267" y="2101"/>
                  </a:lnTo>
                  <a:lnTo>
                    <a:pt x="3235" y="2206"/>
                  </a:lnTo>
                  <a:lnTo>
                    <a:pt x="3194" y="2310"/>
                  </a:lnTo>
                  <a:lnTo>
                    <a:pt x="3161" y="2384"/>
                  </a:lnTo>
                  <a:lnTo>
                    <a:pt x="3125" y="2456"/>
                  </a:lnTo>
                  <a:lnTo>
                    <a:pt x="3084" y="2526"/>
                  </a:lnTo>
                  <a:lnTo>
                    <a:pt x="3030" y="2609"/>
                  </a:lnTo>
                  <a:lnTo>
                    <a:pt x="2971" y="2689"/>
                  </a:lnTo>
                  <a:lnTo>
                    <a:pt x="2907" y="2765"/>
                  </a:lnTo>
                  <a:lnTo>
                    <a:pt x="2839" y="2838"/>
                  </a:lnTo>
                  <a:lnTo>
                    <a:pt x="2802" y="2872"/>
                  </a:lnTo>
                  <a:lnTo>
                    <a:pt x="2729" y="2939"/>
                  </a:lnTo>
                  <a:lnTo>
                    <a:pt x="2652" y="2999"/>
                  </a:lnTo>
                  <a:lnTo>
                    <a:pt x="2571" y="3056"/>
                  </a:lnTo>
                  <a:lnTo>
                    <a:pt x="2487" y="3107"/>
                  </a:lnTo>
                  <a:lnTo>
                    <a:pt x="2400" y="3154"/>
                  </a:lnTo>
                  <a:lnTo>
                    <a:pt x="2310" y="3195"/>
                  </a:lnTo>
                  <a:lnTo>
                    <a:pt x="2207" y="3234"/>
                  </a:lnTo>
                  <a:lnTo>
                    <a:pt x="2101" y="3267"/>
                  </a:lnTo>
                  <a:lnTo>
                    <a:pt x="1993" y="3293"/>
                  </a:lnTo>
                  <a:lnTo>
                    <a:pt x="1885" y="3311"/>
                  </a:lnTo>
                  <a:lnTo>
                    <a:pt x="1775" y="3322"/>
                  </a:lnTo>
                  <a:lnTo>
                    <a:pt x="1663" y="3325"/>
                  </a:lnTo>
                  <a:lnTo>
                    <a:pt x="1552" y="3322"/>
                  </a:lnTo>
                  <a:lnTo>
                    <a:pt x="1441" y="3311"/>
                  </a:lnTo>
                  <a:lnTo>
                    <a:pt x="1332" y="3293"/>
                  </a:lnTo>
                  <a:lnTo>
                    <a:pt x="1225" y="3267"/>
                  </a:lnTo>
                  <a:lnTo>
                    <a:pt x="1120" y="3234"/>
                  </a:lnTo>
                  <a:lnTo>
                    <a:pt x="1016" y="3195"/>
                  </a:lnTo>
                  <a:lnTo>
                    <a:pt x="918" y="3150"/>
                  </a:lnTo>
                  <a:lnTo>
                    <a:pt x="825" y="3099"/>
                  </a:lnTo>
                  <a:lnTo>
                    <a:pt x="735" y="3043"/>
                  </a:lnTo>
                  <a:lnTo>
                    <a:pt x="648" y="2980"/>
                  </a:lnTo>
                  <a:lnTo>
                    <a:pt x="566" y="2912"/>
                  </a:lnTo>
                  <a:lnTo>
                    <a:pt x="487" y="2838"/>
                  </a:lnTo>
                  <a:lnTo>
                    <a:pt x="413" y="2760"/>
                  </a:lnTo>
                  <a:lnTo>
                    <a:pt x="345" y="2677"/>
                  </a:lnTo>
                  <a:lnTo>
                    <a:pt x="283" y="2591"/>
                  </a:lnTo>
                  <a:lnTo>
                    <a:pt x="226" y="2501"/>
                  </a:lnTo>
                  <a:lnTo>
                    <a:pt x="176" y="2406"/>
                  </a:lnTo>
                  <a:lnTo>
                    <a:pt x="130" y="2310"/>
                  </a:lnTo>
                  <a:lnTo>
                    <a:pt x="91" y="2206"/>
                  </a:lnTo>
                  <a:lnTo>
                    <a:pt x="58" y="2101"/>
                  </a:lnTo>
                  <a:lnTo>
                    <a:pt x="33" y="1994"/>
                  </a:lnTo>
                  <a:lnTo>
                    <a:pt x="15" y="1884"/>
                  </a:lnTo>
                  <a:lnTo>
                    <a:pt x="3" y="1774"/>
                  </a:lnTo>
                  <a:lnTo>
                    <a:pt x="0" y="1663"/>
                  </a:lnTo>
                  <a:lnTo>
                    <a:pt x="3" y="1552"/>
                  </a:lnTo>
                  <a:lnTo>
                    <a:pt x="15" y="1442"/>
                  </a:lnTo>
                  <a:lnTo>
                    <a:pt x="33" y="1332"/>
                  </a:lnTo>
                  <a:lnTo>
                    <a:pt x="58" y="1226"/>
                  </a:lnTo>
                  <a:lnTo>
                    <a:pt x="91" y="1120"/>
                  </a:lnTo>
                  <a:lnTo>
                    <a:pt x="130" y="1016"/>
                  </a:lnTo>
                  <a:lnTo>
                    <a:pt x="168" y="934"/>
                  </a:lnTo>
                  <a:lnTo>
                    <a:pt x="219" y="837"/>
                  </a:lnTo>
                  <a:lnTo>
                    <a:pt x="278" y="743"/>
                  </a:lnTo>
                  <a:lnTo>
                    <a:pt x="341" y="654"/>
                  </a:lnTo>
                  <a:lnTo>
                    <a:pt x="411" y="568"/>
                  </a:lnTo>
                  <a:lnTo>
                    <a:pt x="487" y="487"/>
                  </a:lnTo>
                  <a:lnTo>
                    <a:pt x="550" y="427"/>
                  </a:lnTo>
                  <a:lnTo>
                    <a:pt x="617" y="370"/>
                  </a:lnTo>
                  <a:lnTo>
                    <a:pt x="686" y="317"/>
                  </a:lnTo>
                  <a:lnTo>
                    <a:pt x="758" y="267"/>
                  </a:lnTo>
                  <a:lnTo>
                    <a:pt x="841" y="218"/>
                  </a:lnTo>
                  <a:lnTo>
                    <a:pt x="927" y="172"/>
                  </a:lnTo>
                  <a:lnTo>
                    <a:pt x="1015" y="131"/>
                  </a:lnTo>
                  <a:lnTo>
                    <a:pt x="1119" y="92"/>
                  </a:lnTo>
                  <a:lnTo>
                    <a:pt x="1225" y="59"/>
                  </a:lnTo>
                  <a:lnTo>
                    <a:pt x="1332" y="34"/>
                  </a:lnTo>
                  <a:lnTo>
                    <a:pt x="1441" y="16"/>
                  </a:lnTo>
                  <a:lnTo>
                    <a:pt x="1551" y="4"/>
                  </a:lnTo>
                  <a:lnTo>
                    <a:pt x="16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50" name="Group 150"/>
          <p:cNvGrpSpPr>
            <a:grpSpLocks noChangeAspect="1"/>
          </p:cNvGrpSpPr>
          <p:nvPr/>
        </p:nvGrpSpPr>
        <p:grpSpPr bwMode="auto">
          <a:xfrm>
            <a:off x="5817697" y="3822150"/>
            <a:ext cx="327822" cy="325658"/>
            <a:chOff x="6376" y="2979"/>
            <a:chExt cx="303" cy="301"/>
          </a:xfrm>
          <a:solidFill>
            <a:schemeClr val="accent3"/>
          </a:solidFill>
        </p:grpSpPr>
        <p:sp>
          <p:nvSpPr>
            <p:cNvPr id="51" name="Freeform 152"/>
            <p:cNvSpPr>
              <a:spLocks noEditPoints="1"/>
            </p:cNvSpPr>
            <p:nvPr/>
          </p:nvSpPr>
          <p:spPr bwMode="auto">
            <a:xfrm>
              <a:off x="6376" y="2979"/>
              <a:ext cx="303" cy="301"/>
            </a:xfrm>
            <a:custGeom>
              <a:avLst/>
              <a:gdLst>
                <a:gd name="T0" fmla="*/ 2339 w 3331"/>
                <a:gd name="T1" fmla="*/ 2775 h 3310"/>
                <a:gd name="T2" fmla="*/ 2650 w 3331"/>
                <a:gd name="T3" fmla="*/ 2588 h 3310"/>
                <a:gd name="T4" fmla="*/ 2501 w 3331"/>
                <a:gd name="T5" fmla="*/ 2313 h 3310"/>
                <a:gd name="T6" fmla="*/ 2554 w 3331"/>
                <a:gd name="T7" fmla="*/ 1298 h 3310"/>
                <a:gd name="T8" fmla="*/ 2554 w 3331"/>
                <a:gd name="T9" fmla="*/ 2011 h 3310"/>
                <a:gd name="T10" fmla="*/ 2949 w 3331"/>
                <a:gd name="T11" fmla="*/ 2109 h 3310"/>
                <a:gd name="T12" fmla="*/ 3025 w 3331"/>
                <a:gd name="T13" fmla="*/ 1559 h 3310"/>
                <a:gd name="T14" fmla="*/ 417 w 3331"/>
                <a:gd name="T15" fmla="*/ 1116 h 3310"/>
                <a:gd name="T16" fmla="*/ 306 w 3331"/>
                <a:gd name="T17" fmla="*/ 1573 h 3310"/>
                <a:gd name="T18" fmla="*/ 362 w 3331"/>
                <a:gd name="T19" fmla="*/ 2048 h 3310"/>
                <a:gd name="T20" fmla="*/ 699 w 3331"/>
                <a:gd name="T21" fmla="*/ 2042 h 3310"/>
                <a:gd name="T22" fmla="*/ 766 w 3331"/>
                <a:gd name="T23" fmla="*/ 1415 h 3310"/>
                <a:gd name="T24" fmla="*/ 417 w 3331"/>
                <a:gd name="T25" fmla="*/ 1116 h 3310"/>
                <a:gd name="T26" fmla="*/ 683 w 3331"/>
                <a:gd name="T27" fmla="*/ 721 h 3310"/>
                <a:gd name="T28" fmla="*/ 830 w 3331"/>
                <a:gd name="T29" fmla="*/ 996 h 3310"/>
                <a:gd name="T30" fmla="*/ 1033 w 3331"/>
                <a:gd name="T31" fmla="*/ 457 h 3310"/>
                <a:gd name="T32" fmla="*/ 2476 w 3331"/>
                <a:gd name="T33" fmla="*/ 895 h 3310"/>
                <a:gd name="T34" fmla="*/ 2708 w 3331"/>
                <a:gd name="T35" fmla="*/ 787 h 3310"/>
                <a:gd name="T36" fmla="*/ 2297 w 3331"/>
                <a:gd name="T37" fmla="*/ 456 h 3310"/>
                <a:gd name="T38" fmla="*/ 2212 w 3331"/>
                <a:gd name="T39" fmla="*/ 1086 h 3310"/>
                <a:gd name="T40" fmla="*/ 2045 w 3331"/>
                <a:gd name="T41" fmla="*/ 620 h 3310"/>
                <a:gd name="T42" fmla="*/ 1817 w 3331"/>
                <a:gd name="T43" fmla="*/ 352 h 3310"/>
                <a:gd name="T44" fmla="*/ 1321 w 3331"/>
                <a:gd name="T45" fmla="*/ 561 h 3310"/>
                <a:gd name="T46" fmla="*/ 1141 w 3331"/>
                <a:gd name="T47" fmla="*/ 997 h 3310"/>
                <a:gd name="T48" fmla="*/ 1514 w 3331"/>
                <a:gd name="T49" fmla="*/ 352 h 3310"/>
                <a:gd name="T50" fmla="*/ 2075 w 3331"/>
                <a:gd name="T51" fmla="*/ 51 h 3310"/>
                <a:gd name="T52" fmla="*/ 2616 w 3331"/>
                <a:gd name="T53" fmla="*/ 297 h 3310"/>
                <a:gd name="T54" fmla="*/ 3033 w 3331"/>
                <a:gd name="T55" fmla="*/ 710 h 3310"/>
                <a:gd name="T56" fmla="*/ 3280 w 3331"/>
                <a:gd name="T57" fmla="*/ 1247 h 3310"/>
                <a:gd name="T58" fmla="*/ 3319 w 3331"/>
                <a:gd name="T59" fmla="*/ 1862 h 3310"/>
                <a:gd name="T60" fmla="*/ 3136 w 3331"/>
                <a:gd name="T61" fmla="*/ 2432 h 3310"/>
                <a:gd name="T62" fmla="*/ 2771 w 3331"/>
                <a:gd name="T63" fmla="*/ 2892 h 3310"/>
                <a:gd name="T64" fmla="*/ 2268 w 3331"/>
                <a:gd name="T65" fmla="*/ 3197 h 3310"/>
                <a:gd name="T66" fmla="*/ 1666 w 3331"/>
                <a:gd name="T67" fmla="*/ 3310 h 3310"/>
                <a:gd name="T68" fmla="*/ 1313 w 3331"/>
                <a:gd name="T69" fmla="*/ 3215 h 3310"/>
                <a:gd name="T70" fmla="*/ 1678 w 3331"/>
                <a:gd name="T71" fmla="*/ 3027 h 3310"/>
                <a:gd name="T72" fmla="*/ 1893 w 3331"/>
                <a:gd name="T73" fmla="*/ 3115 h 3310"/>
                <a:gd name="T74" fmla="*/ 2094 w 3331"/>
                <a:gd name="T75" fmla="*/ 3039 h 3310"/>
                <a:gd name="T76" fmla="*/ 2348 w 3331"/>
                <a:gd name="T77" fmla="*/ 1907 h 3310"/>
                <a:gd name="T78" fmla="*/ 2296 w 3331"/>
                <a:gd name="T79" fmla="*/ 1685 h 3310"/>
                <a:gd name="T80" fmla="*/ 2151 w 3331"/>
                <a:gd name="T81" fmla="*/ 1405 h 3310"/>
                <a:gd name="T82" fmla="*/ 1514 w 3331"/>
                <a:gd name="T83" fmla="*/ 1443 h 3310"/>
                <a:gd name="T84" fmla="*/ 1062 w 3331"/>
                <a:gd name="T85" fmla="*/ 1562 h 3310"/>
                <a:gd name="T86" fmla="*/ 958 w 3331"/>
                <a:gd name="T87" fmla="*/ 1741 h 3310"/>
                <a:gd name="T88" fmla="*/ 799 w 3331"/>
                <a:gd name="T89" fmla="*/ 1921 h 3310"/>
                <a:gd name="T90" fmla="*/ 822 w 3331"/>
                <a:gd name="T91" fmla="*/ 2159 h 3310"/>
                <a:gd name="T92" fmla="*/ 695 w 3331"/>
                <a:gd name="T93" fmla="*/ 2377 h 3310"/>
                <a:gd name="T94" fmla="*/ 529 w 3331"/>
                <a:gd name="T95" fmla="*/ 2555 h 3310"/>
                <a:gd name="T96" fmla="*/ 365 w 3331"/>
                <a:gd name="T97" fmla="*/ 2645 h 3310"/>
                <a:gd name="T98" fmla="*/ 180 w 3331"/>
                <a:gd name="T99" fmla="*/ 2403 h 3310"/>
                <a:gd name="T100" fmla="*/ 13 w 3331"/>
                <a:gd name="T101" fmla="*/ 1854 h 3310"/>
                <a:gd name="T102" fmla="*/ 51 w 3331"/>
                <a:gd name="T103" fmla="*/ 1247 h 3310"/>
                <a:gd name="T104" fmla="*/ 299 w 3331"/>
                <a:gd name="T105" fmla="*/ 710 h 3310"/>
                <a:gd name="T106" fmla="*/ 715 w 3331"/>
                <a:gd name="T107" fmla="*/ 297 h 3310"/>
                <a:gd name="T108" fmla="*/ 1256 w 3331"/>
                <a:gd name="T109" fmla="*/ 51 h 3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331" h="3310">
                  <a:moveTo>
                    <a:pt x="2501" y="2313"/>
                  </a:moveTo>
                  <a:lnTo>
                    <a:pt x="2475" y="2414"/>
                  </a:lnTo>
                  <a:lnTo>
                    <a:pt x="2447" y="2511"/>
                  </a:lnTo>
                  <a:lnTo>
                    <a:pt x="2414" y="2603"/>
                  </a:lnTo>
                  <a:lnTo>
                    <a:pt x="2378" y="2692"/>
                  </a:lnTo>
                  <a:lnTo>
                    <a:pt x="2339" y="2775"/>
                  </a:lnTo>
                  <a:lnTo>
                    <a:pt x="2297" y="2853"/>
                  </a:lnTo>
                  <a:lnTo>
                    <a:pt x="2374" y="2809"/>
                  </a:lnTo>
                  <a:lnTo>
                    <a:pt x="2449" y="2761"/>
                  </a:lnTo>
                  <a:lnTo>
                    <a:pt x="2519" y="2707"/>
                  </a:lnTo>
                  <a:lnTo>
                    <a:pt x="2586" y="2650"/>
                  </a:lnTo>
                  <a:lnTo>
                    <a:pt x="2650" y="2588"/>
                  </a:lnTo>
                  <a:lnTo>
                    <a:pt x="2708" y="2522"/>
                  </a:lnTo>
                  <a:lnTo>
                    <a:pt x="2763" y="2454"/>
                  </a:lnTo>
                  <a:lnTo>
                    <a:pt x="2704" y="2415"/>
                  </a:lnTo>
                  <a:lnTo>
                    <a:pt x="2640" y="2379"/>
                  </a:lnTo>
                  <a:lnTo>
                    <a:pt x="2572" y="2345"/>
                  </a:lnTo>
                  <a:lnTo>
                    <a:pt x="2501" y="2313"/>
                  </a:lnTo>
                  <a:close/>
                  <a:moveTo>
                    <a:pt x="2916" y="1116"/>
                  </a:moveTo>
                  <a:lnTo>
                    <a:pt x="2850" y="1158"/>
                  </a:lnTo>
                  <a:lnTo>
                    <a:pt x="2781" y="1197"/>
                  </a:lnTo>
                  <a:lnTo>
                    <a:pt x="2708" y="1234"/>
                  </a:lnTo>
                  <a:lnTo>
                    <a:pt x="2632" y="1267"/>
                  </a:lnTo>
                  <a:lnTo>
                    <a:pt x="2554" y="1298"/>
                  </a:lnTo>
                  <a:lnTo>
                    <a:pt x="2565" y="1415"/>
                  </a:lnTo>
                  <a:lnTo>
                    <a:pt x="2571" y="1533"/>
                  </a:lnTo>
                  <a:lnTo>
                    <a:pt x="2574" y="1655"/>
                  </a:lnTo>
                  <a:lnTo>
                    <a:pt x="2571" y="1776"/>
                  </a:lnTo>
                  <a:lnTo>
                    <a:pt x="2565" y="1895"/>
                  </a:lnTo>
                  <a:lnTo>
                    <a:pt x="2554" y="2011"/>
                  </a:lnTo>
                  <a:lnTo>
                    <a:pt x="2632" y="2042"/>
                  </a:lnTo>
                  <a:lnTo>
                    <a:pt x="2708" y="2076"/>
                  </a:lnTo>
                  <a:lnTo>
                    <a:pt x="2781" y="2113"/>
                  </a:lnTo>
                  <a:lnTo>
                    <a:pt x="2850" y="2151"/>
                  </a:lnTo>
                  <a:lnTo>
                    <a:pt x="2916" y="2193"/>
                  </a:lnTo>
                  <a:lnTo>
                    <a:pt x="2949" y="2109"/>
                  </a:lnTo>
                  <a:lnTo>
                    <a:pt x="2976" y="2022"/>
                  </a:lnTo>
                  <a:lnTo>
                    <a:pt x="2998" y="1934"/>
                  </a:lnTo>
                  <a:lnTo>
                    <a:pt x="3015" y="1842"/>
                  </a:lnTo>
                  <a:lnTo>
                    <a:pt x="3025" y="1750"/>
                  </a:lnTo>
                  <a:lnTo>
                    <a:pt x="3028" y="1655"/>
                  </a:lnTo>
                  <a:lnTo>
                    <a:pt x="3025" y="1559"/>
                  </a:lnTo>
                  <a:lnTo>
                    <a:pt x="3015" y="1467"/>
                  </a:lnTo>
                  <a:lnTo>
                    <a:pt x="2998" y="1375"/>
                  </a:lnTo>
                  <a:lnTo>
                    <a:pt x="2976" y="1287"/>
                  </a:lnTo>
                  <a:lnTo>
                    <a:pt x="2949" y="1201"/>
                  </a:lnTo>
                  <a:lnTo>
                    <a:pt x="2916" y="1116"/>
                  </a:lnTo>
                  <a:close/>
                  <a:moveTo>
                    <a:pt x="417" y="1116"/>
                  </a:moveTo>
                  <a:lnTo>
                    <a:pt x="387" y="1188"/>
                  </a:lnTo>
                  <a:lnTo>
                    <a:pt x="362" y="1262"/>
                  </a:lnTo>
                  <a:lnTo>
                    <a:pt x="341" y="1337"/>
                  </a:lnTo>
                  <a:lnTo>
                    <a:pt x="325" y="1415"/>
                  </a:lnTo>
                  <a:lnTo>
                    <a:pt x="313" y="1493"/>
                  </a:lnTo>
                  <a:lnTo>
                    <a:pt x="306" y="1573"/>
                  </a:lnTo>
                  <a:lnTo>
                    <a:pt x="304" y="1655"/>
                  </a:lnTo>
                  <a:lnTo>
                    <a:pt x="306" y="1736"/>
                  </a:lnTo>
                  <a:lnTo>
                    <a:pt x="313" y="1816"/>
                  </a:lnTo>
                  <a:lnTo>
                    <a:pt x="325" y="1895"/>
                  </a:lnTo>
                  <a:lnTo>
                    <a:pt x="341" y="1972"/>
                  </a:lnTo>
                  <a:lnTo>
                    <a:pt x="362" y="2048"/>
                  </a:lnTo>
                  <a:lnTo>
                    <a:pt x="387" y="2122"/>
                  </a:lnTo>
                  <a:lnTo>
                    <a:pt x="417" y="2194"/>
                  </a:lnTo>
                  <a:lnTo>
                    <a:pt x="482" y="2152"/>
                  </a:lnTo>
                  <a:lnTo>
                    <a:pt x="551" y="2113"/>
                  </a:lnTo>
                  <a:lnTo>
                    <a:pt x="623" y="2076"/>
                  </a:lnTo>
                  <a:lnTo>
                    <a:pt x="699" y="2042"/>
                  </a:lnTo>
                  <a:lnTo>
                    <a:pt x="778" y="2011"/>
                  </a:lnTo>
                  <a:lnTo>
                    <a:pt x="767" y="1894"/>
                  </a:lnTo>
                  <a:lnTo>
                    <a:pt x="760" y="1776"/>
                  </a:lnTo>
                  <a:lnTo>
                    <a:pt x="758" y="1655"/>
                  </a:lnTo>
                  <a:lnTo>
                    <a:pt x="760" y="1533"/>
                  </a:lnTo>
                  <a:lnTo>
                    <a:pt x="766" y="1415"/>
                  </a:lnTo>
                  <a:lnTo>
                    <a:pt x="778" y="1298"/>
                  </a:lnTo>
                  <a:lnTo>
                    <a:pt x="699" y="1267"/>
                  </a:lnTo>
                  <a:lnTo>
                    <a:pt x="623" y="1234"/>
                  </a:lnTo>
                  <a:lnTo>
                    <a:pt x="551" y="1197"/>
                  </a:lnTo>
                  <a:lnTo>
                    <a:pt x="482" y="1158"/>
                  </a:lnTo>
                  <a:lnTo>
                    <a:pt x="417" y="1116"/>
                  </a:lnTo>
                  <a:close/>
                  <a:moveTo>
                    <a:pt x="1033" y="457"/>
                  </a:moveTo>
                  <a:lnTo>
                    <a:pt x="956" y="501"/>
                  </a:lnTo>
                  <a:lnTo>
                    <a:pt x="883" y="548"/>
                  </a:lnTo>
                  <a:lnTo>
                    <a:pt x="811" y="601"/>
                  </a:lnTo>
                  <a:lnTo>
                    <a:pt x="745" y="660"/>
                  </a:lnTo>
                  <a:lnTo>
                    <a:pt x="683" y="721"/>
                  </a:lnTo>
                  <a:lnTo>
                    <a:pt x="623" y="787"/>
                  </a:lnTo>
                  <a:lnTo>
                    <a:pt x="568" y="855"/>
                  </a:lnTo>
                  <a:lnTo>
                    <a:pt x="627" y="894"/>
                  </a:lnTo>
                  <a:lnTo>
                    <a:pt x="691" y="930"/>
                  </a:lnTo>
                  <a:lnTo>
                    <a:pt x="759" y="964"/>
                  </a:lnTo>
                  <a:lnTo>
                    <a:pt x="830" y="996"/>
                  </a:lnTo>
                  <a:lnTo>
                    <a:pt x="856" y="895"/>
                  </a:lnTo>
                  <a:lnTo>
                    <a:pt x="885" y="798"/>
                  </a:lnTo>
                  <a:lnTo>
                    <a:pt x="917" y="705"/>
                  </a:lnTo>
                  <a:lnTo>
                    <a:pt x="953" y="618"/>
                  </a:lnTo>
                  <a:lnTo>
                    <a:pt x="991" y="535"/>
                  </a:lnTo>
                  <a:lnTo>
                    <a:pt x="1033" y="457"/>
                  </a:lnTo>
                  <a:close/>
                  <a:moveTo>
                    <a:pt x="2297" y="456"/>
                  </a:moveTo>
                  <a:lnTo>
                    <a:pt x="2339" y="535"/>
                  </a:lnTo>
                  <a:lnTo>
                    <a:pt x="2378" y="618"/>
                  </a:lnTo>
                  <a:lnTo>
                    <a:pt x="2414" y="705"/>
                  </a:lnTo>
                  <a:lnTo>
                    <a:pt x="2447" y="798"/>
                  </a:lnTo>
                  <a:lnTo>
                    <a:pt x="2476" y="895"/>
                  </a:lnTo>
                  <a:lnTo>
                    <a:pt x="2501" y="996"/>
                  </a:lnTo>
                  <a:lnTo>
                    <a:pt x="2573" y="964"/>
                  </a:lnTo>
                  <a:lnTo>
                    <a:pt x="2640" y="930"/>
                  </a:lnTo>
                  <a:lnTo>
                    <a:pt x="2704" y="894"/>
                  </a:lnTo>
                  <a:lnTo>
                    <a:pt x="2763" y="855"/>
                  </a:lnTo>
                  <a:lnTo>
                    <a:pt x="2708" y="787"/>
                  </a:lnTo>
                  <a:lnTo>
                    <a:pt x="2650" y="721"/>
                  </a:lnTo>
                  <a:lnTo>
                    <a:pt x="2587" y="659"/>
                  </a:lnTo>
                  <a:lnTo>
                    <a:pt x="2520" y="601"/>
                  </a:lnTo>
                  <a:lnTo>
                    <a:pt x="2449" y="548"/>
                  </a:lnTo>
                  <a:lnTo>
                    <a:pt x="2374" y="501"/>
                  </a:lnTo>
                  <a:lnTo>
                    <a:pt x="2297" y="456"/>
                  </a:lnTo>
                  <a:close/>
                  <a:moveTo>
                    <a:pt x="1817" y="352"/>
                  </a:moveTo>
                  <a:lnTo>
                    <a:pt x="1817" y="1142"/>
                  </a:lnTo>
                  <a:lnTo>
                    <a:pt x="1919" y="1134"/>
                  </a:lnTo>
                  <a:lnTo>
                    <a:pt x="2020" y="1121"/>
                  </a:lnTo>
                  <a:lnTo>
                    <a:pt x="2117" y="1106"/>
                  </a:lnTo>
                  <a:lnTo>
                    <a:pt x="2212" y="1086"/>
                  </a:lnTo>
                  <a:lnTo>
                    <a:pt x="2190" y="997"/>
                  </a:lnTo>
                  <a:lnTo>
                    <a:pt x="2166" y="911"/>
                  </a:lnTo>
                  <a:lnTo>
                    <a:pt x="2139" y="831"/>
                  </a:lnTo>
                  <a:lnTo>
                    <a:pt x="2110" y="755"/>
                  </a:lnTo>
                  <a:lnTo>
                    <a:pt x="2078" y="686"/>
                  </a:lnTo>
                  <a:lnTo>
                    <a:pt x="2045" y="620"/>
                  </a:lnTo>
                  <a:lnTo>
                    <a:pt x="2010" y="561"/>
                  </a:lnTo>
                  <a:lnTo>
                    <a:pt x="1973" y="507"/>
                  </a:lnTo>
                  <a:lnTo>
                    <a:pt x="1936" y="459"/>
                  </a:lnTo>
                  <a:lnTo>
                    <a:pt x="1897" y="416"/>
                  </a:lnTo>
                  <a:lnTo>
                    <a:pt x="1857" y="381"/>
                  </a:lnTo>
                  <a:lnTo>
                    <a:pt x="1817" y="352"/>
                  </a:lnTo>
                  <a:close/>
                  <a:moveTo>
                    <a:pt x="1514" y="352"/>
                  </a:moveTo>
                  <a:lnTo>
                    <a:pt x="1474" y="381"/>
                  </a:lnTo>
                  <a:lnTo>
                    <a:pt x="1434" y="416"/>
                  </a:lnTo>
                  <a:lnTo>
                    <a:pt x="1396" y="459"/>
                  </a:lnTo>
                  <a:lnTo>
                    <a:pt x="1358" y="507"/>
                  </a:lnTo>
                  <a:lnTo>
                    <a:pt x="1321" y="561"/>
                  </a:lnTo>
                  <a:lnTo>
                    <a:pt x="1287" y="620"/>
                  </a:lnTo>
                  <a:lnTo>
                    <a:pt x="1253" y="686"/>
                  </a:lnTo>
                  <a:lnTo>
                    <a:pt x="1222" y="755"/>
                  </a:lnTo>
                  <a:lnTo>
                    <a:pt x="1192" y="831"/>
                  </a:lnTo>
                  <a:lnTo>
                    <a:pt x="1165" y="911"/>
                  </a:lnTo>
                  <a:lnTo>
                    <a:pt x="1141" y="997"/>
                  </a:lnTo>
                  <a:lnTo>
                    <a:pt x="1119" y="1086"/>
                  </a:lnTo>
                  <a:lnTo>
                    <a:pt x="1214" y="1106"/>
                  </a:lnTo>
                  <a:lnTo>
                    <a:pt x="1312" y="1121"/>
                  </a:lnTo>
                  <a:lnTo>
                    <a:pt x="1412" y="1134"/>
                  </a:lnTo>
                  <a:lnTo>
                    <a:pt x="1514" y="1142"/>
                  </a:lnTo>
                  <a:lnTo>
                    <a:pt x="1514" y="352"/>
                  </a:lnTo>
                  <a:close/>
                  <a:moveTo>
                    <a:pt x="1666" y="0"/>
                  </a:moveTo>
                  <a:lnTo>
                    <a:pt x="1666" y="0"/>
                  </a:lnTo>
                  <a:lnTo>
                    <a:pt x="1771" y="3"/>
                  </a:lnTo>
                  <a:lnTo>
                    <a:pt x="1874" y="13"/>
                  </a:lnTo>
                  <a:lnTo>
                    <a:pt x="1976" y="29"/>
                  </a:lnTo>
                  <a:lnTo>
                    <a:pt x="2075" y="51"/>
                  </a:lnTo>
                  <a:lnTo>
                    <a:pt x="2172" y="78"/>
                  </a:lnTo>
                  <a:lnTo>
                    <a:pt x="2268" y="112"/>
                  </a:lnTo>
                  <a:lnTo>
                    <a:pt x="2359" y="150"/>
                  </a:lnTo>
                  <a:lnTo>
                    <a:pt x="2448" y="195"/>
                  </a:lnTo>
                  <a:lnTo>
                    <a:pt x="2534" y="244"/>
                  </a:lnTo>
                  <a:lnTo>
                    <a:pt x="2616" y="297"/>
                  </a:lnTo>
                  <a:lnTo>
                    <a:pt x="2696" y="355"/>
                  </a:lnTo>
                  <a:lnTo>
                    <a:pt x="2771" y="418"/>
                  </a:lnTo>
                  <a:lnTo>
                    <a:pt x="2844" y="485"/>
                  </a:lnTo>
                  <a:lnTo>
                    <a:pt x="2911" y="557"/>
                  </a:lnTo>
                  <a:lnTo>
                    <a:pt x="2973" y="632"/>
                  </a:lnTo>
                  <a:lnTo>
                    <a:pt x="3033" y="710"/>
                  </a:lnTo>
                  <a:lnTo>
                    <a:pt x="3086" y="792"/>
                  </a:lnTo>
                  <a:lnTo>
                    <a:pt x="3136" y="877"/>
                  </a:lnTo>
                  <a:lnTo>
                    <a:pt x="3181" y="965"/>
                  </a:lnTo>
                  <a:lnTo>
                    <a:pt x="3219" y="1057"/>
                  </a:lnTo>
                  <a:lnTo>
                    <a:pt x="3253" y="1152"/>
                  </a:lnTo>
                  <a:lnTo>
                    <a:pt x="3280" y="1247"/>
                  </a:lnTo>
                  <a:lnTo>
                    <a:pt x="3302" y="1346"/>
                  </a:lnTo>
                  <a:lnTo>
                    <a:pt x="3319" y="1447"/>
                  </a:lnTo>
                  <a:lnTo>
                    <a:pt x="3328" y="1550"/>
                  </a:lnTo>
                  <a:lnTo>
                    <a:pt x="3331" y="1655"/>
                  </a:lnTo>
                  <a:lnTo>
                    <a:pt x="3328" y="1759"/>
                  </a:lnTo>
                  <a:lnTo>
                    <a:pt x="3319" y="1862"/>
                  </a:lnTo>
                  <a:lnTo>
                    <a:pt x="3302" y="1963"/>
                  </a:lnTo>
                  <a:lnTo>
                    <a:pt x="3280" y="2062"/>
                  </a:lnTo>
                  <a:lnTo>
                    <a:pt x="3253" y="2158"/>
                  </a:lnTo>
                  <a:lnTo>
                    <a:pt x="3219" y="2252"/>
                  </a:lnTo>
                  <a:lnTo>
                    <a:pt x="3181" y="2343"/>
                  </a:lnTo>
                  <a:lnTo>
                    <a:pt x="3136" y="2432"/>
                  </a:lnTo>
                  <a:lnTo>
                    <a:pt x="3086" y="2517"/>
                  </a:lnTo>
                  <a:lnTo>
                    <a:pt x="3033" y="2599"/>
                  </a:lnTo>
                  <a:lnTo>
                    <a:pt x="2973" y="2678"/>
                  </a:lnTo>
                  <a:lnTo>
                    <a:pt x="2911" y="2753"/>
                  </a:lnTo>
                  <a:lnTo>
                    <a:pt x="2844" y="2824"/>
                  </a:lnTo>
                  <a:lnTo>
                    <a:pt x="2771" y="2892"/>
                  </a:lnTo>
                  <a:lnTo>
                    <a:pt x="2696" y="2954"/>
                  </a:lnTo>
                  <a:lnTo>
                    <a:pt x="2616" y="3012"/>
                  </a:lnTo>
                  <a:lnTo>
                    <a:pt x="2534" y="3066"/>
                  </a:lnTo>
                  <a:lnTo>
                    <a:pt x="2448" y="3115"/>
                  </a:lnTo>
                  <a:lnTo>
                    <a:pt x="2359" y="3159"/>
                  </a:lnTo>
                  <a:lnTo>
                    <a:pt x="2268" y="3197"/>
                  </a:lnTo>
                  <a:lnTo>
                    <a:pt x="2172" y="3231"/>
                  </a:lnTo>
                  <a:lnTo>
                    <a:pt x="2075" y="3259"/>
                  </a:lnTo>
                  <a:lnTo>
                    <a:pt x="1976" y="3281"/>
                  </a:lnTo>
                  <a:lnTo>
                    <a:pt x="1874" y="3296"/>
                  </a:lnTo>
                  <a:lnTo>
                    <a:pt x="1771" y="3305"/>
                  </a:lnTo>
                  <a:lnTo>
                    <a:pt x="1666" y="3310"/>
                  </a:lnTo>
                  <a:lnTo>
                    <a:pt x="1576" y="3307"/>
                  </a:lnTo>
                  <a:lnTo>
                    <a:pt x="1488" y="3299"/>
                  </a:lnTo>
                  <a:lnTo>
                    <a:pt x="1400" y="3288"/>
                  </a:lnTo>
                  <a:lnTo>
                    <a:pt x="1314" y="3271"/>
                  </a:lnTo>
                  <a:lnTo>
                    <a:pt x="1230" y="3251"/>
                  </a:lnTo>
                  <a:lnTo>
                    <a:pt x="1313" y="3215"/>
                  </a:lnTo>
                  <a:lnTo>
                    <a:pt x="1392" y="3177"/>
                  </a:lnTo>
                  <a:lnTo>
                    <a:pt x="1469" y="3137"/>
                  </a:lnTo>
                  <a:lnTo>
                    <a:pt x="1540" y="3097"/>
                  </a:lnTo>
                  <a:lnTo>
                    <a:pt x="1608" y="3057"/>
                  </a:lnTo>
                  <a:lnTo>
                    <a:pt x="1670" y="3018"/>
                  </a:lnTo>
                  <a:lnTo>
                    <a:pt x="1678" y="3027"/>
                  </a:lnTo>
                  <a:lnTo>
                    <a:pt x="1709" y="3053"/>
                  </a:lnTo>
                  <a:lnTo>
                    <a:pt x="1741" y="3075"/>
                  </a:lnTo>
                  <a:lnTo>
                    <a:pt x="1777" y="3092"/>
                  </a:lnTo>
                  <a:lnTo>
                    <a:pt x="1814" y="3105"/>
                  </a:lnTo>
                  <a:lnTo>
                    <a:pt x="1853" y="3112"/>
                  </a:lnTo>
                  <a:lnTo>
                    <a:pt x="1893" y="3115"/>
                  </a:lnTo>
                  <a:lnTo>
                    <a:pt x="1924" y="3113"/>
                  </a:lnTo>
                  <a:lnTo>
                    <a:pt x="1956" y="3109"/>
                  </a:lnTo>
                  <a:lnTo>
                    <a:pt x="1986" y="3101"/>
                  </a:lnTo>
                  <a:lnTo>
                    <a:pt x="2025" y="3085"/>
                  </a:lnTo>
                  <a:lnTo>
                    <a:pt x="2061" y="3064"/>
                  </a:lnTo>
                  <a:lnTo>
                    <a:pt x="2094" y="3039"/>
                  </a:lnTo>
                  <a:lnTo>
                    <a:pt x="2122" y="3010"/>
                  </a:lnTo>
                  <a:lnTo>
                    <a:pt x="2147" y="2978"/>
                  </a:lnTo>
                  <a:lnTo>
                    <a:pt x="2167" y="2943"/>
                  </a:lnTo>
                  <a:lnTo>
                    <a:pt x="2182" y="2903"/>
                  </a:lnTo>
                  <a:lnTo>
                    <a:pt x="2192" y="2862"/>
                  </a:lnTo>
                  <a:lnTo>
                    <a:pt x="2348" y="1907"/>
                  </a:lnTo>
                  <a:lnTo>
                    <a:pt x="2351" y="1867"/>
                  </a:lnTo>
                  <a:lnTo>
                    <a:pt x="2350" y="1829"/>
                  </a:lnTo>
                  <a:lnTo>
                    <a:pt x="2344" y="1790"/>
                  </a:lnTo>
                  <a:lnTo>
                    <a:pt x="2333" y="1754"/>
                  </a:lnTo>
                  <a:lnTo>
                    <a:pt x="2317" y="1718"/>
                  </a:lnTo>
                  <a:lnTo>
                    <a:pt x="2296" y="1685"/>
                  </a:lnTo>
                  <a:lnTo>
                    <a:pt x="2272" y="1655"/>
                  </a:lnTo>
                  <a:lnTo>
                    <a:pt x="2272" y="1655"/>
                  </a:lnTo>
                  <a:lnTo>
                    <a:pt x="2270" y="1562"/>
                  </a:lnTo>
                  <a:lnTo>
                    <a:pt x="2266" y="1472"/>
                  </a:lnTo>
                  <a:lnTo>
                    <a:pt x="2258" y="1385"/>
                  </a:lnTo>
                  <a:lnTo>
                    <a:pt x="2151" y="1405"/>
                  </a:lnTo>
                  <a:lnTo>
                    <a:pt x="2043" y="1422"/>
                  </a:lnTo>
                  <a:lnTo>
                    <a:pt x="1931" y="1436"/>
                  </a:lnTo>
                  <a:lnTo>
                    <a:pt x="1817" y="1443"/>
                  </a:lnTo>
                  <a:lnTo>
                    <a:pt x="1817" y="1592"/>
                  </a:lnTo>
                  <a:lnTo>
                    <a:pt x="1514" y="1639"/>
                  </a:lnTo>
                  <a:lnTo>
                    <a:pt x="1514" y="1443"/>
                  </a:lnTo>
                  <a:lnTo>
                    <a:pt x="1401" y="1436"/>
                  </a:lnTo>
                  <a:lnTo>
                    <a:pt x="1289" y="1422"/>
                  </a:lnTo>
                  <a:lnTo>
                    <a:pt x="1180" y="1405"/>
                  </a:lnTo>
                  <a:lnTo>
                    <a:pt x="1073" y="1385"/>
                  </a:lnTo>
                  <a:lnTo>
                    <a:pt x="1066" y="1472"/>
                  </a:lnTo>
                  <a:lnTo>
                    <a:pt x="1062" y="1562"/>
                  </a:lnTo>
                  <a:lnTo>
                    <a:pt x="1061" y="1655"/>
                  </a:lnTo>
                  <a:lnTo>
                    <a:pt x="1061" y="1684"/>
                  </a:lnTo>
                  <a:lnTo>
                    <a:pt x="1062" y="1713"/>
                  </a:lnTo>
                  <a:lnTo>
                    <a:pt x="1039" y="1716"/>
                  </a:lnTo>
                  <a:lnTo>
                    <a:pt x="997" y="1727"/>
                  </a:lnTo>
                  <a:lnTo>
                    <a:pt x="958" y="1741"/>
                  </a:lnTo>
                  <a:lnTo>
                    <a:pt x="922" y="1761"/>
                  </a:lnTo>
                  <a:lnTo>
                    <a:pt x="890" y="1785"/>
                  </a:lnTo>
                  <a:lnTo>
                    <a:pt x="861" y="1814"/>
                  </a:lnTo>
                  <a:lnTo>
                    <a:pt x="835" y="1846"/>
                  </a:lnTo>
                  <a:lnTo>
                    <a:pt x="814" y="1882"/>
                  </a:lnTo>
                  <a:lnTo>
                    <a:pt x="799" y="1921"/>
                  </a:lnTo>
                  <a:lnTo>
                    <a:pt x="788" y="1962"/>
                  </a:lnTo>
                  <a:lnTo>
                    <a:pt x="784" y="2002"/>
                  </a:lnTo>
                  <a:lnTo>
                    <a:pt x="785" y="2044"/>
                  </a:lnTo>
                  <a:lnTo>
                    <a:pt x="793" y="2083"/>
                  </a:lnTo>
                  <a:lnTo>
                    <a:pt x="805" y="2122"/>
                  </a:lnTo>
                  <a:lnTo>
                    <a:pt x="822" y="2159"/>
                  </a:lnTo>
                  <a:lnTo>
                    <a:pt x="845" y="2194"/>
                  </a:lnTo>
                  <a:lnTo>
                    <a:pt x="872" y="2225"/>
                  </a:lnTo>
                  <a:lnTo>
                    <a:pt x="835" y="2267"/>
                  </a:lnTo>
                  <a:lnTo>
                    <a:pt x="801" y="2305"/>
                  </a:lnTo>
                  <a:lnTo>
                    <a:pt x="765" y="2341"/>
                  </a:lnTo>
                  <a:lnTo>
                    <a:pt x="695" y="2377"/>
                  </a:lnTo>
                  <a:lnTo>
                    <a:pt x="629" y="2414"/>
                  </a:lnTo>
                  <a:lnTo>
                    <a:pt x="568" y="2454"/>
                  </a:lnTo>
                  <a:lnTo>
                    <a:pt x="585" y="2475"/>
                  </a:lnTo>
                  <a:lnTo>
                    <a:pt x="603" y="2495"/>
                  </a:lnTo>
                  <a:lnTo>
                    <a:pt x="564" y="2527"/>
                  </a:lnTo>
                  <a:lnTo>
                    <a:pt x="529" y="2555"/>
                  </a:lnTo>
                  <a:lnTo>
                    <a:pt x="494" y="2579"/>
                  </a:lnTo>
                  <a:lnTo>
                    <a:pt x="463" y="2599"/>
                  </a:lnTo>
                  <a:lnTo>
                    <a:pt x="434" y="2616"/>
                  </a:lnTo>
                  <a:lnTo>
                    <a:pt x="408" y="2629"/>
                  </a:lnTo>
                  <a:lnTo>
                    <a:pt x="385" y="2639"/>
                  </a:lnTo>
                  <a:lnTo>
                    <a:pt x="365" y="2645"/>
                  </a:lnTo>
                  <a:lnTo>
                    <a:pt x="349" y="2648"/>
                  </a:lnTo>
                  <a:lnTo>
                    <a:pt x="339" y="2645"/>
                  </a:lnTo>
                  <a:lnTo>
                    <a:pt x="331" y="2642"/>
                  </a:lnTo>
                  <a:lnTo>
                    <a:pt x="276" y="2565"/>
                  </a:lnTo>
                  <a:lnTo>
                    <a:pt x="226" y="2486"/>
                  </a:lnTo>
                  <a:lnTo>
                    <a:pt x="180" y="2403"/>
                  </a:lnTo>
                  <a:lnTo>
                    <a:pt x="139" y="2317"/>
                  </a:lnTo>
                  <a:lnTo>
                    <a:pt x="104" y="2229"/>
                  </a:lnTo>
                  <a:lnTo>
                    <a:pt x="73" y="2139"/>
                  </a:lnTo>
                  <a:lnTo>
                    <a:pt x="47" y="2045"/>
                  </a:lnTo>
                  <a:lnTo>
                    <a:pt x="27" y="1950"/>
                  </a:lnTo>
                  <a:lnTo>
                    <a:pt x="13" y="1854"/>
                  </a:lnTo>
                  <a:lnTo>
                    <a:pt x="3" y="1755"/>
                  </a:lnTo>
                  <a:lnTo>
                    <a:pt x="0" y="1655"/>
                  </a:lnTo>
                  <a:lnTo>
                    <a:pt x="3" y="1550"/>
                  </a:lnTo>
                  <a:lnTo>
                    <a:pt x="14" y="1447"/>
                  </a:lnTo>
                  <a:lnTo>
                    <a:pt x="29" y="1346"/>
                  </a:lnTo>
                  <a:lnTo>
                    <a:pt x="51" y="1247"/>
                  </a:lnTo>
                  <a:lnTo>
                    <a:pt x="80" y="1152"/>
                  </a:lnTo>
                  <a:lnTo>
                    <a:pt x="113" y="1057"/>
                  </a:lnTo>
                  <a:lnTo>
                    <a:pt x="152" y="965"/>
                  </a:lnTo>
                  <a:lnTo>
                    <a:pt x="196" y="877"/>
                  </a:lnTo>
                  <a:lnTo>
                    <a:pt x="245" y="792"/>
                  </a:lnTo>
                  <a:lnTo>
                    <a:pt x="299" y="710"/>
                  </a:lnTo>
                  <a:lnTo>
                    <a:pt x="358" y="632"/>
                  </a:lnTo>
                  <a:lnTo>
                    <a:pt x="421" y="557"/>
                  </a:lnTo>
                  <a:lnTo>
                    <a:pt x="489" y="485"/>
                  </a:lnTo>
                  <a:lnTo>
                    <a:pt x="560" y="418"/>
                  </a:lnTo>
                  <a:lnTo>
                    <a:pt x="635" y="355"/>
                  </a:lnTo>
                  <a:lnTo>
                    <a:pt x="715" y="297"/>
                  </a:lnTo>
                  <a:lnTo>
                    <a:pt x="798" y="244"/>
                  </a:lnTo>
                  <a:lnTo>
                    <a:pt x="884" y="195"/>
                  </a:lnTo>
                  <a:lnTo>
                    <a:pt x="973" y="150"/>
                  </a:lnTo>
                  <a:lnTo>
                    <a:pt x="1065" y="112"/>
                  </a:lnTo>
                  <a:lnTo>
                    <a:pt x="1159" y="78"/>
                  </a:lnTo>
                  <a:lnTo>
                    <a:pt x="1256" y="51"/>
                  </a:lnTo>
                  <a:lnTo>
                    <a:pt x="1356" y="29"/>
                  </a:lnTo>
                  <a:lnTo>
                    <a:pt x="1457" y="13"/>
                  </a:lnTo>
                  <a:lnTo>
                    <a:pt x="1561" y="3"/>
                  </a:lnTo>
                  <a:lnTo>
                    <a:pt x="16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52" name="Freeform 153"/>
            <p:cNvSpPr>
              <a:spLocks noEditPoints="1"/>
            </p:cNvSpPr>
            <p:nvPr/>
          </p:nvSpPr>
          <p:spPr bwMode="auto">
            <a:xfrm>
              <a:off x="6383" y="3134"/>
              <a:ext cx="193" cy="139"/>
            </a:xfrm>
            <a:custGeom>
              <a:avLst/>
              <a:gdLst>
                <a:gd name="T0" fmla="*/ 1200 w 2125"/>
                <a:gd name="T1" fmla="*/ 494 h 1526"/>
                <a:gd name="T2" fmla="*/ 1133 w 2125"/>
                <a:gd name="T3" fmla="*/ 582 h 1526"/>
                <a:gd name="T4" fmla="*/ 1068 w 2125"/>
                <a:gd name="T5" fmla="*/ 663 h 1526"/>
                <a:gd name="T6" fmla="*/ 979 w 2125"/>
                <a:gd name="T7" fmla="*/ 765 h 1526"/>
                <a:gd name="T8" fmla="*/ 871 w 2125"/>
                <a:gd name="T9" fmla="*/ 879 h 1526"/>
                <a:gd name="T10" fmla="*/ 751 w 2125"/>
                <a:gd name="T11" fmla="*/ 993 h 1526"/>
                <a:gd name="T12" fmla="*/ 621 w 2125"/>
                <a:gd name="T13" fmla="*/ 1097 h 1526"/>
                <a:gd name="T14" fmla="*/ 487 w 2125"/>
                <a:gd name="T15" fmla="*/ 1179 h 1526"/>
                <a:gd name="T16" fmla="*/ 354 w 2125"/>
                <a:gd name="T17" fmla="*/ 1230 h 1526"/>
                <a:gd name="T18" fmla="*/ 238 w 2125"/>
                <a:gd name="T19" fmla="*/ 1240 h 1526"/>
                <a:gd name="T20" fmla="*/ 151 w 2125"/>
                <a:gd name="T21" fmla="*/ 1216 h 1526"/>
                <a:gd name="T22" fmla="*/ 285 w 2125"/>
                <a:gd name="T23" fmla="*/ 1313 h 1526"/>
                <a:gd name="T24" fmla="*/ 444 w 2125"/>
                <a:gd name="T25" fmla="*/ 1366 h 1526"/>
                <a:gd name="T26" fmla="*/ 623 w 2125"/>
                <a:gd name="T27" fmla="*/ 1373 h 1526"/>
                <a:gd name="T28" fmla="*/ 801 w 2125"/>
                <a:gd name="T29" fmla="*/ 1344 h 1526"/>
                <a:gd name="T30" fmla="*/ 978 w 2125"/>
                <a:gd name="T31" fmla="*/ 1289 h 1526"/>
                <a:gd name="T32" fmla="*/ 1147 w 2125"/>
                <a:gd name="T33" fmla="*/ 1216 h 1526"/>
                <a:gd name="T34" fmla="*/ 1300 w 2125"/>
                <a:gd name="T35" fmla="*/ 1136 h 1526"/>
                <a:gd name="T36" fmla="*/ 1429 w 2125"/>
                <a:gd name="T37" fmla="*/ 1058 h 1526"/>
                <a:gd name="T38" fmla="*/ 1529 w 2125"/>
                <a:gd name="T39" fmla="*/ 991 h 1526"/>
                <a:gd name="T40" fmla="*/ 1628 w 2125"/>
                <a:gd name="T41" fmla="*/ 919 h 1526"/>
                <a:gd name="T42" fmla="*/ 1979 w 2125"/>
                <a:gd name="T43" fmla="*/ 0 h 1526"/>
                <a:gd name="T44" fmla="*/ 2059 w 2125"/>
                <a:gd name="T45" fmla="*/ 26 h 1526"/>
                <a:gd name="T46" fmla="*/ 2112 w 2125"/>
                <a:gd name="T47" fmla="*/ 92 h 1526"/>
                <a:gd name="T48" fmla="*/ 2123 w 2125"/>
                <a:gd name="T49" fmla="*/ 175 h 1526"/>
                <a:gd name="T50" fmla="*/ 1948 w 2125"/>
                <a:gd name="T51" fmla="*/ 1183 h 1526"/>
                <a:gd name="T52" fmla="*/ 1889 w 2125"/>
                <a:gd name="T53" fmla="*/ 1239 h 1526"/>
                <a:gd name="T54" fmla="*/ 1817 w 2125"/>
                <a:gd name="T55" fmla="*/ 1256 h 1526"/>
                <a:gd name="T56" fmla="*/ 1748 w 2125"/>
                <a:gd name="T57" fmla="*/ 1241 h 1526"/>
                <a:gd name="T58" fmla="*/ 1614 w 2125"/>
                <a:gd name="T59" fmla="*/ 1116 h 1526"/>
                <a:gd name="T60" fmla="*/ 1472 w 2125"/>
                <a:gd name="T61" fmla="*/ 1209 h 1526"/>
                <a:gd name="T62" fmla="*/ 1295 w 2125"/>
                <a:gd name="T63" fmla="*/ 1310 h 1526"/>
                <a:gd name="T64" fmla="*/ 1091 w 2125"/>
                <a:gd name="T65" fmla="*/ 1407 h 1526"/>
                <a:gd name="T66" fmla="*/ 869 w 2125"/>
                <a:gd name="T67" fmla="*/ 1483 h 1526"/>
                <a:gd name="T68" fmla="*/ 640 w 2125"/>
                <a:gd name="T69" fmla="*/ 1523 h 1526"/>
                <a:gd name="T70" fmla="*/ 430 w 2125"/>
                <a:gd name="T71" fmla="*/ 1515 h 1526"/>
                <a:gd name="T72" fmla="*/ 249 w 2125"/>
                <a:gd name="T73" fmla="*/ 1462 h 1526"/>
                <a:gd name="T74" fmla="*/ 91 w 2125"/>
                <a:gd name="T75" fmla="*/ 1365 h 1526"/>
                <a:gd name="T76" fmla="*/ 14 w 2125"/>
                <a:gd name="T77" fmla="*/ 1278 h 1526"/>
                <a:gd name="T78" fmla="*/ 0 w 2125"/>
                <a:gd name="T79" fmla="*/ 1203 h 1526"/>
                <a:gd name="T80" fmla="*/ 28 w 2125"/>
                <a:gd name="T81" fmla="*/ 1129 h 1526"/>
                <a:gd name="T82" fmla="*/ 87 w 2125"/>
                <a:gd name="T83" fmla="*/ 1081 h 1526"/>
                <a:gd name="T84" fmla="*/ 165 w 2125"/>
                <a:gd name="T85" fmla="*/ 1066 h 1526"/>
                <a:gd name="T86" fmla="*/ 232 w 2125"/>
                <a:gd name="T87" fmla="*/ 1086 h 1526"/>
                <a:gd name="T88" fmla="*/ 302 w 2125"/>
                <a:gd name="T89" fmla="*/ 1088 h 1526"/>
                <a:gd name="T90" fmla="*/ 411 w 2125"/>
                <a:gd name="T91" fmla="*/ 1050 h 1526"/>
                <a:gd name="T92" fmla="*/ 533 w 2125"/>
                <a:gd name="T93" fmla="*/ 975 h 1526"/>
                <a:gd name="T94" fmla="*/ 663 w 2125"/>
                <a:gd name="T95" fmla="*/ 869 h 1526"/>
                <a:gd name="T96" fmla="*/ 794 w 2125"/>
                <a:gd name="T97" fmla="*/ 744 h 1526"/>
                <a:gd name="T98" fmla="*/ 921 w 2125"/>
                <a:gd name="T99" fmla="*/ 603 h 1526"/>
                <a:gd name="T100" fmla="*/ 904 w 2125"/>
                <a:gd name="T101" fmla="*/ 412 h 1526"/>
                <a:gd name="T102" fmla="*/ 864 w 2125"/>
                <a:gd name="T103" fmla="*/ 341 h 1526"/>
                <a:gd name="T104" fmla="*/ 867 w 2125"/>
                <a:gd name="T105" fmla="*/ 259 h 1526"/>
                <a:gd name="T106" fmla="*/ 912 w 2125"/>
                <a:gd name="T107" fmla="*/ 191 h 1526"/>
                <a:gd name="T108" fmla="*/ 987 w 2125"/>
                <a:gd name="T109" fmla="*/ 157 h 1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125" h="1526">
                  <a:moveTo>
                    <a:pt x="1973" y="151"/>
                  </a:moveTo>
                  <a:lnTo>
                    <a:pt x="1012" y="306"/>
                  </a:lnTo>
                  <a:lnTo>
                    <a:pt x="1200" y="494"/>
                  </a:lnTo>
                  <a:lnTo>
                    <a:pt x="1161" y="546"/>
                  </a:lnTo>
                  <a:lnTo>
                    <a:pt x="1149" y="563"/>
                  </a:lnTo>
                  <a:lnTo>
                    <a:pt x="1133" y="582"/>
                  </a:lnTo>
                  <a:lnTo>
                    <a:pt x="1114" y="606"/>
                  </a:lnTo>
                  <a:lnTo>
                    <a:pt x="1092" y="633"/>
                  </a:lnTo>
                  <a:lnTo>
                    <a:pt x="1068" y="663"/>
                  </a:lnTo>
                  <a:lnTo>
                    <a:pt x="1041" y="695"/>
                  </a:lnTo>
                  <a:lnTo>
                    <a:pt x="1011" y="729"/>
                  </a:lnTo>
                  <a:lnTo>
                    <a:pt x="979" y="765"/>
                  </a:lnTo>
                  <a:lnTo>
                    <a:pt x="945" y="803"/>
                  </a:lnTo>
                  <a:lnTo>
                    <a:pt x="909" y="840"/>
                  </a:lnTo>
                  <a:lnTo>
                    <a:pt x="871" y="879"/>
                  </a:lnTo>
                  <a:lnTo>
                    <a:pt x="833" y="917"/>
                  </a:lnTo>
                  <a:lnTo>
                    <a:pt x="792" y="956"/>
                  </a:lnTo>
                  <a:lnTo>
                    <a:pt x="751" y="993"/>
                  </a:lnTo>
                  <a:lnTo>
                    <a:pt x="708" y="1030"/>
                  </a:lnTo>
                  <a:lnTo>
                    <a:pt x="665" y="1064"/>
                  </a:lnTo>
                  <a:lnTo>
                    <a:pt x="621" y="1097"/>
                  </a:lnTo>
                  <a:lnTo>
                    <a:pt x="576" y="1127"/>
                  </a:lnTo>
                  <a:lnTo>
                    <a:pt x="531" y="1155"/>
                  </a:lnTo>
                  <a:lnTo>
                    <a:pt x="487" y="1179"/>
                  </a:lnTo>
                  <a:lnTo>
                    <a:pt x="442" y="1200"/>
                  </a:lnTo>
                  <a:lnTo>
                    <a:pt x="398" y="1218"/>
                  </a:lnTo>
                  <a:lnTo>
                    <a:pt x="354" y="1230"/>
                  </a:lnTo>
                  <a:lnTo>
                    <a:pt x="311" y="1239"/>
                  </a:lnTo>
                  <a:lnTo>
                    <a:pt x="269" y="1241"/>
                  </a:lnTo>
                  <a:lnTo>
                    <a:pt x="238" y="1240"/>
                  </a:lnTo>
                  <a:lnTo>
                    <a:pt x="208" y="1235"/>
                  </a:lnTo>
                  <a:lnTo>
                    <a:pt x="179" y="1227"/>
                  </a:lnTo>
                  <a:lnTo>
                    <a:pt x="151" y="1216"/>
                  </a:lnTo>
                  <a:lnTo>
                    <a:pt x="193" y="1253"/>
                  </a:lnTo>
                  <a:lnTo>
                    <a:pt x="237" y="1285"/>
                  </a:lnTo>
                  <a:lnTo>
                    <a:pt x="285" y="1313"/>
                  </a:lnTo>
                  <a:lnTo>
                    <a:pt x="335" y="1335"/>
                  </a:lnTo>
                  <a:lnTo>
                    <a:pt x="388" y="1353"/>
                  </a:lnTo>
                  <a:lnTo>
                    <a:pt x="444" y="1366"/>
                  </a:lnTo>
                  <a:lnTo>
                    <a:pt x="503" y="1373"/>
                  </a:lnTo>
                  <a:lnTo>
                    <a:pt x="564" y="1375"/>
                  </a:lnTo>
                  <a:lnTo>
                    <a:pt x="623" y="1373"/>
                  </a:lnTo>
                  <a:lnTo>
                    <a:pt x="682" y="1367"/>
                  </a:lnTo>
                  <a:lnTo>
                    <a:pt x="742" y="1357"/>
                  </a:lnTo>
                  <a:lnTo>
                    <a:pt x="801" y="1344"/>
                  </a:lnTo>
                  <a:lnTo>
                    <a:pt x="861" y="1328"/>
                  </a:lnTo>
                  <a:lnTo>
                    <a:pt x="921" y="1309"/>
                  </a:lnTo>
                  <a:lnTo>
                    <a:pt x="978" y="1289"/>
                  </a:lnTo>
                  <a:lnTo>
                    <a:pt x="1036" y="1266"/>
                  </a:lnTo>
                  <a:lnTo>
                    <a:pt x="1092" y="1242"/>
                  </a:lnTo>
                  <a:lnTo>
                    <a:pt x="1147" y="1216"/>
                  </a:lnTo>
                  <a:lnTo>
                    <a:pt x="1199" y="1190"/>
                  </a:lnTo>
                  <a:lnTo>
                    <a:pt x="1250" y="1163"/>
                  </a:lnTo>
                  <a:lnTo>
                    <a:pt x="1300" y="1136"/>
                  </a:lnTo>
                  <a:lnTo>
                    <a:pt x="1346" y="1110"/>
                  </a:lnTo>
                  <a:lnTo>
                    <a:pt x="1389" y="1084"/>
                  </a:lnTo>
                  <a:lnTo>
                    <a:pt x="1429" y="1058"/>
                  </a:lnTo>
                  <a:lnTo>
                    <a:pt x="1466" y="1034"/>
                  </a:lnTo>
                  <a:lnTo>
                    <a:pt x="1500" y="1012"/>
                  </a:lnTo>
                  <a:lnTo>
                    <a:pt x="1529" y="991"/>
                  </a:lnTo>
                  <a:lnTo>
                    <a:pt x="1555" y="973"/>
                  </a:lnTo>
                  <a:lnTo>
                    <a:pt x="1576" y="958"/>
                  </a:lnTo>
                  <a:lnTo>
                    <a:pt x="1628" y="919"/>
                  </a:lnTo>
                  <a:lnTo>
                    <a:pt x="1817" y="1107"/>
                  </a:lnTo>
                  <a:lnTo>
                    <a:pt x="1973" y="151"/>
                  </a:lnTo>
                  <a:close/>
                  <a:moveTo>
                    <a:pt x="1979" y="0"/>
                  </a:moveTo>
                  <a:lnTo>
                    <a:pt x="2007" y="4"/>
                  </a:lnTo>
                  <a:lnTo>
                    <a:pt x="2035" y="13"/>
                  </a:lnTo>
                  <a:lnTo>
                    <a:pt x="2059" y="26"/>
                  </a:lnTo>
                  <a:lnTo>
                    <a:pt x="2081" y="45"/>
                  </a:lnTo>
                  <a:lnTo>
                    <a:pt x="2099" y="67"/>
                  </a:lnTo>
                  <a:lnTo>
                    <a:pt x="2112" y="92"/>
                  </a:lnTo>
                  <a:lnTo>
                    <a:pt x="2120" y="119"/>
                  </a:lnTo>
                  <a:lnTo>
                    <a:pt x="2125" y="147"/>
                  </a:lnTo>
                  <a:lnTo>
                    <a:pt x="2123" y="175"/>
                  </a:lnTo>
                  <a:lnTo>
                    <a:pt x="1967" y="1131"/>
                  </a:lnTo>
                  <a:lnTo>
                    <a:pt x="1959" y="1158"/>
                  </a:lnTo>
                  <a:lnTo>
                    <a:pt x="1948" y="1183"/>
                  </a:lnTo>
                  <a:lnTo>
                    <a:pt x="1932" y="1204"/>
                  </a:lnTo>
                  <a:lnTo>
                    <a:pt x="1912" y="1223"/>
                  </a:lnTo>
                  <a:lnTo>
                    <a:pt x="1889" y="1239"/>
                  </a:lnTo>
                  <a:lnTo>
                    <a:pt x="1864" y="1249"/>
                  </a:lnTo>
                  <a:lnTo>
                    <a:pt x="1841" y="1255"/>
                  </a:lnTo>
                  <a:lnTo>
                    <a:pt x="1817" y="1256"/>
                  </a:lnTo>
                  <a:lnTo>
                    <a:pt x="1793" y="1255"/>
                  </a:lnTo>
                  <a:lnTo>
                    <a:pt x="1770" y="1249"/>
                  </a:lnTo>
                  <a:lnTo>
                    <a:pt x="1748" y="1241"/>
                  </a:lnTo>
                  <a:lnTo>
                    <a:pt x="1728" y="1228"/>
                  </a:lnTo>
                  <a:lnTo>
                    <a:pt x="1710" y="1213"/>
                  </a:lnTo>
                  <a:lnTo>
                    <a:pt x="1614" y="1116"/>
                  </a:lnTo>
                  <a:lnTo>
                    <a:pt x="1571" y="1145"/>
                  </a:lnTo>
                  <a:lnTo>
                    <a:pt x="1524" y="1176"/>
                  </a:lnTo>
                  <a:lnTo>
                    <a:pt x="1472" y="1209"/>
                  </a:lnTo>
                  <a:lnTo>
                    <a:pt x="1417" y="1243"/>
                  </a:lnTo>
                  <a:lnTo>
                    <a:pt x="1358" y="1277"/>
                  </a:lnTo>
                  <a:lnTo>
                    <a:pt x="1295" y="1310"/>
                  </a:lnTo>
                  <a:lnTo>
                    <a:pt x="1230" y="1344"/>
                  </a:lnTo>
                  <a:lnTo>
                    <a:pt x="1161" y="1376"/>
                  </a:lnTo>
                  <a:lnTo>
                    <a:pt x="1091" y="1407"/>
                  </a:lnTo>
                  <a:lnTo>
                    <a:pt x="1018" y="1435"/>
                  </a:lnTo>
                  <a:lnTo>
                    <a:pt x="945" y="1460"/>
                  </a:lnTo>
                  <a:lnTo>
                    <a:pt x="869" y="1483"/>
                  </a:lnTo>
                  <a:lnTo>
                    <a:pt x="793" y="1501"/>
                  </a:lnTo>
                  <a:lnTo>
                    <a:pt x="717" y="1514"/>
                  </a:lnTo>
                  <a:lnTo>
                    <a:pt x="640" y="1523"/>
                  </a:lnTo>
                  <a:lnTo>
                    <a:pt x="564" y="1526"/>
                  </a:lnTo>
                  <a:lnTo>
                    <a:pt x="496" y="1524"/>
                  </a:lnTo>
                  <a:lnTo>
                    <a:pt x="430" y="1515"/>
                  </a:lnTo>
                  <a:lnTo>
                    <a:pt x="367" y="1503"/>
                  </a:lnTo>
                  <a:lnTo>
                    <a:pt x="306" y="1485"/>
                  </a:lnTo>
                  <a:lnTo>
                    <a:pt x="249" y="1462"/>
                  </a:lnTo>
                  <a:lnTo>
                    <a:pt x="193" y="1435"/>
                  </a:lnTo>
                  <a:lnTo>
                    <a:pt x="141" y="1402"/>
                  </a:lnTo>
                  <a:lnTo>
                    <a:pt x="91" y="1365"/>
                  </a:lnTo>
                  <a:lnTo>
                    <a:pt x="44" y="1322"/>
                  </a:lnTo>
                  <a:lnTo>
                    <a:pt x="27" y="1301"/>
                  </a:lnTo>
                  <a:lnTo>
                    <a:pt x="14" y="1278"/>
                  </a:lnTo>
                  <a:lnTo>
                    <a:pt x="5" y="1254"/>
                  </a:lnTo>
                  <a:lnTo>
                    <a:pt x="0" y="1229"/>
                  </a:lnTo>
                  <a:lnTo>
                    <a:pt x="0" y="1203"/>
                  </a:lnTo>
                  <a:lnTo>
                    <a:pt x="5" y="1177"/>
                  </a:lnTo>
                  <a:lnTo>
                    <a:pt x="14" y="1152"/>
                  </a:lnTo>
                  <a:lnTo>
                    <a:pt x="28" y="1129"/>
                  </a:lnTo>
                  <a:lnTo>
                    <a:pt x="44" y="1110"/>
                  </a:lnTo>
                  <a:lnTo>
                    <a:pt x="65" y="1093"/>
                  </a:lnTo>
                  <a:lnTo>
                    <a:pt x="87" y="1081"/>
                  </a:lnTo>
                  <a:lnTo>
                    <a:pt x="112" y="1071"/>
                  </a:lnTo>
                  <a:lnTo>
                    <a:pt x="138" y="1067"/>
                  </a:lnTo>
                  <a:lnTo>
                    <a:pt x="165" y="1066"/>
                  </a:lnTo>
                  <a:lnTo>
                    <a:pt x="190" y="1070"/>
                  </a:lnTo>
                  <a:lnTo>
                    <a:pt x="215" y="1080"/>
                  </a:lnTo>
                  <a:lnTo>
                    <a:pt x="232" y="1086"/>
                  </a:lnTo>
                  <a:lnTo>
                    <a:pt x="250" y="1089"/>
                  </a:lnTo>
                  <a:lnTo>
                    <a:pt x="269" y="1090"/>
                  </a:lnTo>
                  <a:lnTo>
                    <a:pt x="302" y="1088"/>
                  </a:lnTo>
                  <a:lnTo>
                    <a:pt x="336" y="1080"/>
                  </a:lnTo>
                  <a:lnTo>
                    <a:pt x="372" y="1067"/>
                  </a:lnTo>
                  <a:lnTo>
                    <a:pt x="411" y="1050"/>
                  </a:lnTo>
                  <a:lnTo>
                    <a:pt x="451" y="1029"/>
                  </a:lnTo>
                  <a:lnTo>
                    <a:pt x="491" y="1004"/>
                  </a:lnTo>
                  <a:lnTo>
                    <a:pt x="533" y="975"/>
                  </a:lnTo>
                  <a:lnTo>
                    <a:pt x="576" y="942"/>
                  </a:lnTo>
                  <a:lnTo>
                    <a:pt x="619" y="908"/>
                  </a:lnTo>
                  <a:lnTo>
                    <a:pt x="663" y="869"/>
                  </a:lnTo>
                  <a:lnTo>
                    <a:pt x="707" y="830"/>
                  </a:lnTo>
                  <a:lnTo>
                    <a:pt x="750" y="787"/>
                  </a:lnTo>
                  <a:lnTo>
                    <a:pt x="794" y="744"/>
                  </a:lnTo>
                  <a:lnTo>
                    <a:pt x="837" y="698"/>
                  </a:lnTo>
                  <a:lnTo>
                    <a:pt x="879" y="651"/>
                  </a:lnTo>
                  <a:lnTo>
                    <a:pt x="921" y="603"/>
                  </a:lnTo>
                  <a:lnTo>
                    <a:pt x="960" y="555"/>
                  </a:lnTo>
                  <a:lnTo>
                    <a:pt x="1000" y="508"/>
                  </a:lnTo>
                  <a:lnTo>
                    <a:pt x="904" y="412"/>
                  </a:lnTo>
                  <a:lnTo>
                    <a:pt x="886" y="391"/>
                  </a:lnTo>
                  <a:lnTo>
                    <a:pt x="873" y="367"/>
                  </a:lnTo>
                  <a:lnTo>
                    <a:pt x="864" y="341"/>
                  </a:lnTo>
                  <a:lnTo>
                    <a:pt x="860" y="314"/>
                  </a:lnTo>
                  <a:lnTo>
                    <a:pt x="861" y="287"/>
                  </a:lnTo>
                  <a:lnTo>
                    <a:pt x="867" y="259"/>
                  </a:lnTo>
                  <a:lnTo>
                    <a:pt x="878" y="234"/>
                  </a:lnTo>
                  <a:lnTo>
                    <a:pt x="893" y="211"/>
                  </a:lnTo>
                  <a:lnTo>
                    <a:pt x="912" y="191"/>
                  </a:lnTo>
                  <a:lnTo>
                    <a:pt x="934" y="176"/>
                  </a:lnTo>
                  <a:lnTo>
                    <a:pt x="959" y="164"/>
                  </a:lnTo>
                  <a:lnTo>
                    <a:pt x="987" y="157"/>
                  </a:lnTo>
                  <a:lnTo>
                    <a:pt x="1949" y="2"/>
                  </a:lnTo>
                  <a:lnTo>
                    <a:pt x="19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7" name="Group 4"/>
          <p:cNvGrpSpPr>
            <a:grpSpLocks noChangeAspect="1"/>
          </p:cNvGrpSpPr>
          <p:nvPr/>
        </p:nvGrpSpPr>
        <p:grpSpPr bwMode="auto">
          <a:xfrm>
            <a:off x="5882207" y="5040922"/>
            <a:ext cx="291207" cy="291844"/>
            <a:chOff x="2803" y="828"/>
            <a:chExt cx="1372" cy="1375"/>
          </a:xfrm>
          <a:solidFill>
            <a:schemeClr val="accent2"/>
          </a:solidFill>
        </p:grpSpPr>
        <p:sp>
          <p:nvSpPr>
            <p:cNvPr id="8" name="Freeform 6"/>
            <p:cNvSpPr/>
            <p:nvPr/>
          </p:nvSpPr>
          <p:spPr bwMode="auto">
            <a:xfrm>
              <a:off x="2826" y="828"/>
              <a:ext cx="1038" cy="562"/>
            </a:xfrm>
            <a:custGeom>
              <a:avLst/>
              <a:gdLst>
                <a:gd name="T0" fmla="*/ 2023 w 3115"/>
                <a:gd name="T1" fmla="*/ 0 h 1686"/>
                <a:gd name="T2" fmla="*/ 3087 w 3115"/>
                <a:gd name="T3" fmla="*/ 3 h 1686"/>
                <a:gd name="T4" fmla="*/ 3098 w 3115"/>
                <a:gd name="T5" fmla="*/ 4 h 1686"/>
                <a:gd name="T6" fmla="*/ 3105 w 3115"/>
                <a:gd name="T7" fmla="*/ 10 h 1686"/>
                <a:gd name="T8" fmla="*/ 3112 w 3115"/>
                <a:gd name="T9" fmla="*/ 18 h 1686"/>
                <a:gd name="T10" fmla="*/ 3115 w 3115"/>
                <a:gd name="T11" fmla="*/ 28 h 1686"/>
                <a:gd name="T12" fmla="*/ 3114 w 3115"/>
                <a:gd name="T13" fmla="*/ 38 h 1686"/>
                <a:gd name="T14" fmla="*/ 3109 w 3115"/>
                <a:gd name="T15" fmla="*/ 48 h 1686"/>
                <a:gd name="T16" fmla="*/ 2462 w 3115"/>
                <a:gd name="T17" fmla="*/ 891 h 1686"/>
                <a:gd name="T18" fmla="*/ 2455 w 3115"/>
                <a:gd name="T19" fmla="*/ 897 h 1686"/>
                <a:gd name="T20" fmla="*/ 2445 w 3115"/>
                <a:gd name="T21" fmla="*/ 901 h 1686"/>
                <a:gd name="T22" fmla="*/ 2435 w 3115"/>
                <a:gd name="T23" fmla="*/ 899 h 1686"/>
                <a:gd name="T24" fmla="*/ 2426 w 3115"/>
                <a:gd name="T25" fmla="*/ 894 h 1686"/>
                <a:gd name="T26" fmla="*/ 2420 w 3115"/>
                <a:gd name="T27" fmla="*/ 887 h 1686"/>
                <a:gd name="T28" fmla="*/ 2417 w 3115"/>
                <a:gd name="T29" fmla="*/ 877 h 1686"/>
                <a:gd name="T30" fmla="*/ 2393 w 3115"/>
                <a:gd name="T31" fmla="*/ 526 h 1686"/>
                <a:gd name="T32" fmla="*/ 1620 w 3115"/>
                <a:gd name="T33" fmla="*/ 906 h 1686"/>
                <a:gd name="T34" fmla="*/ 1197 w 3115"/>
                <a:gd name="T35" fmla="*/ 1619 h 1686"/>
                <a:gd name="T36" fmla="*/ 1180 w 3115"/>
                <a:gd name="T37" fmla="*/ 1641 h 1686"/>
                <a:gd name="T38" fmla="*/ 1157 w 3115"/>
                <a:gd name="T39" fmla="*/ 1661 h 1686"/>
                <a:gd name="T40" fmla="*/ 1133 w 3115"/>
                <a:gd name="T41" fmla="*/ 1675 h 1686"/>
                <a:gd name="T42" fmla="*/ 1106 w 3115"/>
                <a:gd name="T43" fmla="*/ 1682 h 1686"/>
                <a:gd name="T44" fmla="*/ 1078 w 3115"/>
                <a:gd name="T45" fmla="*/ 1686 h 1686"/>
                <a:gd name="T46" fmla="*/ 1051 w 3115"/>
                <a:gd name="T47" fmla="*/ 1684 h 1686"/>
                <a:gd name="T48" fmla="*/ 1024 w 3115"/>
                <a:gd name="T49" fmla="*/ 1675 h 1686"/>
                <a:gd name="T50" fmla="*/ 85 w 3115"/>
                <a:gd name="T51" fmla="*/ 1288 h 1686"/>
                <a:gd name="T52" fmla="*/ 60 w 3115"/>
                <a:gd name="T53" fmla="*/ 1275 h 1686"/>
                <a:gd name="T54" fmla="*/ 40 w 3115"/>
                <a:gd name="T55" fmla="*/ 1258 h 1686"/>
                <a:gd name="T56" fmla="*/ 23 w 3115"/>
                <a:gd name="T57" fmla="*/ 1236 h 1686"/>
                <a:gd name="T58" fmla="*/ 10 w 3115"/>
                <a:gd name="T59" fmla="*/ 1214 h 1686"/>
                <a:gd name="T60" fmla="*/ 2 w 3115"/>
                <a:gd name="T61" fmla="*/ 1188 h 1686"/>
                <a:gd name="T62" fmla="*/ 0 w 3115"/>
                <a:gd name="T63" fmla="*/ 1161 h 1686"/>
                <a:gd name="T64" fmla="*/ 2 w 3115"/>
                <a:gd name="T65" fmla="*/ 1134 h 1686"/>
                <a:gd name="T66" fmla="*/ 10 w 3115"/>
                <a:gd name="T67" fmla="*/ 1107 h 1686"/>
                <a:gd name="T68" fmla="*/ 24 w 3115"/>
                <a:gd name="T69" fmla="*/ 1082 h 1686"/>
                <a:gd name="T70" fmla="*/ 40 w 3115"/>
                <a:gd name="T71" fmla="*/ 1061 h 1686"/>
                <a:gd name="T72" fmla="*/ 61 w 3115"/>
                <a:gd name="T73" fmla="*/ 1045 h 1686"/>
                <a:gd name="T74" fmla="*/ 85 w 3115"/>
                <a:gd name="T75" fmla="*/ 1032 h 1686"/>
                <a:gd name="T76" fmla="*/ 110 w 3115"/>
                <a:gd name="T77" fmla="*/ 1025 h 1686"/>
                <a:gd name="T78" fmla="*/ 137 w 3115"/>
                <a:gd name="T79" fmla="*/ 1021 h 1686"/>
                <a:gd name="T80" fmla="*/ 164 w 3115"/>
                <a:gd name="T81" fmla="*/ 1023 h 1686"/>
                <a:gd name="T82" fmla="*/ 192 w 3115"/>
                <a:gd name="T83" fmla="*/ 1032 h 1686"/>
                <a:gd name="T84" fmla="*/ 1019 w 3115"/>
                <a:gd name="T85" fmla="*/ 1373 h 1686"/>
                <a:gd name="T86" fmla="*/ 1403 w 3115"/>
                <a:gd name="T87" fmla="*/ 729 h 1686"/>
                <a:gd name="T88" fmla="*/ 1418 w 3115"/>
                <a:gd name="T89" fmla="*/ 708 h 1686"/>
                <a:gd name="T90" fmla="*/ 1438 w 3115"/>
                <a:gd name="T91" fmla="*/ 690 h 1686"/>
                <a:gd name="T92" fmla="*/ 1461 w 3115"/>
                <a:gd name="T93" fmla="*/ 675 h 1686"/>
                <a:gd name="T94" fmla="*/ 2270 w 3115"/>
                <a:gd name="T95" fmla="*/ 277 h 1686"/>
                <a:gd name="T96" fmla="*/ 2007 w 3115"/>
                <a:gd name="T97" fmla="*/ 44 h 1686"/>
                <a:gd name="T98" fmla="*/ 2001 w 3115"/>
                <a:gd name="T99" fmla="*/ 36 h 1686"/>
                <a:gd name="T100" fmla="*/ 1998 w 3115"/>
                <a:gd name="T101" fmla="*/ 26 h 1686"/>
                <a:gd name="T102" fmla="*/ 2000 w 3115"/>
                <a:gd name="T103" fmla="*/ 16 h 1686"/>
                <a:gd name="T104" fmla="*/ 2006 w 3115"/>
                <a:gd name="T105" fmla="*/ 8 h 1686"/>
                <a:gd name="T106" fmla="*/ 2013 w 3115"/>
                <a:gd name="T107" fmla="*/ 3 h 1686"/>
                <a:gd name="T108" fmla="*/ 2023 w 3115"/>
                <a:gd name="T109" fmla="*/ 0 h 1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115" h="1686">
                  <a:moveTo>
                    <a:pt x="2023" y="0"/>
                  </a:moveTo>
                  <a:lnTo>
                    <a:pt x="3087" y="3"/>
                  </a:lnTo>
                  <a:lnTo>
                    <a:pt x="3098" y="4"/>
                  </a:lnTo>
                  <a:lnTo>
                    <a:pt x="3105" y="10"/>
                  </a:lnTo>
                  <a:lnTo>
                    <a:pt x="3112" y="18"/>
                  </a:lnTo>
                  <a:lnTo>
                    <a:pt x="3115" y="28"/>
                  </a:lnTo>
                  <a:lnTo>
                    <a:pt x="3114" y="38"/>
                  </a:lnTo>
                  <a:lnTo>
                    <a:pt x="3109" y="48"/>
                  </a:lnTo>
                  <a:lnTo>
                    <a:pt x="2462" y="891"/>
                  </a:lnTo>
                  <a:lnTo>
                    <a:pt x="2455" y="897"/>
                  </a:lnTo>
                  <a:lnTo>
                    <a:pt x="2445" y="901"/>
                  </a:lnTo>
                  <a:lnTo>
                    <a:pt x="2435" y="899"/>
                  </a:lnTo>
                  <a:lnTo>
                    <a:pt x="2426" y="894"/>
                  </a:lnTo>
                  <a:lnTo>
                    <a:pt x="2420" y="887"/>
                  </a:lnTo>
                  <a:lnTo>
                    <a:pt x="2417" y="877"/>
                  </a:lnTo>
                  <a:lnTo>
                    <a:pt x="2393" y="526"/>
                  </a:lnTo>
                  <a:lnTo>
                    <a:pt x="1620" y="906"/>
                  </a:lnTo>
                  <a:lnTo>
                    <a:pt x="1197" y="1619"/>
                  </a:lnTo>
                  <a:lnTo>
                    <a:pt x="1180" y="1641"/>
                  </a:lnTo>
                  <a:lnTo>
                    <a:pt x="1157" y="1661"/>
                  </a:lnTo>
                  <a:lnTo>
                    <a:pt x="1133" y="1675"/>
                  </a:lnTo>
                  <a:lnTo>
                    <a:pt x="1106" y="1682"/>
                  </a:lnTo>
                  <a:lnTo>
                    <a:pt x="1078" y="1686"/>
                  </a:lnTo>
                  <a:lnTo>
                    <a:pt x="1051" y="1684"/>
                  </a:lnTo>
                  <a:lnTo>
                    <a:pt x="1024" y="1675"/>
                  </a:lnTo>
                  <a:lnTo>
                    <a:pt x="85" y="1288"/>
                  </a:lnTo>
                  <a:lnTo>
                    <a:pt x="60" y="1275"/>
                  </a:lnTo>
                  <a:lnTo>
                    <a:pt x="40" y="1258"/>
                  </a:lnTo>
                  <a:lnTo>
                    <a:pt x="23" y="1236"/>
                  </a:lnTo>
                  <a:lnTo>
                    <a:pt x="10" y="1214"/>
                  </a:lnTo>
                  <a:lnTo>
                    <a:pt x="2" y="1188"/>
                  </a:lnTo>
                  <a:lnTo>
                    <a:pt x="0" y="1161"/>
                  </a:lnTo>
                  <a:lnTo>
                    <a:pt x="2" y="1134"/>
                  </a:lnTo>
                  <a:lnTo>
                    <a:pt x="10" y="1107"/>
                  </a:lnTo>
                  <a:lnTo>
                    <a:pt x="24" y="1082"/>
                  </a:lnTo>
                  <a:lnTo>
                    <a:pt x="40" y="1061"/>
                  </a:lnTo>
                  <a:lnTo>
                    <a:pt x="61" y="1045"/>
                  </a:lnTo>
                  <a:lnTo>
                    <a:pt x="85" y="1032"/>
                  </a:lnTo>
                  <a:lnTo>
                    <a:pt x="110" y="1025"/>
                  </a:lnTo>
                  <a:lnTo>
                    <a:pt x="137" y="1021"/>
                  </a:lnTo>
                  <a:lnTo>
                    <a:pt x="164" y="1023"/>
                  </a:lnTo>
                  <a:lnTo>
                    <a:pt x="192" y="1032"/>
                  </a:lnTo>
                  <a:lnTo>
                    <a:pt x="1019" y="1373"/>
                  </a:lnTo>
                  <a:lnTo>
                    <a:pt x="1403" y="729"/>
                  </a:lnTo>
                  <a:lnTo>
                    <a:pt x="1418" y="708"/>
                  </a:lnTo>
                  <a:lnTo>
                    <a:pt x="1438" y="690"/>
                  </a:lnTo>
                  <a:lnTo>
                    <a:pt x="1461" y="675"/>
                  </a:lnTo>
                  <a:lnTo>
                    <a:pt x="2270" y="277"/>
                  </a:lnTo>
                  <a:lnTo>
                    <a:pt x="2007" y="44"/>
                  </a:lnTo>
                  <a:lnTo>
                    <a:pt x="2001" y="36"/>
                  </a:lnTo>
                  <a:lnTo>
                    <a:pt x="1998" y="26"/>
                  </a:lnTo>
                  <a:lnTo>
                    <a:pt x="2000" y="16"/>
                  </a:lnTo>
                  <a:lnTo>
                    <a:pt x="2006" y="8"/>
                  </a:lnTo>
                  <a:lnTo>
                    <a:pt x="2013" y="3"/>
                  </a:lnTo>
                  <a:lnTo>
                    <a:pt x="20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11" name="Freeform 7"/>
            <p:cNvSpPr/>
            <p:nvPr/>
          </p:nvSpPr>
          <p:spPr bwMode="auto">
            <a:xfrm>
              <a:off x="2803" y="2064"/>
              <a:ext cx="1372" cy="139"/>
            </a:xfrm>
            <a:custGeom>
              <a:avLst/>
              <a:gdLst>
                <a:gd name="T0" fmla="*/ 208 w 4117"/>
                <a:gd name="T1" fmla="*/ 0 h 416"/>
                <a:gd name="T2" fmla="*/ 3909 w 4117"/>
                <a:gd name="T3" fmla="*/ 0 h 416"/>
                <a:gd name="T4" fmla="*/ 3945 w 4117"/>
                <a:gd name="T5" fmla="*/ 3 h 416"/>
                <a:gd name="T6" fmla="*/ 3982 w 4117"/>
                <a:gd name="T7" fmla="*/ 13 h 416"/>
                <a:gd name="T8" fmla="*/ 4013 w 4117"/>
                <a:gd name="T9" fmla="*/ 28 h 416"/>
                <a:gd name="T10" fmla="*/ 4043 w 4117"/>
                <a:gd name="T11" fmla="*/ 49 h 416"/>
                <a:gd name="T12" fmla="*/ 4068 w 4117"/>
                <a:gd name="T13" fmla="*/ 74 h 416"/>
                <a:gd name="T14" fmla="*/ 4088 w 4117"/>
                <a:gd name="T15" fmla="*/ 103 h 416"/>
                <a:gd name="T16" fmla="*/ 4103 w 4117"/>
                <a:gd name="T17" fmla="*/ 135 h 416"/>
                <a:gd name="T18" fmla="*/ 4113 w 4117"/>
                <a:gd name="T19" fmla="*/ 170 h 416"/>
                <a:gd name="T20" fmla="*/ 4117 w 4117"/>
                <a:gd name="T21" fmla="*/ 208 h 416"/>
                <a:gd name="T22" fmla="*/ 4113 w 4117"/>
                <a:gd name="T23" fmla="*/ 246 h 416"/>
                <a:gd name="T24" fmla="*/ 4103 w 4117"/>
                <a:gd name="T25" fmla="*/ 281 h 416"/>
                <a:gd name="T26" fmla="*/ 4088 w 4117"/>
                <a:gd name="T27" fmla="*/ 312 h 416"/>
                <a:gd name="T28" fmla="*/ 4068 w 4117"/>
                <a:gd name="T29" fmla="*/ 342 h 416"/>
                <a:gd name="T30" fmla="*/ 4043 w 4117"/>
                <a:gd name="T31" fmla="*/ 367 h 416"/>
                <a:gd name="T32" fmla="*/ 4013 w 4117"/>
                <a:gd name="T33" fmla="*/ 387 h 416"/>
                <a:gd name="T34" fmla="*/ 3982 w 4117"/>
                <a:gd name="T35" fmla="*/ 402 h 416"/>
                <a:gd name="T36" fmla="*/ 3945 w 4117"/>
                <a:gd name="T37" fmla="*/ 412 h 416"/>
                <a:gd name="T38" fmla="*/ 3909 w 4117"/>
                <a:gd name="T39" fmla="*/ 416 h 416"/>
                <a:gd name="T40" fmla="*/ 208 w 4117"/>
                <a:gd name="T41" fmla="*/ 416 h 416"/>
                <a:gd name="T42" fmla="*/ 170 w 4117"/>
                <a:gd name="T43" fmla="*/ 412 h 416"/>
                <a:gd name="T44" fmla="*/ 135 w 4117"/>
                <a:gd name="T45" fmla="*/ 402 h 416"/>
                <a:gd name="T46" fmla="*/ 104 w 4117"/>
                <a:gd name="T47" fmla="*/ 387 h 416"/>
                <a:gd name="T48" fmla="*/ 74 w 4117"/>
                <a:gd name="T49" fmla="*/ 367 h 416"/>
                <a:gd name="T50" fmla="*/ 49 w 4117"/>
                <a:gd name="T51" fmla="*/ 342 h 416"/>
                <a:gd name="T52" fmla="*/ 29 w 4117"/>
                <a:gd name="T53" fmla="*/ 312 h 416"/>
                <a:gd name="T54" fmla="*/ 14 w 4117"/>
                <a:gd name="T55" fmla="*/ 281 h 416"/>
                <a:gd name="T56" fmla="*/ 4 w 4117"/>
                <a:gd name="T57" fmla="*/ 246 h 416"/>
                <a:gd name="T58" fmla="*/ 0 w 4117"/>
                <a:gd name="T59" fmla="*/ 208 h 416"/>
                <a:gd name="T60" fmla="*/ 4 w 4117"/>
                <a:gd name="T61" fmla="*/ 170 h 416"/>
                <a:gd name="T62" fmla="*/ 14 w 4117"/>
                <a:gd name="T63" fmla="*/ 135 h 416"/>
                <a:gd name="T64" fmla="*/ 29 w 4117"/>
                <a:gd name="T65" fmla="*/ 103 h 416"/>
                <a:gd name="T66" fmla="*/ 49 w 4117"/>
                <a:gd name="T67" fmla="*/ 74 h 416"/>
                <a:gd name="T68" fmla="*/ 74 w 4117"/>
                <a:gd name="T69" fmla="*/ 49 h 416"/>
                <a:gd name="T70" fmla="*/ 104 w 4117"/>
                <a:gd name="T71" fmla="*/ 28 h 416"/>
                <a:gd name="T72" fmla="*/ 135 w 4117"/>
                <a:gd name="T73" fmla="*/ 13 h 416"/>
                <a:gd name="T74" fmla="*/ 170 w 4117"/>
                <a:gd name="T75" fmla="*/ 3 h 416"/>
                <a:gd name="T76" fmla="*/ 208 w 4117"/>
                <a:gd name="T77" fmla="*/ 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17" h="416">
                  <a:moveTo>
                    <a:pt x="208" y="0"/>
                  </a:moveTo>
                  <a:lnTo>
                    <a:pt x="3909" y="0"/>
                  </a:lnTo>
                  <a:lnTo>
                    <a:pt x="3945" y="3"/>
                  </a:lnTo>
                  <a:lnTo>
                    <a:pt x="3982" y="13"/>
                  </a:lnTo>
                  <a:lnTo>
                    <a:pt x="4013" y="28"/>
                  </a:lnTo>
                  <a:lnTo>
                    <a:pt x="4043" y="49"/>
                  </a:lnTo>
                  <a:lnTo>
                    <a:pt x="4068" y="74"/>
                  </a:lnTo>
                  <a:lnTo>
                    <a:pt x="4088" y="103"/>
                  </a:lnTo>
                  <a:lnTo>
                    <a:pt x="4103" y="135"/>
                  </a:lnTo>
                  <a:lnTo>
                    <a:pt x="4113" y="170"/>
                  </a:lnTo>
                  <a:lnTo>
                    <a:pt x="4117" y="208"/>
                  </a:lnTo>
                  <a:lnTo>
                    <a:pt x="4113" y="246"/>
                  </a:lnTo>
                  <a:lnTo>
                    <a:pt x="4103" y="281"/>
                  </a:lnTo>
                  <a:lnTo>
                    <a:pt x="4088" y="312"/>
                  </a:lnTo>
                  <a:lnTo>
                    <a:pt x="4068" y="342"/>
                  </a:lnTo>
                  <a:lnTo>
                    <a:pt x="4043" y="367"/>
                  </a:lnTo>
                  <a:lnTo>
                    <a:pt x="4013" y="387"/>
                  </a:lnTo>
                  <a:lnTo>
                    <a:pt x="3982" y="402"/>
                  </a:lnTo>
                  <a:lnTo>
                    <a:pt x="3945" y="412"/>
                  </a:lnTo>
                  <a:lnTo>
                    <a:pt x="3909" y="416"/>
                  </a:lnTo>
                  <a:lnTo>
                    <a:pt x="208" y="416"/>
                  </a:lnTo>
                  <a:lnTo>
                    <a:pt x="170" y="412"/>
                  </a:lnTo>
                  <a:lnTo>
                    <a:pt x="135" y="402"/>
                  </a:lnTo>
                  <a:lnTo>
                    <a:pt x="104" y="387"/>
                  </a:lnTo>
                  <a:lnTo>
                    <a:pt x="74" y="367"/>
                  </a:lnTo>
                  <a:lnTo>
                    <a:pt x="49" y="342"/>
                  </a:lnTo>
                  <a:lnTo>
                    <a:pt x="29" y="312"/>
                  </a:lnTo>
                  <a:lnTo>
                    <a:pt x="14" y="281"/>
                  </a:lnTo>
                  <a:lnTo>
                    <a:pt x="4" y="246"/>
                  </a:lnTo>
                  <a:lnTo>
                    <a:pt x="0" y="208"/>
                  </a:lnTo>
                  <a:lnTo>
                    <a:pt x="4" y="170"/>
                  </a:lnTo>
                  <a:lnTo>
                    <a:pt x="14" y="135"/>
                  </a:lnTo>
                  <a:lnTo>
                    <a:pt x="29" y="103"/>
                  </a:lnTo>
                  <a:lnTo>
                    <a:pt x="49" y="74"/>
                  </a:lnTo>
                  <a:lnTo>
                    <a:pt x="74" y="49"/>
                  </a:lnTo>
                  <a:lnTo>
                    <a:pt x="104" y="28"/>
                  </a:lnTo>
                  <a:lnTo>
                    <a:pt x="135" y="13"/>
                  </a:lnTo>
                  <a:lnTo>
                    <a:pt x="170" y="3"/>
                  </a:lnTo>
                  <a:lnTo>
                    <a:pt x="2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2912" y="1500"/>
              <a:ext cx="220" cy="471"/>
            </a:xfrm>
            <a:custGeom>
              <a:avLst/>
              <a:gdLst>
                <a:gd name="T0" fmla="*/ 84 w 660"/>
                <a:gd name="T1" fmla="*/ 0 h 1414"/>
                <a:gd name="T2" fmla="*/ 576 w 660"/>
                <a:gd name="T3" fmla="*/ 0 h 1414"/>
                <a:gd name="T4" fmla="*/ 599 w 660"/>
                <a:gd name="T5" fmla="*/ 2 h 1414"/>
                <a:gd name="T6" fmla="*/ 619 w 660"/>
                <a:gd name="T7" fmla="*/ 11 h 1414"/>
                <a:gd name="T8" fmla="*/ 635 w 660"/>
                <a:gd name="T9" fmla="*/ 23 h 1414"/>
                <a:gd name="T10" fmla="*/ 649 w 660"/>
                <a:gd name="T11" fmla="*/ 41 h 1414"/>
                <a:gd name="T12" fmla="*/ 657 w 660"/>
                <a:gd name="T13" fmla="*/ 61 h 1414"/>
                <a:gd name="T14" fmla="*/ 660 w 660"/>
                <a:gd name="T15" fmla="*/ 84 h 1414"/>
                <a:gd name="T16" fmla="*/ 660 w 660"/>
                <a:gd name="T17" fmla="*/ 1330 h 1414"/>
                <a:gd name="T18" fmla="*/ 657 w 660"/>
                <a:gd name="T19" fmla="*/ 1353 h 1414"/>
                <a:gd name="T20" fmla="*/ 649 w 660"/>
                <a:gd name="T21" fmla="*/ 1373 h 1414"/>
                <a:gd name="T22" fmla="*/ 635 w 660"/>
                <a:gd name="T23" fmla="*/ 1390 h 1414"/>
                <a:gd name="T24" fmla="*/ 619 w 660"/>
                <a:gd name="T25" fmla="*/ 1403 h 1414"/>
                <a:gd name="T26" fmla="*/ 599 w 660"/>
                <a:gd name="T27" fmla="*/ 1411 h 1414"/>
                <a:gd name="T28" fmla="*/ 576 w 660"/>
                <a:gd name="T29" fmla="*/ 1414 h 1414"/>
                <a:gd name="T30" fmla="*/ 84 w 660"/>
                <a:gd name="T31" fmla="*/ 1414 h 1414"/>
                <a:gd name="T32" fmla="*/ 62 w 660"/>
                <a:gd name="T33" fmla="*/ 1411 h 1414"/>
                <a:gd name="T34" fmla="*/ 42 w 660"/>
                <a:gd name="T35" fmla="*/ 1403 h 1414"/>
                <a:gd name="T36" fmla="*/ 26 w 660"/>
                <a:gd name="T37" fmla="*/ 1390 h 1414"/>
                <a:gd name="T38" fmla="*/ 12 w 660"/>
                <a:gd name="T39" fmla="*/ 1373 h 1414"/>
                <a:gd name="T40" fmla="*/ 4 w 660"/>
                <a:gd name="T41" fmla="*/ 1353 h 1414"/>
                <a:gd name="T42" fmla="*/ 0 w 660"/>
                <a:gd name="T43" fmla="*/ 1330 h 1414"/>
                <a:gd name="T44" fmla="*/ 0 w 660"/>
                <a:gd name="T45" fmla="*/ 84 h 1414"/>
                <a:gd name="T46" fmla="*/ 4 w 660"/>
                <a:gd name="T47" fmla="*/ 61 h 1414"/>
                <a:gd name="T48" fmla="*/ 12 w 660"/>
                <a:gd name="T49" fmla="*/ 41 h 1414"/>
                <a:gd name="T50" fmla="*/ 26 w 660"/>
                <a:gd name="T51" fmla="*/ 23 h 1414"/>
                <a:gd name="T52" fmla="*/ 42 w 660"/>
                <a:gd name="T53" fmla="*/ 11 h 1414"/>
                <a:gd name="T54" fmla="*/ 62 w 660"/>
                <a:gd name="T55" fmla="*/ 2 h 1414"/>
                <a:gd name="T56" fmla="*/ 84 w 660"/>
                <a:gd name="T57" fmla="*/ 0 h 1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60" h="1414">
                  <a:moveTo>
                    <a:pt x="84" y="0"/>
                  </a:moveTo>
                  <a:lnTo>
                    <a:pt x="576" y="0"/>
                  </a:lnTo>
                  <a:lnTo>
                    <a:pt x="599" y="2"/>
                  </a:lnTo>
                  <a:lnTo>
                    <a:pt x="619" y="11"/>
                  </a:lnTo>
                  <a:lnTo>
                    <a:pt x="635" y="23"/>
                  </a:lnTo>
                  <a:lnTo>
                    <a:pt x="649" y="41"/>
                  </a:lnTo>
                  <a:lnTo>
                    <a:pt x="657" y="61"/>
                  </a:lnTo>
                  <a:lnTo>
                    <a:pt x="660" y="84"/>
                  </a:lnTo>
                  <a:lnTo>
                    <a:pt x="660" y="1330"/>
                  </a:lnTo>
                  <a:lnTo>
                    <a:pt x="657" y="1353"/>
                  </a:lnTo>
                  <a:lnTo>
                    <a:pt x="649" y="1373"/>
                  </a:lnTo>
                  <a:lnTo>
                    <a:pt x="635" y="1390"/>
                  </a:lnTo>
                  <a:lnTo>
                    <a:pt x="619" y="1403"/>
                  </a:lnTo>
                  <a:lnTo>
                    <a:pt x="599" y="1411"/>
                  </a:lnTo>
                  <a:lnTo>
                    <a:pt x="576" y="1414"/>
                  </a:lnTo>
                  <a:lnTo>
                    <a:pt x="84" y="1414"/>
                  </a:lnTo>
                  <a:lnTo>
                    <a:pt x="62" y="1411"/>
                  </a:lnTo>
                  <a:lnTo>
                    <a:pt x="42" y="1403"/>
                  </a:lnTo>
                  <a:lnTo>
                    <a:pt x="26" y="1390"/>
                  </a:lnTo>
                  <a:lnTo>
                    <a:pt x="12" y="1373"/>
                  </a:lnTo>
                  <a:lnTo>
                    <a:pt x="4" y="1353"/>
                  </a:lnTo>
                  <a:lnTo>
                    <a:pt x="0" y="1330"/>
                  </a:lnTo>
                  <a:lnTo>
                    <a:pt x="0" y="84"/>
                  </a:lnTo>
                  <a:lnTo>
                    <a:pt x="4" y="61"/>
                  </a:lnTo>
                  <a:lnTo>
                    <a:pt x="12" y="41"/>
                  </a:lnTo>
                  <a:lnTo>
                    <a:pt x="26" y="23"/>
                  </a:lnTo>
                  <a:lnTo>
                    <a:pt x="42" y="11"/>
                  </a:lnTo>
                  <a:lnTo>
                    <a:pt x="62" y="2"/>
                  </a:lnTo>
                  <a:lnTo>
                    <a:pt x="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13" name="Freeform 9"/>
            <p:cNvSpPr/>
            <p:nvPr/>
          </p:nvSpPr>
          <p:spPr bwMode="auto">
            <a:xfrm>
              <a:off x="3845" y="1028"/>
              <a:ext cx="220" cy="943"/>
            </a:xfrm>
            <a:custGeom>
              <a:avLst/>
              <a:gdLst>
                <a:gd name="T0" fmla="*/ 84 w 659"/>
                <a:gd name="T1" fmla="*/ 0 h 2830"/>
                <a:gd name="T2" fmla="*/ 575 w 659"/>
                <a:gd name="T3" fmla="*/ 0 h 2830"/>
                <a:gd name="T4" fmla="*/ 598 w 659"/>
                <a:gd name="T5" fmla="*/ 3 h 2830"/>
                <a:gd name="T6" fmla="*/ 618 w 659"/>
                <a:gd name="T7" fmla="*/ 11 h 2830"/>
                <a:gd name="T8" fmla="*/ 634 w 659"/>
                <a:gd name="T9" fmla="*/ 24 h 2830"/>
                <a:gd name="T10" fmla="*/ 648 w 659"/>
                <a:gd name="T11" fmla="*/ 41 h 2830"/>
                <a:gd name="T12" fmla="*/ 656 w 659"/>
                <a:gd name="T13" fmla="*/ 61 h 2830"/>
                <a:gd name="T14" fmla="*/ 659 w 659"/>
                <a:gd name="T15" fmla="*/ 84 h 2830"/>
                <a:gd name="T16" fmla="*/ 659 w 659"/>
                <a:gd name="T17" fmla="*/ 2746 h 2830"/>
                <a:gd name="T18" fmla="*/ 656 w 659"/>
                <a:gd name="T19" fmla="*/ 2769 h 2830"/>
                <a:gd name="T20" fmla="*/ 648 w 659"/>
                <a:gd name="T21" fmla="*/ 2789 h 2830"/>
                <a:gd name="T22" fmla="*/ 634 w 659"/>
                <a:gd name="T23" fmla="*/ 2806 h 2830"/>
                <a:gd name="T24" fmla="*/ 618 w 659"/>
                <a:gd name="T25" fmla="*/ 2819 h 2830"/>
                <a:gd name="T26" fmla="*/ 598 w 659"/>
                <a:gd name="T27" fmla="*/ 2827 h 2830"/>
                <a:gd name="T28" fmla="*/ 575 w 659"/>
                <a:gd name="T29" fmla="*/ 2830 h 2830"/>
                <a:gd name="T30" fmla="*/ 84 w 659"/>
                <a:gd name="T31" fmla="*/ 2830 h 2830"/>
                <a:gd name="T32" fmla="*/ 61 w 659"/>
                <a:gd name="T33" fmla="*/ 2827 h 2830"/>
                <a:gd name="T34" fmla="*/ 41 w 659"/>
                <a:gd name="T35" fmla="*/ 2819 h 2830"/>
                <a:gd name="T36" fmla="*/ 25 w 659"/>
                <a:gd name="T37" fmla="*/ 2806 h 2830"/>
                <a:gd name="T38" fmla="*/ 11 w 659"/>
                <a:gd name="T39" fmla="*/ 2789 h 2830"/>
                <a:gd name="T40" fmla="*/ 2 w 659"/>
                <a:gd name="T41" fmla="*/ 2769 h 2830"/>
                <a:gd name="T42" fmla="*/ 0 w 659"/>
                <a:gd name="T43" fmla="*/ 2746 h 2830"/>
                <a:gd name="T44" fmla="*/ 0 w 659"/>
                <a:gd name="T45" fmla="*/ 84 h 2830"/>
                <a:gd name="T46" fmla="*/ 2 w 659"/>
                <a:gd name="T47" fmla="*/ 61 h 2830"/>
                <a:gd name="T48" fmla="*/ 11 w 659"/>
                <a:gd name="T49" fmla="*/ 41 h 2830"/>
                <a:gd name="T50" fmla="*/ 25 w 659"/>
                <a:gd name="T51" fmla="*/ 24 h 2830"/>
                <a:gd name="T52" fmla="*/ 41 w 659"/>
                <a:gd name="T53" fmla="*/ 11 h 2830"/>
                <a:gd name="T54" fmla="*/ 61 w 659"/>
                <a:gd name="T55" fmla="*/ 3 h 2830"/>
                <a:gd name="T56" fmla="*/ 84 w 659"/>
                <a:gd name="T57" fmla="*/ 0 h 2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9" h="2830">
                  <a:moveTo>
                    <a:pt x="84" y="0"/>
                  </a:moveTo>
                  <a:lnTo>
                    <a:pt x="575" y="0"/>
                  </a:lnTo>
                  <a:lnTo>
                    <a:pt x="598" y="3"/>
                  </a:lnTo>
                  <a:lnTo>
                    <a:pt x="618" y="11"/>
                  </a:lnTo>
                  <a:lnTo>
                    <a:pt x="634" y="24"/>
                  </a:lnTo>
                  <a:lnTo>
                    <a:pt x="648" y="41"/>
                  </a:lnTo>
                  <a:lnTo>
                    <a:pt x="656" y="61"/>
                  </a:lnTo>
                  <a:lnTo>
                    <a:pt x="659" y="84"/>
                  </a:lnTo>
                  <a:lnTo>
                    <a:pt x="659" y="2746"/>
                  </a:lnTo>
                  <a:lnTo>
                    <a:pt x="656" y="2769"/>
                  </a:lnTo>
                  <a:lnTo>
                    <a:pt x="648" y="2789"/>
                  </a:lnTo>
                  <a:lnTo>
                    <a:pt x="634" y="2806"/>
                  </a:lnTo>
                  <a:lnTo>
                    <a:pt x="618" y="2819"/>
                  </a:lnTo>
                  <a:lnTo>
                    <a:pt x="598" y="2827"/>
                  </a:lnTo>
                  <a:lnTo>
                    <a:pt x="575" y="2830"/>
                  </a:lnTo>
                  <a:lnTo>
                    <a:pt x="84" y="2830"/>
                  </a:lnTo>
                  <a:lnTo>
                    <a:pt x="61" y="2827"/>
                  </a:lnTo>
                  <a:lnTo>
                    <a:pt x="41" y="2819"/>
                  </a:lnTo>
                  <a:lnTo>
                    <a:pt x="25" y="2806"/>
                  </a:lnTo>
                  <a:lnTo>
                    <a:pt x="11" y="2789"/>
                  </a:lnTo>
                  <a:lnTo>
                    <a:pt x="2" y="2769"/>
                  </a:lnTo>
                  <a:lnTo>
                    <a:pt x="0" y="2746"/>
                  </a:lnTo>
                  <a:lnTo>
                    <a:pt x="0" y="84"/>
                  </a:lnTo>
                  <a:lnTo>
                    <a:pt x="2" y="61"/>
                  </a:lnTo>
                  <a:lnTo>
                    <a:pt x="11" y="41"/>
                  </a:lnTo>
                  <a:lnTo>
                    <a:pt x="25" y="24"/>
                  </a:lnTo>
                  <a:lnTo>
                    <a:pt x="41" y="11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14" name="Freeform 10"/>
            <p:cNvSpPr/>
            <p:nvPr/>
          </p:nvSpPr>
          <p:spPr bwMode="auto">
            <a:xfrm>
              <a:off x="3534" y="1275"/>
              <a:ext cx="220" cy="696"/>
            </a:xfrm>
            <a:custGeom>
              <a:avLst/>
              <a:gdLst>
                <a:gd name="T0" fmla="*/ 84 w 659"/>
                <a:gd name="T1" fmla="*/ 0 h 2088"/>
                <a:gd name="T2" fmla="*/ 575 w 659"/>
                <a:gd name="T3" fmla="*/ 0 h 2088"/>
                <a:gd name="T4" fmla="*/ 598 w 659"/>
                <a:gd name="T5" fmla="*/ 3 h 2088"/>
                <a:gd name="T6" fmla="*/ 618 w 659"/>
                <a:gd name="T7" fmla="*/ 12 h 2088"/>
                <a:gd name="T8" fmla="*/ 634 w 659"/>
                <a:gd name="T9" fmla="*/ 25 h 2088"/>
                <a:gd name="T10" fmla="*/ 648 w 659"/>
                <a:gd name="T11" fmla="*/ 42 h 2088"/>
                <a:gd name="T12" fmla="*/ 656 w 659"/>
                <a:gd name="T13" fmla="*/ 62 h 2088"/>
                <a:gd name="T14" fmla="*/ 659 w 659"/>
                <a:gd name="T15" fmla="*/ 84 h 2088"/>
                <a:gd name="T16" fmla="*/ 659 w 659"/>
                <a:gd name="T17" fmla="*/ 2004 h 2088"/>
                <a:gd name="T18" fmla="*/ 656 w 659"/>
                <a:gd name="T19" fmla="*/ 2027 h 2088"/>
                <a:gd name="T20" fmla="*/ 648 w 659"/>
                <a:gd name="T21" fmla="*/ 2047 h 2088"/>
                <a:gd name="T22" fmla="*/ 634 w 659"/>
                <a:gd name="T23" fmla="*/ 2064 h 2088"/>
                <a:gd name="T24" fmla="*/ 618 w 659"/>
                <a:gd name="T25" fmla="*/ 2077 h 2088"/>
                <a:gd name="T26" fmla="*/ 598 w 659"/>
                <a:gd name="T27" fmla="*/ 2085 h 2088"/>
                <a:gd name="T28" fmla="*/ 575 w 659"/>
                <a:gd name="T29" fmla="*/ 2088 h 2088"/>
                <a:gd name="T30" fmla="*/ 84 w 659"/>
                <a:gd name="T31" fmla="*/ 2088 h 2088"/>
                <a:gd name="T32" fmla="*/ 61 w 659"/>
                <a:gd name="T33" fmla="*/ 2085 h 2088"/>
                <a:gd name="T34" fmla="*/ 41 w 659"/>
                <a:gd name="T35" fmla="*/ 2077 h 2088"/>
                <a:gd name="T36" fmla="*/ 25 w 659"/>
                <a:gd name="T37" fmla="*/ 2064 h 2088"/>
                <a:gd name="T38" fmla="*/ 11 w 659"/>
                <a:gd name="T39" fmla="*/ 2047 h 2088"/>
                <a:gd name="T40" fmla="*/ 3 w 659"/>
                <a:gd name="T41" fmla="*/ 2027 h 2088"/>
                <a:gd name="T42" fmla="*/ 0 w 659"/>
                <a:gd name="T43" fmla="*/ 2004 h 2088"/>
                <a:gd name="T44" fmla="*/ 0 w 659"/>
                <a:gd name="T45" fmla="*/ 84 h 2088"/>
                <a:gd name="T46" fmla="*/ 3 w 659"/>
                <a:gd name="T47" fmla="*/ 62 h 2088"/>
                <a:gd name="T48" fmla="*/ 11 w 659"/>
                <a:gd name="T49" fmla="*/ 42 h 2088"/>
                <a:gd name="T50" fmla="*/ 25 w 659"/>
                <a:gd name="T51" fmla="*/ 25 h 2088"/>
                <a:gd name="T52" fmla="*/ 41 w 659"/>
                <a:gd name="T53" fmla="*/ 12 h 2088"/>
                <a:gd name="T54" fmla="*/ 61 w 659"/>
                <a:gd name="T55" fmla="*/ 3 h 2088"/>
                <a:gd name="T56" fmla="*/ 84 w 659"/>
                <a:gd name="T57" fmla="*/ 0 h 2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9" h="2088">
                  <a:moveTo>
                    <a:pt x="84" y="0"/>
                  </a:moveTo>
                  <a:lnTo>
                    <a:pt x="575" y="0"/>
                  </a:lnTo>
                  <a:lnTo>
                    <a:pt x="598" y="3"/>
                  </a:lnTo>
                  <a:lnTo>
                    <a:pt x="618" y="12"/>
                  </a:lnTo>
                  <a:lnTo>
                    <a:pt x="634" y="25"/>
                  </a:lnTo>
                  <a:lnTo>
                    <a:pt x="648" y="42"/>
                  </a:lnTo>
                  <a:lnTo>
                    <a:pt x="656" y="62"/>
                  </a:lnTo>
                  <a:lnTo>
                    <a:pt x="659" y="84"/>
                  </a:lnTo>
                  <a:lnTo>
                    <a:pt x="659" y="2004"/>
                  </a:lnTo>
                  <a:lnTo>
                    <a:pt x="656" y="2027"/>
                  </a:lnTo>
                  <a:lnTo>
                    <a:pt x="648" y="2047"/>
                  </a:lnTo>
                  <a:lnTo>
                    <a:pt x="634" y="2064"/>
                  </a:lnTo>
                  <a:lnTo>
                    <a:pt x="618" y="2077"/>
                  </a:lnTo>
                  <a:lnTo>
                    <a:pt x="598" y="2085"/>
                  </a:lnTo>
                  <a:lnTo>
                    <a:pt x="575" y="2088"/>
                  </a:lnTo>
                  <a:lnTo>
                    <a:pt x="84" y="2088"/>
                  </a:lnTo>
                  <a:lnTo>
                    <a:pt x="61" y="2085"/>
                  </a:lnTo>
                  <a:lnTo>
                    <a:pt x="41" y="2077"/>
                  </a:lnTo>
                  <a:lnTo>
                    <a:pt x="25" y="2064"/>
                  </a:lnTo>
                  <a:lnTo>
                    <a:pt x="11" y="2047"/>
                  </a:lnTo>
                  <a:lnTo>
                    <a:pt x="3" y="2027"/>
                  </a:lnTo>
                  <a:lnTo>
                    <a:pt x="0" y="2004"/>
                  </a:lnTo>
                  <a:lnTo>
                    <a:pt x="0" y="84"/>
                  </a:lnTo>
                  <a:lnTo>
                    <a:pt x="3" y="62"/>
                  </a:lnTo>
                  <a:lnTo>
                    <a:pt x="11" y="42"/>
                  </a:lnTo>
                  <a:lnTo>
                    <a:pt x="25" y="25"/>
                  </a:lnTo>
                  <a:lnTo>
                    <a:pt x="41" y="12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15" name="Freeform 11"/>
            <p:cNvSpPr/>
            <p:nvPr/>
          </p:nvSpPr>
          <p:spPr bwMode="auto">
            <a:xfrm>
              <a:off x="3223" y="1623"/>
              <a:ext cx="220" cy="348"/>
            </a:xfrm>
            <a:custGeom>
              <a:avLst/>
              <a:gdLst>
                <a:gd name="T0" fmla="*/ 84 w 660"/>
                <a:gd name="T1" fmla="*/ 0 h 1044"/>
                <a:gd name="T2" fmla="*/ 576 w 660"/>
                <a:gd name="T3" fmla="*/ 0 h 1044"/>
                <a:gd name="T4" fmla="*/ 598 w 660"/>
                <a:gd name="T5" fmla="*/ 3 h 1044"/>
                <a:gd name="T6" fmla="*/ 618 w 660"/>
                <a:gd name="T7" fmla="*/ 12 h 1044"/>
                <a:gd name="T8" fmla="*/ 635 w 660"/>
                <a:gd name="T9" fmla="*/ 24 h 1044"/>
                <a:gd name="T10" fmla="*/ 648 w 660"/>
                <a:gd name="T11" fmla="*/ 42 h 1044"/>
                <a:gd name="T12" fmla="*/ 656 w 660"/>
                <a:gd name="T13" fmla="*/ 62 h 1044"/>
                <a:gd name="T14" fmla="*/ 660 w 660"/>
                <a:gd name="T15" fmla="*/ 84 h 1044"/>
                <a:gd name="T16" fmla="*/ 660 w 660"/>
                <a:gd name="T17" fmla="*/ 960 h 1044"/>
                <a:gd name="T18" fmla="*/ 656 w 660"/>
                <a:gd name="T19" fmla="*/ 983 h 1044"/>
                <a:gd name="T20" fmla="*/ 648 w 660"/>
                <a:gd name="T21" fmla="*/ 1003 h 1044"/>
                <a:gd name="T22" fmla="*/ 635 w 660"/>
                <a:gd name="T23" fmla="*/ 1020 h 1044"/>
                <a:gd name="T24" fmla="*/ 618 w 660"/>
                <a:gd name="T25" fmla="*/ 1033 h 1044"/>
                <a:gd name="T26" fmla="*/ 598 w 660"/>
                <a:gd name="T27" fmla="*/ 1041 h 1044"/>
                <a:gd name="T28" fmla="*/ 576 w 660"/>
                <a:gd name="T29" fmla="*/ 1044 h 1044"/>
                <a:gd name="T30" fmla="*/ 84 w 660"/>
                <a:gd name="T31" fmla="*/ 1044 h 1044"/>
                <a:gd name="T32" fmla="*/ 62 w 660"/>
                <a:gd name="T33" fmla="*/ 1041 h 1044"/>
                <a:gd name="T34" fmla="*/ 42 w 660"/>
                <a:gd name="T35" fmla="*/ 1033 h 1044"/>
                <a:gd name="T36" fmla="*/ 25 w 660"/>
                <a:gd name="T37" fmla="*/ 1020 h 1044"/>
                <a:gd name="T38" fmla="*/ 12 w 660"/>
                <a:gd name="T39" fmla="*/ 1003 h 1044"/>
                <a:gd name="T40" fmla="*/ 4 w 660"/>
                <a:gd name="T41" fmla="*/ 983 h 1044"/>
                <a:gd name="T42" fmla="*/ 0 w 660"/>
                <a:gd name="T43" fmla="*/ 960 h 1044"/>
                <a:gd name="T44" fmla="*/ 0 w 660"/>
                <a:gd name="T45" fmla="*/ 84 h 1044"/>
                <a:gd name="T46" fmla="*/ 4 w 660"/>
                <a:gd name="T47" fmla="*/ 62 h 1044"/>
                <a:gd name="T48" fmla="*/ 12 w 660"/>
                <a:gd name="T49" fmla="*/ 42 h 1044"/>
                <a:gd name="T50" fmla="*/ 25 w 660"/>
                <a:gd name="T51" fmla="*/ 24 h 1044"/>
                <a:gd name="T52" fmla="*/ 42 w 660"/>
                <a:gd name="T53" fmla="*/ 12 h 1044"/>
                <a:gd name="T54" fmla="*/ 62 w 660"/>
                <a:gd name="T55" fmla="*/ 3 h 1044"/>
                <a:gd name="T56" fmla="*/ 84 w 660"/>
                <a:gd name="T57" fmla="*/ 0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60" h="1044">
                  <a:moveTo>
                    <a:pt x="84" y="0"/>
                  </a:moveTo>
                  <a:lnTo>
                    <a:pt x="576" y="0"/>
                  </a:lnTo>
                  <a:lnTo>
                    <a:pt x="598" y="3"/>
                  </a:lnTo>
                  <a:lnTo>
                    <a:pt x="618" y="12"/>
                  </a:lnTo>
                  <a:lnTo>
                    <a:pt x="635" y="24"/>
                  </a:lnTo>
                  <a:lnTo>
                    <a:pt x="648" y="42"/>
                  </a:lnTo>
                  <a:lnTo>
                    <a:pt x="656" y="62"/>
                  </a:lnTo>
                  <a:lnTo>
                    <a:pt x="660" y="84"/>
                  </a:lnTo>
                  <a:lnTo>
                    <a:pt x="660" y="960"/>
                  </a:lnTo>
                  <a:lnTo>
                    <a:pt x="656" y="983"/>
                  </a:lnTo>
                  <a:lnTo>
                    <a:pt x="648" y="1003"/>
                  </a:lnTo>
                  <a:lnTo>
                    <a:pt x="635" y="1020"/>
                  </a:lnTo>
                  <a:lnTo>
                    <a:pt x="618" y="1033"/>
                  </a:lnTo>
                  <a:lnTo>
                    <a:pt x="598" y="1041"/>
                  </a:lnTo>
                  <a:lnTo>
                    <a:pt x="576" y="1044"/>
                  </a:lnTo>
                  <a:lnTo>
                    <a:pt x="84" y="1044"/>
                  </a:lnTo>
                  <a:lnTo>
                    <a:pt x="62" y="1041"/>
                  </a:lnTo>
                  <a:lnTo>
                    <a:pt x="42" y="1033"/>
                  </a:lnTo>
                  <a:lnTo>
                    <a:pt x="25" y="1020"/>
                  </a:lnTo>
                  <a:lnTo>
                    <a:pt x="12" y="1003"/>
                  </a:lnTo>
                  <a:lnTo>
                    <a:pt x="4" y="983"/>
                  </a:lnTo>
                  <a:lnTo>
                    <a:pt x="0" y="960"/>
                  </a:lnTo>
                  <a:lnTo>
                    <a:pt x="0" y="84"/>
                  </a:lnTo>
                  <a:lnTo>
                    <a:pt x="4" y="62"/>
                  </a:lnTo>
                  <a:lnTo>
                    <a:pt x="12" y="42"/>
                  </a:lnTo>
                  <a:lnTo>
                    <a:pt x="25" y="24"/>
                  </a:lnTo>
                  <a:lnTo>
                    <a:pt x="42" y="12"/>
                  </a:lnTo>
                  <a:lnTo>
                    <a:pt x="62" y="3"/>
                  </a:lnTo>
                  <a:lnTo>
                    <a:pt x="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16" name="Group 192"/>
          <p:cNvGrpSpPr>
            <a:grpSpLocks noChangeAspect="1"/>
          </p:cNvGrpSpPr>
          <p:nvPr/>
        </p:nvGrpSpPr>
        <p:grpSpPr bwMode="auto">
          <a:xfrm>
            <a:off x="6746247" y="3821748"/>
            <a:ext cx="436865" cy="313500"/>
            <a:chOff x="4283" y="2577"/>
            <a:chExt cx="3134" cy="2249"/>
          </a:xfrm>
          <a:solidFill>
            <a:schemeClr val="accent1"/>
          </a:solidFill>
        </p:grpSpPr>
        <p:sp>
          <p:nvSpPr>
            <p:cNvPr id="17" name="Freeform 194"/>
            <p:cNvSpPr/>
            <p:nvPr/>
          </p:nvSpPr>
          <p:spPr bwMode="auto">
            <a:xfrm>
              <a:off x="4718" y="2723"/>
              <a:ext cx="958" cy="1276"/>
            </a:xfrm>
            <a:custGeom>
              <a:avLst/>
              <a:gdLst>
                <a:gd name="T0" fmla="*/ 1134 w 1917"/>
                <a:gd name="T1" fmla="*/ 13 h 2554"/>
                <a:gd name="T2" fmla="*/ 1314 w 1917"/>
                <a:gd name="T3" fmla="*/ 74 h 2554"/>
                <a:gd name="T4" fmla="*/ 1459 w 1917"/>
                <a:gd name="T5" fmla="*/ 164 h 2554"/>
                <a:gd name="T6" fmla="*/ 1548 w 1917"/>
                <a:gd name="T7" fmla="*/ 253 h 2554"/>
                <a:gd name="T8" fmla="*/ 1586 w 1917"/>
                <a:gd name="T9" fmla="*/ 306 h 2554"/>
                <a:gd name="T10" fmla="*/ 1598 w 1917"/>
                <a:gd name="T11" fmla="*/ 312 h 2554"/>
                <a:gd name="T12" fmla="*/ 1634 w 1917"/>
                <a:gd name="T13" fmla="*/ 321 h 2554"/>
                <a:gd name="T14" fmla="*/ 1687 w 1917"/>
                <a:gd name="T15" fmla="*/ 350 h 2554"/>
                <a:gd name="T16" fmla="*/ 1750 w 1917"/>
                <a:gd name="T17" fmla="*/ 407 h 2554"/>
                <a:gd name="T18" fmla="*/ 1807 w 1917"/>
                <a:gd name="T19" fmla="*/ 500 h 2554"/>
                <a:gd name="T20" fmla="*/ 1849 w 1917"/>
                <a:gd name="T21" fmla="*/ 639 h 2554"/>
                <a:gd name="T22" fmla="*/ 1862 w 1917"/>
                <a:gd name="T23" fmla="*/ 835 h 2554"/>
                <a:gd name="T24" fmla="*/ 1835 w 1917"/>
                <a:gd name="T25" fmla="*/ 1097 h 2554"/>
                <a:gd name="T26" fmla="*/ 1822 w 1917"/>
                <a:gd name="T27" fmla="*/ 1217 h 2554"/>
                <a:gd name="T28" fmla="*/ 1872 w 1917"/>
                <a:gd name="T29" fmla="*/ 1230 h 2554"/>
                <a:gd name="T30" fmla="*/ 1908 w 1917"/>
                <a:gd name="T31" fmla="*/ 1280 h 2554"/>
                <a:gd name="T32" fmla="*/ 1915 w 1917"/>
                <a:gd name="T33" fmla="*/ 1380 h 2554"/>
                <a:gd name="T34" fmla="*/ 1883 w 1917"/>
                <a:gd name="T35" fmla="*/ 1546 h 2554"/>
                <a:gd name="T36" fmla="*/ 1816 w 1917"/>
                <a:gd name="T37" fmla="*/ 1726 h 2554"/>
                <a:gd name="T38" fmla="*/ 1757 w 1917"/>
                <a:gd name="T39" fmla="*/ 1808 h 2554"/>
                <a:gd name="T40" fmla="*/ 1710 w 1917"/>
                <a:gd name="T41" fmla="*/ 1888 h 2554"/>
                <a:gd name="T42" fmla="*/ 1632 w 1917"/>
                <a:gd name="T43" fmla="*/ 2092 h 2554"/>
                <a:gd name="T44" fmla="*/ 1497 w 1917"/>
                <a:gd name="T45" fmla="*/ 2284 h 2554"/>
                <a:gd name="T46" fmla="*/ 1312 w 1917"/>
                <a:gd name="T47" fmla="*/ 2443 h 2554"/>
                <a:gd name="T48" fmla="*/ 1096 w 1917"/>
                <a:gd name="T49" fmla="*/ 2536 h 2554"/>
                <a:gd name="T50" fmla="*/ 888 w 1917"/>
                <a:gd name="T51" fmla="*/ 2550 h 2554"/>
                <a:gd name="T52" fmla="*/ 673 w 1917"/>
                <a:gd name="T53" fmla="*/ 2485 h 2554"/>
                <a:gd name="T54" fmla="*/ 472 w 1917"/>
                <a:gd name="T55" fmla="*/ 2344 h 2554"/>
                <a:gd name="T56" fmla="*/ 322 w 1917"/>
                <a:gd name="T57" fmla="*/ 2160 h 2554"/>
                <a:gd name="T58" fmla="*/ 226 w 1917"/>
                <a:gd name="T59" fmla="*/ 1957 h 2554"/>
                <a:gd name="T60" fmla="*/ 177 w 1917"/>
                <a:gd name="T61" fmla="*/ 1822 h 2554"/>
                <a:gd name="T62" fmla="*/ 120 w 1917"/>
                <a:gd name="T63" fmla="*/ 1766 h 2554"/>
                <a:gd name="T64" fmla="*/ 57 w 1917"/>
                <a:gd name="T65" fmla="*/ 1620 h 2554"/>
                <a:gd name="T66" fmla="*/ 8 w 1917"/>
                <a:gd name="T67" fmla="*/ 1428 h 2554"/>
                <a:gd name="T68" fmla="*/ 4 w 1917"/>
                <a:gd name="T69" fmla="*/ 1308 h 2554"/>
                <a:gd name="T70" fmla="*/ 32 w 1917"/>
                <a:gd name="T71" fmla="*/ 1244 h 2554"/>
                <a:gd name="T72" fmla="*/ 78 w 1917"/>
                <a:gd name="T73" fmla="*/ 1219 h 2554"/>
                <a:gd name="T74" fmla="*/ 95 w 1917"/>
                <a:gd name="T75" fmla="*/ 1156 h 2554"/>
                <a:gd name="T76" fmla="*/ 61 w 1917"/>
                <a:gd name="T77" fmla="*/ 935 h 2554"/>
                <a:gd name="T78" fmla="*/ 80 w 1917"/>
                <a:gd name="T79" fmla="*/ 709 h 2554"/>
                <a:gd name="T80" fmla="*/ 169 w 1917"/>
                <a:gd name="T81" fmla="*/ 489 h 2554"/>
                <a:gd name="T82" fmla="*/ 306 w 1917"/>
                <a:gd name="T83" fmla="*/ 314 h 2554"/>
                <a:gd name="T84" fmla="*/ 514 w 1917"/>
                <a:gd name="T85" fmla="*/ 141 h 2554"/>
                <a:gd name="T86" fmla="*/ 717 w 1917"/>
                <a:gd name="T87" fmla="*/ 38 h 2554"/>
                <a:gd name="T88" fmla="*/ 902 w 1917"/>
                <a:gd name="T89" fmla="*/ 4 h 2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17" h="2554">
                  <a:moveTo>
                    <a:pt x="983" y="0"/>
                  </a:moveTo>
                  <a:lnTo>
                    <a:pt x="1061" y="4"/>
                  </a:lnTo>
                  <a:lnTo>
                    <a:pt x="1134" y="13"/>
                  </a:lnTo>
                  <a:lnTo>
                    <a:pt x="1198" y="29"/>
                  </a:lnTo>
                  <a:lnTo>
                    <a:pt x="1259" y="49"/>
                  </a:lnTo>
                  <a:lnTo>
                    <a:pt x="1314" y="74"/>
                  </a:lnTo>
                  <a:lnTo>
                    <a:pt x="1364" y="101"/>
                  </a:lnTo>
                  <a:lnTo>
                    <a:pt x="1415" y="131"/>
                  </a:lnTo>
                  <a:lnTo>
                    <a:pt x="1459" y="164"/>
                  </a:lnTo>
                  <a:lnTo>
                    <a:pt x="1495" y="196"/>
                  </a:lnTo>
                  <a:lnTo>
                    <a:pt x="1525" y="224"/>
                  </a:lnTo>
                  <a:lnTo>
                    <a:pt x="1548" y="253"/>
                  </a:lnTo>
                  <a:lnTo>
                    <a:pt x="1567" y="276"/>
                  </a:lnTo>
                  <a:lnTo>
                    <a:pt x="1579" y="295"/>
                  </a:lnTo>
                  <a:lnTo>
                    <a:pt x="1586" y="306"/>
                  </a:lnTo>
                  <a:lnTo>
                    <a:pt x="1588" y="310"/>
                  </a:lnTo>
                  <a:lnTo>
                    <a:pt x="1590" y="310"/>
                  </a:lnTo>
                  <a:lnTo>
                    <a:pt x="1598" y="312"/>
                  </a:lnTo>
                  <a:lnTo>
                    <a:pt x="1605" y="314"/>
                  </a:lnTo>
                  <a:lnTo>
                    <a:pt x="1619" y="316"/>
                  </a:lnTo>
                  <a:lnTo>
                    <a:pt x="1634" y="321"/>
                  </a:lnTo>
                  <a:lnTo>
                    <a:pt x="1649" y="329"/>
                  </a:lnTo>
                  <a:lnTo>
                    <a:pt x="1668" y="338"/>
                  </a:lnTo>
                  <a:lnTo>
                    <a:pt x="1687" y="350"/>
                  </a:lnTo>
                  <a:lnTo>
                    <a:pt x="1708" y="365"/>
                  </a:lnTo>
                  <a:lnTo>
                    <a:pt x="1729" y="384"/>
                  </a:lnTo>
                  <a:lnTo>
                    <a:pt x="1750" y="407"/>
                  </a:lnTo>
                  <a:lnTo>
                    <a:pt x="1771" y="432"/>
                  </a:lnTo>
                  <a:lnTo>
                    <a:pt x="1790" y="464"/>
                  </a:lnTo>
                  <a:lnTo>
                    <a:pt x="1807" y="500"/>
                  </a:lnTo>
                  <a:lnTo>
                    <a:pt x="1824" y="540"/>
                  </a:lnTo>
                  <a:lnTo>
                    <a:pt x="1837" y="588"/>
                  </a:lnTo>
                  <a:lnTo>
                    <a:pt x="1849" y="639"/>
                  </a:lnTo>
                  <a:lnTo>
                    <a:pt x="1856" y="698"/>
                  </a:lnTo>
                  <a:lnTo>
                    <a:pt x="1862" y="762"/>
                  </a:lnTo>
                  <a:lnTo>
                    <a:pt x="1862" y="835"/>
                  </a:lnTo>
                  <a:lnTo>
                    <a:pt x="1858" y="915"/>
                  </a:lnTo>
                  <a:lnTo>
                    <a:pt x="1851" y="1002"/>
                  </a:lnTo>
                  <a:lnTo>
                    <a:pt x="1835" y="1097"/>
                  </a:lnTo>
                  <a:lnTo>
                    <a:pt x="1822" y="1156"/>
                  </a:lnTo>
                  <a:lnTo>
                    <a:pt x="1805" y="1217"/>
                  </a:lnTo>
                  <a:lnTo>
                    <a:pt x="1822" y="1217"/>
                  </a:lnTo>
                  <a:lnTo>
                    <a:pt x="1839" y="1217"/>
                  </a:lnTo>
                  <a:lnTo>
                    <a:pt x="1856" y="1223"/>
                  </a:lnTo>
                  <a:lnTo>
                    <a:pt x="1872" y="1230"/>
                  </a:lnTo>
                  <a:lnTo>
                    <a:pt x="1885" y="1242"/>
                  </a:lnTo>
                  <a:lnTo>
                    <a:pt x="1898" y="1259"/>
                  </a:lnTo>
                  <a:lnTo>
                    <a:pt x="1908" y="1280"/>
                  </a:lnTo>
                  <a:lnTo>
                    <a:pt x="1913" y="1306"/>
                  </a:lnTo>
                  <a:lnTo>
                    <a:pt x="1917" y="1340"/>
                  </a:lnTo>
                  <a:lnTo>
                    <a:pt x="1915" y="1380"/>
                  </a:lnTo>
                  <a:lnTo>
                    <a:pt x="1910" y="1428"/>
                  </a:lnTo>
                  <a:lnTo>
                    <a:pt x="1900" y="1483"/>
                  </a:lnTo>
                  <a:lnTo>
                    <a:pt x="1883" y="1546"/>
                  </a:lnTo>
                  <a:lnTo>
                    <a:pt x="1860" y="1620"/>
                  </a:lnTo>
                  <a:lnTo>
                    <a:pt x="1839" y="1679"/>
                  </a:lnTo>
                  <a:lnTo>
                    <a:pt x="1816" y="1726"/>
                  </a:lnTo>
                  <a:lnTo>
                    <a:pt x="1795" y="1765"/>
                  </a:lnTo>
                  <a:lnTo>
                    <a:pt x="1776" y="1791"/>
                  </a:lnTo>
                  <a:lnTo>
                    <a:pt x="1757" y="1808"/>
                  </a:lnTo>
                  <a:lnTo>
                    <a:pt x="1740" y="1820"/>
                  </a:lnTo>
                  <a:lnTo>
                    <a:pt x="1723" y="1823"/>
                  </a:lnTo>
                  <a:lnTo>
                    <a:pt x="1710" y="1888"/>
                  </a:lnTo>
                  <a:lnTo>
                    <a:pt x="1691" y="1957"/>
                  </a:lnTo>
                  <a:lnTo>
                    <a:pt x="1664" y="2023"/>
                  </a:lnTo>
                  <a:lnTo>
                    <a:pt x="1632" y="2092"/>
                  </a:lnTo>
                  <a:lnTo>
                    <a:pt x="1592" y="2158"/>
                  </a:lnTo>
                  <a:lnTo>
                    <a:pt x="1548" y="2223"/>
                  </a:lnTo>
                  <a:lnTo>
                    <a:pt x="1497" y="2284"/>
                  </a:lnTo>
                  <a:lnTo>
                    <a:pt x="1440" y="2343"/>
                  </a:lnTo>
                  <a:lnTo>
                    <a:pt x="1379" y="2396"/>
                  </a:lnTo>
                  <a:lnTo>
                    <a:pt x="1312" y="2443"/>
                  </a:lnTo>
                  <a:lnTo>
                    <a:pt x="1240" y="2483"/>
                  </a:lnTo>
                  <a:lnTo>
                    <a:pt x="1162" y="2517"/>
                  </a:lnTo>
                  <a:lnTo>
                    <a:pt x="1096" y="2536"/>
                  </a:lnTo>
                  <a:lnTo>
                    <a:pt x="1027" y="2550"/>
                  </a:lnTo>
                  <a:lnTo>
                    <a:pt x="957" y="2554"/>
                  </a:lnTo>
                  <a:lnTo>
                    <a:pt x="888" y="2550"/>
                  </a:lnTo>
                  <a:lnTo>
                    <a:pt x="820" y="2536"/>
                  </a:lnTo>
                  <a:lnTo>
                    <a:pt x="753" y="2517"/>
                  </a:lnTo>
                  <a:lnTo>
                    <a:pt x="673" y="2485"/>
                  </a:lnTo>
                  <a:lnTo>
                    <a:pt x="601" y="2445"/>
                  </a:lnTo>
                  <a:lnTo>
                    <a:pt x="535" y="2398"/>
                  </a:lnTo>
                  <a:lnTo>
                    <a:pt x="472" y="2344"/>
                  </a:lnTo>
                  <a:lnTo>
                    <a:pt x="417" y="2285"/>
                  </a:lnTo>
                  <a:lnTo>
                    <a:pt x="365" y="2225"/>
                  </a:lnTo>
                  <a:lnTo>
                    <a:pt x="322" y="2160"/>
                  </a:lnTo>
                  <a:lnTo>
                    <a:pt x="284" y="2093"/>
                  </a:lnTo>
                  <a:lnTo>
                    <a:pt x="251" y="2025"/>
                  </a:lnTo>
                  <a:lnTo>
                    <a:pt x="226" y="1957"/>
                  </a:lnTo>
                  <a:lnTo>
                    <a:pt x="206" y="1890"/>
                  </a:lnTo>
                  <a:lnTo>
                    <a:pt x="192" y="1825"/>
                  </a:lnTo>
                  <a:lnTo>
                    <a:pt x="177" y="1822"/>
                  </a:lnTo>
                  <a:lnTo>
                    <a:pt x="158" y="1810"/>
                  </a:lnTo>
                  <a:lnTo>
                    <a:pt x="139" y="1793"/>
                  </a:lnTo>
                  <a:lnTo>
                    <a:pt x="120" y="1766"/>
                  </a:lnTo>
                  <a:lnTo>
                    <a:pt x="99" y="1728"/>
                  </a:lnTo>
                  <a:lnTo>
                    <a:pt x="78" y="1681"/>
                  </a:lnTo>
                  <a:lnTo>
                    <a:pt x="57" y="1620"/>
                  </a:lnTo>
                  <a:lnTo>
                    <a:pt x="34" y="1546"/>
                  </a:lnTo>
                  <a:lnTo>
                    <a:pt x="17" y="1483"/>
                  </a:lnTo>
                  <a:lnTo>
                    <a:pt x="8" y="1428"/>
                  </a:lnTo>
                  <a:lnTo>
                    <a:pt x="2" y="1380"/>
                  </a:lnTo>
                  <a:lnTo>
                    <a:pt x="0" y="1340"/>
                  </a:lnTo>
                  <a:lnTo>
                    <a:pt x="4" y="1308"/>
                  </a:lnTo>
                  <a:lnTo>
                    <a:pt x="10" y="1280"/>
                  </a:lnTo>
                  <a:lnTo>
                    <a:pt x="19" y="1259"/>
                  </a:lnTo>
                  <a:lnTo>
                    <a:pt x="32" y="1244"/>
                  </a:lnTo>
                  <a:lnTo>
                    <a:pt x="46" y="1230"/>
                  </a:lnTo>
                  <a:lnTo>
                    <a:pt x="63" y="1223"/>
                  </a:lnTo>
                  <a:lnTo>
                    <a:pt x="78" y="1219"/>
                  </a:lnTo>
                  <a:lnTo>
                    <a:pt x="95" y="1217"/>
                  </a:lnTo>
                  <a:lnTo>
                    <a:pt x="114" y="1217"/>
                  </a:lnTo>
                  <a:lnTo>
                    <a:pt x="95" y="1156"/>
                  </a:lnTo>
                  <a:lnTo>
                    <a:pt x="82" y="1097"/>
                  </a:lnTo>
                  <a:lnTo>
                    <a:pt x="69" y="1015"/>
                  </a:lnTo>
                  <a:lnTo>
                    <a:pt x="61" y="935"/>
                  </a:lnTo>
                  <a:lnTo>
                    <a:pt x="59" y="859"/>
                  </a:lnTo>
                  <a:lnTo>
                    <a:pt x="65" y="783"/>
                  </a:lnTo>
                  <a:lnTo>
                    <a:pt x="80" y="709"/>
                  </a:lnTo>
                  <a:lnTo>
                    <a:pt x="103" y="631"/>
                  </a:lnTo>
                  <a:lnTo>
                    <a:pt x="133" y="557"/>
                  </a:lnTo>
                  <a:lnTo>
                    <a:pt x="169" y="489"/>
                  </a:lnTo>
                  <a:lnTo>
                    <a:pt x="211" y="426"/>
                  </a:lnTo>
                  <a:lnTo>
                    <a:pt x="257" y="367"/>
                  </a:lnTo>
                  <a:lnTo>
                    <a:pt x="306" y="314"/>
                  </a:lnTo>
                  <a:lnTo>
                    <a:pt x="371" y="251"/>
                  </a:lnTo>
                  <a:lnTo>
                    <a:pt x="441" y="192"/>
                  </a:lnTo>
                  <a:lnTo>
                    <a:pt x="514" y="141"/>
                  </a:lnTo>
                  <a:lnTo>
                    <a:pt x="576" y="101"/>
                  </a:lnTo>
                  <a:lnTo>
                    <a:pt x="645" y="67"/>
                  </a:lnTo>
                  <a:lnTo>
                    <a:pt x="717" y="38"/>
                  </a:lnTo>
                  <a:lnTo>
                    <a:pt x="776" y="21"/>
                  </a:lnTo>
                  <a:lnTo>
                    <a:pt x="837" y="10"/>
                  </a:lnTo>
                  <a:lnTo>
                    <a:pt x="902" y="4"/>
                  </a:lnTo>
                  <a:lnTo>
                    <a:pt x="9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18" name="Freeform 195"/>
            <p:cNvSpPr/>
            <p:nvPr/>
          </p:nvSpPr>
          <p:spPr bwMode="auto">
            <a:xfrm>
              <a:off x="4283" y="3981"/>
              <a:ext cx="1831" cy="845"/>
            </a:xfrm>
            <a:custGeom>
              <a:avLst/>
              <a:gdLst>
                <a:gd name="T0" fmla="*/ 1531 w 3661"/>
                <a:gd name="T1" fmla="*/ 1090 h 1691"/>
                <a:gd name="T2" fmla="*/ 1733 w 3661"/>
                <a:gd name="T3" fmla="*/ 801 h 1691"/>
                <a:gd name="T4" fmla="*/ 1653 w 3661"/>
                <a:gd name="T5" fmla="*/ 677 h 1691"/>
                <a:gd name="T6" fmla="*/ 1607 w 3661"/>
                <a:gd name="T7" fmla="*/ 575 h 1691"/>
                <a:gd name="T8" fmla="*/ 1586 w 3661"/>
                <a:gd name="T9" fmla="*/ 493 h 1691"/>
                <a:gd name="T10" fmla="*/ 1588 w 3661"/>
                <a:gd name="T11" fmla="*/ 426 h 1691"/>
                <a:gd name="T12" fmla="*/ 1607 w 3661"/>
                <a:gd name="T13" fmla="*/ 377 h 1691"/>
                <a:gd name="T14" fmla="*/ 1639 w 3661"/>
                <a:gd name="T15" fmla="*/ 339 h 1691"/>
                <a:gd name="T16" fmla="*/ 1679 w 3661"/>
                <a:gd name="T17" fmla="*/ 314 h 1691"/>
                <a:gd name="T18" fmla="*/ 1723 w 3661"/>
                <a:gd name="T19" fmla="*/ 297 h 1691"/>
                <a:gd name="T20" fmla="*/ 1765 w 3661"/>
                <a:gd name="T21" fmla="*/ 288 h 1691"/>
                <a:gd name="T22" fmla="*/ 1801 w 3661"/>
                <a:gd name="T23" fmla="*/ 284 h 1691"/>
                <a:gd name="T24" fmla="*/ 1826 w 3661"/>
                <a:gd name="T25" fmla="*/ 282 h 1691"/>
                <a:gd name="T26" fmla="*/ 1843 w 3661"/>
                <a:gd name="T27" fmla="*/ 284 h 1691"/>
                <a:gd name="T28" fmla="*/ 1873 w 3661"/>
                <a:gd name="T29" fmla="*/ 286 h 1691"/>
                <a:gd name="T30" fmla="*/ 1913 w 3661"/>
                <a:gd name="T31" fmla="*/ 291 h 1691"/>
                <a:gd name="T32" fmla="*/ 1957 w 3661"/>
                <a:gd name="T33" fmla="*/ 305 h 1691"/>
                <a:gd name="T34" fmla="*/ 1999 w 3661"/>
                <a:gd name="T35" fmla="*/ 326 h 1691"/>
                <a:gd name="T36" fmla="*/ 2037 w 3661"/>
                <a:gd name="T37" fmla="*/ 356 h 1691"/>
                <a:gd name="T38" fmla="*/ 2063 w 3661"/>
                <a:gd name="T39" fmla="*/ 400 h 1691"/>
                <a:gd name="T40" fmla="*/ 2073 w 3661"/>
                <a:gd name="T41" fmla="*/ 457 h 1691"/>
                <a:gd name="T42" fmla="*/ 2065 w 3661"/>
                <a:gd name="T43" fmla="*/ 531 h 1691"/>
                <a:gd name="T44" fmla="*/ 2031 w 3661"/>
                <a:gd name="T45" fmla="*/ 624 h 1691"/>
                <a:gd name="T46" fmla="*/ 1968 w 3661"/>
                <a:gd name="T47" fmla="*/ 736 h 1691"/>
                <a:gd name="T48" fmla="*/ 2081 w 3661"/>
                <a:gd name="T49" fmla="*/ 1240 h 1691"/>
                <a:gd name="T50" fmla="*/ 2472 w 3661"/>
                <a:gd name="T51" fmla="*/ 0 h 1691"/>
                <a:gd name="T52" fmla="*/ 2488 w 3661"/>
                <a:gd name="T53" fmla="*/ 10 h 1691"/>
                <a:gd name="T54" fmla="*/ 2535 w 3661"/>
                <a:gd name="T55" fmla="*/ 38 h 1691"/>
                <a:gd name="T56" fmla="*/ 2613 w 3661"/>
                <a:gd name="T57" fmla="*/ 82 h 1691"/>
                <a:gd name="T58" fmla="*/ 2718 w 3661"/>
                <a:gd name="T59" fmla="*/ 137 h 1691"/>
                <a:gd name="T60" fmla="*/ 2851 w 3661"/>
                <a:gd name="T61" fmla="*/ 202 h 1691"/>
                <a:gd name="T62" fmla="*/ 3007 w 3661"/>
                <a:gd name="T63" fmla="*/ 272 h 1691"/>
                <a:gd name="T64" fmla="*/ 3187 w 3661"/>
                <a:gd name="T65" fmla="*/ 345 h 1691"/>
                <a:gd name="T66" fmla="*/ 3334 w 3661"/>
                <a:gd name="T67" fmla="*/ 413 h 1691"/>
                <a:gd name="T68" fmla="*/ 3446 w 3661"/>
                <a:gd name="T69" fmla="*/ 501 h 1691"/>
                <a:gd name="T70" fmla="*/ 3528 w 3661"/>
                <a:gd name="T71" fmla="*/ 605 h 1691"/>
                <a:gd name="T72" fmla="*/ 3585 w 3661"/>
                <a:gd name="T73" fmla="*/ 731 h 1691"/>
                <a:gd name="T74" fmla="*/ 3621 w 3661"/>
                <a:gd name="T75" fmla="*/ 875 h 1691"/>
                <a:gd name="T76" fmla="*/ 3644 w 3661"/>
                <a:gd name="T77" fmla="*/ 1044 h 1691"/>
                <a:gd name="T78" fmla="*/ 3653 w 3661"/>
                <a:gd name="T79" fmla="*/ 1234 h 1691"/>
                <a:gd name="T80" fmla="*/ 3657 w 3661"/>
                <a:gd name="T81" fmla="*/ 1449 h 1691"/>
                <a:gd name="T82" fmla="*/ 3661 w 3661"/>
                <a:gd name="T83" fmla="*/ 1691 h 1691"/>
                <a:gd name="T84" fmla="*/ 2 w 3661"/>
                <a:gd name="T85" fmla="*/ 1567 h 1691"/>
                <a:gd name="T86" fmla="*/ 4 w 3661"/>
                <a:gd name="T87" fmla="*/ 1339 h 1691"/>
                <a:gd name="T88" fmla="*/ 11 w 3661"/>
                <a:gd name="T89" fmla="*/ 1136 h 1691"/>
                <a:gd name="T90" fmla="*/ 27 w 3661"/>
                <a:gd name="T91" fmla="*/ 957 h 1691"/>
                <a:gd name="T92" fmla="*/ 55 w 3661"/>
                <a:gd name="T93" fmla="*/ 801 h 1691"/>
                <a:gd name="T94" fmla="*/ 103 w 3661"/>
                <a:gd name="T95" fmla="*/ 664 h 1691"/>
                <a:gd name="T96" fmla="*/ 171 w 3661"/>
                <a:gd name="T97" fmla="*/ 550 h 1691"/>
                <a:gd name="T98" fmla="*/ 266 w 3661"/>
                <a:gd name="T99" fmla="*/ 455 h 1691"/>
                <a:gd name="T100" fmla="*/ 396 w 3661"/>
                <a:gd name="T101" fmla="*/ 377 h 1691"/>
                <a:gd name="T102" fmla="*/ 567 w 3661"/>
                <a:gd name="T103" fmla="*/ 308 h 1691"/>
                <a:gd name="T104" fmla="*/ 736 w 3661"/>
                <a:gd name="T105" fmla="*/ 236 h 1691"/>
                <a:gd name="T106" fmla="*/ 881 w 3661"/>
                <a:gd name="T107" fmla="*/ 170 h 1691"/>
                <a:gd name="T108" fmla="*/ 998 w 3661"/>
                <a:gd name="T109" fmla="*/ 109 h 1691"/>
                <a:gd name="T110" fmla="*/ 1090 w 3661"/>
                <a:gd name="T111" fmla="*/ 59 h 1691"/>
                <a:gd name="T112" fmla="*/ 1153 w 3661"/>
                <a:gd name="T113" fmla="*/ 21 h 1691"/>
                <a:gd name="T114" fmla="*/ 1185 w 3661"/>
                <a:gd name="T115" fmla="*/ 2 h 1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661" h="1691">
                  <a:moveTo>
                    <a:pt x="1189" y="0"/>
                  </a:moveTo>
                  <a:lnTo>
                    <a:pt x="1531" y="1090"/>
                  </a:lnTo>
                  <a:lnTo>
                    <a:pt x="1579" y="1240"/>
                  </a:lnTo>
                  <a:lnTo>
                    <a:pt x="1733" y="801"/>
                  </a:lnTo>
                  <a:lnTo>
                    <a:pt x="1689" y="736"/>
                  </a:lnTo>
                  <a:lnTo>
                    <a:pt x="1653" y="677"/>
                  </a:lnTo>
                  <a:lnTo>
                    <a:pt x="1626" y="624"/>
                  </a:lnTo>
                  <a:lnTo>
                    <a:pt x="1607" y="575"/>
                  </a:lnTo>
                  <a:lnTo>
                    <a:pt x="1594" y="531"/>
                  </a:lnTo>
                  <a:lnTo>
                    <a:pt x="1586" y="493"/>
                  </a:lnTo>
                  <a:lnTo>
                    <a:pt x="1584" y="459"/>
                  </a:lnTo>
                  <a:lnTo>
                    <a:pt x="1588" y="426"/>
                  </a:lnTo>
                  <a:lnTo>
                    <a:pt x="1596" y="400"/>
                  </a:lnTo>
                  <a:lnTo>
                    <a:pt x="1607" y="377"/>
                  </a:lnTo>
                  <a:lnTo>
                    <a:pt x="1622" y="356"/>
                  </a:lnTo>
                  <a:lnTo>
                    <a:pt x="1639" y="339"/>
                  </a:lnTo>
                  <a:lnTo>
                    <a:pt x="1658" y="326"/>
                  </a:lnTo>
                  <a:lnTo>
                    <a:pt x="1679" y="314"/>
                  </a:lnTo>
                  <a:lnTo>
                    <a:pt x="1700" y="305"/>
                  </a:lnTo>
                  <a:lnTo>
                    <a:pt x="1723" y="297"/>
                  </a:lnTo>
                  <a:lnTo>
                    <a:pt x="1744" y="291"/>
                  </a:lnTo>
                  <a:lnTo>
                    <a:pt x="1765" y="288"/>
                  </a:lnTo>
                  <a:lnTo>
                    <a:pt x="1784" y="286"/>
                  </a:lnTo>
                  <a:lnTo>
                    <a:pt x="1801" y="284"/>
                  </a:lnTo>
                  <a:lnTo>
                    <a:pt x="1816" y="284"/>
                  </a:lnTo>
                  <a:lnTo>
                    <a:pt x="1826" y="282"/>
                  </a:lnTo>
                  <a:lnTo>
                    <a:pt x="1831" y="282"/>
                  </a:lnTo>
                  <a:lnTo>
                    <a:pt x="1843" y="284"/>
                  </a:lnTo>
                  <a:lnTo>
                    <a:pt x="1856" y="284"/>
                  </a:lnTo>
                  <a:lnTo>
                    <a:pt x="1873" y="286"/>
                  </a:lnTo>
                  <a:lnTo>
                    <a:pt x="1892" y="288"/>
                  </a:lnTo>
                  <a:lnTo>
                    <a:pt x="1913" y="291"/>
                  </a:lnTo>
                  <a:lnTo>
                    <a:pt x="1934" y="297"/>
                  </a:lnTo>
                  <a:lnTo>
                    <a:pt x="1957" y="305"/>
                  </a:lnTo>
                  <a:lnTo>
                    <a:pt x="1978" y="314"/>
                  </a:lnTo>
                  <a:lnTo>
                    <a:pt x="1999" y="326"/>
                  </a:lnTo>
                  <a:lnTo>
                    <a:pt x="2020" y="339"/>
                  </a:lnTo>
                  <a:lnTo>
                    <a:pt x="2037" y="356"/>
                  </a:lnTo>
                  <a:lnTo>
                    <a:pt x="2050" y="377"/>
                  </a:lnTo>
                  <a:lnTo>
                    <a:pt x="2063" y="400"/>
                  </a:lnTo>
                  <a:lnTo>
                    <a:pt x="2071" y="426"/>
                  </a:lnTo>
                  <a:lnTo>
                    <a:pt x="2073" y="457"/>
                  </a:lnTo>
                  <a:lnTo>
                    <a:pt x="2073" y="493"/>
                  </a:lnTo>
                  <a:lnTo>
                    <a:pt x="2065" y="531"/>
                  </a:lnTo>
                  <a:lnTo>
                    <a:pt x="2052" y="575"/>
                  </a:lnTo>
                  <a:lnTo>
                    <a:pt x="2031" y="624"/>
                  </a:lnTo>
                  <a:lnTo>
                    <a:pt x="2005" y="677"/>
                  </a:lnTo>
                  <a:lnTo>
                    <a:pt x="1968" y="736"/>
                  </a:lnTo>
                  <a:lnTo>
                    <a:pt x="1925" y="801"/>
                  </a:lnTo>
                  <a:lnTo>
                    <a:pt x="2081" y="1240"/>
                  </a:lnTo>
                  <a:lnTo>
                    <a:pt x="2128" y="1090"/>
                  </a:lnTo>
                  <a:lnTo>
                    <a:pt x="2472" y="0"/>
                  </a:lnTo>
                  <a:lnTo>
                    <a:pt x="2476" y="2"/>
                  </a:lnTo>
                  <a:lnTo>
                    <a:pt x="2488" y="10"/>
                  </a:lnTo>
                  <a:lnTo>
                    <a:pt x="2508" y="21"/>
                  </a:lnTo>
                  <a:lnTo>
                    <a:pt x="2535" y="38"/>
                  </a:lnTo>
                  <a:lnTo>
                    <a:pt x="2571" y="59"/>
                  </a:lnTo>
                  <a:lnTo>
                    <a:pt x="2613" y="82"/>
                  </a:lnTo>
                  <a:lnTo>
                    <a:pt x="2663" y="109"/>
                  </a:lnTo>
                  <a:lnTo>
                    <a:pt x="2718" y="137"/>
                  </a:lnTo>
                  <a:lnTo>
                    <a:pt x="2780" y="170"/>
                  </a:lnTo>
                  <a:lnTo>
                    <a:pt x="2851" y="202"/>
                  </a:lnTo>
                  <a:lnTo>
                    <a:pt x="2927" y="236"/>
                  </a:lnTo>
                  <a:lnTo>
                    <a:pt x="3007" y="272"/>
                  </a:lnTo>
                  <a:lnTo>
                    <a:pt x="3094" y="308"/>
                  </a:lnTo>
                  <a:lnTo>
                    <a:pt x="3187" y="345"/>
                  </a:lnTo>
                  <a:lnTo>
                    <a:pt x="3265" y="377"/>
                  </a:lnTo>
                  <a:lnTo>
                    <a:pt x="3334" y="413"/>
                  </a:lnTo>
                  <a:lnTo>
                    <a:pt x="3393" y="455"/>
                  </a:lnTo>
                  <a:lnTo>
                    <a:pt x="3446" y="501"/>
                  </a:lnTo>
                  <a:lnTo>
                    <a:pt x="3490" y="550"/>
                  </a:lnTo>
                  <a:lnTo>
                    <a:pt x="3528" y="605"/>
                  </a:lnTo>
                  <a:lnTo>
                    <a:pt x="3558" y="664"/>
                  </a:lnTo>
                  <a:lnTo>
                    <a:pt x="3585" y="731"/>
                  </a:lnTo>
                  <a:lnTo>
                    <a:pt x="3606" y="801"/>
                  </a:lnTo>
                  <a:lnTo>
                    <a:pt x="3621" y="875"/>
                  </a:lnTo>
                  <a:lnTo>
                    <a:pt x="3634" y="957"/>
                  </a:lnTo>
                  <a:lnTo>
                    <a:pt x="3644" y="1044"/>
                  </a:lnTo>
                  <a:lnTo>
                    <a:pt x="3650" y="1136"/>
                  </a:lnTo>
                  <a:lnTo>
                    <a:pt x="3653" y="1234"/>
                  </a:lnTo>
                  <a:lnTo>
                    <a:pt x="3657" y="1339"/>
                  </a:lnTo>
                  <a:lnTo>
                    <a:pt x="3657" y="1449"/>
                  </a:lnTo>
                  <a:lnTo>
                    <a:pt x="3659" y="1567"/>
                  </a:lnTo>
                  <a:lnTo>
                    <a:pt x="3661" y="1691"/>
                  </a:lnTo>
                  <a:lnTo>
                    <a:pt x="0" y="1691"/>
                  </a:lnTo>
                  <a:lnTo>
                    <a:pt x="2" y="1567"/>
                  </a:lnTo>
                  <a:lnTo>
                    <a:pt x="2" y="1449"/>
                  </a:lnTo>
                  <a:lnTo>
                    <a:pt x="4" y="1339"/>
                  </a:lnTo>
                  <a:lnTo>
                    <a:pt x="8" y="1234"/>
                  </a:lnTo>
                  <a:lnTo>
                    <a:pt x="11" y="1136"/>
                  </a:lnTo>
                  <a:lnTo>
                    <a:pt x="17" y="1044"/>
                  </a:lnTo>
                  <a:lnTo>
                    <a:pt x="27" y="957"/>
                  </a:lnTo>
                  <a:lnTo>
                    <a:pt x="38" y="875"/>
                  </a:lnTo>
                  <a:lnTo>
                    <a:pt x="55" y="801"/>
                  </a:lnTo>
                  <a:lnTo>
                    <a:pt x="76" y="731"/>
                  </a:lnTo>
                  <a:lnTo>
                    <a:pt x="103" y="664"/>
                  </a:lnTo>
                  <a:lnTo>
                    <a:pt x="133" y="605"/>
                  </a:lnTo>
                  <a:lnTo>
                    <a:pt x="171" y="550"/>
                  </a:lnTo>
                  <a:lnTo>
                    <a:pt x="215" y="501"/>
                  </a:lnTo>
                  <a:lnTo>
                    <a:pt x="266" y="455"/>
                  </a:lnTo>
                  <a:lnTo>
                    <a:pt x="327" y="413"/>
                  </a:lnTo>
                  <a:lnTo>
                    <a:pt x="396" y="377"/>
                  </a:lnTo>
                  <a:lnTo>
                    <a:pt x="474" y="345"/>
                  </a:lnTo>
                  <a:lnTo>
                    <a:pt x="567" y="308"/>
                  </a:lnTo>
                  <a:lnTo>
                    <a:pt x="654" y="272"/>
                  </a:lnTo>
                  <a:lnTo>
                    <a:pt x="736" y="236"/>
                  </a:lnTo>
                  <a:lnTo>
                    <a:pt x="810" y="202"/>
                  </a:lnTo>
                  <a:lnTo>
                    <a:pt x="881" y="170"/>
                  </a:lnTo>
                  <a:lnTo>
                    <a:pt x="943" y="137"/>
                  </a:lnTo>
                  <a:lnTo>
                    <a:pt x="998" y="109"/>
                  </a:lnTo>
                  <a:lnTo>
                    <a:pt x="1048" y="82"/>
                  </a:lnTo>
                  <a:lnTo>
                    <a:pt x="1090" y="59"/>
                  </a:lnTo>
                  <a:lnTo>
                    <a:pt x="1126" y="38"/>
                  </a:lnTo>
                  <a:lnTo>
                    <a:pt x="1153" y="21"/>
                  </a:lnTo>
                  <a:lnTo>
                    <a:pt x="1172" y="10"/>
                  </a:lnTo>
                  <a:lnTo>
                    <a:pt x="1185" y="2"/>
                  </a:lnTo>
                  <a:lnTo>
                    <a:pt x="11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19" name="Freeform 196"/>
            <p:cNvSpPr/>
            <p:nvPr/>
          </p:nvSpPr>
          <p:spPr bwMode="auto">
            <a:xfrm>
              <a:off x="5653" y="3148"/>
              <a:ext cx="841" cy="828"/>
            </a:xfrm>
            <a:custGeom>
              <a:avLst/>
              <a:gdLst>
                <a:gd name="T0" fmla="*/ 1150 w 1681"/>
                <a:gd name="T1" fmla="*/ 0 h 1656"/>
                <a:gd name="T2" fmla="*/ 1259 w 1681"/>
                <a:gd name="T3" fmla="*/ 6 h 1656"/>
                <a:gd name="T4" fmla="*/ 1367 w 1681"/>
                <a:gd name="T5" fmla="*/ 19 h 1656"/>
                <a:gd name="T6" fmla="*/ 1473 w 1681"/>
                <a:gd name="T7" fmla="*/ 44 h 1656"/>
                <a:gd name="T8" fmla="*/ 1578 w 1681"/>
                <a:gd name="T9" fmla="*/ 78 h 1656"/>
                <a:gd name="T10" fmla="*/ 1681 w 1681"/>
                <a:gd name="T11" fmla="*/ 122 h 1656"/>
                <a:gd name="T12" fmla="*/ 1356 w 1681"/>
                <a:gd name="T13" fmla="*/ 447 h 1656"/>
                <a:gd name="T14" fmla="*/ 1272 w 1681"/>
                <a:gd name="T15" fmla="*/ 430 h 1656"/>
                <a:gd name="T16" fmla="*/ 1186 w 1681"/>
                <a:gd name="T17" fmla="*/ 420 h 1656"/>
                <a:gd name="T18" fmla="*/ 1101 w 1681"/>
                <a:gd name="T19" fmla="*/ 418 h 1656"/>
                <a:gd name="T20" fmla="*/ 1015 w 1681"/>
                <a:gd name="T21" fmla="*/ 428 h 1656"/>
                <a:gd name="T22" fmla="*/ 931 w 1681"/>
                <a:gd name="T23" fmla="*/ 445 h 1656"/>
                <a:gd name="T24" fmla="*/ 850 w 1681"/>
                <a:gd name="T25" fmla="*/ 469 h 1656"/>
                <a:gd name="T26" fmla="*/ 770 w 1681"/>
                <a:gd name="T27" fmla="*/ 504 h 1656"/>
                <a:gd name="T28" fmla="*/ 692 w 1681"/>
                <a:gd name="T29" fmla="*/ 547 h 1656"/>
                <a:gd name="T30" fmla="*/ 620 w 1681"/>
                <a:gd name="T31" fmla="*/ 601 h 1656"/>
                <a:gd name="T32" fmla="*/ 551 w 1681"/>
                <a:gd name="T33" fmla="*/ 662 h 1656"/>
                <a:gd name="T34" fmla="*/ 488 w 1681"/>
                <a:gd name="T35" fmla="*/ 732 h 1656"/>
                <a:gd name="T36" fmla="*/ 435 w 1681"/>
                <a:gd name="T37" fmla="*/ 806 h 1656"/>
                <a:gd name="T38" fmla="*/ 391 w 1681"/>
                <a:gd name="T39" fmla="*/ 886 h 1656"/>
                <a:gd name="T40" fmla="*/ 357 w 1681"/>
                <a:gd name="T41" fmla="*/ 968 h 1656"/>
                <a:gd name="T42" fmla="*/ 332 w 1681"/>
                <a:gd name="T43" fmla="*/ 1053 h 1656"/>
                <a:gd name="T44" fmla="*/ 315 w 1681"/>
                <a:gd name="T45" fmla="*/ 1141 h 1656"/>
                <a:gd name="T46" fmla="*/ 310 w 1681"/>
                <a:gd name="T47" fmla="*/ 1228 h 1656"/>
                <a:gd name="T48" fmla="*/ 311 w 1681"/>
                <a:gd name="T49" fmla="*/ 1317 h 1656"/>
                <a:gd name="T50" fmla="*/ 323 w 1681"/>
                <a:gd name="T51" fmla="*/ 1405 h 1656"/>
                <a:gd name="T52" fmla="*/ 346 w 1681"/>
                <a:gd name="T53" fmla="*/ 1491 h 1656"/>
                <a:gd name="T54" fmla="*/ 376 w 1681"/>
                <a:gd name="T55" fmla="*/ 1574 h 1656"/>
                <a:gd name="T56" fmla="*/ 416 w 1681"/>
                <a:gd name="T57" fmla="*/ 1656 h 1656"/>
                <a:gd name="T58" fmla="*/ 327 w 1681"/>
                <a:gd name="T59" fmla="*/ 1618 h 1656"/>
                <a:gd name="T60" fmla="*/ 245 w 1681"/>
                <a:gd name="T61" fmla="*/ 1580 h 1656"/>
                <a:gd name="T62" fmla="*/ 171 w 1681"/>
                <a:gd name="T63" fmla="*/ 1544 h 1656"/>
                <a:gd name="T64" fmla="*/ 106 w 1681"/>
                <a:gd name="T65" fmla="*/ 1511 h 1656"/>
                <a:gd name="T66" fmla="*/ 49 w 1681"/>
                <a:gd name="T67" fmla="*/ 1481 h 1656"/>
                <a:gd name="T68" fmla="*/ 0 w 1681"/>
                <a:gd name="T69" fmla="*/ 1456 h 1656"/>
                <a:gd name="T70" fmla="*/ 34 w 1681"/>
                <a:gd name="T71" fmla="*/ 1382 h 1656"/>
                <a:gd name="T72" fmla="*/ 66 w 1681"/>
                <a:gd name="T73" fmla="*/ 1306 h 1656"/>
                <a:gd name="T74" fmla="*/ 93 w 1681"/>
                <a:gd name="T75" fmla="*/ 1224 h 1656"/>
                <a:gd name="T76" fmla="*/ 129 w 1681"/>
                <a:gd name="T77" fmla="*/ 1192 h 1656"/>
                <a:gd name="T78" fmla="*/ 163 w 1681"/>
                <a:gd name="T79" fmla="*/ 1154 h 1656"/>
                <a:gd name="T80" fmla="*/ 197 w 1681"/>
                <a:gd name="T81" fmla="*/ 1108 h 1656"/>
                <a:gd name="T82" fmla="*/ 233 w 1681"/>
                <a:gd name="T83" fmla="*/ 1046 h 1656"/>
                <a:gd name="T84" fmla="*/ 268 w 1681"/>
                <a:gd name="T85" fmla="*/ 973 h 1656"/>
                <a:gd name="T86" fmla="*/ 298 w 1681"/>
                <a:gd name="T87" fmla="*/ 890 h 1656"/>
                <a:gd name="T88" fmla="*/ 329 w 1681"/>
                <a:gd name="T89" fmla="*/ 793 h 1656"/>
                <a:gd name="T90" fmla="*/ 349 w 1681"/>
                <a:gd name="T91" fmla="*/ 717 h 1656"/>
                <a:gd name="T92" fmla="*/ 363 w 1681"/>
                <a:gd name="T93" fmla="*/ 646 h 1656"/>
                <a:gd name="T94" fmla="*/ 372 w 1681"/>
                <a:gd name="T95" fmla="*/ 580 h 1656"/>
                <a:gd name="T96" fmla="*/ 376 w 1681"/>
                <a:gd name="T97" fmla="*/ 519 h 1656"/>
                <a:gd name="T98" fmla="*/ 374 w 1681"/>
                <a:gd name="T99" fmla="*/ 460 h 1656"/>
                <a:gd name="T100" fmla="*/ 368 w 1681"/>
                <a:gd name="T101" fmla="*/ 407 h 1656"/>
                <a:gd name="T102" fmla="*/ 353 w 1681"/>
                <a:gd name="T103" fmla="*/ 348 h 1656"/>
                <a:gd name="T104" fmla="*/ 332 w 1681"/>
                <a:gd name="T105" fmla="*/ 293 h 1656"/>
                <a:gd name="T106" fmla="*/ 424 w 1681"/>
                <a:gd name="T107" fmla="*/ 224 h 1656"/>
                <a:gd name="T108" fmla="*/ 519 w 1681"/>
                <a:gd name="T109" fmla="*/ 163 h 1656"/>
                <a:gd name="T110" fmla="*/ 620 w 1681"/>
                <a:gd name="T111" fmla="*/ 112 h 1656"/>
                <a:gd name="T112" fmla="*/ 720 w 1681"/>
                <a:gd name="T113" fmla="*/ 70 h 1656"/>
                <a:gd name="T114" fmla="*/ 827 w 1681"/>
                <a:gd name="T115" fmla="*/ 38 h 1656"/>
                <a:gd name="T116" fmla="*/ 933 w 1681"/>
                <a:gd name="T117" fmla="*/ 15 h 1656"/>
                <a:gd name="T118" fmla="*/ 1042 w 1681"/>
                <a:gd name="T119" fmla="*/ 4 h 1656"/>
                <a:gd name="T120" fmla="*/ 1150 w 1681"/>
                <a:gd name="T121" fmla="*/ 0 h 1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81" h="1656">
                  <a:moveTo>
                    <a:pt x="1150" y="0"/>
                  </a:moveTo>
                  <a:lnTo>
                    <a:pt x="1259" y="6"/>
                  </a:lnTo>
                  <a:lnTo>
                    <a:pt x="1367" y="19"/>
                  </a:lnTo>
                  <a:lnTo>
                    <a:pt x="1473" y="44"/>
                  </a:lnTo>
                  <a:lnTo>
                    <a:pt x="1578" y="78"/>
                  </a:lnTo>
                  <a:lnTo>
                    <a:pt x="1681" y="122"/>
                  </a:lnTo>
                  <a:lnTo>
                    <a:pt x="1356" y="447"/>
                  </a:lnTo>
                  <a:lnTo>
                    <a:pt x="1272" y="430"/>
                  </a:lnTo>
                  <a:lnTo>
                    <a:pt x="1186" y="420"/>
                  </a:lnTo>
                  <a:lnTo>
                    <a:pt x="1101" y="418"/>
                  </a:lnTo>
                  <a:lnTo>
                    <a:pt x="1015" y="428"/>
                  </a:lnTo>
                  <a:lnTo>
                    <a:pt x="931" y="445"/>
                  </a:lnTo>
                  <a:lnTo>
                    <a:pt x="850" y="469"/>
                  </a:lnTo>
                  <a:lnTo>
                    <a:pt x="770" y="504"/>
                  </a:lnTo>
                  <a:lnTo>
                    <a:pt x="692" y="547"/>
                  </a:lnTo>
                  <a:lnTo>
                    <a:pt x="620" y="601"/>
                  </a:lnTo>
                  <a:lnTo>
                    <a:pt x="551" y="662"/>
                  </a:lnTo>
                  <a:lnTo>
                    <a:pt x="488" y="732"/>
                  </a:lnTo>
                  <a:lnTo>
                    <a:pt x="435" y="806"/>
                  </a:lnTo>
                  <a:lnTo>
                    <a:pt x="391" y="886"/>
                  </a:lnTo>
                  <a:lnTo>
                    <a:pt x="357" y="968"/>
                  </a:lnTo>
                  <a:lnTo>
                    <a:pt x="332" y="1053"/>
                  </a:lnTo>
                  <a:lnTo>
                    <a:pt x="315" y="1141"/>
                  </a:lnTo>
                  <a:lnTo>
                    <a:pt x="310" y="1228"/>
                  </a:lnTo>
                  <a:lnTo>
                    <a:pt x="311" y="1317"/>
                  </a:lnTo>
                  <a:lnTo>
                    <a:pt x="323" y="1405"/>
                  </a:lnTo>
                  <a:lnTo>
                    <a:pt x="346" y="1491"/>
                  </a:lnTo>
                  <a:lnTo>
                    <a:pt x="376" y="1574"/>
                  </a:lnTo>
                  <a:lnTo>
                    <a:pt x="416" y="1656"/>
                  </a:lnTo>
                  <a:lnTo>
                    <a:pt x="327" y="1618"/>
                  </a:lnTo>
                  <a:lnTo>
                    <a:pt x="245" y="1580"/>
                  </a:lnTo>
                  <a:lnTo>
                    <a:pt x="171" y="1544"/>
                  </a:lnTo>
                  <a:lnTo>
                    <a:pt x="106" y="1511"/>
                  </a:lnTo>
                  <a:lnTo>
                    <a:pt x="49" y="1481"/>
                  </a:lnTo>
                  <a:lnTo>
                    <a:pt x="0" y="1456"/>
                  </a:lnTo>
                  <a:lnTo>
                    <a:pt x="34" y="1382"/>
                  </a:lnTo>
                  <a:lnTo>
                    <a:pt x="66" y="1306"/>
                  </a:lnTo>
                  <a:lnTo>
                    <a:pt x="93" y="1224"/>
                  </a:lnTo>
                  <a:lnTo>
                    <a:pt x="129" y="1192"/>
                  </a:lnTo>
                  <a:lnTo>
                    <a:pt x="163" y="1154"/>
                  </a:lnTo>
                  <a:lnTo>
                    <a:pt x="197" y="1108"/>
                  </a:lnTo>
                  <a:lnTo>
                    <a:pt x="233" y="1046"/>
                  </a:lnTo>
                  <a:lnTo>
                    <a:pt x="268" y="973"/>
                  </a:lnTo>
                  <a:lnTo>
                    <a:pt x="298" y="890"/>
                  </a:lnTo>
                  <a:lnTo>
                    <a:pt x="329" y="793"/>
                  </a:lnTo>
                  <a:lnTo>
                    <a:pt x="349" y="717"/>
                  </a:lnTo>
                  <a:lnTo>
                    <a:pt x="363" y="646"/>
                  </a:lnTo>
                  <a:lnTo>
                    <a:pt x="372" y="580"/>
                  </a:lnTo>
                  <a:lnTo>
                    <a:pt x="376" y="519"/>
                  </a:lnTo>
                  <a:lnTo>
                    <a:pt x="374" y="460"/>
                  </a:lnTo>
                  <a:lnTo>
                    <a:pt x="368" y="407"/>
                  </a:lnTo>
                  <a:lnTo>
                    <a:pt x="353" y="348"/>
                  </a:lnTo>
                  <a:lnTo>
                    <a:pt x="332" y="293"/>
                  </a:lnTo>
                  <a:lnTo>
                    <a:pt x="424" y="224"/>
                  </a:lnTo>
                  <a:lnTo>
                    <a:pt x="519" y="163"/>
                  </a:lnTo>
                  <a:lnTo>
                    <a:pt x="620" y="112"/>
                  </a:lnTo>
                  <a:lnTo>
                    <a:pt x="720" y="70"/>
                  </a:lnTo>
                  <a:lnTo>
                    <a:pt x="827" y="38"/>
                  </a:lnTo>
                  <a:lnTo>
                    <a:pt x="933" y="15"/>
                  </a:lnTo>
                  <a:lnTo>
                    <a:pt x="1042" y="4"/>
                  </a:lnTo>
                  <a:lnTo>
                    <a:pt x="11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20" name="Freeform 197"/>
            <p:cNvSpPr/>
            <p:nvPr/>
          </p:nvSpPr>
          <p:spPr bwMode="auto">
            <a:xfrm>
              <a:off x="6172" y="3502"/>
              <a:ext cx="677" cy="895"/>
            </a:xfrm>
            <a:custGeom>
              <a:avLst/>
              <a:gdLst>
                <a:gd name="T0" fmla="*/ 1228 w 1352"/>
                <a:gd name="T1" fmla="*/ 0 h 1789"/>
                <a:gd name="T2" fmla="*/ 1272 w 1352"/>
                <a:gd name="T3" fmla="*/ 101 h 1789"/>
                <a:gd name="T4" fmla="*/ 1306 w 1352"/>
                <a:gd name="T5" fmla="*/ 206 h 1789"/>
                <a:gd name="T6" fmla="*/ 1331 w 1352"/>
                <a:gd name="T7" fmla="*/ 310 h 1789"/>
                <a:gd name="T8" fmla="*/ 1346 w 1352"/>
                <a:gd name="T9" fmla="*/ 418 h 1789"/>
                <a:gd name="T10" fmla="*/ 1352 w 1352"/>
                <a:gd name="T11" fmla="*/ 527 h 1789"/>
                <a:gd name="T12" fmla="*/ 1348 w 1352"/>
                <a:gd name="T13" fmla="*/ 635 h 1789"/>
                <a:gd name="T14" fmla="*/ 1335 w 1352"/>
                <a:gd name="T15" fmla="*/ 742 h 1789"/>
                <a:gd name="T16" fmla="*/ 1314 w 1352"/>
                <a:gd name="T17" fmla="*/ 848 h 1789"/>
                <a:gd name="T18" fmla="*/ 1282 w 1352"/>
                <a:gd name="T19" fmla="*/ 953 h 1789"/>
                <a:gd name="T20" fmla="*/ 1242 w 1352"/>
                <a:gd name="T21" fmla="*/ 1055 h 1789"/>
                <a:gd name="T22" fmla="*/ 1192 w 1352"/>
                <a:gd name="T23" fmla="*/ 1154 h 1789"/>
                <a:gd name="T24" fmla="*/ 1133 w 1352"/>
                <a:gd name="T25" fmla="*/ 1249 h 1789"/>
                <a:gd name="T26" fmla="*/ 1065 w 1352"/>
                <a:gd name="T27" fmla="*/ 1339 h 1789"/>
                <a:gd name="T28" fmla="*/ 987 w 1352"/>
                <a:gd name="T29" fmla="*/ 1424 h 1789"/>
                <a:gd name="T30" fmla="*/ 909 w 1352"/>
                <a:gd name="T31" fmla="*/ 1498 h 1789"/>
                <a:gd name="T32" fmla="*/ 825 w 1352"/>
                <a:gd name="T33" fmla="*/ 1563 h 1789"/>
                <a:gd name="T34" fmla="*/ 738 w 1352"/>
                <a:gd name="T35" fmla="*/ 1618 h 1789"/>
                <a:gd name="T36" fmla="*/ 647 w 1352"/>
                <a:gd name="T37" fmla="*/ 1668 h 1789"/>
                <a:gd name="T38" fmla="*/ 553 w 1352"/>
                <a:gd name="T39" fmla="*/ 1708 h 1789"/>
                <a:gd name="T40" fmla="*/ 456 w 1352"/>
                <a:gd name="T41" fmla="*/ 1740 h 1789"/>
                <a:gd name="T42" fmla="*/ 359 w 1352"/>
                <a:gd name="T43" fmla="*/ 1765 h 1789"/>
                <a:gd name="T44" fmla="*/ 260 w 1352"/>
                <a:gd name="T45" fmla="*/ 1782 h 1789"/>
                <a:gd name="T46" fmla="*/ 160 w 1352"/>
                <a:gd name="T47" fmla="*/ 1789 h 1789"/>
                <a:gd name="T48" fmla="*/ 143 w 1352"/>
                <a:gd name="T49" fmla="*/ 1706 h 1789"/>
                <a:gd name="T50" fmla="*/ 122 w 1352"/>
                <a:gd name="T51" fmla="*/ 1624 h 1789"/>
                <a:gd name="T52" fmla="*/ 87 w 1352"/>
                <a:gd name="T53" fmla="*/ 1531 h 1789"/>
                <a:gd name="T54" fmla="*/ 47 w 1352"/>
                <a:gd name="T55" fmla="*/ 1445 h 1789"/>
                <a:gd name="T56" fmla="*/ 0 w 1352"/>
                <a:gd name="T57" fmla="*/ 1365 h 1789"/>
                <a:gd name="T58" fmla="*/ 82 w 1352"/>
                <a:gd name="T59" fmla="*/ 1371 h 1789"/>
                <a:gd name="T60" fmla="*/ 165 w 1352"/>
                <a:gd name="T61" fmla="*/ 1369 h 1789"/>
                <a:gd name="T62" fmla="*/ 247 w 1352"/>
                <a:gd name="T63" fmla="*/ 1358 h 1789"/>
                <a:gd name="T64" fmla="*/ 327 w 1352"/>
                <a:gd name="T65" fmla="*/ 1341 h 1789"/>
                <a:gd name="T66" fmla="*/ 405 w 1352"/>
                <a:gd name="T67" fmla="*/ 1314 h 1789"/>
                <a:gd name="T68" fmla="*/ 481 w 1352"/>
                <a:gd name="T69" fmla="*/ 1280 h 1789"/>
                <a:gd name="T70" fmla="*/ 555 w 1352"/>
                <a:gd name="T71" fmla="*/ 1238 h 1789"/>
                <a:gd name="T72" fmla="*/ 624 w 1352"/>
                <a:gd name="T73" fmla="*/ 1187 h 1789"/>
                <a:gd name="T74" fmla="*/ 690 w 1352"/>
                <a:gd name="T75" fmla="*/ 1128 h 1789"/>
                <a:gd name="T76" fmla="*/ 751 w 1352"/>
                <a:gd name="T77" fmla="*/ 1059 h 1789"/>
                <a:gd name="T78" fmla="*/ 802 w 1352"/>
                <a:gd name="T79" fmla="*/ 987 h 1789"/>
                <a:gd name="T80" fmla="*/ 846 w 1352"/>
                <a:gd name="T81" fmla="*/ 911 h 1789"/>
                <a:gd name="T82" fmla="*/ 880 w 1352"/>
                <a:gd name="T83" fmla="*/ 831 h 1789"/>
                <a:gd name="T84" fmla="*/ 905 w 1352"/>
                <a:gd name="T85" fmla="*/ 749 h 1789"/>
                <a:gd name="T86" fmla="*/ 922 w 1352"/>
                <a:gd name="T87" fmla="*/ 664 h 1789"/>
                <a:gd name="T88" fmla="*/ 932 w 1352"/>
                <a:gd name="T89" fmla="*/ 580 h 1789"/>
                <a:gd name="T90" fmla="*/ 930 w 1352"/>
                <a:gd name="T91" fmla="*/ 495 h 1789"/>
                <a:gd name="T92" fmla="*/ 922 w 1352"/>
                <a:gd name="T93" fmla="*/ 409 h 1789"/>
                <a:gd name="T94" fmla="*/ 903 w 1352"/>
                <a:gd name="T95" fmla="*/ 325 h 1789"/>
                <a:gd name="T96" fmla="*/ 1228 w 1352"/>
                <a:gd name="T97" fmla="*/ 0 h 17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52" h="1789">
                  <a:moveTo>
                    <a:pt x="1228" y="0"/>
                  </a:moveTo>
                  <a:lnTo>
                    <a:pt x="1272" y="101"/>
                  </a:lnTo>
                  <a:lnTo>
                    <a:pt x="1306" y="206"/>
                  </a:lnTo>
                  <a:lnTo>
                    <a:pt x="1331" y="310"/>
                  </a:lnTo>
                  <a:lnTo>
                    <a:pt x="1346" y="418"/>
                  </a:lnTo>
                  <a:lnTo>
                    <a:pt x="1352" y="527"/>
                  </a:lnTo>
                  <a:lnTo>
                    <a:pt x="1348" y="635"/>
                  </a:lnTo>
                  <a:lnTo>
                    <a:pt x="1335" y="742"/>
                  </a:lnTo>
                  <a:lnTo>
                    <a:pt x="1314" y="848"/>
                  </a:lnTo>
                  <a:lnTo>
                    <a:pt x="1282" y="953"/>
                  </a:lnTo>
                  <a:lnTo>
                    <a:pt x="1242" y="1055"/>
                  </a:lnTo>
                  <a:lnTo>
                    <a:pt x="1192" y="1154"/>
                  </a:lnTo>
                  <a:lnTo>
                    <a:pt x="1133" y="1249"/>
                  </a:lnTo>
                  <a:lnTo>
                    <a:pt x="1065" y="1339"/>
                  </a:lnTo>
                  <a:lnTo>
                    <a:pt x="987" y="1424"/>
                  </a:lnTo>
                  <a:lnTo>
                    <a:pt x="909" y="1498"/>
                  </a:lnTo>
                  <a:lnTo>
                    <a:pt x="825" y="1563"/>
                  </a:lnTo>
                  <a:lnTo>
                    <a:pt x="738" y="1618"/>
                  </a:lnTo>
                  <a:lnTo>
                    <a:pt x="647" y="1668"/>
                  </a:lnTo>
                  <a:lnTo>
                    <a:pt x="553" y="1708"/>
                  </a:lnTo>
                  <a:lnTo>
                    <a:pt x="456" y="1740"/>
                  </a:lnTo>
                  <a:lnTo>
                    <a:pt x="359" y="1765"/>
                  </a:lnTo>
                  <a:lnTo>
                    <a:pt x="260" y="1782"/>
                  </a:lnTo>
                  <a:lnTo>
                    <a:pt x="160" y="1789"/>
                  </a:lnTo>
                  <a:lnTo>
                    <a:pt x="143" y="1706"/>
                  </a:lnTo>
                  <a:lnTo>
                    <a:pt x="122" y="1624"/>
                  </a:lnTo>
                  <a:lnTo>
                    <a:pt x="87" y="1531"/>
                  </a:lnTo>
                  <a:lnTo>
                    <a:pt x="47" y="1445"/>
                  </a:lnTo>
                  <a:lnTo>
                    <a:pt x="0" y="1365"/>
                  </a:lnTo>
                  <a:lnTo>
                    <a:pt x="82" y="1371"/>
                  </a:lnTo>
                  <a:lnTo>
                    <a:pt x="165" y="1369"/>
                  </a:lnTo>
                  <a:lnTo>
                    <a:pt x="247" y="1358"/>
                  </a:lnTo>
                  <a:lnTo>
                    <a:pt x="327" y="1341"/>
                  </a:lnTo>
                  <a:lnTo>
                    <a:pt x="405" y="1314"/>
                  </a:lnTo>
                  <a:lnTo>
                    <a:pt x="481" y="1280"/>
                  </a:lnTo>
                  <a:lnTo>
                    <a:pt x="555" y="1238"/>
                  </a:lnTo>
                  <a:lnTo>
                    <a:pt x="624" y="1187"/>
                  </a:lnTo>
                  <a:lnTo>
                    <a:pt x="690" y="1128"/>
                  </a:lnTo>
                  <a:lnTo>
                    <a:pt x="751" y="1059"/>
                  </a:lnTo>
                  <a:lnTo>
                    <a:pt x="802" y="987"/>
                  </a:lnTo>
                  <a:lnTo>
                    <a:pt x="846" y="911"/>
                  </a:lnTo>
                  <a:lnTo>
                    <a:pt x="880" y="831"/>
                  </a:lnTo>
                  <a:lnTo>
                    <a:pt x="905" y="749"/>
                  </a:lnTo>
                  <a:lnTo>
                    <a:pt x="922" y="664"/>
                  </a:lnTo>
                  <a:lnTo>
                    <a:pt x="932" y="580"/>
                  </a:lnTo>
                  <a:lnTo>
                    <a:pt x="930" y="495"/>
                  </a:lnTo>
                  <a:lnTo>
                    <a:pt x="922" y="409"/>
                  </a:lnTo>
                  <a:lnTo>
                    <a:pt x="903" y="325"/>
                  </a:lnTo>
                  <a:lnTo>
                    <a:pt x="12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21" name="Freeform 198"/>
            <p:cNvSpPr/>
            <p:nvPr/>
          </p:nvSpPr>
          <p:spPr bwMode="auto">
            <a:xfrm>
              <a:off x="6268" y="3188"/>
              <a:ext cx="1008" cy="1637"/>
            </a:xfrm>
            <a:custGeom>
              <a:avLst/>
              <a:gdLst>
                <a:gd name="T0" fmla="*/ 1736 w 2016"/>
                <a:gd name="T1" fmla="*/ 119 h 3274"/>
                <a:gd name="T2" fmla="*/ 1858 w 2016"/>
                <a:gd name="T3" fmla="*/ 369 h 3274"/>
                <a:gd name="T4" fmla="*/ 1946 w 2016"/>
                <a:gd name="T5" fmla="*/ 627 h 3274"/>
                <a:gd name="T6" fmla="*/ 1999 w 2016"/>
                <a:gd name="T7" fmla="*/ 893 h 3274"/>
                <a:gd name="T8" fmla="*/ 2016 w 2016"/>
                <a:gd name="T9" fmla="*/ 1163 h 3274"/>
                <a:gd name="T10" fmla="*/ 2001 w 2016"/>
                <a:gd name="T11" fmla="*/ 1433 h 3274"/>
                <a:gd name="T12" fmla="*/ 1949 w 2016"/>
                <a:gd name="T13" fmla="*/ 1700 h 3274"/>
                <a:gd name="T14" fmla="*/ 1864 w 2016"/>
                <a:gd name="T15" fmla="*/ 1960 h 3274"/>
                <a:gd name="T16" fmla="*/ 1744 w 2016"/>
                <a:gd name="T17" fmla="*/ 2207 h 3274"/>
                <a:gd name="T18" fmla="*/ 1588 w 2016"/>
                <a:gd name="T19" fmla="*/ 2443 h 3274"/>
                <a:gd name="T20" fmla="*/ 1400 w 2016"/>
                <a:gd name="T21" fmla="*/ 2660 h 3274"/>
                <a:gd name="T22" fmla="*/ 1177 w 2016"/>
                <a:gd name="T23" fmla="*/ 2852 h 3274"/>
                <a:gd name="T24" fmla="*/ 938 w 2016"/>
                <a:gd name="T25" fmla="*/ 3010 h 3274"/>
                <a:gd name="T26" fmla="*/ 683 w 2016"/>
                <a:gd name="T27" fmla="*/ 3129 h 3274"/>
                <a:gd name="T28" fmla="*/ 418 w 2016"/>
                <a:gd name="T29" fmla="*/ 3215 h 3274"/>
                <a:gd name="T30" fmla="*/ 145 w 2016"/>
                <a:gd name="T31" fmla="*/ 3262 h 3274"/>
                <a:gd name="T32" fmla="*/ 8 w 2016"/>
                <a:gd name="T33" fmla="*/ 3272 h 3274"/>
                <a:gd name="T34" fmla="*/ 6 w 2016"/>
                <a:gd name="T35" fmla="*/ 3127 h 3274"/>
                <a:gd name="T36" fmla="*/ 0 w 2016"/>
                <a:gd name="T37" fmla="*/ 2814 h 3274"/>
                <a:gd name="T38" fmla="*/ 234 w 2016"/>
                <a:gd name="T39" fmla="*/ 2785 h 3274"/>
                <a:gd name="T40" fmla="*/ 462 w 2016"/>
                <a:gd name="T41" fmla="*/ 2721 h 3274"/>
                <a:gd name="T42" fmla="*/ 681 w 2016"/>
                <a:gd name="T43" fmla="*/ 2626 h 3274"/>
                <a:gd name="T44" fmla="*/ 886 w 2016"/>
                <a:gd name="T45" fmla="*/ 2496 h 3274"/>
                <a:gd name="T46" fmla="*/ 1075 w 2016"/>
                <a:gd name="T47" fmla="*/ 2335 h 3274"/>
                <a:gd name="T48" fmla="*/ 1240 w 2016"/>
                <a:gd name="T49" fmla="*/ 2143 h 3274"/>
                <a:gd name="T50" fmla="*/ 1369 w 2016"/>
                <a:gd name="T51" fmla="*/ 1935 h 3274"/>
                <a:gd name="T52" fmla="*/ 1466 w 2016"/>
                <a:gd name="T53" fmla="*/ 1715 h 3274"/>
                <a:gd name="T54" fmla="*/ 1529 w 2016"/>
                <a:gd name="T55" fmla="*/ 1485 h 3274"/>
                <a:gd name="T56" fmla="*/ 1558 w 2016"/>
                <a:gd name="T57" fmla="*/ 1249 h 3274"/>
                <a:gd name="T58" fmla="*/ 1552 w 2016"/>
                <a:gd name="T59" fmla="*/ 1011 h 3274"/>
                <a:gd name="T60" fmla="*/ 1512 w 2016"/>
                <a:gd name="T61" fmla="*/ 777 h 3274"/>
                <a:gd name="T62" fmla="*/ 1440 w 2016"/>
                <a:gd name="T63" fmla="*/ 549 h 3274"/>
                <a:gd name="T64" fmla="*/ 1331 w 2016"/>
                <a:gd name="T65" fmla="*/ 332 h 3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16" h="3274">
                  <a:moveTo>
                    <a:pt x="1664" y="0"/>
                  </a:moveTo>
                  <a:lnTo>
                    <a:pt x="1736" y="119"/>
                  </a:lnTo>
                  <a:lnTo>
                    <a:pt x="1803" y="241"/>
                  </a:lnTo>
                  <a:lnTo>
                    <a:pt x="1858" y="369"/>
                  </a:lnTo>
                  <a:lnTo>
                    <a:pt x="1908" y="496"/>
                  </a:lnTo>
                  <a:lnTo>
                    <a:pt x="1946" y="627"/>
                  </a:lnTo>
                  <a:lnTo>
                    <a:pt x="1976" y="758"/>
                  </a:lnTo>
                  <a:lnTo>
                    <a:pt x="1999" y="893"/>
                  </a:lnTo>
                  <a:lnTo>
                    <a:pt x="2012" y="1028"/>
                  </a:lnTo>
                  <a:lnTo>
                    <a:pt x="2016" y="1163"/>
                  </a:lnTo>
                  <a:lnTo>
                    <a:pt x="2012" y="1298"/>
                  </a:lnTo>
                  <a:lnTo>
                    <a:pt x="2001" y="1433"/>
                  </a:lnTo>
                  <a:lnTo>
                    <a:pt x="1978" y="1566"/>
                  </a:lnTo>
                  <a:lnTo>
                    <a:pt x="1949" y="1700"/>
                  </a:lnTo>
                  <a:lnTo>
                    <a:pt x="1911" y="1831"/>
                  </a:lnTo>
                  <a:lnTo>
                    <a:pt x="1864" y="1960"/>
                  </a:lnTo>
                  <a:lnTo>
                    <a:pt x="1807" y="2086"/>
                  </a:lnTo>
                  <a:lnTo>
                    <a:pt x="1744" y="2207"/>
                  </a:lnTo>
                  <a:lnTo>
                    <a:pt x="1670" y="2327"/>
                  </a:lnTo>
                  <a:lnTo>
                    <a:pt x="1588" y="2443"/>
                  </a:lnTo>
                  <a:lnTo>
                    <a:pt x="1499" y="2553"/>
                  </a:lnTo>
                  <a:lnTo>
                    <a:pt x="1400" y="2660"/>
                  </a:lnTo>
                  <a:lnTo>
                    <a:pt x="1291" y="2761"/>
                  </a:lnTo>
                  <a:lnTo>
                    <a:pt x="1177" y="2852"/>
                  </a:lnTo>
                  <a:lnTo>
                    <a:pt x="1059" y="2935"/>
                  </a:lnTo>
                  <a:lnTo>
                    <a:pt x="938" y="3010"/>
                  </a:lnTo>
                  <a:lnTo>
                    <a:pt x="812" y="3074"/>
                  </a:lnTo>
                  <a:lnTo>
                    <a:pt x="683" y="3129"/>
                  </a:lnTo>
                  <a:lnTo>
                    <a:pt x="552" y="3177"/>
                  </a:lnTo>
                  <a:lnTo>
                    <a:pt x="418" y="3215"/>
                  </a:lnTo>
                  <a:lnTo>
                    <a:pt x="281" y="3243"/>
                  </a:lnTo>
                  <a:lnTo>
                    <a:pt x="145" y="3262"/>
                  </a:lnTo>
                  <a:lnTo>
                    <a:pt x="8" y="3274"/>
                  </a:lnTo>
                  <a:lnTo>
                    <a:pt x="8" y="3272"/>
                  </a:lnTo>
                  <a:lnTo>
                    <a:pt x="6" y="3198"/>
                  </a:lnTo>
                  <a:lnTo>
                    <a:pt x="6" y="3127"/>
                  </a:lnTo>
                  <a:lnTo>
                    <a:pt x="4" y="2966"/>
                  </a:lnTo>
                  <a:lnTo>
                    <a:pt x="0" y="2814"/>
                  </a:lnTo>
                  <a:lnTo>
                    <a:pt x="118" y="2804"/>
                  </a:lnTo>
                  <a:lnTo>
                    <a:pt x="234" y="2785"/>
                  </a:lnTo>
                  <a:lnTo>
                    <a:pt x="348" y="2757"/>
                  </a:lnTo>
                  <a:lnTo>
                    <a:pt x="462" y="2721"/>
                  </a:lnTo>
                  <a:lnTo>
                    <a:pt x="572" y="2677"/>
                  </a:lnTo>
                  <a:lnTo>
                    <a:pt x="681" y="2626"/>
                  </a:lnTo>
                  <a:lnTo>
                    <a:pt x="785" y="2565"/>
                  </a:lnTo>
                  <a:lnTo>
                    <a:pt x="886" y="2496"/>
                  </a:lnTo>
                  <a:lnTo>
                    <a:pt x="983" y="2418"/>
                  </a:lnTo>
                  <a:lnTo>
                    <a:pt x="1075" y="2335"/>
                  </a:lnTo>
                  <a:lnTo>
                    <a:pt x="1162" y="2241"/>
                  </a:lnTo>
                  <a:lnTo>
                    <a:pt x="1240" y="2143"/>
                  </a:lnTo>
                  <a:lnTo>
                    <a:pt x="1308" y="2042"/>
                  </a:lnTo>
                  <a:lnTo>
                    <a:pt x="1369" y="1935"/>
                  </a:lnTo>
                  <a:lnTo>
                    <a:pt x="1423" y="1827"/>
                  </a:lnTo>
                  <a:lnTo>
                    <a:pt x="1466" y="1715"/>
                  </a:lnTo>
                  <a:lnTo>
                    <a:pt x="1501" y="1601"/>
                  </a:lnTo>
                  <a:lnTo>
                    <a:pt x="1529" y="1485"/>
                  </a:lnTo>
                  <a:lnTo>
                    <a:pt x="1546" y="1367"/>
                  </a:lnTo>
                  <a:lnTo>
                    <a:pt x="1558" y="1249"/>
                  </a:lnTo>
                  <a:lnTo>
                    <a:pt x="1558" y="1129"/>
                  </a:lnTo>
                  <a:lnTo>
                    <a:pt x="1552" y="1011"/>
                  </a:lnTo>
                  <a:lnTo>
                    <a:pt x="1537" y="893"/>
                  </a:lnTo>
                  <a:lnTo>
                    <a:pt x="1512" y="777"/>
                  </a:lnTo>
                  <a:lnTo>
                    <a:pt x="1480" y="663"/>
                  </a:lnTo>
                  <a:lnTo>
                    <a:pt x="1440" y="549"/>
                  </a:lnTo>
                  <a:lnTo>
                    <a:pt x="1390" y="439"/>
                  </a:lnTo>
                  <a:lnTo>
                    <a:pt x="1331" y="332"/>
                  </a:lnTo>
                  <a:lnTo>
                    <a:pt x="16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22" name="Freeform 199"/>
            <p:cNvSpPr/>
            <p:nvPr/>
          </p:nvSpPr>
          <p:spPr bwMode="auto">
            <a:xfrm>
              <a:off x="6008" y="2577"/>
              <a:ext cx="1409" cy="1410"/>
            </a:xfrm>
            <a:custGeom>
              <a:avLst/>
              <a:gdLst>
                <a:gd name="T0" fmla="*/ 2351 w 2818"/>
                <a:gd name="T1" fmla="*/ 0 h 2820"/>
                <a:gd name="T2" fmla="*/ 2406 w 2818"/>
                <a:gd name="T3" fmla="*/ 413 h 2820"/>
                <a:gd name="T4" fmla="*/ 2818 w 2818"/>
                <a:gd name="T5" fmla="*/ 468 h 2820"/>
                <a:gd name="T6" fmla="*/ 2273 w 2818"/>
                <a:gd name="T7" fmla="*/ 1014 h 2820"/>
                <a:gd name="T8" fmla="*/ 2067 w 2818"/>
                <a:gd name="T9" fmla="*/ 987 h 2820"/>
                <a:gd name="T10" fmla="*/ 827 w 2818"/>
                <a:gd name="T11" fmla="*/ 2225 h 2820"/>
                <a:gd name="T12" fmla="*/ 848 w 2818"/>
                <a:gd name="T13" fmla="*/ 2286 h 2820"/>
                <a:gd name="T14" fmla="*/ 858 w 2818"/>
                <a:gd name="T15" fmla="*/ 2346 h 2820"/>
                <a:gd name="T16" fmla="*/ 860 w 2818"/>
                <a:gd name="T17" fmla="*/ 2409 h 2820"/>
                <a:gd name="T18" fmla="*/ 852 w 2818"/>
                <a:gd name="T19" fmla="*/ 2472 h 2820"/>
                <a:gd name="T20" fmla="*/ 837 w 2818"/>
                <a:gd name="T21" fmla="*/ 2531 h 2820"/>
                <a:gd name="T22" fmla="*/ 812 w 2818"/>
                <a:gd name="T23" fmla="*/ 2590 h 2820"/>
                <a:gd name="T24" fmla="*/ 778 w 2818"/>
                <a:gd name="T25" fmla="*/ 2645 h 2820"/>
                <a:gd name="T26" fmla="*/ 734 w 2818"/>
                <a:gd name="T27" fmla="*/ 2694 h 2820"/>
                <a:gd name="T28" fmla="*/ 686 w 2818"/>
                <a:gd name="T29" fmla="*/ 2736 h 2820"/>
                <a:gd name="T30" fmla="*/ 633 w 2818"/>
                <a:gd name="T31" fmla="*/ 2770 h 2820"/>
                <a:gd name="T32" fmla="*/ 578 w 2818"/>
                <a:gd name="T33" fmla="*/ 2795 h 2820"/>
                <a:gd name="T34" fmla="*/ 519 w 2818"/>
                <a:gd name="T35" fmla="*/ 2812 h 2820"/>
                <a:gd name="T36" fmla="*/ 460 w 2818"/>
                <a:gd name="T37" fmla="*/ 2820 h 2820"/>
                <a:gd name="T38" fmla="*/ 399 w 2818"/>
                <a:gd name="T39" fmla="*/ 2820 h 2820"/>
                <a:gd name="T40" fmla="*/ 340 w 2818"/>
                <a:gd name="T41" fmla="*/ 2812 h 2820"/>
                <a:gd name="T42" fmla="*/ 281 w 2818"/>
                <a:gd name="T43" fmla="*/ 2795 h 2820"/>
                <a:gd name="T44" fmla="*/ 226 w 2818"/>
                <a:gd name="T45" fmla="*/ 2770 h 2820"/>
                <a:gd name="T46" fmla="*/ 173 w 2818"/>
                <a:gd name="T47" fmla="*/ 2736 h 2820"/>
                <a:gd name="T48" fmla="*/ 125 w 2818"/>
                <a:gd name="T49" fmla="*/ 2694 h 2820"/>
                <a:gd name="T50" fmla="*/ 84 w 2818"/>
                <a:gd name="T51" fmla="*/ 2647 h 2820"/>
                <a:gd name="T52" fmla="*/ 49 w 2818"/>
                <a:gd name="T53" fmla="*/ 2594 h 2820"/>
                <a:gd name="T54" fmla="*/ 25 w 2818"/>
                <a:gd name="T55" fmla="*/ 2538 h 2820"/>
                <a:gd name="T56" fmla="*/ 8 w 2818"/>
                <a:gd name="T57" fmla="*/ 2480 h 2820"/>
                <a:gd name="T58" fmla="*/ 0 w 2818"/>
                <a:gd name="T59" fmla="*/ 2421 h 2820"/>
                <a:gd name="T60" fmla="*/ 0 w 2818"/>
                <a:gd name="T61" fmla="*/ 2360 h 2820"/>
                <a:gd name="T62" fmla="*/ 8 w 2818"/>
                <a:gd name="T63" fmla="*/ 2301 h 2820"/>
                <a:gd name="T64" fmla="*/ 25 w 2818"/>
                <a:gd name="T65" fmla="*/ 2242 h 2820"/>
                <a:gd name="T66" fmla="*/ 49 w 2818"/>
                <a:gd name="T67" fmla="*/ 2187 h 2820"/>
                <a:gd name="T68" fmla="*/ 84 w 2818"/>
                <a:gd name="T69" fmla="*/ 2133 h 2820"/>
                <a:gd name="T70" fmla="*/ 125 w 2818"/>
                <a:gd name="T71" fmla="*/ 2086 h 2820"/>
                <a:gd name="T72" fmla="*/ 175 w 2818"/>
                <a:gd name="T73" fmla="*/ 2042 h 2820"/>
                <a:gd name="T74" fmla="*/ 230 w 2818"/>
                <a:gd name="T75" fmla="*/ 2008 h 2820"/>
                <a:gd name="T76" fmla="*/ 287 w 2818"/>
                <a:gd name="T77" fmla="*/ 1983 h 2820"/>
                <a:gd name="T78" fmla="*/ 348 w 2818"/>
                <a:gd name="T79" fmla="*/ 1968 h 2820"/>
                <a:gd name="T80" fmla="*/ 411 w 2818"/>
                <a:gd name="T81" fmla="*/ 1960 h 2820"/>
                <a:gd name="T82" fmla="*/ 473 w 2818"/>
                <a:gd name="T83" fmla="*/ 1962 h 2820"/>
                <a:gd name="T84" fmla="*/ 534 w 2818"/>
                <a:gd name="T85" fmla="*/ 1972 h 2820"/>
                <a:gd name="T86" fmla="*/ 595 w 2818"/>
                <a:gd name="T87" fmla="*/ 1993 h 2820"/>
                <a:gd name="T88" fmla="*/ 1831 w 2818"/>
                <a:gd name="T89" fmla="*/ 753 h 2820"/>
                <a:gd name="T90" fmla="*/ 1805 w 2818"/>
                <a:gd name="T91" fmla="*/ 548 h 2820"/>
                <a:gd name="T92" fmla="*/ 2351 w 2818"/>
                <a:gd name="T93" fmla="*/ 0 h 2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818" h="2820">
                  <a:moveTo>
                    <a:pt x="2351" y="0"/>
                  </a:moveTo>
                  <a:lnTo>
                    <a:pt x="2406" y="413"/>
                  </a:lnTo>
                  <a:lnTo>
                    <a:pt x="2818" y="468"/>
                  </a:lnTo>
                  <a:lnTo>
                    <a:pt x="2273" y="1014"/>
                  </a:lnTo>
                  <a:lnTo>
                    <a:pt x="2067" y="987"/>
                  </a:lnTo>
                  <a:lnTo>
                    <a:pt x="827" y="2225"/>
                  </a:lnTo>
                  <a:lnTo>
                    <a:pt x="848" y="2286"/>
                  </a:lnTo>
                  <a:lnTo>
                    <a:pt x="858" y="2346"/>
                  </a:lnTo>
                  <a:lnTo>
                    <a:pt x="860" y="2409"/>
                  </a:lnTo>
                  <a:lnTo>
                    <a:pt x="852" y="2472"/>
                  </a:lnTo>
                  <a:lnTo>
                    <a:pt x="837" y="2531"/>
                  </a:lnTo>
                  <a:lnTo>
                    <a:pt x="812" y="2590"/>
                  </a:lnTo>
                  <a:lnTo>
                    <a:pt x="778" y="2645"/>
                  </a:lnTo>
                  <a:lnTo>
                    <a:pt x="734" y="2694"/>
                  </a:lnTo>
                  <a:lnTo>
                    <a:pt x="686" y="2736"/>
                  </a:lnTo>
                  <a:lnTo>
                    <a:pt x="633" y="2770"/>
                  </a:lnTo>
                  <a:lnTo>
                    <a:pt x="578" y="2795"/>
                  </a:lnTo>
                  <a:lnTo>
                    <a:pt x="519" y="2812"/>
                  </a:lnTo>
                  <a:lnTo>
                    <a:pt x="460" y="2820"/>
                  </a:lnTo>
                  <a:lnTo>
                    <a:pt x="399" y="2820"/>
                  </a:lnTo>
                  <a:lnTo>
                    <a:pt x="340" y="2812"/>
                  </a:lnTo>
                  <a:lnTo>
                    <a:pt x="281" y="2795"/>
                  </a:lnTo>
                  <a:lnTo>
                    <a:pt x="226" y="2770"/>
                  </a:lnTo>
                  <a:lnTo>
                    <a:pt x="173" y="2736"/>
                  </a:lnTo>
                  <a:lnTo>
                    <a:pt x="125" y="2694"/>
                  </a:lnTo>
                  <a:lnTo>
                    <a:pt x="84" y="2647"/>
                  </a:lnTo>
                  <a:lnTo>
                    <a:pt x="49" y="2594"/>
                  </a:lnTo>
                  <a:lnTo>
                    <a:pt x="25" y="2538"/>
                  </a:lnTo>
                  <a:lnTo>
                    <a:pt x="8" y="2480"/>
                  </a:lnTo>
                  <a:lnTo>
                    <a:pt x="0" y="2421"/>
                  </a:lnTo>
                  <a:lnTo>
                    <a:pt x="0" y="2360"/>
                  </a:lnTo>
                  <a:lnTo>
                    <a:pt x="8" y="2301"/>
                  </a:lnTo>
                  <a:lnTo>
                    <a:pt x="25" y="2242"/>
                  </a:lnTo>
                  <a:lnTo>
                    <a:pt x="49" y="2187"/>
                  </a:lnTo>
                  <a:lnTo>
                    <a:pt x="84" y="2133"/>
                  </a:lnTo>
                  <a:lnTo>
                    <a:pt x="125" y="2086"/>
                  </a:lnTo>
                  <a:lnTo>
                    <a:pt x="175" y="2042"/>
                  </a:lnTo>
                  <a:lnTo>
                    <a:pt x="230" y="2008"/>
                  </a:lnTo>
                  <a:lnTo>
                    <a:pt x="287" y="1983"/>
                  </a:lnTo>
                  <a:lnTo>
                    <a:pt x="348" y="1968"/>
                  </a:lnTo>
                  <a:lnTo>
                    <a:pt x="411" y="1960"/>
                  </a:lnTo>
                  <a:lnTo>
                    <a:pt x="473" y="1962"/>
                  </a:lnTo>
                  <a:lnTo>
                    <a:pt x="534" y="1972"/>
                  </a:lnTo>
                  <a:lnTo>
                    <a:pt x="595" y="1993"/>
                  </a:lnTo>
                  <a:lnTo>
                    <a:pt x="1831" y="753"/>
                  </a:lnTo>
                  <a:lnTo>
                    <a:pt x="1805" y="548"/>
                  </a:lnTo>
                  <a:lnTo>
                    <a:pt x="23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23" name="Freeform 200"/>
            <p:cNvSpPr/>
            <p:nvPr/>
          </p:nvSpPr>
          <p:spPr bwMode="auto">
            <a:xfrm>
              <a:off x="5745" y="2720"/>
              <a:ext cx="1063" cy="342"/>
            </a:xfrm>
            <a:custGeom>
              <a:avLst/>
              <a:gdLst>
                <a:gd name="T0" fmla="*/ 1002 w 2126"/>
                <a:gd name="T1" fmla="*/ 0 h 685"/>
                <a:gd name="T2" fmla="*/ 1151 w 2126"/>
                <a:gd name="T3" fmla="*/ 8 h 685"/>
                <a:gd name="T4" fmla="*/ 1297 w 2126"/>
                <a:gd name="T5" fmla="*/ 27 h 685"/>
                <a:gd name="T6" fmla="*/ 1442 w 2126"/>
                <a:gd name="T7" fmla="*/ 55 h 685"/>
                <a:gd name="T8" fmla="*/ 1584 w 2126"/>
                <a:gd name="T9" fmla="*/ 93 h 685"/>
                <a:gd name="T10" fmla="*/ 1725 w 2126"/>
                <a:gd name="T11" fmla="*/ 143 h 685"/>
                <a:gd name="T12" fmla="*/ 1864 w 2126"/>
                <a:gd name="T13" fmla="*/ 202 h 685"/>
                <a:gd name="T14" fmla="*/ 1997 w 2126"/>
                <a:gd name="T15" fmla="*/ 272 h 685"/>
                <a:gd name="T16" fmla="*/ 2126 w 2126"/>
                <a:gd name="T17" fmla="*/ 352 h 685"/>
                <a:gd name="T18" fmla="*/ 1794 w 2126"/>
                <a:gd name="T19" fmla="*/ 685 h 685"/>
                <a:gd name="T20" fmla="*/ 1677 w 2126"/>
                <a:gd name="T21" fmla="*/ 622 h 685"/>
                <a:gd name="T22" fmla="*/ 1556 w 2126"/>
                <a:gd name="T23" fmla="*/ 569 h 685"/>
                <a:gd name="T24" fmla="*/ 1432 w 2126"/>
                <a:gd name="T25" fmla="*/ 527 h 685"/>
                <a:gd name="T26" fmla="*/ 1305 w 2126"/>
                <a:gd name="T27" fmla="*/ 495 h 685"/>
                <a:gd name="T28" fmla="*/ 1177 w 2126"/>
                <a:gd name="T29" fmla="*/ 472 h 685"/>
                <a:gd name="T30" fmla="*/ 1048 w 2126"/>
                <a:gd name="T31" fmla="*/ 460 h 685"/>
                <a:gd name="T32" fmla="*/ 919 w 2126"/>
                <a:gd name="T33" fmla="*/ 459 h 685"/>
                <a:gd name="T34" fmla="*/ 789 w 2126"/>
                <a:gd name="T35" fmla="*/ 466 h 685"/>
                <a:gd name="T36" fmla="*/ 660 w 2126"/>
                <a:gd name="T37" fmla="*/ 485 h 685"/>
                <a:gd name="T38" fmla="*/ 533 w 2126"/>
                <a:gd name="T39" fmla="*/ 514 h 685"/>
                <a:gd name="T40" fmla="*/ 407 w 2126"/>
                <a:gd name="T41" fmla="*/ 552 h 685"/>
                <a:gd name="T42" fmla="*/ 285 w 2126"/>
                <a:gd name="T43" fmla="*/ 601 h 685"/>
                <a:gd name="T44" fmla="*/ 166 w 2126"/>
                <a:gd name="T45" fmla="*/ 660 h 685"/>
                <a:gd name="T46" fmla="*/ 150 w 2126"/>
                <a:gd name="T47" fmla="*/ 561 h 685"/>
                <a:gd name="T48" fmla="*/ 126 w 2126"/>
                <a:gd name="T49" fmla="*/ 472 h 685"/>
                <a:gd name="T50" fmla="*/ 93 w 2126"/>
                <a:gd name="T51" fmla="*/ 388 h 685"/>
                <a:gd name="T52" fmla="*/ 55 w 2126"/>
                <a:gd name="T53" fmla="*/ 310 h 685"/>
                <a:gd name="T54" fmla="*/ 10 w 2126"/>
                <a:gd name="T55" fmla="*/ 240 h 685"/>
                <a:gd name="T56" fmla="*/ 0 w 2126"/>
                <a:gd name="T57" fmla="*/ 228 h 685"/>
                <a:gd name="T58" fmla="*/ 137 w 2126"/>
                <a:gd name="T59" fmla="*/ 166 h 685"/>
                <a:gd name="T60" fmla="*/ 276 w 2126"/>
                <a:gd name="T61" fmla="*/ 112 h 685"/>
                <a:gd name="T62" fmla="*/ 418 w 2126"/>
                <a:gd name="T63" fmla="*/ 69 h 685"/>
                <a:gd name="T64" fmla="*/ 563 w 2126"/>
                <a:gd name="T65" fmla="*/ 36 h 685"/>
                <a:gd name="T66" fmla="*/ 708 w 2126"/>
                <a:gd name="T67" fmla="*/ 14 h 685"/>
                <a:gd name="T68" fmla="*/ 856 w 2126"/>
                <a:gd name="T69" fmla="*/ 2 h 685"/>
                <a:gd name="T70" fmla="*/ 1002 w 2126"/>
                <a:gd name="T71" fmla="*/ 0 h 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26" h="685">
                  <a:moveTo>
                    <a:pt x="1002" y="0"/>
                  </a:moveTo>
                  <a:lnTo>
                    <a:pt x="1151" y="8"/>
                  </a:lnTo>
                  <a:lnTo>
                    <a:pt x="1297" y="27"/>
                  </a:lnTo>
                  <a:lnTo>
                    <a:pt x="1442" y="55"/>
                  </a:lnTo>
                  <a:lnTo>
                    <a:pt x="1584" y="93"/>
                  </a:lnTo>
                  <a:lnTo>
                    <a:pt x="1725" y="143"/>
                  </a:lnTo>
                  <a:lnTo>
                    <a:pt x="1864" y="202"/>
                  </a:lnTo>
                  <a:lnTo>
                    <a:pt x="1997" y="272"/>
                  </a:lnTo>
                  <a:lnTo>
                    <a:pt x="2126" y="352"/>
                  </a:lnTo>
                  <a:lnTo>
                    <a:pt x="1794" y="685"/>
                  </a:lnTo>
                  <a:lnTo>
                    <a:pt x="1677" y="622"/>
                  </a:lnTo>
                  <a:lnTo>
                    <a:pt x="1556" y="569"/>
                  </a:lnTo>
                  <a:lnTo>
                    <a:pt x="1432" y="527"/>
                  </a:lnTo>
                  <a:lnTo>
                    <a:pt x="1305" y="495"/>
                  </a:lnTo>
                  <a:lnTo>
                    <a:pt x="1177" y="472"/>
                  </a:lnTo>
                  <a:lnTo>
                    <a:pt x="1048" y="460"/>
                  </a:lnTo>
                  <a:lnTo>
                    <a:pt x="919" y="459"/>
                  </a:lnTo>
                  <a:lnTo>
                    <a:pt x="789" y="466"/>
                  </a:lnTo>
                  <a:lnTo>
                    <a:pt x="660" y="485"/>
                  </a:lnTo>
                  <a:lnTo>
                    <a:pt x="533" y="514"/>
                  </a:lnTo>
                  <a:lnTo>
                    <a:pt x="407" y="552"/>
                  </a:lnTo>
                  <a:lnTo>
                    <a:pt x="285" y="601"/>
                  </a:lnTo>
                  <a:lnTo>
                    <a:pt x="166" y="660"/>
                  </a:lnTo>
                  <a:lnTo>
                    <a:pt x="150" y="561"/>
                  </a:lnTo>
                  <a:lnTo>
                    <a:pt x="126" y="472"/>
                  </a:lnTo>
                  <a:lnTo>
                    <a:pt x="93" y="388"/>
                  </a:lnTo>
                  <a:lnTo>
                    <a:pt x="55" y="310"/>
                  </a:lnTo>
                  <a:lnTo>
                    <a:pt x="10" y="240"/>
                  </a:lnTo>
                  <a:lnTo>
                    <a:pt x="0" y="228"/>
                  </a:lnTo>
                  <a:lnTo>
                    <a:pt x="137" y="166"/>
                  </a:lnTo>
                  <a:lnTo>
                    <a:pt x="276" y="112"/>
                  </a:lnTo>
                  <a:lnTo>
                    <a:pt x="418" y="69"/>
                  </a:lnTo>
                  <a:lnTo>
                    <a:pt x="563" y="36"/>
                  </a:lnTo>
                  <a:lnTo>
                    <a:pt x="708" y="14"/>
                  </a:lnTo>
                  <a:lnTo>
                    <a:pt x="856" y="2"/>
                  </a:lnTo>
                  <a:lnTo>
                    <a:pt x="10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24" name="Group 150"/>
          <p:cNvGrpSpPr>
            <a:grpSpLocks noChangeAspect="1"/>
          </p:cNvGrpSpPr>
          <p:nvPr/>
        </p:nvGrpSpPr>
        <p:grpSpPr bwMode="auto">
          <a:xfrm>
            <a:off x="6799407" y="5041985"/>
            <a:ext cx="327822" cy="325658"/>
            <a:chOff x="6376" y="2979"/>
            <a:chExt cx="303" cy="301"/>
          </a:xfrm>
          <a:solidFill>
            <a:schemeClr val="accent3"/>
          </a:solidFill>
        </p:grpSpPr>
        <p:sp>
          <p:nvSpPr>
            <p:cNvPr id="25" name="Freeform 152"/>
            <p:cNvSpPr>
              <a:spLocks noEditPoints="1"/>
            </p:cNvSpPr>
            <p:nvPr/>
          </p:nvSpPr>
          <p:spPr bwMode="auto">
            <a:xfrm>
              <a:off x="6376" y="2979"/>
              <a:ext cx="303" cy="301"/>
            </a:xfrm>
            <a:custGeom>
              <a:avLst/>
              <a:gdLst>
                <a:gd name="T0" fmla="*/ 2339 w 3331"/>
                <a:gd name="T1" fmla="*/ 2775 h 3310"/>
                <a:gd name="T2" fmla="*/ 2650 w 3331"/>
                <a:gd name="T3" fmla="*/ 2588 h 3310"/>
                <a:gd name="T4" fmla="*/ 2501 w 3331"/>
                <a:gd name="T5" fmla="*/ 2313 h 3310"/>
                <a:gd name="T6" fmla="*/ 2554 w 3331"/>
                <a:gd name="T7" fmla="*/ 1298 h 3310"/>
                <a:gd name="T8" fmla="*/ 2554 w 3331"/>
                <a:gd name="T9" fmla="*/ 2011 h 3310"/>
                <a:gd name="T10" fmla="*/ 2949 w 3331"/>
                <a:gd name="T11" fmla="*/ 2109 h 3310"/>
                <a:gd name="T12" fmla="*/ 3025 w 3331"/>
                <a:gd name="T13" fmla="*/ 1559 h 3310"/>
                <a:gd name="T14" fmla="*/ 417 w 3331"/>
                <a:gd name="T15" fmla="*/ 1116 h 3310"/>
                <a:gd name="T16" fmla="*/ 306 w 3331"/>
                <a:gd name="T17" fmla="*/ 1573 h 3310"/>
                <a:gd name="T18" fmla="*/ 362 w 3331"/>
                <a:gd name="T19" fmla="*/ 2048 h 3310"/>
                <a:gd name="T20" fmla="*/ 699 w 3331"/>
                <a:gd name="T21" fmla="*/ 2042 h 3310"/>
                <a:gd name="T22" fmla="*/ 766 w 3331"/>
                <a:gd name="T23" fmla="*/ 1415 h 3310"/>
                <a:gd name="T24" fmla="*/ 417 w 3331"/>
                <a:gd name="T25" fmla="*/ 1116 h 3310"/>
                <a:gd name="T26" fmla="*/ 683 w 3331"/>
                <a:gd name="T27" fmla="*/ 721 h 3310"/>
                <a:gd name="T28" fmla="*/ 830 w 3331"/>
                <a:gd name="T29" fmla="*/ 996 h 3310"/>
                <a:gd name="T30" fmla="*/ 1033 w 3331"/>
                <a:gd name="T31" fmla="*/ 457 h 3310"/>
                <a:gd name="T32" fmla="*/ 2476 w 3331"/>
                <a:gd name="T33" fmla="*/ 895 h 3310"/>
                <a:gd name="T34" fmla="*/ 2708 w 3331"/>
                <a:gd name="T35" fmla="*/ 787 h 3310"/>
                <a:gd name="T36" fmla="*/ 2297 w 3331"/>
                <a:gd name="T37" fmla="*/ 456 h 3310"/>
                <a:gd name="T38" fmla="*/ 2212 w 3331"/>
                <a:gd name="T39" fmla="*/ 1086 h 3310"/>
                <a:gd name="T40" fmla="*/ 2045 w 3331"/>
                <a:gd name="T41" fmla="*/ 620 h 3310"/>
                <a:gd name="T42" fmla="*/ 1817 w 3331"/>
                <a:gd name="T43" fmla="*/ 352 h 3310"/>
                <a:gd name="T44" fmla="*/ 1321 w 3331"/>
                <a:gd name="T45" fmla="*/ 561 h 3310"/>
                <a:gd name="T46" fmla="*/ 1141 w 3331"/>
                <a:gd name="T47" fmla="*/ 997 h 3310"/>
                <a:gd name="T48" fmla="*/ 1514 w 3331"/>
                <a:gd name="T49" fmla="*/ 352 h 3310"/>
                <a:gd name="T50" fmla="*/ 2075 w 3331"/>
                <a:gd name="T51" fmla="*/ 51 h 3310"/>
                <a:gd name="T52" fmla="*/ 2616 w 3331"/>
                <a:gd name="T53" fmla="*/ 297 h 3310"/>
                <a:gd name="T54" fmla="*/ 3033 w 3331"/>
                <a:gd name="T55" fmla="*/ 710 h 3310"/>
                <a:gd name="T56" fmla="*/ 3280 w 3331"/>
                <a:gd name="T57" fmla="*/ 1247 h 3310"/>
                <a:gd name="T58" fmla="*/ 3319 w 3331"/>
                <a:gd name="T59" fmla="*/ 1862 h 3310"/>
                <a:gd name="T60" fmla="*/ 3136 w 3331"/>
                <a:gd name="T61" fmla="*/ 2432 h 3310"/>
                <a:gd name="T62" fmla="*/ 2771 w 3331"/>
                <a:gd name="T63" fmla="*/ 2892 h 3310"/>
                <a:gd name="T64" fmla="*/ 2268 w 3331"/>
                <a:gd name="T65" fmla="*/ 3197 h 3310"/>
                <a:gd name="T66" fmla="*/ 1666 w 3331"/>
                <a:gd name="T67" fmla="*/ 3310 h 3310"/>
                <a:gd name="T68" fmla="*/ 1313 w 3331"/>
                <a:gd name="T69" fmla="*/ 3215 h 3310"/>
                <a:gd name="T70" fmla="*/ 1678 w 3331"/>
                <a:gd name="T71" fmla="*/ 3027 h 3310"/>
                <a:gd name="T72" fmla="*/ 1893 w 3331"/>
                <a:gd name="T73" fmla="*/ 3115 h 3310"/>
                <a:gd name="T74" fmla="*/ 2094 w 3331"/>
                <a:gd name="T75" fmla="*/ 3039 h 3310"/>
                <a:gd name="T76" fmla="*/ 2348 w 3331"/>
                <a:gd name="T77" fmla="*/ 1907 h 3310"/>
                <a:gd name="T78" fmla="*/ 2296 w 3331"/>
                <a:gd name="T79" fmla="*/ 1685 h 3310"/>
                <a:gd name="T80" fmla="*/ 2151 w 3331"/>
                <a:gd name="T81" fmla="*/ 1405 h 3310"/>
                <a:gd name="T82" fmla="*/ 1514 w 3331"/>
                <a:gd name="T83" fmla="*/ 1443 h 3310"/>
                <a:gd name="T84" fmla="*/ 1062 w 3331"/>
                <a:gd name="T85" fmla="*/ 1562 h 3310"/>
                <a:gd name="T86" fmla="*/ 958 w 3331"/>
                <a:gd name="T87" fmla="*/ 1741 h 3310"/>
                <a:gd name="T88" fmla="*/ 799 w 3331"/>
                <a:gd name="T89" fmla="*/ 1921 h 3310"/>
                <a:gd name="T90" fmla="*/ 822 w 3331"/>
                <a:gd name="T91" fmla="*/ 2159 h 3310"/>
                <a:gd name="T92" fmla="*/ 695 w 3331"/>
                <a:gd name="T93" fmla="*/ 2377 h 3310"/>
                <a:gd name="T94" fmla="*/ 529 w 3331"/>
                <a:gd name="T95" fmla="*/ 2555 h 3310"/>
                <a:gd name="T96" fmla="*/ 365 w 3331"/>
                <a:gd name="T97" fmla="*/ 2645 h 3310"/>
                <a:gd name="T98" fmla="*/ 180 w 3331"/>
                <a:gd name="T99" fmla="*/ 2403 h 3310"/>
                <a:gd name="T100" fmla="*/ 13 w 3331"/>
                <a:gd name="T101" fmla="*/ 1854 h 3310"/>
                <a:gd name="T102" fmla="*/ 51 w 3331"/>
                <a:gd name="T103" fmla="*/ 1247 h 3310"/>
                <a:gd name="T104" fmla="*/ 299 w 3331"/>
                <a:gd name="T105" fmla="*/ 710 h 3310"/>
                <a:gd name="T106" fmla="*/ 715 w 3331"/>
                <a:gd name="T107" fmla="*/ 297 h 3310"/>
                <a:gd name="T108" fmla="*/ 1256 w 3331"/>
                <a:gd name="T109" fmla="*/ 51 h 3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331" h="3310">
                  <a:moveTo>
                    <a:pt x="2501" y="2313"/>
                  </a:moveTo>
                  <a:lnTo>
                    <a:pt x="2475" y="2414"/>
                  </a:lnTo>
                  <a:lnTo>
                    <a:pt x="2447" y="2511"/>
                  </a:lnTo>
                  <a:lnTo>
                    <a:pt x="2414" y="2603"/>
                  </a:lnTo>
                  <a:lnTo>
                    <a:pt x="2378" y="2692"/>
                  </a:lnTo>
                  <a:lnTo>
                    <a:pt x="2339" y="2775"/>
                  </a:lnTo>
                  <a:lnTo>
                    <a:pt x="2297" y="2853"/>
                  </a:lnTo>
                  <a:lnTo>
                    <a:pt x="2374" y="2809"/>
                  </a:lnTo>
                  <a:lnTo>
                    <a:pt x="2449" y="2761"/>
                  </a:lnTo>
                  <a:lnTo>
                    <a:pt x="2519" y="2707"/>
                  </a:lnTo>
                  <a:lnTo>
                    <a:pt x="2586" y="2650"/>
                  </a:lnTo>
                  <a:lnTo>
                    <a:pt x="2650" y="2588"/>
                  </a:lnTo>
                  <a:lnTo>
                    <a:pt x="2708" y="2522"/>
                  </a:lnTo>
                  <a:lnTo>
                    <a:pt x="2763" y="2454"/>
                  </a:lnTo>
                  <a:lnTo>
                    <a:pt x="2704" y="2415"/>
                  </a:lnTo>
                  <a:lnTo>
                    <a:pt x="2640" y="2379"/>
                  </a:lnTo>
                  <a:lnTo>
                    <a:pt x="2572" y="2345"/>
                  </a:lnTo>
                  <a:lnTo>
                    <a:pt x="2501" y="2313"/>
                  </a:lnTo>
                  <a:close/>
                  <a:moveTo>
                    <a:pt x="2916" y="1116"/>
                  </a:moveTo>
                  <a:lnTo>
                    <a:pt x="2850" y="1158"/>
                  </a:lnTo>
                  <a:lnTo>
                    <a:pt x="2781" y="1197"/>
                  </a:lnTo>
                  <a:lnTo>
                    <a:pt x="2708" y="1234"/>
                  </a:lnTo>
                  <a:lnTo>
                    <a:pt x="2632" y="1267"/>
                  </a:lnTo>
                  <a:lnTo>
                    <a:pt x="2554" y="1298"/>
                  </a:lnTo>
                  <a:lnTo>
                    <a:pt x="2565" y="1415"/>
                  </a:lnTo>
                  <a:lnTo>
                    <a:pt x="2571" y="1533"/>
                  </a:lnTo>
                  <a:lnTo>
                    <a:pt x="2574" y="1655"/>
                  </a:lnTo>
                  <a:lnTo>
                    <a:pt x="2571" y="1776"/>
                  </a:lnTo>
                  <a:lnTo>
                    <a:pt x="2565" y="1895"/>
                  </a:lnTo>
                  <a:lnTo>
                    <a:pt x="2554" y="2011"/>
                  </a:lnTo>
                  <a:lnTo>
                    <a:pt x="2632" y="2042"/>
                  </a:lnTo>
                  <a:lnTo>
                    <a:pt x="2708" y="2076"/>
                  </a:lnTo>
                  <a:lnTo>
                    <a:pt x="2781" y="2113"/>
                  </a:lnTo>
                  <a:lnTo>
                    <a:pt x="2850" y="2151"/>
                  </a:lnTo>
                  <a:lnTo>
                    <a:pt x="2916" y="2193"/>
                  </a:lnTo>
                  <a:lnTo>
                    <a:pt x="2949" y="2109"/>
                  </a:lnTo>
                  <a:lnTo>
                    <a:pt x="2976" y="2022"/>
                  </a:lnTo>
                  <a:lnTo>
                    <a:pt x="2998" y="1934"/>
                  </a:lnTo>
                  <a:lnTo>
                    <a:pt x="3015" y="1842"/>
                  </a:lnTo>
                  <a:lnTo>
                    <a:pt x="3025" y="1750"/>
                  </a:lnTo>
                  <a:lnTo>
                    <a:pt x="3028" y="1655"/>
                  </a:lnTo>
                  <a:lnTo>
                    <a:pt x="3025" y="1559"/>
                  </a:lnTo>
                  <a:lnTo>
                    <a:pt x="3015" y="1467"/>
                  </a:lnTo>
                  <a:lnTo>
                    <a:pt x="2998" y="1375"/>
                  </a:lnTo>
                  <a:lnTo>
                    <a:pt x="2976" y="1287"/>
                  </a:lnTo>
                  <a:lnTo>
                    <a:pt x="2949" y="1201"/>
                  </a:lnTo>
                  <a:lnTo>
                    <a:pt x="2916" y="1116"/>
                  </a:lnTo>
                  <a:close/>
                  <a:moveTo>
                    <a:pt x="417" y="1116"/>
                  </a:moveTo>
                  <a:lnTo>
                    <a:pt x="387" y="1188"/>
                  </a:lnTo>
                  <a:lnTo>
                    <a:pt x="362" y="1262"/>
                  </a:lnTo>
                  <a:lnTo>
                    <a:pt x="341" y="1337"/>
                  </a:lnTo>
                  <a:lnTo>
                    <a:pt x="325" y="1415"/>
                  </a:lnTo>
                  <a:lnTo>
                    <a:pt x="313" y="1493"/>
                  </a:lnTo>
                  <a:lnTo>
                    <a:pt x="306" y="1573"/>
                  </a:lnTo>
                  <a:lnTo>
                    <a:pt x="304" y="1655"/>
                  </a:lnTo>
                  <a:lnTo>
                    <a:pt x="306" y="1736"/>
                  </a:lnTo>
                  <a:lnTo>
                    <a:pt x="313" y="1816"/>
                  </a:lnTo>
                  <a:lnTo>
                    <a:pt x="325" y="1895"/>
                  </a:lnTo>
                  <a:lnTo>
                    <a:pt x="341" y="1972"/>
                  </a:lnTo>
                  <a:lnTo>
                    <a:pt x="362" y="2048"/>
                  </a:lnTo>
                  <a:lnTo>
                    <a:pt x="387" y="2122"/>
                  </a:lnTo>
                  <a:lnTo>
                    <a:pt x="417" y="2194"/>
                  </a:lnTo>
                  <a:lnTo>
                    <a:pt x="482" y="2152"/>
                  </a:lnTo>
                  <a:lnTo>
                    <a:pt x="551" y="2113"/>
                  </a:lnTo>
                  <a:lnTo>
                    <a:pt x="623" y="2076"/>
                  </a:lnTo>
                  <a:lnTo>
                    <a:pt x="699" y="2042"/>
                  </a:lnTo>
                  <a:lnTo>
                    <a:pt x="778" y="2011"/>
                  </a:lnTo>
                  <a:lnTo>
                    <a:pt x="767" y="1894"/>
                  </a:lnTo>
                  <a:lnTo>
                    <a:pt x="760" y="1776"/>
                  </a:lnTo>
                  <a:lnTo>
                    <a:pt x="758" y="1655"/>
                  </a:lnTo>
                  <a:lnTo>
                    <a:pt x="760" y="1533"/>
                  </a:lnTo>
                  <a:lnTo>
                    <a:pt x="766" y="1415"/>
                  </a:lnTo>
                  <a:lnTo>
                    <a:pt x="778" y="1298"/>
                  </a:lnTo>
                  <a:lnTo>
                    <a:pt x="699" y="1267"/>
                  </a:lnTo>
                  <a:lnTo>
                    <a:pt x="623" y="1234"/>
                  </a:lnTo>
                  <a:lnTo>
                    <a:pt x="551" y="1197"/>
                  </a:lnTo>
                  <a:lnTo>
                    <a:pt x="482" y="1158"/>
                  </a:lnTo>
                  <a:lnTo>
                    <a:pt x="417" y="1116"/>
                  </a:lnTo>
                  <a:close/>
                  <a:moveTo>
                    <a:pt x="1033" y="457"/>
                  </a:moveTo>
                  <a:lnTo>
                    <a:pt x="956" y="501"/>
                  </a:lnTo>
                  <a:lnTo>
                    <a:pt x="883" y="548"/>
                  </a:lnTo>
                  <a:lnTo>
                    <a:pt x="811" y="601"/>
                  </a:lnTo>
                  <a:lnTo>
                    <a:pt x="745" y="660"/>
                  </a:lnTo>
                  <a:lnTo>
                    <a:pt x="683" y="721"/>
                  </a:lnTo>
                  <a:lnTo>
                    <a:pt x="623" y="787"/>
                  </a:lnTo>
                  <a:lnTo>
                    <a:pt x="568" y="855"/>
                  </a:lnTo>
                  <a:lnTo>
                    <a:pt x="627" y="894"/>
                  </a:lnTo>
                  <a:lnTo>
                    <a:pt x="691" y="930"/>
                  </a:lnTo>
                  <a:lnTo>
                    <a:pt x="759" y="964"/>
                  </a:lnTo>
                  <a:lnTo>
                    <a:pt x="830" y="996"/>
                  </a:lnTo>
                  <a:lnTo>
                    <a:pt x="856" y="895"/>
                  </a:lnTo>
                  <a:lnTo>
                    <a:pt x="885" y="798"/>
                  </a:lnTo>
                  <a:lnTo>
                    <a:pt x="917" y="705"/>
                  </a:lnTo>
                  <a:lnTo>
                    <a:pt x="953" y="618"/>
                  </a:lnTo>
                  <a:lnTo>
                    <a:pt x="991" y="535"/>
                  </a:lnTo>
                  <a:lnTo>
                    <a:pt x="1033" y="457"/>
                  </a:lnTo>
                  <a:close/>
                  <a:moveTo>
                    <a:pt x="2297" y="456"/>
                  </a:moveTo>
                  <a:lnTo>
                    <a:pt x="2339" y="535"/>
                  </a:lnTo>
                  <a:lnTo>
                    <a:pt x="2378" y="618"/>
                  </a:lnTo>
                  <a:lnTo>
                    <a:pt x="2414" y="705"/>
                  </a:lnTo>
                  <a:lnTo>
                    <a:pt x="2447" y="798"/>
                  </a:lnTo>
                  <a:lnTo>
                    <a:pt x="2476" y="895"/>
                  </a:lnTo>
                  <a:lnTo>
                    <a:pt x="2501" y="996"/>
                  </a:lnTo>
                  <a:lnTo>
                    <a:pt x="2573" y="964"/>
                  </a:lnTo>
                  <a:lnTo>
                    <a:pt x="2640" y="930"/>
                  </a:lnTo>
                  <a:lnTo>
                    <a:pt x="2704" y="894"/>
                  </a:lnTo>
                  <a:lnTo>
                    <a:pt x="2763" y="855"/>
                  </a:lnTo>
                  <a:lnTo>
                    <a:pt x="2708" y="787"/>
                  </a:lnTo>
                  <a:lnTo>
                    <a:pt x="2650" y="721"/>
                  </a:lnTo>
                  <a:lnTo>
                    <a:pt x="2587" y="659"/>
                  </a:lnTo>
                  <a:lnTo>
                    <a:pt x="2520" y="601"/>
                  </a:lnTo>
                  <a:lnTo>
                    <a:pt x="2449" y="548"/>
                  </a:lnTo>
                  <a:lnTo>
                    <a:pt x="2374" y="501"/>
                  </a:lnTo>
                  <a:lnTo>
                    <a:pt x="2297" y="456"/>
                  </a:lnTo>
                  <a:close/>
                  <a:moveTo>
                    <a:pt x="1817" y="352"/>
                  </a:moveTo>
                  <a:lnTo>
                    <a:pt x="1817" y="1142"/>
                  </a:lnTo>
                  <a:lnTo>
                    <a:pt x="1919" y="1134"/>
                  </a:lnTo>
                  <a:lnTo>
                    <a:pt x="2020" y="1121"/>
                  </a:lnTo>
                  <a:lnTo>
                    <a:pt x="2117" y="1106"/>
                  </a:lnTo>
                  <a:lnTo>
                    <a:pt x="2212" y="1086"/>
                  </a:lnTo>
                  <a:lnTo>
                    <a:pt x="2190" y="997"/>
                  </a:lnTo>
                  <a:lnTo>
                    <a:pt x="2166" y="911"/>
                  </a:lnTo>
                  <a:lnTo>
                    <a:pt x="2139" y="831"/>
                  </a:lnTo>
                  <a:lnTo>
                    <a:pt x="2110" y="755"/>
                  </a:lnTo>
                  <a:lnTo>
                    <a:pt x="2078" y="686"/>
                  </a:lnTo>
                  <a:lnTo>
                    <a:pt x="2045" y="620"/>
                  </a:lnTo>
                  <a:lnTo>
                    <a:pt x="2010" y="561"/>
                  </a:lnTo>
                  <a:lnTo>
                    <a:pt x="1973" y="507"/>
                  </a:lnTo>
                  <a:lnTo>
                    <a:pt x="1936" y="459"/>
                  </a:lnTo>
                  <a:lnTo>
                    <a:pt x="1897" y="416"/>
                  </a:lnTo>
                  <a:lnTo>
                    <a:pt x="1857" y="381"/>
                  </a:lnTo>
                  <a:lnTo>
                    <a:pt x="1817" y="352"/>
                  </a:lnTo>
                  <a:close/>
                  <a:moveTo>
                    <a:pt x="1514" y="352"/>
                  </a:moveTo>
                  <a:lnTo>
                    <a:pt x="1474" y="381"/>
                  </a:lnTo>
                  <a:lnTo>
                    <a:pt x="1434" y="416"/>
                  </a:lnTo>
                  <a:lnTo>
                    <a:pt x="1396" y="459"/>
                  </a:lnTo>
                  <a:lnTo>
                    <a:pt x="1358" y="507"/>
                  </a:lnTo>
                  <a:lnTo>
                    <a:pt x="1321" y="561"/>
                  </a:lnTo>
                  <a:lnTo>
                    <a:pt x="1287" y="620"/>
                  </a:lnTo>
                  <a:lnTo>
                    <a:pt x="1253" y="686"/>
                  </a:lnTo>
                  <a:lnTo>
                    <a:pt x="1222" y="755"/>
                  </a:lnTo>
                  <a:lnTo>
                    <a:pt x="1192" y="831"/>
                  </a:lnTo>
                  <a:lnTo>
                    <a:pt x="1165" y="911"/>
                  </a:lnTo>
                  <a:lnTo>
                    <a:pt x="1141" y="997"/>
                  </a:lnTo>
                  <a:lnTo>
                    <a:pt x="1119" y="1086"/>
                  </a:lnTo>
                  <a:lnTo>
                    <a:pt x="1214" y="1106"/>
                  </a:lnTo>
                  <a:lnTo>
                    <a:pt x="1312" y="1121"/>
                  </a:lnTo>
                  <a:lnTo>
                    <a:pt x="1412" y="1134"/>
                  </a:lnTo>
                  <a:lnTo>
                    <a:pt x="1514" y="1142"/>
                  </a:lnTo>
                  <a:lnTo>
                    <a:pt x="1514" y="352"/>
                  </a:lnTo>
                  <a:close/>
                  <a:moveTo>
                    <a:pt x="1666" y="0"/>
                  </a:moveTo>
                  <a:lnTo>
                    <a:pt x="1666" y="0"/>
                  </a:lnTo>
                  <a:lnTo>
                    <a:pt x="1771" y="3"/>
                  </a:lnTo>
                  <a:lnTo>
                    <a:pt x="1874" y="13"/>
                  </a:lnTo>
                  <a:lnTo>
                    <a:pt x="1976" y="29"/>
                  </a:lnTo>
                  <a:lnTo>
                    <a:pt x="2075" y="51"/>
                  </a:lnTo>
                  <a:lnTo>
                    <a:pt x="2172" y="78"/>
                  </a:lnTo>
                  <a:lnTo>
                    <a:pt x="2268" y="112"/>
                  </a:lnTo>
                  <a:lnTo>
                    <a:pt x="2359" y="150"/>
                  </a:lnTo>
                  <a:lnTo>
                    <a:pt x="2448" y="195"/>
                  </a:lnTo>
                  <a:lnTo>
                    <a:pt x="2534" y="244"/>
                  </a:lnTo>
                  <a:lnTo>
                    <a:pt x="2616" y="297"/>
                  </a:lnTo>
                  <a:lnTo>
                    <a:pt x="2696" y="355"/>
                  </a:lnTo>
                  <a:lnTo>
                    <a:pt x="2771" y="418"/>
                  </a:lnTo>
                  <a:lnTo>
                    <a:pt x="2844" y="485"/>
                  </a:lnTo>
                  <a:lnTo>
                    <a:pt x="2911" y="557"/>
                  </a:lnTo>
                  <a:lnTo>
                    <a:pt x="2973" y="632"/>
                  </a:lnTo>
                  <a:lnTo>
                    <a:pt x="3033" y="710"/>
                  </a:lnTo>
                  <a:lnTo>
                    <a:pt x="3086" y="792"/>
                  </a:lnTo>
                  <a:lnTo>
                    <a:pt x="3136" y="877"/>
                  </a:lnTo>
                  <a:lnTo>
                    <a:pt x="3181" y="965"/>
                  </a:lnTo>
                  <a:lnTo>
                    <a:pt x="3219" y="1057"/>
                  </a:lnTo>
                  <a:lnTo>
                    <a:pt x="3253" y="1152"/>
                  </a:lnTo>
                  <a:lnTo>
                    <a:pt x="3280" y="1247"/>
                  </a:lnTo>
                  <a:lnTo>
                    <a:pt x="3302" y="1346"/>
                  </a:lnTo>
                  <a:lnTo>
                    <a:pt x="3319" y="1447"/>
                  </a:lnTo>
                  <a:lnTo>
                    <a:pt x="3328" y="1550"/>
                  </a:lnTo>
                  <a:lnTo>
                    <a:pt x="3331" y="1655"/>
                  </a:lnTo>
                  <a:lnTo>
                    <a:pt x="3328" y="1759"/>
                  </a:lnTo>
                  <a:lnTo>
                    <a:pt x="3319" y="1862"/>
                  </a:lnTo>
                  <a:lnTo>
                    <a:pt x="3302" y="1963"/>
                  </a:lnTo>
                  <a:lnTo>
                    <a:pt x="3280" y="2062"/>
                  </a:lnTo>
                  <a:lnTo>
                    <a:pt x="3253" y="2158"/>
                  </a:lnTo>
                  <a:lnTo>
                    <a:pt x="3219" y="2252"/>
                  </a:lnTo>
                  <a:lnTo>
                    <a:pt x="3181" y="2343"/>
                  </a:lnTo>
                  <a:lnTo>
                    <a:pt x="3136" y="2432"/>
                  </a:lnTo>
                  <a:lnTo>
                    <a:pt x="3086" y="2517"/>
                  </a:lnTo>
                  <a:lnTo>
                    <a:pt x="3033" y="2599"/>
                  </a:lnTo>
                  <a:lnTo>
                    <a:pt x="2973" y="2678"/>
                  </a:lnTo>
                  <a:lnTo>
                    <a:pt x="2911" y="2753"/>
                  </a:lnTo>
                  <a:lnTo>
                    <a:pt x="2844" y="2824"/>
                  </a:lnTo>
                  <a:lnTo>
                    <a:pt x="2771" y="2892"/>
                  </a:lnTo>
                  <a:lnTo>
                    <a:pt x="2696" y="2954"/>
                  </a:lnTo>
                  <a:lnTo>
                    <a:pt x="2616" y="3012"/>
                  </a:lnTo>
                  <a:lnTo>
                    <a:pt x="2534" y="3066"/>
                  </a:lnTo>
                  <a:lnTo>
                    <a:pt x="2448" y="3115"/>
                  </a:lnTo>
                  <a:lnTo>
                    <a:pt x="2359" y="3159"/>
                  </a:lnTo>
                  <a:lnTo>
                    <a:pt x="2268" y="3197"/>
                  </a:lnTo>
                  <a:lnTo>
                    <a:pt x="2172" y="3231"/>
                  </a:lnTo>
                  <a:lnTo>
                    <a:pt x="2075" y="3259"/>
                  </a:lnTo>
                  <a:lnTo>
                    <a:pt x="1976" y="3281"/>
                  </a:lnTo>
                  <a:lnTo>
                    <a:pt x="1874" y="3296"/>
                  </a:lnTo>
                  <a:lnTo>
                    <a:pt x="1771" y="3305"/>
                  </a:lnTo>
                  <a:lnTo>
                    <a:pt x="1666" y="3310"/>
                  </a:lnTo>
                  <a:lnTo>
                    <a:pt x="1576" y="3307"/>
                  </a:lnTo>
                  <a:lnTo>
                    <a:pt x="1488" y="3299"/>
                  </a:lnTo>
                  <a:lnTo>
                    <a:pt x="1400" y="3288"/>
                  </a:lnTo>
                  <a:lnTo>
                    <a:pt x="1314" y="3271"/>
                  </a:lnTo>
                  <a:lnTo>
                    <a:pt x="1230" y="3251"/>
                  </a:lnTo>
                  <a:lnTo>
                    <a:pt x="1313" y="3215"/>
                  </a:lnTo>
                  <a:lnTo>
                    <a:pt x="1392" y="3177"/>
                  </a:lnTo>
                  <a:lnTo>
                    <a:pt x="1469" y="3137"/>
                  </a:lnTo>
                  <a:lnTo>
                    <a:pt x="1540" y="3097"/>
                  </a:lnTo>
                  <a:lnTo>
                    <a:pt x="1608" y="3057"/>
                  </a:lnTo>
                  <a:lnTo>
                    <a:pt x="1670" y="3018"/>
                  </a:lnTo>
                  <a:lnTo>
                    <a:pt x="1678" y="3027"/>
                  </a:lnTo>
                  <a:lnTo>
                    <a:pt x="1709" y="3053"/>
                  </a:lnTo>
                  <a:lnTo>
                    <a:pt x="1741" y="3075"/>
                  </a:lnTo>
                  <a:lnTo>
                    <a:pt x="1777" y="3092"/>
                  </a:lnTo>
                  <a:lnTo>
                    <a:pt x="1814" y="3105"/>
                  </a:lnTo>
                  <a:lnTo>
                    <a:pt x="1853" y="3112"/>
                  </a:lnTo>
                  <a:lnTo>
                    <a:pt x="1893" y="3115"/>
                  </a:lnTo>
                  <a:lnTo>
                    <a:pt x="1924" y="3113"/>
                  </a:lnTo>
                  <a:lnTo>
                    <a:pt x="1956" y="3109"/>
                  </a:lnTo>
                  <a:lnTo>
                    <a:pt x="1986" y="3101"/>
                  </a:lnTo>
                  <a:lnTo>
                    <a:pt x="2025" y="3085"/>
                  </a:lnTo>
                  <a:lnTo>
                    <a:pt x="2061" y="3064"/>
                  </a:lnTo>
                  <a:lnTo>
                    <a:pt x="2094" y="3039"/>
                  </a:lnTo>
                  <a:lnTo>
                    <a:pt x="2122" y="3010"/>
                  </a:lnTo>
                  <a:lnTo>
                    <a:pt x="2147" y="2978"/>
                  </a:lnTo>
                  <a:lnTo>
                    <a:pt x="2167" y="2943"/>
                  </a:lnTo>
                  <a:lnTo>
                    <a:pt x="2182" y="2903"/>
                  </a:lnTo>
                  <a:lnTo>
                    <a:pt x="2192" y="2862"/>
                  </a:lnTo>
                  <a:lnTo>
                    <a:pt x="2348" y="1907"/>
                  </a:lnTo>
                  <a:lnTo>
                    <a:pt x="2351" y="1867"/>
                  </a:lnTo>
                  <a:lnTo>
                    <a:pt x="2350" y="1829"/>
                  </a:lnTo>
                  <a:lnTo>
                    <a:pt x="2344" y="1790"/>
                  </a:lnTo>
                  <a:lnTo>
                    <a:pt x="2333" y="1754"/>
                  </a:lnTo>
                  <a:lnTo>
                    <a:pt x="2317" y="1718"/>
                  </a:lnTo>
                  <a:lnTo>
                    <a:pt x="2296" y="1685"/>
                  </a:lnTo>
                  <a:lnTo>
                    <a:pt x="2272" y="1655"/>
                  </a:lnTo>
                  <a:lnTo>
                    <a:pt x="2272" y="1655"/>
                  </a:lnTo>
                  <a:lnTo>
                    <a:pt x="2270" y="1562"/>
                  </a:lnTo>
                  <a:lnTo>
                    <a:pt x="2266" y="1472"/>
                  </a:lnTo>
                  <a:lnTo>
                    <a:pt x="2258" y="1385"/>
                  </a:lnTo>
                  <a:lnTo>
                    <a:pt x="2151" y="1405"/>
                  </a:lnTo>
                  <a:lnTo>
                    <a:pt x="2043" y="1422"/>
                  </a:lnTo>
                  <a:lnTo>
                    <a:pt x="1931" y="1436"/>
                  </a:lnTo>
                  <a:lnTo>
                    <a:pt x="1817" y="1443"/>
                  </a:lnTo>
                  <a:lnTo>
                    <a:pt x="1817" y="1592"/>
                  </a:lnTo>
                  <a:lnTo>
                    <a:pt x="1514" y="1639"/>
                  </a:lnTo>
                  <a:lnTo>
                    <a:pt x="1514" y="1443"/>
                  </a:lnTo>
                  <a:lnTo>
                    <a:pt x="1401" y="1436"/>
                  </a:lnTo>
                  <a:lnTo>
                    <a:pt x="1289" y="1422"/>
                  </a:lnTo>
                  <a:lnTo>
                    <a:pt x="1180" y="1405"/>
                  </a:lnTo>
                  <a:lnTo>
                    <a:pt x="1073" y="1385"/>
                  </a:lnTo>
                  <a:lnTo>
                    <a:pt x="1066" y="1472"/>
                  </a:lnTo>
                  <a:lnTo>
                    <a:pt x="1062" y="1562"/>
                  </a:lnTo>
                  <a:lnTo>
                    <a:pt x="1061" y="1655"/>
                  </a:lnTo>
                  <a:lnTo>
                    <a:pt x="1061" y="1684"/>
                  </a:lnTo>
                  <a:lnTo>
                    <a:pt x="1062" y="1713"/>
                  </a:lnTo>
                  <a:lnTo>
                    <a:pt x="1039" y="1716"/>
                  </a:lnTo>
                  <a:lnTo>
                    <a:pt x="997" y="1727"/>
                  </a:lnTo>
                  <a:lnTo>
                    <a:pt x="958" y="1741"/>
                  </a:lnTo>
                  <a:lnTo>
                    <a:pt x="922" y="1761"/>
                  </a:lnTo>
                  <a:lnTo>
                    <a:pt x="890" y="1785"/>
                  </a:lnTo>
                  <a:lnTo>
                    <a:pt x="861" y="1814"/>
                  </a:lnTo>
                  <a:lnTo>
                    <a:pt x="835" y="1846"/>
                  </a:lnTo>
                  <a:lnTo>
                    <a:pt x="814" y="1882"/>
                  </a:lnTo>
                  <a:lnTo>
                    <a:pt x="799" y="1921"/>
                  </a:lnTo>
                  <a:lnTo>
                    <a:pt x="788" y="1962"/>
                  </a:lnTo>
                  <a:lnTo>
                    <a:pt x="784" y="2002"/>
                  </a:lnTo>
                  <a:lnTo>
                    <a:pt x="785" y="2044"/>
                  </a:lnTo>
                  <a:lnTo>
                    <a:pt x="793" y="2083"/>
                  </a:lnTo>
                  <a:lnTo>
                    <a:pt x="805" y="2122"/>
                  </a:lnTo>
                  <a:lnTo>
                    <a:pt x="822" y="2159"/>
                  </a:lnTo>
                  <a:lnTo>
                    <a:pt x="845" y="2194"/>
                  </a:lnTo>
                  <a:lnTo>
                    <a:pt x="872" y="2225"/>
                  </a:lnTo>
                  <a:lnTo>
                    <a:pt x="835" y="2267"/>
                  </a:lnTo>
                  <a:lnTo>
                    <a:pt x="801" y="2305"/>
                  </a:lnTo>
                  <a:lnTo>
                    <a:pt x="765" y="2341"/>
                  </a:lnTo>
                  <a:lnTo>
                    <a:pt x="695" y="2377"/>
                  </a:lnTo>
                  <a:lnTo>
                    <a:pt x="629" y="2414"/>
                  </a:lnTo>
                  <a:lnTo>
                    <a:pt x="568" y="2454"/>
                  </a:lnTo>
                  <a:lnTo>
                    <a:pt x="585" y="2475"/>
                  </a:lnTo>
                  <a:lnTo>
                    <a:pt x="603" y="2495"/>
                  </a:lnTo>
                  <a:lnTo>
                    <a:pt x="564" y="2527"/>
                  </a:lnTo>
                  <a:lnTo>
                    <a:pt x="529" y="2555"/>
                  </a:lnTo>
                  <a:lnTo>
                    <a:pt x="494" y="2579"/>
                  </a:lnTo>
                  <a:lnTo>
                    <a:pt x="463" y="2599"/>
                  </a:lnTo>
                  <a:lnTo>
                    <a:pt x="434" y="2616"/>
                  </a:lnTo>
                  <a:lnTo>
                    <a:pt x="408" y="2629"/>
                  </a:lnTo>
                  <a:lnTo>
                    <a:pt x="385" y="2639"/>
                  </a:lnTo>
                  <a:lnTo>
                    <a:pt x="365" y="2645"/>
                  </a:lnTo>
                  <a:lnTo>
                    <a:pt x="349" y="2648"/>
                  </a:lnTo>
                  <a:lnTo>
                    <a:pt x="339" y="2645"/>
                  </a:lnTo>
                  <a:lnTo>
                    <a:pt x="331" y="2642"/>
                  </a:lnTo>
                  <a:lnTo>
                    <a:pt x="276" y="2565"/>
                  </a:lnTo>
                  <a:lnTo>
                    <a:pt x="226" y="2486"/>
                  </a:lnTo>
                  <a:lnTo>
                    <a:pt x="180" y="2403"/>
                  </a:lnTo>
                  <a:lnTo>
                    <a:pt x="139" y="2317"/>
                  </a:lnTo>
                  <a:lnTo>
                    <a:pt x="104" y="2229"/>
                  </a:lnTo>
                  <a:lnTo>
                    <a:pt x="73" y="2139"/>
                  </a:lnTo>
                  <a:lnTo>
                    <a:pt x="47" y="2045"/>
                  </a:lnTo>
                  <a:lnTo>
                    <a:pt x="27" y="1950"/>
                  </a:lnTo>
                  <a:lnTo>
                    <a:pt x="13" y="1854"/>
                  </a:lnTo>
                  <a:lnTo>
                    <a:pt x="3" y="1755"/>
                  </a:lnTo>
                  <a:lnTo>
                    <a:pt x="0" y="1655"/>
                  </a:lnTo>
                  <a:lnTo>
                    <a:pt x="3" y="1550"/>
                  </a:lnTo>
                  <a:lnTo>
                    <a:pt x="14" y="1447"/>
                  </a:lnTo>
                  <a:lnTo>
                    <a:pt x="29" y="1346"/>
                  </a:lnTo>
                  <a:lnTo>
                    <a:pt x="51" y="1247"/>
                  </a:lnTo>
                  <a:lnTo>
                    <a:pt x="80" y="1152"/>
                  </a:lnTo>
                  <a:lnTo>
                    <a:pt x="113" y="1057"/>
                  </a:lnTo>
                  <a:lnTo>
                    <a:pt x="152" y="965"/>
                  </a:lnTo>
                  <a:lnTo>
                    <a:pt x="196" y="877"/>
                  </a:lnTo>
                  <a:lnTo>
                    <a:pt x="245" y="792"/>
                  </a:lnTo>
                  <a:lnTo>
                    <a:pt x="299" y="710"/>
                  </a:lnTo>
                  <a:lnTo>
                    <a:pt x="358" y="632"/>
                  </a:lnTo>
                  <a:lnTo>
                    <a:pt x="421" y="557"/>
                  </a:lnTo>
                  <a:lnTo>
                    <a:pt x="489" y="485"/>
                  </a:lnTo>
                  <a:lnTo>
                    <a:pt x="560" y="418"/>
                  </a:lnTo>
                  <a:lnTo>
                    <a:pt x="635" y="355"/>
                  </a:lnTo>
                  <a:lnTo>
                    <a:pt x="715" y="297"/>
                  </a:lnTo>
                  <a:lnTo>
                    <a:pt x="798" y="244"/>
                  </a:lnTo>
                  <a:lnTo>
                    <a:pt x="884" y="195"/>
                  </a:lnTo>
                  <a:lnTo>
                    <a:pt x="973" y="150"/>
                  </a:lnTo>
                  <a:lnTo>
                    <a:pt x="1065" y="112"/>
                  </a:lnTo>
                  <a:lnTo>
                    <a:pt x="1159" y="78"/>
                  </a:lnTo>
                  <a:lnTo>
                    <a:pt x="1256" y="51"/>
                  </a:lnTo>
                  <a:lnTo>
                    <a:pt x="1356" y="29"/>
                  </a:lnTo>
                  <a:lnTo>
                    <a:pt x="1457" y="13"/>
                  </a:lnTo>
                  <a:lnTo>
                    <a:pt x="1561" y="3"/>
                  </a:lnTo>
                  <a:lnTo>
                    <a:pt x="16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26" name="Freeform 153"/>
            <p:cNvSpPr>
              <a:spLocks noEditPoints="1"/>
            </p:cNvSpPr>
            <p:nvPr/>
          </p:nvSpPr>
          <p:spPr bwMode="auto">
            <a:xfrm>
              <a:off x="6383" y="3134"/>
              <a:ext cx="193" cy="139"/>
            </a:xfrm>
            <a:custGeom>
              <a:avLst/>
              <a:gdLst>
                <a:gd name="T0" fmla="*/ 1200 w 2125"/>
                <a:gd name="T1" fmla="*/ 494 h 1526"/>
                <a:gd name="T2" fmla="*/ 1133 w 2125"/>
                <a:gd name="T3" fmla="*/ 582 h 1526"/>
                <a:gd name="T4" fmla="*/ 1068 w 2125"/>
                <a:gd name="T5" fmla="*/ 663 h 1526"/>
                <a:gd name="T6" fmla="*/ 979 w 2125"/>
                <a:gd name="T7" fmla="*/ 765 h 1526"/>
                <a:gd name="T8" fmla="*/ 871 w 2125"/>
                <a:gd name="T9" fmla="*/ 879 h 1526"/>
                <a:gd name="T10" fmla="*/ 751 w 2125"/>
                <a:gd name="T11" fmla="*/ 993 h 1526"/>
                <a:gd name="T12" fmla="*/ 621 w 2125"/>
                <a:gd name="T13" fmla="*/ 1097 h 1526"/>
                <a:gd name="T14" fmla="*/ 487 w 2125"/>
                <a:gd name="T15" fmla="*/ 1179 h 1526"/>
                <a:gd name="T16" fmla="*/ 354 w 2125"/>
                <a:gd name="T17" fmla="*/ 1230 h 1526"/>
                <a:gd name="T18" fmla="*/ 238 w 2125"/>
                <a:gd name="T19" fmla="*/ 1240 h 1526"/>
                <a:gd name="T20" fmla="*/ 151 w 2125"/>
                <a:gd name="T21" fmla="*/ 1216 h 1526"/>
                <a:gd name="T22" fmla="*/ 285 w 2125"/>
                <a:gd name="T23" fmla="*/ 1313 h 1526"/>
                <a:gd name="T24" fmla="*/ 444 w 2125"/>
                <a:gd name="T25" fmla="*/ 1366 h 1526"/>
                <a:gd name="T26" fmla="*/ 623 w 2125"/>
                <a:gd name="T27" fmla="*/ 1373 h 1526"/>
                <a:gd name="T28" fmla="*/ 801 w 2125"/>
                <a:gd name="T29" fmla="*/ 1344 h 1526"/>
                <a:gd name="T30" fmla="*/ 978 w 2125"/>
                <a:gd name="T31" fmla="*/ 1289 h 1526"/>
                <a:gd name="T32" fmla="*/ 1147 w 2125"/>
                <a:gd name="T33" fmla="*/ 1216 h 1526"/>
                <a:gd name="T34" fmla="*/ 1300 w 2125"/>
                <a:gd name="T35" fmla="*/ 1136 h 1526"/>
                <a:gd name="T36" fmla="*/ 1429 w 2125"/>
                <a:gd name="T37" fmla="*/ 1058 h 1526"/>
                <a:gd name="T38" fmla="*/ 1529 w 2125"/>
                <a:gd name="T39" fmla="*/ 991 h 1526"/>
                <a:gd name="T40" fmla="*/ 1628 w 2125"/>
                <a:gd name="T41" fmla="*/ 919 h 1526"/>
                <a:gd name="T42" fmla="*/ 1979 w 2125"/>
                <a:gd name="T43" fmla="*/ 0 h 1526"/>
                <a:gd name="T44" fmla="*/ 2059 w 2125"/>
                <a:gd name="T45" fmla="*/ 26 h 1526"/>
                <a:gd name="T46" fmla="*/ 2112 w 2125"/>
                <a:gd name="T47" fmla="*/ 92 h 1526"/>
                <a:gd name="T48" fmla="*/ 2123 w 2125"/>
                <a:gd name="T49" fmla="*/ 175 h 1526"/>
                <a:gd name="T50" fmla="*/ 1948 w 2125"/>
                <a:gd name="T51" fmla="*/ 1183 h 1526"/>
                <a:gd name="T52" fmla="*/ 1889 w 2125"/>
                <a:gd name="T53" fmla="*/ 1239 h 1526"/>
                <a:gd name="T54" fmla="*/ 1817 w 2125"/>
                <a:gd name="T55" fmla="*/ 1256 h 1526"/>
                <a:gd name="T56" fmla="*/ 1748 w 2125"/>
                <a:gd name="T57" fmla="*/ 1241 h 1526"/>
                <a:gd name="T58" fmla="*/ 1614 w 2125"/>
                <a:gd name="T59" fmla="*/ 1116 h 1526"/>
                <a:gd name="T60" fmla="*/ 1472 w 2125"/>
                <a:gd name="T61" fmla="*/ 1209 h 1526"/>
                <a:gd name="T62" fmla="*/ 1295 w 2125"/>
                <a:gd name="T63" fmla="*/ 1310 h 1526"/>
                <a:gd name="T64" fmla="*/ 1091 w 2125"/>
                <a:gd name="T65" fmla="*/ 1407 h 1526"/>
                <a:gd name="T66" fmla="*/ 869 w 2125"/>
                <a:gd name="T67" fmla="*/ 1483 h 1526"/>
                <a:gd name="T68" fmla="*/ 640 w 2125"/>
                <a:gd name="T69" fmla="*/ 1523 h 1526"/>
                <a:gd name="T70" fmla="*/ 430 w 2125"/>
                <a:gd name="T71" fmla="*/ 1515 h 1526"/>
                <a:gd name="T72" fmla="*/ 249 w 2125"/>
                <a:gd name="T73" fmla="*/ 1462 h 1526"/>
                <a:gd name="T74" fmla="*/ 91 w 2125"/>
                <a:gd name="T75" fmla="*/ 1365 h 1526"/>
                <a:gd name="T76" fmla="*/ 14 w 2125"/>
                <a:gd name="T77" fmla="*/ 1278 h 1526"/>
                <a:gd name="T78" fmla="*/ 0 w 2125"/>
                <a:gd name="T79" fmla="*/ 1203 h 1526"/>
                <a:gd name="T80" fmla="*/ 28 w 2125"/>
                <a:gd name="T81" fmla="*/ 1129 h 1526"/>
                <a:gd name="T82" fmla="*/ 87 w 2125"/>
                <a:gd name="T83" fmla="*/ 1081 h 1526"/>
                <a:gd name="T84" fmla="*/ 165 w 2125"/>
                <a:gd name="T85" fmla="*/ 1066 h 1526"/>
                <a:gd name="T86" fmla="*/ 232 w 2125"/>
                <a:gd name="T87" fmla="*/ 1086 h 1526"/>
                <a:gd name="T88" fmla="*/ 302 w 2125"/>
                <a:gd name="T89" fmla="*/ 1088 h 1526"/>
                <a:gd name="T90" fmla="*/ 411 w 2125"/>
                <a:gd name="T91" fmla="*/ 1050 h 1526"/>
                <a:gd name="T92" fmla="*/ 533 w 2125"/>
                <a:gd name="T93" fmla="*/ 975 h 1526"/>
                <a:gd name="T94" fmla="*/ 663 w 2125"/>
                <a:gd name="T95" fmla="*/ 869 h 1526"/>
                <a:gd name="T96" fmla="*/ 794 w 2125"/>
                <a:gd name="T97" fmla="*/ 744 h 1526"/>
                <a:gd name="T98" fmla="*/ 921 w 2125"/>
                <a:gd name="T99" fmla="*/ 603 h 1526"/>
                <a:gd name="T100" fmla="*/ 904 w 2125"/>
                <a:gd name="T101" fmla="*/ 412 h 1526"/>
                <a:gd name="T102" fmla="*/ 864 w 2125"/>
                <a:gd name="T103" fmla="*/ 341 h 1526"/>
                <a:gd name="T104" fmla="*/ 867 w 2125"/>
                <a:gd name="T105" fmla="*/ 259 h 1526"/>
                <a:gd name="T106" fmla="*/ 912 w 2125"/>
                <a:gd name="T107" fmla="*/ 191 h 1526"/>
                <a:gd name="T108" fmla="*/ 987 w 2125"/>
                <a:gd name="T109" fmla="*/ 157 h 1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125" h="1526">
                  <a:moveTo>
                    <a:pt x="1973" y="151"/>
                  </a:moveTo>
                  <a:lnTo>
                    <a:pt x="1012" y="306"/>
                  </a:lnTo>
                  <a:lnTo>
                    <a:pt x="1200" y="494"/>
                  </a:lnTo>
                  <a:lnTo>
                    <a:pt x="1161" y="546"/>
                  </a:lnTo>
                  <a:lnTo>
                    <a:pt x="1149" y="563"/>
                  </a:lnTo>
                  <a:lnTo>
                    <a:pt x="1133" y="582"/>
                  </a:lnTo>
                  <a:lnTo>
                    <a:pt x="1114" y="606"/>
                  </a:lnTo>
                  <a:lnTo>
                    <a:pt x="1092" y="633"/>
                  </a:lnTo>
                  <a:lnTo>
                    <a:pt x="1068" y="663"/>
                  </a:lnTo>
                  <a:lnTo>
                    <a:pt x="1041" y="695"/>
                  </a:lnTo>
                  <a:lnTo>
                    <a:pt x="1011" y="729"/>
                  </a:lnTo>
                  <a:lnTo>
                    <a:pt x="979" y="765"/>
                  </a:lnTo>
                  <a:lnTo>
                    <a:pt x="945" y="803"/>
                  </a:lnTo>
                  <a:lnTo>
                    <a:pt x="909" y="840"/>
                  </a:lnTo>
                  <a:lnTo>
                    <a:pt x="871" y="879"/>
                  </a:lnTo>
                  <a:lnTo>
                    <a:pt x="833" y="917"/>
                  </a:lnTo>
                  <a:lnTo>
                    <a:pt x="792" y="956"/>
                  </a:lnTo>
                  <a:lnTo>
                    <a:pt x="751" y="993"/>
                  </a:lnTo>
                  <a:lnTo>
                    <a:pt x="708" y="1030"/>
                  </a:lnTo>
                  <a:lnTo>
                    <a:pt x="665" y="1064"/>
                  </a:lnTo>
                  <a:lnTo>
                    <a:pt x="621" y="1097"/>
                  </a:lnTo>
                  <a:lnTo>
                    <a:pt x="576" y="1127"/>
                  </a:lnTo>
                  <a:lnTo>
                    <a:pt x="531" y="1155"/>
                  </a:lnTo>
                  <a:lnTo>
                    <a:pt x="487" y="1179"/>
                  </a:lnTo>
                  <a:lnTo>
                    <a:pt x="442" y="1200"/>
                  </a:lnTo>
                  <a:lnTo>
                    <a:pt x="398" y="1218"/>
                  </a:lnTo>
                  <a:lnTo>
                    <a:pt x="354" y="1230"/>
                  </a:lnTo>
                  <a:lnTo>
                    <a:pt x="311" y="1239"/>
                  </a:lnTo>
                  <a:lnTo>
                    <a:pt x="269" y="1241"/>
                  </a:lnTo>
                  <a:lnTo>
                    <a:pt x="238" y="1240"/>
                  </a:lnTo>
                  <a:lnTo>
                    <a:pt x="208" y="1235"/>
                  </a:lnTo>
                  <a:lnTo>
                    <a:pt x="179" y="1227"/>
                  </a:lnTo>
                  <a:lnTo>
                    <a:pt x="151" y="1216"/>
                  </a:lnTo>
                  <a:lnTo>
                    <a:pt x="193" y="1253"/>
                  </a:lnTo>
                  <a:lnTo>
                    <a:pt x="237" y="1285"/>
                  </a:lnTo>
                  <a:lnTo>
                    <a:pt x="285" y="1313"/>
                  </a:lnTo>
                  <a:lnTo>
                    <a:pt x="335" y="1335"/>
                  </a:lnTo>
                  <a:lnTo>
                    <a:pt x="388" y="1353"/>
                  </a:lnTo>
                  <a:lnTo>
                    <a:pt x="444" y="1366"/>
                  </a:lnTo>
                  <a:lnTo>
                    <a:pt x="503" y="1373"/>
                  </a:lnTo>
                  <a:lnTo>
                    <a:pt x="564" y="1375"/>
                  </a:lnTo>
                  <a:lnTo>
                    <a:pt x="623" y="1373"/>
                  </a:lnTo>
                  <a:lnTo>
                    <a:pt x="682" y="1367"/>
                  </a:lnTo>
                  <a:lnTo>
                    <a:pt x="742" y="1357"/>
                  </a:lnTo>
                  <a:lnTo>
                    <a:pt x="801" y="1344"/>
                  </a:lnTo>
                  <a:lnTo>
                    <a:pt x="861" y="1328"/>
                  </a:lnTo>
                  <a:lnTo>
                    <a:pt x="921" y="1309"/>
                  </a:lnTo>
                  <a:lnTo>
                    <a:pt x="978" y="1289"/>
                  </a:lnTo>
                  <a:lnTo>
                    <a:pt x="1036" y="1266"/>
                  </a:lnTo>
                  <a:lnTo>
                    <a:pt x="1092" y="1242"/>
                  </a:lnTo>
                  <a:lnTo>
                    <a:pt x="1147" y="1216"/>
                  </a:lnTo>
                  <a:lnTo>
                    <a:pt x="1199" y="1190"/>
                  </a:lnTo>
                  <a:lnTo>
                    <a:pt x="1250" y="1163"/>
                  </a:lnTo>
                  <a:lnTo>
                    <a:pt x="1300" y="1136"/>
                  </a:lnTo>
                  <a:lnTo>
                    <a:pt x="1346" y="1110"/>
                  </a:lnTo>
                  <a:lnTo>
                    <a:pt x="1389" y="1084"/>
                  </a:lnTo>
                  <a:lnTo>
                    <a:pt x="1429" y="1058"/>
                  </a:lnTo>
                  <a:lnTo>
                    <a:pt x="1466" y="1034"/>
                  </a:lnTo>
                  <a:lnTo>
                    <a:pt x="1500" y="1012"/>
                  </a:lnTo>
                  <a:lnTo>
                    <a:pt x="1529" y="991"/>
                  </a:lnTo>
                  <a:lnTo>
                    <a:pt x="1555" y="973"/>
                  </a:lnTo>
                  <a:lnTo>
                    <a:pt x="1576" y="958"/>
                  </a:lnTo>
                  <a:lnTo>
                    <a:pt x="1628" y="919"/>
                  </a:lnTo>
                  <a:lnTo>
                    <a:pt x="1817" y="1107"/>
                  </a:lnTo>
                  <a:lnTo>
                    <a:pt x="1973" y="151"/>
                  </a:lnTo>
                  <a:close/>
                  <a:moveTo>
                    <a:pt x="1979" y="0"/>
                  </a:moveTo>
                  <a:lnTo>
                    <a:pt x="2007" y="4"/>
                  </a:lnTo>
                  <a:lnTo>
                    <a:pt x="2035" y="13"/>
                  </a:lnTo>
                  <a:lnTo>
                    <a:pt x="2059" y="26"/>
                  </a:lnTo>
                  <a:lnTo>
                    <a:pt x="2081" y="45"/>
                  </a:lnTo>
                  <a:lnTo>
                    <a:pt x="2099" y="67"/>
                  </a:lnTo>
                  <a:lnTo>
                    <a:pt x="2112" y="92"/>
                  </a:lnTo>
                  <a:lnTo>
                    <a:pt x="2120" y="119"/>
                  </a:lnTo>
                  <a:lnTo>
                    <a:pt x="2125" y="147"/>
                  </a:lnTo>
                  <a:lnTo>
                    <a:pt x="2123" y="175"/>
                  </a:lnTo>
                  <a:lnTo>
                    <a:pt x="1967" y="1131"/>
                  </a:lnTo>
                  <a:lnTo>
                    <a:pt x="1959" y="1158"/>
                  </a:lnTo>
                  <a:lnTo>
                    <a:pt x="1948" y="1183"/>
                  </a:lnTo>
                  <a:lnTo>
                    <a:pt x="1932" y="1204"/>
                  </a:lnTo>
                  <a:lnTo>
                    <a:pt x="1912" y="1223"/>
                  </a:lnTo>
                  <a:lnTo>
                    <a:pt x="1889" y="1239"/>
                  </a:lnTo>
                  <a:lnTo>
                    <a:pt x="1864" y="1249"/>
                  </a:lnTo>
                  <a:lnTo>
                    <a:pt x="1841" y="1255"/>
                  </a:lnTo>
                  <a:lnTo>
                    <a:pt x="1817" y="1256"/>
                  </a:lnTo>
                  <a:lnTo>
                    <a:pt x="1793" y="1255"/>
                  </a:lnTo>
                  <a:lnTo>
                    <a:pt x="1770" y="1249"/>
                  </a:lnTo>
                  <a:lnTo>
                    <a:pt x="1748" y="1241"/>
                  </a:lnTo>
                  <a:lnTo>
                    <a:pt x="1728" y="1228"/>
                  </a:lnTo>
                  <a:lnTo>
                    <a:pt x="1710" y="1213"/>
                  </a:lnTo>
                  <a:lnTo>
                    <a:pt x="1614" y="1116"/>
                  </a:lnTo>
                  <a:lnTo>
                    <a:pt x="1571" y="1145"/>
                  </a:lnTo>
                  <a:lnTo>
                    <a:pt x="1524" y="1176"/>
                  </a:lnTo>
                  <a:lnTo>
                    <a:pt x="1472" y="1209"/>
                  </a:lnTo>
                  <a:lnTo>
                    <a:pt x="1417" y="1243"/>
                  </a:lnTo>
                  <a:lnTo>
                    <a:pt x="1358" y="1277"/>
                  </a:lnTo>
                  <a:lnTo>
                    <a:pt x="1295" y="1310"/>
                  </a:lnTo>
                  <a:lnTo>
                    <a:pt x="1230" y="1344"/>
                  </a:lnTo>
                  <a:lnTo>
                    <a:pt x="1161" y="1376"/>
                  </a:lnTo>
                  <a:lnTo>
                    <a:pt x="1091" y="1407"/>
                  </a:lnTo>
                  <a:lnTo>
                    <a:pt x="1018" y="1435"/>
                  </a:lnTo>
                  <a:lnTo>
                    <a:pt x="945" y="1460"/>
                  </a:lnTo>
                  <a:lnTo>
                    <a:pt x="869" y="1483"/>
                  </a:lnTo>
                  <a:lnTo>
                    <a:pt x="793" y="1501"/>
                  </a:lnTo>
                  <a:lnTo>
                    <a:pt x="717" y="1514"/>
                  </a:lnTo>
                  <a:lnTo>
                    <a:pt x="640" y="1523"/>
                  </a:lnTo>
                  <a:lnTo>
                    <a:pt x="564" y="1526"/>
                  </a:lnTo>
                  <a:lnTo>
                    <a:pt x="496" y="1524"/>
                  </a:lnTo>
                  <a:lnTo>
                    <a:pt x="430" y="1515"/>
                  </a:lnTo>
                  <a:lnTo>
                    <a:pt x="367" y="1503"/>
                  </a:lnTo>
                  <a:lnTo>
                    <a:pt x="306" y="1485"/>
                  </a:lnTo>
                  <a:lnTo>
                    <a:pt x="249" y="1462"/>
                  </a:lnTo>
                  <a:lnTo>
                    <a:pt x="193" y="1435"/>
                  </a:lnTo>
                  <a:lnTo>
                    <a:pt x="141" y="1402"/>
                  </a:lnTo>
                  <a:lnTo>
                    <a:pt x="91" y="1365"/>
                  </a:lnTo>
                  <a:lnTo>
                    <a:pt x="44" y="1322"/>
                  </a:lnTo>
                  <a:lnTo>
                    <a:pt x="27" y="1301"/>
                  </a:lnTo>
                  <a:lnTo>
                    <a:pt x="14" y="1278"/>
                  </a:lnTo>
                  <a:lnTo>
                    <a:pt x="5" y="1254"/>
                  </a:lnTo>
                  <a:lnTo>
                    <a:pt x="0" y="1229"/>
                  </a:lnTo>
                  <a:lnTo>
                    <a:pt x="0" y="1203"/>
                  </a:lnTo>
                  <a:lnTo>
                    <a:pt x="5" y="1177"/>
                  </a:lnTo>
                  <a:lnTo>
                    <a:pt x="14" y="1152"/>
                  </a:lnTo>
                  <a:lnTo>
                    <a:pt x="28" y="1129"/>
                  </a:lnTo>
                  <a:lnTo>
                    <a:pt x="44" y="1110"/>
                  </a:lnTo>
                  <a:lnTo>
                    <a:pt x="65" y="1093"/>
                  </a:lnTo>
                  <a:lnTo>
                    <a:pt x="87" y="1081"/>
                  </a:lnTo>
                  <a:lnTo>
                    <a:pt x="112" y="1071"/>
                  </a:lnTo>
                  <a:lnTo>
                    <a:pt x="138" y="1067"/>
                  </a:lnTo>
                  <a:lnTo>
                    <a:pt x="165" y="1066"/>
                  </a:lnTo>
                  <a:lnTo>
                    <a:pt x="190" y="1070"/>
                  </a:lnTo>
                  <a:lnTo>
                    <a:pt x="215" y="1080"/>
                  </a:lnTo>
                  <a:lnTo>
                    <a:pt x="232" y="1086"/>
                  </a:lnTo>
                  <a:lnTo>
                    <a:pt x="250" y="1089"/>
                  </a:lnTo>
                  <a:lnTo>
                    <a:pt x="269" y="1090"/>
                  </a:lnTo>
                  <a:lnTo>
                    <a:pt x="302" y="1088"/>
                  </a:lnTo>
                  <a:lnTo>
                    <a:pt x="336" y="1080"/>
                  </a:lnTo>
                  <a:lnTo>
                    <a:pt x="372" y="1067"/>
                  </a:lnTo>
                  <a:lnTo>
                    <a:pt x="411" y="1050"/>
                  </a:lnTo>
                  <a:lnTo>
                    <a:pt x="451" y="1029"/>
                  </a:lnTo>
                  <a:lnTo>
                    <a:pt x="491" y="1004"/>
                  </a:lnTo>
                  <a:lnTo>
                    <a:pt x="533" y="975"/>
                  </a:lnTo>
                  <a:lnTo>
                    <a:pt x="576" y="942"/>
                  </a:lnTo>
                  <a:lnTo>
                    <a:pt x="619" y="908"/>
                  </a:lnTo>
                  <a:lnTo>
                    <a:pt x="663" y="869"/>
                  </a:lnTo>
                  <a:lnTo>
                    <a:pt x="707" y="830"/>
                  </a:lnTo>
                  <a:lnTo>
                    <a:pt x="750" y="787"/>
                  </a:lnTo>
                  <a:lnTo>
                    <a:pt x="794" y="744"/>
                  </a:lnTo>
                  <a:lnTo>
                    <a:pt x="837" y="698"/>
                  </a:lnTo>
                  <a:lnTo>
                    <a:pt x="879" y="651"/>
                  </a:lnTo>
                  <a:lnTo>
                    <a:pt x="921" y="603"/>
                  </a:lnTo>
                  <a:lnTo>
                    <a:pt x="960" y="555"/>
                  </a:lnTo>
                  <a:lnTo>
                    <a:pt x="1000" y="508"/>
                  </a:lnTo>
                  <a:lnTo>
                    <a:pt x="904" y="412"/>
                  </a:lnTo>
                  <a:lnTo>
                    <a:pt x="886" y="391"/>
                  </a:lnTo>
                  <a:lnTo>
                    <a:pt x="873" y="367"/>
                  </a:lnTo>
                  <a:lnTo>
                    <a:pt x="864" y="341"/>
                  </a:lnTo>
                  <a:lnTo>
                    <a:pt x="860" y="314"/>
                  </a:lnTo>
                  <a:lnTo>
                    <a:pt x="861" y="287"/>
                  </a:lnTo>
                  <a:lnTo>
                    <a:pt x="867" y="259"/>
                  </a:lnTo>
                  <a:lnTo>
                    <a:pt x="878" y="234"/>
                  </a:lnTo>
                  <a:lnTo>
                    <a:pt x="893" y="211"/>
                  </a:lnTo>
                  <a:lnTo>
                    <a:pt x="912" y="191"/>
                  </a:lnTo>
                  <a:lnTo>
                    <a:pt x="934" y="176"/>
                  </a:lnTo>
                  <a:lnTo>
                    <a:pt x="959" y="164"/>
                  </a:lnTo>
                  <a:lnTo>
                    <a:pt x="987" y="157"/>
                  </a:lnTo>
                  <a:lnTo>
                    <a:pt x="1949" y="2"/>
                  </a:lnTo>
                  <a:lnTo>
                    <a:pt x="19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5499735" y="2081530"/>
            <a:ext cx="9836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数仓建设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6464935" y="2080895"/>
            <a:ext cx="9836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数据产品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535930" y="3130550"/>
            <a:ext cx="9836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数据科学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6483350" y="3130550"/>
            <a:ext cx="9836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增长分析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5535930" y="5462905"/>
            <a:ext cx="9836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增长分析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5499735" y="4228465"/>
            <a:ext cx="9836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增长运营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6519545" y="4237990"/>
            <a:ext cx="9836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数据产品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6497955" y="5462905"/>
            <a:ext cx="9836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增长运营</a:t>
            </a:r>
          </a:p>
        </p:txBody>
      </p:sp>
      <p:sp>
        <p:nvSpPr>
          <p:cNvPr id="35" name="TextBox 123"/>
          <p:cNvSpPr txBox="1"/>
          <p:nvPr/>
        </p:nvSpPr>
        <p:spPr>
          <a:xfrm>
            <a:off x="7515234" y="1060601"/>
            <a:ext cx="1000760" cy="3619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增长闭环</a:t>
            </a:r>
          </a:p>
        </p:txBody>
      </p:sp>
      <p:sp>
        <p:nvSpPr>
          <p:cNvPr id="36" name="TextBox 123"/>
          <p:cNvSpPr txBox="1"/>
          <p:nvPr/>
        </p:nvSpPr>
        <p:spPr>
          <a:xfrm>
            <a:off x="6009014" y="1068856"/>
            <a:ext cx="1000760" cy="3619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增长团队</a:t>
            </a:r>
          </a:p>
        </p:txBody>
      </p:sp>
      <p:sp>
        <p:nvSpPr>
          <p:cNvPr id="37" name="标题 36"/>
          <p:cNvSpPr>
            <a:spLocks noGrp="1"/>
          </p:cNvSpPr>
          <p:nvPr>
            <p:ph type="title"/>
          </p:nvPr>
        </p:nvSpPr>
        <p:spPr>
          <a:xfrm>
            <a:off x="332740" y="375285"/>
            <a:ext cx="10515600" cy="566863"/>
          </a:xfrm>
        </p:spPr>
        <p:txBody>
          <a:bodyPr>
            <a:noAutofit/>
          </a:bodyPr>
          <a:lstStyle/>
          <a:p>
            <a:r>
              <a:rPr lang="zh-CN" altLang="en-US" sz="3600" b="1" dirty="0"/>
              <a:t>用户增长团队分工，打造增长闭环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59" grpId="0" bldLvl="0" animBg="1"/>
      <p:bldP spid="60" grpId="0" bldLvl="0" animBg="1"/>
      <p:bldP spid="61" grpId="0" bldLvl="0" animBg="1"/>
      <p:bldP spid="62" grpId="0" bldLvl="0" animBg="1"/>
      <p:bldP spid="64" grpId="0" bldLvl="0" animBg="1"/>
      <p:bldP spid="66" grpId="0" bldLvl="0" animBg="1"/>
      <p:bldP spid="68" grpId="0" bldLvl="0" animBg="1"/>
      <p:bldP spid="3" grpId="0"/>
      <p:bldP spid="4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1"/>
          <a:stretch>
            <a:fillRect/>
          </a:stretch>
        </p:blipFill>
        <p:spPr>
          <a:xfrm>
            <a:off x="5378450" y="777240"/>
            <a:ext cx="6202680" cy="10363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42940" y="1813560"/>
            <a:ext cx="5838190" cy="49218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2240" y="278130"/>
            <a:ext cx="1072896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/>
              <a:t>即将产出：基于统计分析和机器学习的用户洞察</a:t>
            </a:r>
          </a:p>
          <a:p>
            <a:endParaRPr lang="zh-CN" altLang="en-US" sz="2000">
              <a:latin typeface="+mn-ea"/>
              <a:cs typeface="+mn-ea"/>
            </a:endParaRPr>
          </a:p>
          <a:p>
            <a:pPr algn="l"/>
            <a:r>
              <a:rPr lang="zh-CN" altLang="en-US" sz="1400" dirty="0">
                <a:solidFill>
                  <a:srgbClr val="39445F"/>
                </a:solidFill>
                <a:latin typeface="+mn-ea"/>
                <a:cs typeface="+mn-ea"/>
              </a:rPr>
              <a:t>第一期 9.30：限于用户基础信息和价值维度</a:t>
            </a:r>
          </a:p>
          <a:p>
            <a:pPr algn="l"/>
            <a:r>
              <a:rPr lang="zh-CN" altLang="en-US" sz="1400" dirty="0">
                <a:solidFill>
                  <a:srgbClr val="39445F"/>
                </a:solidFill>
                <a:latin typeface="+mn-ea"/>
                <a:cs typeface="+mn-ea"/>
              </a:rPr>
              <a:t>第二期 10.31：结合用户行为数据</a:t>
            </a:r>
          </a:p>
        </p:txBody>
      </p:sp>
      <p:grpSp>
        <p:nvGrpSpPr>
          <p:cNvPr id="28" name="PA-组合 27"/>
          <p:cNvGrpSpPr/>
          <p:nvPr>
            <p:custDataLst>
              <p:tags r:id="rId1"/>
            </p:custDataLst>
          </p:nvPr>
        </p:nvGrpSpPr>
        <p:grpSpPr>
          <a:xfrm>
            <a:off x="497038" y="4005456"/>
            <a:ext cx="4584131" cy="537048"/>
            <a:chOff x="5456293" y="4894720"/>
            <a:chExt cx="4584131" cy="537048"/>
          </a:xfrm>
        </p:grpSpPr>
        <p:sp>
          <p:nvSpPr>
            <p:cNvPr id="29" name="PA-矩形 28"/>
            <p:cNvSpPr/>
            <p:nvPr>
              <p:custDataLst>
                <p:tags r:id="rId8"/>
              </p:custDataLst>
            </p:nvPr>
          </p:nvSpPr>
          <p:spPr>
            <a:xfrm>
              <a:off x="5456293" y="4894720"/>
              <a:ext cx="537048" cy="53704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30" name="PA-文本框 29"/>
            <p:cNvSpPr txBox="1"/>
            <p:nvPr>
              <p:custDataLst>
                <p:tags r:id="rId9"/>
              </p:custDataLst>
            </p:nvPr>
          </p:nvSpPr>
          <p:spPr>
            <a:xfrm>
              <a:off x="6253137" y="4979533"/>
              <a:ext cx="3787287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39445F"/>
                  </a:solidFill>
                  <a:latin typeface="+mn-ea"/>
                  <a:cs typeface="+mn-ea"/>
                  <a:sym typeface="+mn-lt"/>
                </a:rPr>
                <a:t>用户如何分群</a:t>
              </a:r>
            </a:p>
          </p:txBody>
        </p:sp>
      </p:grpSp>
      <p:grpSp>
        <p:nvGrpSpPr>
          <p:cNvPr id="7" name="PA-组合 21"/>
          <p:cNvGrpSpPr/>
          <p:nvPr>
            <p:custDataLst>
              <p:tags r:id="rId2"/>
            </p:custDataLst>
          </p:nvPr>
        </p:nvGrpSpPr>
        <p:grpSpPr>
          <a:xfrm>
            <a:off x="497038" y="2223381"/>
            <a:ext cx="4584131" cy="537048"/>
            <a:chOff x="5456293" y="2430920"/>
            <a:chExt cx="4584131" cy="537048"/>
          </a:xfrm>
        </p:grpSpPr>
        <p:sp>
          <p:nvSpPr>
            <p:cNvPr id="8" name="PA-矩形 22"/>
            <p:cNvSpPr/>
            <p:nvPr>
              <p:custDataLst>
                <p:tags r:id="rId6"/>
              </p:custDataLst>
            </p:nvPr>
          </p:nvSpPr>
          <p:spPr>
            <a:xfrm>
              <a:off x="5456293" y="2430920"/>
              <a:ext cx="537048" cy="537048"/>
            </a:xfrm>
            <a:prstGeom prst="rect">
              <a:avLst/>
            </a:prstGeom>
            <a:solidFill>
              <a:schemeClr val="accent1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9" name="PA-文本框 23"/>
            <p:cNvSpPr txBox="1"/>
            <p:nvPr>
              <p:custDataLst>
                <p:tags r:id="rId7"/>
              </p:custDataLst>
            </p:nvPr>
          </p:nvSpPr>
          <p:spPr>
            <a:xfrm>
              <a:off x="6253137" y="2515294"/>
              <a:ext cx="3787287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39445F"/>
                  </a:solidFill>
                  <a:latin typeface="+mn-ea"/>
                  <a:cs typeface="+mn-ea"/>
                  <a:sym typeface="+mn-lt"/>
                </a:rPr>
                <a:t>谁是我们的用户</a:t>
              </a:r>
              <a:endParaRPr lang="zh-CN" altLang="en-US" sz="800" b="1" dirty="0">
                <a:solidFill>
                  <a:srgbClr val="39445F"/>
                </a:solidFill>
                <a:latin typeface="+mn-ea"/>
                <a:cs typeface="+mn-ea"/>
                <a:sym typeface="+mn-lt"/>
              </a:endParaRPr>
            </a:p>
          </p:txBody>
        </p:sp>
      </p:grpSp>
      <p:grpSp>
        <p:nvGrpSpPr>
          <p:cNvPr id="10" name="PA-组合 24"/>
          <p:cNvGrpSpPr/>
          <p:nvPr>
            <p:custDataLst>
              <p:tags r:id="rId3"/>
            </p:custDataLst>
          </p:nvPr>
        </p:nvGrpSpPr>
        <p:grpSpPr>
          <a:xfrm>
            <a:off x="497038" y="3071944"/>
            <a:ext cx="4584131" cy="537048"/>
            <a:chOff x="5456293" y="3662820"/>
            <a:chExt cx="4584131" cy="537048"/>
          </a:xfrm>
        </p:grpSpPr>
        <p:sp>
          <p:nvSpPr>
            <p:cNvPr id="11" name="PA-矩形 25"/>
            <p:cNvSpPr/>
            <p:nvPr>
              <p:custDataLst>
                <p:tags r:id="rId4"/>
              </p:custDataLst>
            </p:nvPr>
          </p:nvSpPr>
          <p:spPr>
            <a:xfrm>
              <a:off x="5456293" y="3662820"/>
              <a:ext cx="537048" cy="537048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+mn-lt"/>
                </a:rPr>
                <a:t>02</a:t>
              </a:r>
            </a:p>
          </p:txBody>
        </p:sp>
        <p:sp>
          <p:nvSpPr>
            <p:cNvPr id="12" name="PA-文本框 26"/>
            <p:cNvSpPr txBox="1"/>
            <p:nvPr>
              <p:custDataLst>
                <p:tags r:id="rId5"/>
              </p:custDataLst>
            </p:nvPr>
          </p:nvSpPr>
          <p:spPr>
            <a:xfrm>
              <a:off x="6253137" y="3663276"/>
              <a:ext cx="3787287" cy="506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rgbClr val="39445F"/>
                  </a:solidFill>
                  <a:latin typeface="+mn-ea"/>
                  <a:cs typeface="+mn-ea"/>
                  <a:sym typeface="+mn-lt"/>
                </a:rPr>
                <a:t>什么样的用户更容易下单</a:t>
              </a:r>
              <a:endParaRPr lang="zh-CN" altLang="en-US" sz="800" b="1" dirty="0">
                <a:solidFill>
                  <a:srgbClr val="39445F"/>
                </a:solidFill>
                <a:latin typeface="+mn-ea"/>
                <a:cs typeface="+mn-ea"/>
                <a:sym typeface="+mn-lt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55035" y="4813300"/>
            <a:ext cx="2112645" cy="19221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085" y="4843780"/>
            <a:ext cx="2471420" cy="201422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42975" y="4568190"/>
            <a:ext cx="18561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逻辑回归模型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886835" y="4568190"/>
            <a:ext cx="18561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无监督分类模型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#ppt_w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8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#ppt_w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3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#ppt_w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8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6385007" y="1895219"/>
            <a:ext cx="4831610" cy="3698688"/>
            <a:chOff x="6411000" y="1718999"/>
            <a:chExt cx="4831610" cy="3698688"/>
          </a:xfrm>
        </p:grpSpPr>
        <p:grpSp>
          <p:nvGrpSpPr>
            <p:cNvPr id="133" name="ísḷiḋè"/>
            <p:cNvGrpSpPr/>
            <p:nvPr/>
          </p:nvGrpSpPr>
          <p:grpSpPr>
            <a:xfrm>
              <a:off x="6411000" y="1718999"/>
              <a:ext cx="4831610" cy="3698688"/>
              <a:chOff x="1307468" y="1448780"/>
              <a:chExt cx="5613221" cy="4297025"/>
            </a:xfrm>
          </p:grpSpPr>
          <p:grpSp>
            <p:nvGrpSpPr>
              <p:cNvPr id="137" name="ïṡľîḍê"/>
              <p:cNvGrpSpPr/>
              <p:nvPr/>
            </p:nvGrpSpPr>
            <p:grpSpPr>
              <a:xfrm flipH="1">
                <a:off x="1542052" y="3121830"/>
                <a:ext cx="1620889" cy="1620883"/>
                <a:chOff x="953424" y="1486519"/>
                <a:chExt cx="2228412" cy="2228408"/>
              </a:xfrm>
              <a:solidFill>
                <a:schemeClr val="accent1"/>
              </a:solidFill>
            </p:grpSpPr>
            <p:sp>
              <p:nvSpPr>
                <p:cNvPr id="150" name="íslidè"/>
                <p:cNvSpPr/>
                <p:nvPr/>
              </p:nvSpPr>
              <p:spPr>
                <a:xfrm>
                  <a:off x="953424" y="1486519"/>
                  <a:ext cx="2228412" cy="2228408"/>
                </a:xfrm>
                <a:custGeom>
                  <a:avLst/>
                  <a:gdLst>
                    <a:gd name="connsiteX0" fmla="*/ 1124074 w 1583637"/>
                    <a:gd name="connsiteY0" fmla="*/ 252493 h 1583637"/>
                    <a:gd name="connsiteX1" fmla="*/ 1247256 w 1583637"/>
                    <a:gd name="connsiteY1" fmla="*/ 149126 h 1583637"/>
                    <a:gd name="connsiteX2" fmla="*/ 1345663 w 1583637"/>
                    <a:gd name="connsiteY2" fmla="*/ 231701 h 1583637"/>
                    <a:gd name="connsiteX3" fmla="*/ 1265256 w 1583637"/>
                    <a:gd name="connsiteY3" fmla="*/ 370961 h 1583637"/>
                    <a:gd name="connsiteX4" fmla="*/ 1393012 w 1583637"/>
                    <a:gd name="connsiteY4" fmla="*/ 592241 h 1583637"/>
                    <a:gd name="connsiteX5" fmla="*/ 1553818 w 1583637"/>
                    <a:gd name="connsiteY5" fmla="*/ 592237 h 1583637"/>
                    <a:gd name="connsiteX6" fmla="*/ 1576125 w 1583637"/>
                    <a:gd name="connsiteY6" fmla="*/ 718748 h 1583637"/>
                    <a:gd name="connsiteX7" fmla="*/ 1425015 w 1583637"/>
                    <a:gd name="connsiteY7" fmla="*/ 773743 h 1583637"/>
                    <a:gd name="connsiteX8" fmla="*/ 1380646 w 1583637"/>
                    <a:gd name="connsiteY8" fmla="*/ 1025372 h 1583637"/>
                    <a:gd name="connsiteX9" fmla="*/ 1503833 w 1583637"/>
                    <a:gd name="connsiteY9" fmla="*/ 1128733 h 1583637"/>
                    <a:gd name="connsiteX10" fmla="*/ 1439602 w 1583637"/>
                    <a:gd name="connsiteY10" fmla="*/ 1239984 h 1583637"/>
                    <a:gd name="connsiteX11" fmla="*/ 1288495 w 1583637"/>
                    <a:gd name="connsiteY11" fmla="*/ 1184982 h 1583637"/>
                    <a:gd name="connsiteX12" fmla="*/ 1092761 w 1583637"/>
                    <a:gd name="connsiteY12" fmla="*/ 1349222 h 1583637"/>
                    <a:gd name="connsiteX13" fmla="*/ 1120689 w 1583637"/>
                    <a:gd name="connsiteY13" fmla="*/ 1507584 h 1583637"/>
                    <a:gd name="connsiteX14" fmla="*/ 999974 w 1583637"/>
                    <a:gd name="connsiteY14" fmla="*/ 1551521 h 1583637"/>
                    <a:gd name="connsiteX15" fmla="*/ 919574 w 1583637"/>
                    <a:gd name="connsiteY15" fmla="*/ 1412257 h 1583637"/>
                    <a:gd name="connsiteX16" fmla="*/ 664062 w 1583637"/>
                    <a:gd name="connsiteY16" fmla="*/ 1412257 h 1583637"/>
                    <a:gd name="connsiteX17" fmla="*/ 583663 w 1583637"/>
                    <a:gd name="connsiteY17" fmla="*/ 1551521 h 1583637"/>
                    <a:gd name="connsiteX18" fmla="*/ 462948 w 1583637"/>
                    <a:gd name="connsiteY18" fmla="*/ 1507584 h 1583637"/>
                    <a:gd name="connsiteX19" fmla="*/ 490876 w 1583637"/>
                    <a:gd name="connsiteY19" fmla="*/ 1349222 h 1583637"/>
                    <a:gd name="connsiteX20" fmla="*/ 295142 w 1583637"/>
                    <a:gd name="connsiteY20" fmla="*/ 1184981 h 1583637"/>
                    <a:gd name="connsiteX21" fmla="*/ 144035 w 1583637"/>
                    <a:gd name="connsiteY21" fmla="*/ 1239984 h 1583637"/>
                    <a:gd name="connsiteX22" fmla="*/ 79804 w 1583637"/>
                    <a:gd name="connsiteY22" fmla="*/ 1128733 h 1583637"/>
                    <a:gd name="connsiteX23" fmla="*/ 202991 w 1583637"/>
                    <a:gd name="connsiteY23" fmla="*/ 1025372 h 1583637"/>
                    <a:gd name="connsiteX24" fmla="*/ 158622 w 1583637"/>
                    <a:gd name="connsiteY24" fmla="*/ 773743 h 1583637"/>
                    <a:gd name="connsiteX25" fmla="*/ 7512 w 1583637"/>
                    <a:gd name="connsiteY25" fmla="*/ 718748 h 1583637"/>
                    <a:gd name="connsiteX26" fmla="*/ 29819 w 1583637"/>
                    <a:gd name="connsiteY26" fmla="*/ 592237 h 1583637"/>
                    <a:gd name="connsiteX27" fmla="*/ 190625 w 1583637"/>
                    <a:gd name="connsiteY27" fmla="*/ 592241 h 1583637"/>
                    <a:gd name="connsiteX28" fmla="*/ 318381 w 1583637"/>
                    <a:gd name="connsiteY28" fmla="*/ 370961 h 1583637"/>
                    <a:gd name="connsiteX29" fmla="*/ 237974 w 1583637"/>
                    <a:gd name="connsiteY29" fmla="*/ 231701 h 1583637"/>
                    <a:gd name="connsiteX30" fmla="*/ 336381 w 1583637"/>
                    <a:gd name="connsiteY30" fmla="*/ 149126 h 1583637"/>
                    <a:gd name="connsiteX31" fmla="*/ 459563 w 1583637"/>
                    <a:gd name="connsiteY31" fmla="*/ 252493 h 1583637"/>
                    <a:gd name="connsiteX32" fmla="*/ 699666 w 1583637"/>
                    <a:gd name="connsiteY32" fmla="*/ 165103 h 1583637"/>
                    <a:gd name="connsiteX33" fmla="*/ 727586 w 1583637"/>
                    <a:gd name="connsiteY33" fmla="*/ 6739 h 1583637"/>
                    <a:gd name="connsiteX34" fmla="*/ 856051 w 1583637"/>
                    <a:gd name="connsiteY34" fmla="*/ 6739 h 1583637"/>
                    <a:gd name="connsiteX35" fmla="*/ 883970 w 1583637"/>
                    <a:gd name="connsiteY35" fmla="*/ 165102 h 1583637"/>
                    <a:gd name="connsiteX36" fmla="*/ 1124073 w 1583637"/>
                    <a:gd name="connsiteY36" fmla="*/ 252493 h 1583637"/>
                    <a:gd name="connsiteX37" fmla="*/ 1124074 w 1583637"/>
                    <a:gd name="connsiteY37" fmla="*/ 252493 h 15836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1583637" h="1583637">
                      <a:moveTo>
                        <a:pt x="1124074" y="252493"/>
                      </a:moveTo>
                      <a:lnTo>
                        <a:pt x="1247256" y="149126"/>
                      </a:lnTo>
                      <a:lnTo>
                        <a:pt x="1345663" y="231701"/>
                      </a:lnTo>
                      <a:lnTo>
                        <a:pt x="1265256" y="370961"/>
                      </a:lnTo>
                      <a:cubicBezTo>
                        <a:pt x="1322430" y="435278"/>
                        <a:pt x="1365899" y="510569"/>
                        <a:pt x="1393012" y="592241"/>
                      </a:cubicBezTo>
                      <a:lnTo>
                        <a:pt x="1553818" y="592237"/>
                      </a:lnTo>
                      <a:lnTo>
                        <a:pt x="1576125" y="718748"/>
                      </a:lnTo>
                      <a:lnTo>
                        <a:pt x="1425015" y="773743"/>
                      </a:lnTo>
                      <a:cubicBezTo>
                        <a:pt x="1427471" y="859762"/>
                        <a:pt x="1412374" y="945380"/>
                        <a:pt x="1380646" y="1025372"/>
                      </a:cubicBezTo>
                      <a:lnTo>
                        <a:pt x="1503833" y="1128733"/>
                      </a:lnTo>
                      <a:lnTo>
                        <a:pt x="1439602" y="1239984"/>
                      </a:lnTo>
                      <a:lnTo>
                        <a:pt x="1288495" y="1184982"/>
                      </a:lnTo>
                      <a:cubicBezTo>
                        <a:pt x="1235084" y="1252456"/>
                        <a:pt x="1168484" y="1308339"/>
                        <a:pt x="1092761" y="1349222"/>
                      </a:cubicBezTo>
                      <a:lnTo>
                        <a:pt x="1120689" y="1507584"/>
                      </a:lnTo>
                      <a:lnTo>
                        <a:pt x="999974" y="1551521"/>
                      </a:lnTo>
                      <a:lnTo>
                        <a:pt x="919574" y="1412257"/>
                      </a:lnTo>
                      <a:cubicBezTo>
                        <a:pt x="835287" y="1429613"/>
                        <a:pt x="748348" y="1429613"/>
                        <a:pt x="664062" y="1412257"/>
                      </a:cubicBezTo>
                      <a:lnTo>
                        <a:pt x="583663" y="1551521"/>
                      </a:lnTo>
                      <a:lnTo>
                        <a:pt x="462948" y="1507584"/>
                      </a:lnTo>
                      <a:lnTo>
                        <a:pt x="490876" y="1349222"/>
                      </a:lnTo>
                      <a:cubicBezTo>
                        <a:pt x="415153" y="1308339"/>
                        <a:pt x="348553" y="1252455"/>
                        <a:pt x="295142" y="1184981"/>
                      </a:cubicBezTo>
                      <a:lnTo>
                        <a:pt x="144035" y="1239984"/>
                      </a:lnTo>
                      <a:lnTo>
                        <a:pt x="79804" y="1128733"/>
                      </a:lnTo>
                      <a:lnTo>
                        <a:pt x="202991" y="1025372"/>
                      </a:lnTo>
                      <a:cubicBezTo>
                        <a:pt x="171263" y="945380"/>
                        <a:pt x="156166" y="859762"/>
                        <a:pt x="158622" y="773743"/>
                      </a:cubicBezTo>
                      <a:lnTo>
                        <a:pt x="7512" y="718748"/>
                      </a:lnTo>
                      <a:lnTo>
                        <a:pt x="29819" y="592237"/>
                      </a:lnTo>
                      <a:lnTo>
                        <a:pt x="190625" y="592241"/>
                      </a:lnTo>
                      <a:cubicBezTo>
                        <a:pt x="217738" y="510569"/>
                        <a:pt x="261208" y="435277"/>
                        <a:pt x="318381" y="370961"/>
                      </a:cubicBezTo>
                      <a:lnTo>
                        <a:pt x="237974" y="231701"/>
                      </a:lnTo>
                      <a:lnTo>
                        <a:pt x="336381" y="149126"/>
                      </a:lnTo>
                      <a:lnTo>
                        <a:pt x="459563" y="252493"/>
                      </a:lnTo>
                      <a:cubicBezTo>
                        <a:pt x="532831" y="207356"/>
                        <a:pt x="614527" y="177621"/>
                        <a:pt x="699666" y="165103"/>
                      </a:cubicBezTo>
                      <a:lnTo>
                        <a:pt x="727586" y="6739"/>
                      </a:lnTo>
                      <a:lnTo>
                        <a:pt x="856051" y="6739"/>
                      </a:lnTo>
                      <a:lnTo>
                        <a:pt x="883970" y="165102"/>
                      </a:lnTo>
                      <a:cubicBezTo>
                        <a:pt x="969110" y="177621"/>
                        <a:pt x="1050806" y="207356"/>
                        <a:pt x="1124073" y="252493"/>
                      </a:cubicBezTo>
                      <a:lnTo>
                        <a:pt x="1124074" y="252493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思源黑体 CN Regular" panose="020B0500000000000000" pitchFamily="34" charset="-122"/>
                    <a:ea typeface="思源黑体 CN Regular" panose="020B0500000000000000" pitchFamily="34" charset="-122"/>
                    <a:sym typeface="思源黑体 CN Regular" panose="020B0500000000000000" pitchFamily="34" charset="-122"/>
                  </a:endParaRPr>
                </a:p>
              </p:txBody>
            </p:sp>
            <p:sp>
              <p:nvSpPr>
                <p:cNvPr id="151" name="isľiďê"/>
                <p:cNvSpPr/>
                <p:nvPr/>
              </p:nvSpPr>
              <p:spPr>
                <a:xfrm>
                  <a:off x="1376346" y="1909439"/>
                  <a:ext cx="1382568" cy="1382568"/>
                </a:xfrm>
                <a:prstGeom prst="ellipse">
                  <a:avLst/>
                </a:prstGeom>
                <a:solidFill>
                  <a:schemeClr val="accent3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思源黑体 CN Regular" panose="020B0500000000000000" pitchFamily="34" charset="-122"/>
                    <a:ea typeface="思源黑体 CN Regular" panose="020B0500000000000000" pitchFamily="34" charset="-122"/>
                    <a:sym typeface="思源黑体 CN Regular" panose="020B0500000000000000" pitchFamily="34" charset="-122"/>
                  </a:endParaRPr>
                </a:p>
              </p:txBody>
            </p:sp>
          </p:grpSp>
          <p:grpSp>
            <p:nvGrpSpPr>
              <p:cNvPr id="138" name="íŝ1ïďé"/>
              <p:cNvGrpSpPr/>
              <p:nvPr/>
            </p:nvGrpSpPr>
            <p:grpSpPr>
              <a:xfrm rot="342038" flipH="1">
                <a:off x="3043038" y="3326813"/>
                <a:ext cx="2170871" cy="2170868"/>
                <a:chOff x="953424" y="1486519"/>
                <a:chExt cx="2228412" cy="2228408"/>
              </a:xfrm>
              <a:solidFill>
                <a:schemeClr val="accent2"/>
              </a:solidFill>
            </p:grpSpPr>
            <p:sp>
              <p:nvSpPr>
                <p:cNvPr id="148" name="íslîde"/>
                <p:cNvSpPr/>
                <p:nvPr/>
              </p:nvSpPr>
              <p:spPr>
                <a:xfrm>
                  <a:off x="953424" y="1486519"/>
                  <a:ext cx="2228412" cy="2228408"/>
                </a:xfrm>
                <a:custGeom>
                  <a:avLst/>
                  <a:gdLst>
                    <a:gd name="connsiteX0" fmla="*/ 1124074 w 1583637"/>
                    <a:gd name="connsiteY0" fmla="*/ 252493 h 1583637"/>
                    <a:gd name="connsiteX1" fmla="*/ 1247256 w 1583637"/>
                    <a:gd name="connsiteY1" fmla="*/ 149126 h 1583637"/>
                    <a:gd name="connsiteX2" fmla="*/ 1345663 w 1583637"/>
                    <a:gd name="connsiteY2" fmla="*/ 231701 h 1583637"/>
                    <a:gd name="connsiteX3" fmla="*/ 1265256 w 1583637"/>
                    <a:gd name="connsiteY3" fmla="*/ 370961 h 1583637"/>
                    <a:gd name="connsiteX4" fmla="*/ 1393012 w 1583637"/>
                    <a:gd name="connsiteY4" fmla="*/ 592241 h 1583637"/>
                    <a:gd name="connsiteX5" fmla="*/ 1553818 w 1583637"/>
                    <a:gd name="connsiteY5" fmla="*/ 592237 h 1583637"/>
                    <a:gd name="connsiteX6" fmla="*/ 1576125 w 1583637"/>
                    <a:gd name="connsiteY6" fmla="*/ 718748 h 1583637"/>
                    <a:gd name="connsiteX7" fmla="*/ 1425015 w 1583637"/>
                    <a:gd name="connsiteY7" fmla="*/ 773743 h 1583637"/>
                    <a:gd name="connsiteX8" fmla="*/ 1380646 w 1583637"/>
                    <a:gd name="connsiteY8" fmla="*/ 1025372 h 1583637"/>
                    <a:gd name="connsiteX9" fmla="*/ 1503833 w 1583637"/>
                    <a:gd name="connsiteY9" fmla="*/ 1128733 h 1583637"/>
                    <a:gd name="connsiteX10" fmla="*/ 1439602 w 1583637"/>
                    <a:gd name="connsiteY10" fmla="*/ 1239984 h 1583637"/>
                    <a:gd name="connsiteX11" fmla="*/ 1288495 w 1583637"/>
                    <a:gd name="connsiteY11" fmla="*/ 1184982 h 1583637"/>
                    <a:gd name="connsiteX12" fmla="*/ 1092761 w 1583637"/>
                    <a:gd name="connsiteY12" fmla="*/ 1349222 h 1583637"/>
                    <a:gd name="connsiteX13" fmla="*/ 1120689 w 1583637"/>
                    <a:gd name="connsiteY13" fmla="*/ 1507584 h 1583637"/>
                    <a:gd name="connsiteX14" fmla="*/ 999974 w 1583637"/>
                    <a:gd name="connsiteY14" fmla="*/ 1551521 h 1583637"/>
                    <a:gd name="connsiteX15" fmla="*/ 919574 w 1583637"/>
                    <a:gd name="connsiteY15" fmla="*/ 1412257 h 1583637"/>
                    <a:gd name="connsiteX16" fmla="*/ 664062 w 1583637"/>
                    <a:gd name="connsiteY16" fmla="*/ 1412257 h 1583637"/>
                    <a:gd name="connsiteX17" fmla="*/ 583663 w 1583637"/>
                    <a:gd name="connsiteY17" fmla="*/ 1551521 h 1583637"/>
                    <a:gd name="connsiteX18" fmla="*/ 462948 w 1583637"/>
                    <a:gd name="connsiteY18" fmla="*/ 1507584 h 1583637"/>
                    <a:gd name="connsiteX19" fmla="*/ 490876 w 1583637"/>
                    <a:gd name="connsiteY19" fmla="*/ 1349222 h 1583637"/>
                    <a:gd name="connsiteX20" fmla="*/ 295142 w 1583637"/>
                    <a:gd name="connsiteY20" fmla="*/ 1184981 h 1583637"/>
                    <a:gd name="connsiteX21" fmla="*/ 144035 w 1583637"/>
                    <a:gd name="connsiteY21" fmla="*/ 1239984 h 1583637"/>
                    <a:gd name="connsiteX22" fmla="*/ 79804 w 1583637"/>
                    <a:gd name="connsiteY22" fmla="*/ 1128733 h 1583637"/>
                    <a:gd name="connsiteX23" fmla="*/ 202991 w 1583637"/>
                    <a:gd name="connsiteY23" fmla="*/ 1025372 h 1583637"/>
                    <a:gd name="connsiteX24" fmla="*/ 158622 w 1583637"/>
                    <a:gd name="connsiteY24" fmla="*/ 773743 h 1583637"/>
                    <a:gd name="connsiteX25" fmla="*/ 7512 w 1583637"/>
                    <a:gd name="connsiteY25" fmla="*/ 718748 h 1583637"/>
                    <a:gd name="connsiteX26" fmla="*/ 29819 w 1583637"/>
                    <a:gd name="connsiteY26" fmla="*/ 592237 h 1583637"/>
                    <a:gd name="connsiteX27" fmla="*/ 190625 w 1583637"/>
                    <a:gd name="connsiteY27" fmla="*/ 592241 h 1583637"/>
                    <a:gd name="connsiteX28" fmla="*/ 318381 w 1583637"/>
                    <a:gd name="connsiteY28" fmla="*/ 370961 h 1583637"/>
                    <a:gd name="connsiteX29" fmla="*/ 237974 w 1583637"/>
                    <a:gd name="connsiteY29" fmla="*/ 231701 h 1583637"/>
                    <a:gd name="connsiteX30" fmla="*/ 336381 w 1583637"/>
                    <a:gd name="connsiteY30" fmla="*/ 149126 h 1583637"/>
                    <a:gd name="connsiteX31" fmla="*/ 459563 w 1583637"/>
                    <a:gd name="connsiteY31" fmla="*/ 252493 h 1583637"/>
                    <a:gd name="connsiteX32" fmla="*/ 699666 w 1583637"/>
                    <a:gd name="connsiteY32" fmla="*/ 165103 h 1583637"/>
                    <a:gd name="connsiteX33" fmla="*/ 727586 w 1583637"/>
                    <a:gd name="connsiteY33" fmla="*/ 6739 h 1583637"/>
                    <a:gd name="connsiteX34" fmla="*/ 856051 w 1583637"/>
                    <a:gd name="connsiteY34" fmla="*/ 6739 h 1583637"/>
                    <a:gd name="connsiteX35" fmla="*/ 883970 w 1583637"/>
                    <a:gd name="connsiteY35" fmla="*/ 165102 h 1583637"/>
                    <a:gd name="connsiteX36" fmla="*/ 1124073 w 1583637"/>
                    <a:gd name="connsiteY36" fmla="*/ 252493 h 1583637"/>
                    <a:gd name="connsiteX37" fmla="*/ 1124074 w 1583637"/>
                    <a:gd name="connsiteY37" fmla="*/ 252493 h 15836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1583637" h="1583637">
                      <a:moveTo>
                        <a:pt x="1124074" y="252493"/>
                      </a:moveTo>
                      <a:lnTo>
                        <a:pt x="1247256" y="149126"/>
                      </a:lnTo>
                      <a:lnTo>
                        <a:pt x="1345663" y="231701"/>
                      </a:lnTo>
                      <a:lnTo>
                        <a:pt x="1265256" y="370961"/>
                      </a:lnTo>
                      <a:cubicBezTo>
                        <a:pt x="1322430" y="435278"/>
                        <a:pt x="1365899" y="510569"/>
                        <a:pt x="1393012" y="592241"/>
                      </a:cubicBezTo>
                      <a:lnTo>
                        <a:pt x="1553818" y="592237"/>
                      </a:lnTo>
                      <a:lnTo>
                        <a:pt x="1576125" y="718748"/>
                      </a:lnTo>
                      <a:lnTo>
                        <a:pt x="1425015" y="773743"/>
                      </a:lnTo>
                      <a:cubicBezTo>
                        <a:pt x="1427471" y="859762"/>
                        <a:pt x="1412374" y="945380"/>
                        <a:pt x="1380646" y="1025372"/>
                      </a:cubicBezTo>
                      <a:lnTo>
                        <a:pt x="1503833" y="1128733"/>
                      </a:lnTo>
                      <a:lnTo>
                        <a:pt x="1439602" y="1239984"/>
                      </a:lnTo>
                      <a:lnTo>
                        <a:pt x="1288495" y="1184982"/>
                      </a:lnTo>
                      <a:cubicBezTo>
                        <a:pt x="1235084" y="1252456"/>
                        <a:pt x="1168484" y="1308339"/>
                        <a:pt x="1092761" y="1349222"/>
                      </a:cubicBezTo>
                      <a:lnTo>
                        <a:pt x="1120689" y="1507584"/>
                      </a:lnTo>
                      <a:lnTo>
                        <a:pt x="999974" y="1551521"/>
                      </a:lnTo>
                      <a:lnTo>
                        <a:pt x="919574" y="1412257"/>
                      </a:lnTo>
                      <a:cubicBezTo>
                        <a:pt x="835287" y="1429613"/>
                        <a:pt x="748348" y="1429613"/>
                        <a:pt x="664062" y="1412257"/>
                      </a:cubicBezTo>
                      <a:lnTo>
                        <a:pt x="583663" y="1551521"/>
                      </a:lnTo>
                      <a:lnTo>
                        <a:pt x="462948" y="1507584"/>
                      </a:lnTo>
                      <a:lnTo>
                        <a:pt x="490876" y="1349222"/>
                      </a:lnTo>
                      <a:cubicBezTo>
                        <a:pt x="415153" y="1308339"/>
                        <a:pt x="348553" y="1252455"/>
                        <a:pt x="295142" y="1184981"/>
                      </a:cubicBezTo>
                      <a:lnTo>
                        <a:pt x="144035" y="1239984"/>
                      </a:lnTo>
                      <a:lnTo>
                        <a:pt x="79804" y="1128733"/>
                      </a:lnTo>
                      <a:lnTo>
                        <a:pt x="202991" y="1025372"/>
                      </a:lnTo>
                      <a:cubicBezTo>
                        <a:pt x="171263" y="945380"/>
                        <a:pt x="156166" y="859762"/>
                        <a:pt x="158622" y="773743"/>
                      </a:cubicBezTo>
                      <a:lnTo>
                        <a:pt x="7512" y="718748"/>
                      </a:lnTo>
                      <a:lnTo>
                        <a:pt x="29819" y="592237"/>
                      </a:lnTo>
                      <a:lnTo>
                        <a:pt x="190625" y="592241"/>
                      </a:lnTo>
                      <a:cubicBezTo>
                        <a:pt x="217738" y="510569"/>
                        <a:pt x="261208" y="435277"/>
                        <a:pt x="318381" y="370961"/>
                      </a:cubicBezTo>
                      <a:lnTo>
                        <a:pt x="237974" y="231701"/>
                      </a:lnTo>
                      <a:lnTo>
                        <a:pt x="336381" y="149126"/>
                      </a:lnTo>
                      <a:lnTo>
                        <a:pt x="459563" y="252493"/>
                      </a:lnTo>
                      <a:cubicBezTo>
                        <a:pt x="532831" y="207356"/>
                        <a:pt x="614527" y="177621"/>
                        <a:pt x="699666" y="165103"/>
                      </a:cubicBezTo>
                      <a:lnTo>
                        <a:pt x="727586" y="6739"/>
                      </a:lnTo>
                      <a:lnTo>
                        <a:pt x="856051" y="6739"/>
                      </a:lnTo>
                      <a:lnTo>
                        <a:pt x="883970" y="165102"/>
                      </a:lnTo>
                      <a:cubicBezTo>
                        <a:pt x="969110" y="177621"/>
                        <a:pt x="1050806" y="207356"/>
                        <a:pt x="1124073" y="252493"/>
                      </a:cubicBezTo>
                      <a:lnTo>
                        <a:pt x="1124074" y="252493"/>
                      </a:ln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latin typeface="思源黑体 CN Regular" panose="020B0500000000000000" pitchFamily="34" charset="-122"/>
                    <a:ea typeface="思源黑体 CN Regular" panose="020B0500000000000000" pitchFamily="34" charset="-122"/>
                    <a:sym typeface="思源黑体 CN Regular" panose="020B0500000000000000" pitchFamily="34" charset="-122"/>
                  </a:endParaRPr>
                </a:p>
              </p:txBody>
            </p:sp>
            <p:sp>
              <p:nvSpPr>
                <p:cNvPr id="149" name="ïšļiďê"/>
                <p:cNvSpPr/>
                <p:nvPr/>
              </p:nvSpPr>
              <p:spPr>
                <a:xfrm>
                  <a:off x="1376346" y="1909439"/>
                  <a:ext cx="1382568" cy="1382568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latin typeface="思源黑体 CN Regular" panose="020B0500000000000000" pitchFamily="34" charset="-122"/>
                    <a:ea typeface="思源黑体 CN Regular" panose="020B0500000000000000" pitchFamily="34" charset="-122"/>
                    <a:sym typeface="思源黑体 CN Regular" panose="020B0500000000000000" pitchFamily="34" charset="-122"/>
                  </a:endParaRPr>
                </a:p>
              </p:txBody>
            </p:sp>
          </p:grpSp>
          <p:grpSp>
            <p:nvGrpSpPr>
              <p:cNvPr id="139" name="íśľïḋê"/>
              <p:cNvGrpSpPr/>
              <p:nvPr/>
            </p:nvGrpSpPr>
            <p:grpSpPr>
              <a:xfrm rot="342038" flipH="1">
                <a:off x="4434263" y="1747289"/>
                <a:ext cx="2486426" cy="2486423"/>
                <a:chOff x="953424" y="1486519"/>
                <a:chExt cx="2228412" cy="2228408"/>
              </a:xfrm>
              <a:solidFill>
                <a:schemeClr val="accent3"/>
              </a:solidFill>
            </p:grpSpPr>
            <p:sp>
              <p:nvSpPr>
                <p:cNvPr id="146" name="iSlîḍé"/>
                <p:cNvSpPr/>
                <p:nvPr/>
              </p:nvSpPr>
              <p:spPr>
                <a:xfrm>
                  <a:off x="953424" y="1486519"/>
                  <a:ext cx="2228412" cy="2228408"/>
                </a:xfrm>
                <a:custGeom>
                  <a:avLst/>
                  <a:gdLst>
                    <a:gd name="connsiteX0" fmla="*/ 1124074 w 1583637"/>
                    <a:gd name="connsiteY0" fmla="*/ 252493 h 1583637"/>
                    <a:gd name="connsiteX1" fmla="*/ 1247256 w 1583637"/>
                    <a:gd name="connsiteY1" fmla="*/ 149126 h 1583637"/>
                    <a:gd name="connsiteX2" fmla="*/ 1345663 w 1583637"/>
                    <a:gd name="connsiteY2" fmla="*/ 231701 h 1583637"/>
                    <a:gd name="connsiteX3" fmla="*/ 1265256 w 1583637"/>
                    <a:gd name="connsiteY3" fmla="*/ 370961 h 1583637"/>
                    <a:gd name="connsiteX4" fmla="*/ 1393012 w 1583637"/>
                    <a:gd name="connsiteY4" fmla="*/ 592241 h 1583637"/>
                    <a:gd name="connsiteX5" fmla="*/ 1553818 w 1583637"/>
                    <a:gd name="connsiteY5" fmla="*/ 592237 h 1583637"/>
                    <a:gd name="connsiteX6" fmla="*/ 1576125 w 1583637"/>
                    <a:gd name="connsiteY6" fmla="*/ 718748 h 1583637"/>
                    <a:gd name="connsiteX7" fmla="*/ 1425015 w 1583637"/>
                    <a:gd name="connsiteY7" fmla="*/ 773743 h 1583637"/>
                    <a:gd name="connsiteX8" fmla="*/ 1380646 w 1583637"/>
                    <a:gd name="connsiteY8" fmla="*/ 1025372 h 1583637"/>
                    <a:gd name="connsiteX9" fmla="*/ 1503833 w 1583637"/>
                    <a:gd name="connsiteY9" fmla="*/ 1128733 h 1583637"/>
                    <a:gd name="connsiteX10" fmla="*/ 1439602 w 1583637"/>
                    <a:gd name="connsiteY10" fmla="*/ 1239984 h 1583637"/>
                    <a:gd name="connsiteX11" fmla="*/ 1288495 w 1583637"/>
                    <a:gd name="connsiteY11" fmla="*/ 1184982 h 1583637"/>
                    <a:gd name="connsiteX12" fmla="*/ 1092761 w 1583637"/>
                    <a:gd name="connsiteY12" fmla="*/ 1349222 h 1583637"/>
                    <a:gd name="connsiteX13" fmla="*/ 1120689 w 1583637"/>
                    <a:gd name="connsiteY13" fmla="*/ 1507584 h 1583637"/>
                    <a:gd name="connsiteX14" fmla="*/ 999974 w 1583637"/>
                    <a:gd name="connsiteY14" fmla="*/ 1551521 h 1583637"/>
                    <a:gd name="connsiteX15" fmla="*/ 919574 w 1583637"/>
                    <a:gd name="connsiteY15" fmla="*/ 1412257 h 1583637"/>
                    <a:gd name="connsiteX16" fmla="*/ 664062 w 1583637"/>
                    <a:gd name="connsiteY16" fmla="*/ 1412257 h 1583637"/>
                    <a:gd name="connsiteX17" fmla="*/ 583663 w 1583637"/>
                    <a:gd name="connsiteY17" fmla="*/ 1551521 h 1583637"/>
                    <a:gd name="connsiteX18" fmla="*/ 462948 w 1583637"/>
                    <a:gd name="connsiteY18" fmla="*/ 1507584 h 1583637"/>
                    <a:gd name="connsiteX19" fmla="*/ 490876 w 1583637"/>
                    <a:gd name="connsiteY19" fmla="*/ 1349222 h 1583637"/>
                    <a:gd name="connsiteX20" fmla="*/ 295142 w 1583637"/>
                    <a:gd name="connsiteY20" fmla="*/ 1184981 h 1583637"/>
                    <a:gd name="connsiteX21" fmla="*/ 144035 w 1583637"/>
                    <a:gd name="connsiteY21" fmla="*/ 1239984 h 1583637"/>
                    <a:gd name="connsiteX22" fmla="*/ 79804 w 1583637"/>
                    <a:gd name="connsiteY22" fmla="*/ 1128733 h 1583637"/>
                    <a:gd name="connsiteX23" fmla="*/ 202991 w 1583637"/>
                    <a:gd name="connsiteY23" fmla="*/ 1025372 h 1583637"/>
                    <a:gd name="connsiteX24" fmla="*/ 158622 w 1583637"/>
                    <a:gd name="connsiteY24" fmla="*/ 773743 h 1583637"/>
                    <a:gd name="connsiteX25" fmla="*/ 7512 w 1583637"/>
                    <a:gd name="connsiteY25" fmla="*/ 718748 h 1583637"/>
                    <a:gd name="connsiteX26" fmla="*/ 29819 w 1583637"/>
                    <a:gd name="connsiteY26" fmla="*/ 592237 h 1583637"/>
                    <a:gd name="connsiteX27" fmla="*/ 190625 w 1583637"/>
                    <a:gd name="connsiteY27" fmla="*/ 592241 h 1583637"/>
                    <a:gd name="connsiteX28" fmla="*/ 318381 w 1583637"/>
                    <a:gd name="connsiteY28" fmla="*/ 370961 h 1583637"/>
                    <a:gd name="connsiteX29" fmla="*/ 237974 w 1583637"/>
                    <a:gd name="connsiteY29" fmla="*/ 231701 h 1583637"/>
                    <a:gd name="connsiteX30" fmla="*/ 336381 w 1583637"/>
                    <a:gd name="connsiteY30" fmla="*/ 149126 h 1583637"/>
                    <a:gd name="connsiteX31" fmla="*/ 459563 w 1583637"/>
                    <a:gd name="connsiteY31" fmla="*/ 252493 h 1583637"/>
                    <a:gd name="connsiteX32" fmla="*/ 699666 w 1583637"/>
                    <a:gd name="connsiteY32" fmla="*/ 165103 h 1583637"/>
                    <a:gd name="connsiteX33" fmla="*/ 727586 w 1583637"/>
                    <a:gd name="connsiteY33" fmla="*/ 6739 h 1583637"/>
                    <a:gd name="connsiteX34" fmla="*/ 856051 w 1583637"/>
                    <a:gd name="connsiteY34" fmla="*/ 6739 h 1583637"/>
                    <a:gd name="connsiteX35" fmla="*/ 883970 w 1583637"/>
                    <a:gd name="connsiteY35" fmla="*/ 165102 h 1583637"/>
                    <a:gd name="connsiteX36" fmla="*/ 1124073 w 1583637"/>
                    <a:gd name="connsiteY36" fmla="*/ 252493 h 1583637"/>
                    <a:gd name="connsiteX37" fmla="*/ 1124074 w 1583637"/>
                    <a:gd name="connsiteY37" fmla="*/ 252493 h 15836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1583637" h="1583637">
                      <a:moveTo>
                        <a:pt x="1124074" y="252493"/>
                      </a:moveTo>
                      <a:lnTo>
                        <a:pt x="1247256" y="149126"/>
                      </a:lnTo>
                      <a:lnTo>
                        <a:pt x="1345663" y="231701"/>
                      </a:lnTo>
                      <a:lnTo>
                        <a:pt x="1265256" y="370961"/>
                      </a:lnTo>
                      <a:cubicBezTo>
                        <a:pt x="1322430" y="435278"/>
                        <a:pt x="1365899" y="510569"/>
                        <a:pt x="1393012" y="592241"/>
                      </a:cubicBezTo>
                      <a:lnTo>
                        <a:pt x="1553818" y="592237"/>
                      </a:lnTo>
                      <a:lnTo>
                        <a:pt x="1576125" y="718748"/>
                      </a:lnTo>
                      <a:lnTo>
                        <a:pt x="1425015" y="773743"/>
                      </a:lnTo>
                      <a:cubicBezTo>
                        <a:pt x="1427471" y="859762"/>
                        <a:pt x="1412374" y="945380"/>
                        <a:pt x="1380646" y="1025372"/>
                      </a:cubicBezTo>
                      <a:lnTo>
                        <a:pt x="1503833" y="1128733"/>
                      </a:lnTo>
                      <a:lnTo>
                        <a:pt x="1439602" y="1239984"/>
                      </a:lnTo>
                      <a:lnTo>
                        <a:pt x="1288495" y="1184982"/>
                      </a:lnTo>
                      <a:cubicBezTo>
                        <a:pt x="1235084" y="1252456"/>
                        <a:pt x="1168484" y="1308339"/>
                        <a:pt x="1092761" y="1349222"/>
                      </a:cubicBezTo>
                      <a:lnTo>
                        <a:pt x="1120689" y="1507584"/>
                      </a:lnTo>
                      <a:lnTo>
                        <a:pt x="999974" y="1551521"/>
                      </a:lnTo>
                      <a:lnTo>
                        <a:pt x="919574" y="1412257"/>
                      </a:lnTo>
                      <a:cubicBezTo>
                        <a:pt x="835287" y="1429613"/>
                        <a:pt x="748348" y="1429613"/>
                        <a:pt x="664062" y="1412257"/>
                      </a:cubicBezTo>
                      <a:lnTo>
                        <a:pt x="583663" y="1551521"/>
                      </a:lnTo>
                      <a:lnTo>
                        <a:pt x="462948" y="1507584"/>
                      </a:lnTo>
                      <a:lnTo>
                        <a:pt x="490876" y="1349222"/>
                      </a:lnTo>
                      <a:cubicBezTo>
                        <a:pt x="415153" y="1308339"/>
                        <a:pt x="348553" y="1252455"/>
                        <a:pt x="295142" y="1184981"/>
                      </a:cubicBezTo>
                      <a:lnTo>
                        <a:pt x="144035" y="1239984"/>
                      </a:lnTo>
                      <a:lnTo>
                        <a:pt x="79804" y="1128733"/>
                      </a:lnTo>
                      <a:lnTo>
                        <a:pt x="202991" y="1025372"/>
                      </a:lnTo>
                      <a:cubicBezTo>
                        <a:pt x="171263" y="945380"/>
                        <a:pt x="156166" y="859762"/>
                        <a:pt x="158622" y="773743"/>
                      </a:cubicBezTo>
                      <a:lnTo>
                        <a:pt x="7512" y="718748"/>
                      </a:lnTo>
                      <a:lnTo>
                        <a:pt x="29819" y="592237"/>
                      </a:lnTo>
                      <a:lnTo>
                        <a:pt x="190625" y="592241"/>
                      </a:lnTo>
                      <a:cubicBezTo>
                        <a:pt x="217738" y="510569"/>
                        <a:pt x="261208" y="435277"/>
                        <a:pt x="318381" y="370961"/>
                      </a:cubicBezTo>
                      <a:lnTo>
                        <a:pt x="237974" y="231701"/>
                      </a:lnTo>
                      <a:lnTo>
                        <a:pt x="336381" y="149126"/>
                      </a:lnTo>
                      <a:lnTo>
                        <a:pt x="459563" y="252493"/>
                      </a:lnTo>
                      <a:cubicBezTo>
                        <a:pt x="532831" y="207356"/>
                        <a:pt x="614527" y="177621"/>
                        <a:pt x="699666" y="165103"/>
                      </a:cubicBezTo>
                      <a:lnTo>
                        <a:pt x="727586" y="6739"/>
                      </a:lnTo>
                      <a:lnTo>
                        <a:pt x="856051" y="6739"/>
                      </a:lnTo>
                      <a:lnTo>
                        <a:pt x="883970" y="165102"/>
                      </a:lnTo>
                      <a:cubicBezTo>
                        <a:pt x="969110" y="177621"/>
                        <a:pt x="1050806" y="207356"/>
                        <a:pt x="1124073" y="252493"/>
                      </a:cubicBezTo>
                      <a:lnTo>
                        <a:pt x="1124074" y="252493"/>
                      </a:lnTo>
                      <a:close/>
                    </a:path>
                  </a:pathLst>
                </a:custGeom>
                <a:solidFill>
                  <a:schemeClr val="accent1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latin typeface="思源黑体 CN Regular" panose="020B0500000000000000" pitchFamily="34" charset="-122"/>
                    <a:ea typeface="思源黑体 CN Regular" panose="020B0500000000000000" pitchFamily="34" charset="-122"/>
                    <a:sym typeface="思源黑体 CN Regular" panose="020B0500000000000000" pitchFamily="34" charset="-122"/>
                  </a:endParaRPr>
                </a:p>
              </p:txBody>
            </p:sp>
            <p:sp>
              <p:nvSpPr>
                <p:cNvPr id="147" name="îSlíḓe"/>
                <p:cNvSpPr/>
                <p:nvPr/>
              </p:nvSpPr>
              <p:spPr>
                <a:xfrm>
                  <a:off x="1376346" y="1909439"/>
                  <a:ext cx="1382568" cy="1382568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latin typeface="思源黑体 CN Regular" panose="020B0500000000000000" pitchFamily="34" charset="-122"/>
                    <a:ea typeface="思源黑体 CN Regular" panose="020B0500000000000000" pitchFamily="34" charset="-122"/>
                    <a:sym typeface="思源黑体 CN Regular" panose="020B0500000000000000" pitchFamily="34" charset="-122"/>
                  </a:endParaRPr>
                </a:p>
              </p:txBody>
            </p:sp>
          </p:grpSp>
          <p:sp>
            <p:nvSpPr>
              <p:cNvPr id="140" name="îṥḷíḍe"/>
              <p:cNvSpPr/>
              <p:nvPr/>
            </p:nvSpPr>
            <p:spPr>
              <a:xfrm>
                <a:off x="1307468" y="2848782"/>
                <a:ext cx="1897756" cy="1897756"/>
              </a:xfrm>
              <a:prstGeom prst="arc">
                <a:avLst>
                  <a:gd name="adj1" fmla="val 11101589"/>
                  <a:gd name="adj2" fmla="val 18700949"/>
                </a:avLst>
              </a:prstGeom>
              <a:ln w="28575" cap="rnd">
                <a:solidFill>
                  <a:schemeClr val="accent1">
                    <a:lumMod val="20000"/>
                    <a:lumOff val="80000"/>
                  </a:schemeClr>
                </a:solidFill>
                <a:prstDash val="sysDot"/>
                <a:headEnd type="none" w="med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/>
                <a:endParaRPr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思源黑体 CN Regular" panose="020B0500000000000000" pitchFamily="34" charset="-122"/>
                </a:endParaRPr>
              </a:p>
            </p:txBody>
          </p:sp>
          <p:sp>
            <p:nvSpPr>
              <p:cNvPr id="141" name="íṥḷîḑé"/>
              <p:cNvSpPr/>
              <p:nvPr/>
            </p:nvSpPr>
            <p:spPr>
              <a:xfrm flipV="1">
                <a:off x="3034884" y="3453646"/>
                <a:ext cx="2292159" cy="2292159"/>
              </a:xfrm>
              <a:prstGeom prst="arc">
                <a:avLst>
                  <a:gd name="adj1" fmla="val 13730012"/>
                  <a:gd name="adj2" fmla="val 256323"/>
                </a:avLst>
              </a:prstGeom>
              <a:ln w="28575" cap="rnd">
                <a:solidFill>
                  <a:schemeClr val="accent1">
                    <a:lumMod val="20000"/>
                    <a:lumOff val="80000"/>
                  </a:schemeClr>
                </a:solidFill>
                <a:prstDash val="sysDot"/>
                <a:headEnd type="none" w="med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/>
                <a:endParaRPr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思源黑体 CN Regular" panose="020B0500000000000000" pitchFamily="34" charset="-122"/>
                </a:endParaRPr>
              </a:p>
            </p:txBody>
          </p:sp>
          <p:sp>
            <p:nvSpPr>
              <p:cNvPr id="142" name="íśľîḋe"/>
              <p:cNvSpPr/>
              <p:nvPr/>
            </p:nvSpPr>
            <p:spPr>
              <a:xfrm>
                <a:off x="4354619" y="1448780"/>
                <a:ext cx="2292159" cy="2292159"/>
              </a:xfrm>
              <a:prstGeom prst="arc">
                <a:avLst>
                  <a:gd name="adj1" fmla="val 11093161"/>
                  <a:gd name="adj2" fmla="val 18823990"/>
                </a:avLst>
              </a:prstGeom>
              <a:ln w="28575" cap="rnd">
                <a:solidFill>
                  <a:schemeClr val="accent1">
                    <a:lumMod val="100000"/>
                  </a:schemeClr>
                </a:solidFill>
                <a:prstDash val="sysDot"/>
                <a:headEnd type="none" w="med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/>
                <a:endParaRPr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思源黑体 CN Regular" panose="020B0500000000000000" pitchFamily="34" charset="-122"/>
                </a:endParaRPr>
              </a:p>
            </p:txBody>
          </p:sp>
        </p:grpSp>
        <p:sp>
          <p:nvSpPr>
            <p:cNvPr id="152" name="star-ornament-with-ribbon-tails_57408"/>
            <p:cNvSpPr>
              <a:spLocks noChangeAspect="1"/>
            </p:cNvSpPr>
            <p:nvPr/>
          </p:nvSpPr>
          <p:spPr bwMode="auto">
            <a:xfrm>
              <a:off x="9894122" y="2682744"/>
              <a:ext cx="560786" cy="761954"/>
            </a:xfrm>
            <a:custGeom>
              <a:avLst/>
              <a:gdLst>
                <a:gd name="connsiteX0" fmla="*/ 357061 w 447628"/>
                <a:gd name="connsiteY0" fmla="*/ 396295 h 608203"/>
                <a:gd name="connsiteX1" fmla="*/ 371734 w 447628"/>
                <a:gd name="connsiteY1" fmla="*/ 397778 h 608203"/>
                <a:gd name="connsiteX2" fmla="*/ 441852 w 447628"/>
                <a:gd name="connsiteY2" fmla="*/ 539699 h 608203"/>
                <a:gd name="connsiteX3" fmla="*/ 443709 w 447628"/>
                <a:gd name="connsiteY3" fmla="*/ 546651 h 608203"/>
                <a:gd name="connsiteX4" fmla="*/ 429778 w 447628"/>
                <a:gd name="connsiteY4" fmla="*/ 560927 h 608203"/>
                <a:gd name="connsiteX5" fmla="*/ 425506 w 447628"/>
                <a:gd name="connsiteY5" fmla="*/ 560463 h 608203"/>
                <a:gd name="connsiteX6" fmla="*/ 368762 w 447628"/>
                <a:gd name="connsiteY6" fmla="*/ 544705 h 608203"/>
                <a:gd name="connsiteX7" fmla="*/ 346752 w 447628"/>
                <a:gd name="connsiteY7" fmla="*/ 599304 h 608203"/>
                <a:gd name="connsiteX8" fmla="*/ 334029 w 447628"/>
                <a:gd name="connsiteY8" fmla="*/ 608203 h 608203"/>
                <a:gd name="connsiteX9" fmla="*/ 333471 w 447628"/>
                <a:gd name="connsiteY9" fmla="*/ 608203 h 608203"/>
                <a:gd name="connsiteX10" fmla="*/ 320655 w 447628"/>
                <a:gd name="connsiteY10" fmla="*/ 600231 h 608203"/>
                <a:gd name="connsiteX11" fmla="*/ 253324 w 447628"/>
                <a:gd name="connsiteY11" fmla="*/ 464150 h 608203"/>
                <a:gd name="connsiteX12" fmla="*/ 255832 w 447628"/>
                <a:gd name="connsiteY12" fmla="*/ 460813 h 608203"/>
                <a:gd name="connsiteX13" fmla="*/ 271062 w 447628"/>
                <a:gd name="connsiteY13" fmla="*/ 437453 h 608203"/>
                <a:gd name="connsiteX14" fmla="*/ 294837 w 447628"/>
                <a:gd name="connsiteY14" fmla="*/ 452007 h 608203"/>
                <a:gd name="connsiteX15" fmla="*/ 314990 w 447628"/>
                <a:gd name="connsiteY15" fmla="*/ 457661 h 608203"/>
                <a:gd name="connsiteX16" fmla="*/ 331800 w 447628"/>
                <a:gd name="connsiteY16" fmla="*/ 453861 h 608203"/>
                <a:gd name="connsiteX17" fmla="*/ 353532 w 447628"/>
                <a:gd name="connsiteY17" fmla="*/ 423919 h 608203"/>
                <a:gd name="connsiteX18" fmla="*/ 89869 w 447628"/>
                <a:gd name="connsiteY18" fmla="*/ 395801 h 608203"/>
                <a:gd name="connsiteX19" fmla="*/ 93304 w 447628"/>
                <a:gd name="connsiteY19" fmla="*/ 423429 h 608203"/>
                <a:gd name="connsiteX20" fmla="*/ 114933 w 447628"/>
                <a:gd name="connsiteY20" fmla="*/ 453468 h 608203"/>
                <a:gd name="connsiteX21" fmla="*/ 131828 w 447628"/>
                <a:gd name="connsiteY21" fmla="*/ 457269 h 608203"/>
                <a:gd name="connsiteX22" fmla="*/ 151879 w 447628"/>
                <a:gd name="connsiteY22" fmla="*/ 451706 h 608203"/>
                <a:gd name="connsiteX23" fmla="*/ 175643 w 447628"/>
                <a:gd name="connsiteY23" fmla="*/ 437336 h 608203"/>
                <a:gd name="connsiteX24" fmla="*/ 190775 w 447628"/>
                <a:gd name="connsiteY24" fmla="*/ 460606 h 608203"/>
                <a:gd name="connsiteX25" fmla="*/ 193838 w 447628"/>
                <a:gd name="connsiteY25" fmla="*/ 464778 h 608203"/>
                <a:gd name="connsiteX26" fmla="*/ 126908 w 447628"/>
                <a:gd name="connsiteY26" fmla="*/ 600230 h 608203"/>
                <a:gd name="connsiteX27" fmla="*/ 114098 w 447628"/>
                <a:gd name="connsiteY27" fmla="*/ 608203 h 608203"/>
                <a:gd name="connsiteX28" fmla="*/ 113541 w 447628"/>
                <a:gd name="connsiteY28" fmla="*/ 608203 h 608203"/>
                <a:gd name="connsiteX29" fmla="*/ 100823 w 447628"/>
                <a:gd name="connsiteY29" fmla="*/ 599303 h 608203"/>
                <a:gd name="connsiteX30" fmla="*/ 78730 w 447628"/>
                <a:gd name="connsiteY30" fmla="*/ 544696 h 608203"/>
                <a:gd name="connsiteX31" fmla="*/ 22011 w 447628"/>
                <a:gd name="connsiteY31" fmla="*/ 560457 h 608203"/>
                <a:gd name="connsiteX32" fmla="*/ 7158 w 447628"/>
                <a:gd name="connsiteY32" fmla="*/ 555728 h 608203"/>
                <a:gd name="connsiteX33" fmla="*/ 5394 w 447628"/>
                <a:gd name="connsiteY33" fmla="*/ 540338 h 608203"/>
                <a:gd name="connsiteX34" fmla="*/ 76130 w 447628"/>
                <a:gd name="connsiteY34" fmla="*/ 397192 h 608203"/>
                <a:gd name="connsiteX35" fmla="*/ 223839 w 447628"/>
                <a:gd name="connsiteY35" fmla="*/ 119311 h 608203"/>
                <a:gd name="connsiteX36" fmla="*/ 215669 w 447628"/>
                <a:gd name="connsiteY36" fmla="*/ 124410 h 608203"/>
                <a:gd name="connsiteX37" fmla="*/ 187539 w 447628"/>
                <a:gd name="connsiteY37" fmla="*/ 181330 h 608203"/>
                <a:gd name="connsiteX38" fmla="*/ 124595 w 447628"/>
                <a:gd name="connsiteY38" fmla="*/ 190415 h 608203"/>
                <a:gd name="connsiteX39" fmla="*/ 117260 w 447628"/>
                <a:gd name="connsiteY39" fmla="*/ 196627 h 608203"/>
                <a:gd name="connsiteX40" fmla="*/ 119581 w 447628"/>
                <a:gd name="connsiteY40" fmla="*/ 205897 h 608203"/>
                <a:gd name="connsiteX41" fmla="*/ 165072 w 447628"/>
                <a:gd name="connsiteY41" fmla="*/ 250210 h 608203"/>
                <a:gd name="connsiteX42" fmla="*/ 154396 w 447628"/>
                <a:gd name="connsiteY42" fmla="*/ 312786 h 608203"/>
                <a:gd name="connsiteX43" fmla="*/ 157924 w 447628"/>
                <a:gd name="connsiteY43" fmla="*/ 321593 h 608203"/>
                <a:gd name="connsiteX44" fmla="*/ 167486 w 447628"/>
                <a:gd name="connsiteY44" fmla="*/ 322334 h 608203"/>
                <a:gd name="connsiteX45" fmla="*/ 223839 w 447628"/>
                <a:gd name="connsiteY45" fmla="*/ 292761 h 608203"/>
                <a:gd name="connsiteX46" fmla="*/ 280099 w 447628"/>
                <a:gd name="connsiteY46" fmla="*/ 322334 h 608203"/>
                <a:gd name="connsiteX47" fmla="*/ 284277 w 447628"/>
                <a:gd name="connsiteY47" fmla="*/ 323354 h 608203"/>
                <a:gd name="connsiteX48" fmla="*/ 289661 w 447628"/>
                <a:gd name="connsiteY48" fmla="*/ 321593 h 608203"/>
                <a:gd name="connsiteX49" fmla="*/ 293189 w 447628"/>
                <a:gd name="connsiteY49" fmla="*/ 312786 h 608203"/>
                <a:gd name="connsiteX50" fmla="*/ 282513 w 447628"/>
                <a:gd name="connsiteY50" fmla="*/ 250210 h 608203"/>
                <a:gd name="connsiteX51" fmla="*/ 328004 w 447628"/>
                <a:gd name="connsiteY51" fmla="*/ 205897 h 608203"/>
                <a:gd name="connsiteX52" fmla="*/ 330325 w 447628"/>
                <a:gd name="connsiteY52" fmla="*/ 196627 h 608203"/>
                <a:gd name="connsiteX53" fmla="*/ 322990 w 447628"/>
                <a:gd name="connsiteY53" fmla="*/ 190415 h 608203"/>
                <a:gd name="connsiteX54" fmla="*/ 260046 w 447628"/>
                <a:gd name="connsiteY54" fmla="*/ 181330 h 608203"/>
                <a:gd name="connsiteX55" fmla="*/ 231916 w 447628"/>
                <a:gd name="connsiteY55" fmla="*/ 124410 h 608203"/>
                <a:gd name="connsiteX56" fmla="*/ 223839 w 447628"/>
                <a:gd name="connsiteY56" fmla="*/ 119311 h 608203"/>
                <a:gd name="connsiteX57" fmla="*/ 223746 w 447628"/>
                <a:gd name="connsiteY57" fmla="*/ 0 h 608203"/>
                <a:gd name="connsiteX58" fmla="*/ 238600 w 447628"/>
                <a:gd name="connsiteY58" fmla="*/ 8065 h 608203"/>
                <a:gd name="connsiteX59" fmla="*/ 265152 w 447628"/>
                <a:gd name="connsiteY59" fmla="*/ 48855 h 608203"/>
                <a:gd name="connsiteX60" fmla="*/ 306929 w 447628"/>
                <a:gd name="connsiteY60" fmla="*/ 23732 h 608203"/>
                <a:gd name="connsiteX61" fmla="*/ 316027 w 447628"/>
                <a:gd name="connsiteY61" fmla="*/ 21229 h 608203"/>
                <a:gd name="connsiteX62" fmla="*/ 323826 w 447628"/>
                <a:gd name="connsiteY62" fmla="*/ 22991 h 608203"/>
                <a:gd name="connsiteX63" fmla="*/ 333667 w 447628"/>
                <a:gd name="connsiteY63" fmla="*/ 36711 h 608203"/>
                <a:gd name="connsiteX64" fmla="*/ 339608 w 447628"/>
                <a:gd name="connsiteY64" fmla="*/ 84547 h 608203"/>
                <a:gd name="connsiteX65" fmla="*/ 387699 w 447628"/>
                <a:gd name="connsiteY65" fmla="*/ 80004 h 608203"/>
                <a:gd name="connsiteX66" fmla="*/ 389370 w 447628"/>
                <a:gd name="connsiteY66" fmla="*/ 79911 h 608203"/>
                <a:gd name="connsiteX67" fmla="*/ 403203 w 447628"/>
                <a:gd name="connsiteY67" fmla="*/ 86679 h 608203"/>
                <a:gd name="connsiteX68" fmla="*/ 406174 w 447628"/>
                <a:gd name="connsiteY68" fmla="*/ 103273 h 608203"/>
                <a:gd name="connsiteX69" fmla="*/ 390762 w 447628"/>
                <a:gd name="connsiteY69" fmla="*/ 148976 h 608203"/>
                <a:gd name="connsiteX70" fmla="*/ 435975 w 447628"/>
                <a:gd name="connsiteY70" fmla="*/ 165663 h 608203"/>
                <a:gd name="connsiteX71" fmla="*/ 447208 w 447628"/>
                <a:gd name="connsiteY71" fmla="*/ 178364 h 608203"/>
                <a:gd name="connsiteX72" fmla="*/ 442566 w 447628"/>
                <a:gd name="connsiteY72" fmla="*/ 194680 h 608203"/>
                <a:gd name="connsiteX73" fmla="*/ 408866 w 447628"/>
                <a:gd name="connsiteY73" fmla="*/ 229166 h 608203"/>
                <a:gd name="connsiteX74" fmla="*/ 442381 w 447628"/>
                <a:gd name="connsiteY74" fmla="*/ 263838 h 608203"/>
                <a:gd name="connsiteX75" fmla="*/ 446930 w 447628"/>
                <a:gd name="connsiteY75" fmla="*/ 280154 h 608203"/>
                <a:gd name="connsiteX76" fmla="*/ 435696 w 447628"/>
                <a:gd name="connsiteY76" fmla="*/ 292761 h 608203"/>
                <a:gd name="connsiteX77" fmla="*/ 390298 w 447628"/>
                <a:gd name="connsiteY77" fmla="*/ 309263 h 608203"/>
                <a:gd name="connsiteX78" fmla="*/ 405431 w 447628"/>
                <a:gd name="connsiteY78" fmla="*/ 355059 h 608203"/>
                <a:gd name="connsiteX79" fmla="*/ 402460 w 447628"/>
                <a:gd name="connsiteY79" fmla="*/ 371653 h 608203"/>
                <a:gd name="connsiteX80" fmla="*/ 388627 w 447628"/>
                <a:gd name="connsiteY80" fmla="*/ 378328 h 608203"/>
                <a:gd name="connsiteX81" fmla="*/ 386863 w 447628"/>
                <a:gd name="connsiteY81" fmla="*/ 378235 h 608203"/>
                <a:gd name="connsiteX82" fmla="*/ 338866 w 447628"/>
                <a:gd name="connsiteY82" fmla="*/ 373415 h 608203"/>
                <a:gd name="connsiteX83" fmla="*/ 332646 w 447628"/>
                <a:gd name="connsiteY83" fmla="*/ 421250 h 608203"/>
                <a:gd name="connsiteX84" fmla="*/ 322712 w 447628"/>
                <a:gd name="connsiteY84" fmla="*/ 434878 h 608203"/>
                <a:gd name="connsiteX85" fmla="*/ 315006 w 447628"/>
                <a:gd name="connsiteY85" fmla="*/ 436639 h 608203"/>
                <a:gd name="connsiteX86" fmla="*/ 305815 w 447628"/>
                <a:gd name="connsiteY86" fmla="*/ 434043 h 608203"/>
                <a:gd name="connsiteX87" fmla="*/ 264595 w 447628"/>
                <a:gd name="connsiteY87" fmla="*/ 408920 h 608203"/>
                <a:gd name="connsiteX88" fmla="*/ 238229 w 447628"/>
                <a:gd name="connsiteY88" fmla="*/ 449340 h 608203"/>
                <a:gd name="connsiteX89" fmla="*/ 223375 w 447628"/>
                <a:gd name="connsiteY89" fmla="*/ 457405 h 608203"/>
                <a:gd name="connsiteX90" fmla="*/ 208521 w 447628"/>
                <a:gd name="connsiteY90" fmla="*/ 449247 h 608203"/>
                <a:gd name="connsiteX91" fmla="*/ 182247 w 447628"/>
                <a:gd name="connsiteY91" fmla="*/ 408828 h 608203"/>
                <a:gd name="connsiteX92" fmla="*/ 140934 w 447628"/>
                <a:gd name="connsiteY92" fmla="*/ 433765 h 608203"/>
                <a:gd name="connsiteX93" fmla="*/ 131836 w 447628"/>
                <a:gd name="connsiteY93" fmla="*/ 436361 h 608203"/>
                <a:gd name="connsiteX94" fmla="*/ 124038 w 447628"/>
                <a:gd name="connsiteY94" fmla="*/ 434600 h 608203"/>
                <a:gd name="connsiteX95" fmla="*/ 114197 w 447628"/>
                <a:gd name="connsiteY95" fmla="*/ 420879 h 608203"/>
                <a:gd name="connsiteX96" fmla="*/ 108162 w 447628"/>
                <a:gd name="connsiteY96" fmla="*/ 373044 h 608203"/>
                <a:gd name="connsiteX97" fmla="*/ 60072 w 447628"/>
                <a:gd name="connsiteY97" fmla="*/ 377679 h 608203"/>
                <a:gd name="connsiteX98" fmla="*/ 58401 w 447628"/>
                <a:gd name="connsiteY98" fmla="*/ 377679 h 608203"/>
                <a:gd name="connsiteX99" fmla="*/ 44568 w 447628"/>
                <a:gd name="connsiteY99" fmla="*/ 371004 h 608203"/>
                <a:gd name="connsiteX100" fmla="*/ 41597 w 447628"/>
                <a:gd name="connsiteY100" fmla="*/ 354410 h 608203"/>
                <a:gd name="connsiteX101" fmla="*/ 56915 w 447628"/>
                <a:gd name="connsiteY101" fmla="*/ 308707 h 608203"/>
                <a:gd name="connsiteX102" fmla="*/ 11610 w 447628"/>
                <a:gd name="connsiteY102" fmla="*/ 292020 h 608203"/>
                <a:gd name="connsiteX103" fmla="*/ 470 w 447628"/>
                <a:gd name="connsiteY103" fmla="*/ 279319 h 608203"/>
                <a:gd name="connsiteX104" fmla="*/ 5019 w 447628"/>
                <a:gd name="connsiteY104" fmla="*/ 263096 h 608203"/>
                <a:gd name="connsiteX105" fmla="*/ 38626 w 447628"/>
                <a:gd name="connsiteY105" fmla="*/ 228517 h 608203"/>
                <a:gd name="connsiteX106" fmla="*/ 5111 w 447628"/>
                <a:gd name="connsiteY106" fmla="*/ 193938 h 608203"/>
                <a:gd name="connsiteX107" fmla="*/ 562 w 447628"/>
                <a:gd name="connsiteY107" fmla="*/ 177622 h 608203"/>
                <a:gd name="connsiteX108" fmla="*/ 11703 w 447628"/>
                <a:gd name="connsiteY108" fmla="*/ 164922 h 608203"/>
                <a:gd name="connsiteX109" fmla="*/ 57008 w 447628"/>
                <a:gd name="connsiteY109" fmla="*/ 148420 h 608203"/>
                <a:gd name="connsiteX110" fmla="*/ 41783 w 447628"/>
                <a:gd name="connsiteY110" fmla="*/ 102624 h 608203"/>
                <a:gd name="connsiteX111" fmla="*/ 44754 w 447628"/>
                <a:gd name="connsiteY111" fmla="*/ 86030 h 608203"/>
                <a:gd name="connsiteX112" fmla="*/ 58586 w 447628"/>
                <a:gd name="connsiteY112" fmla="*/ 79355 h 608203"/>
                <a:gd name="connsiteX113" fmla="*/ 60350 w 447628"/>
                <a:gd name="connsiteY113" fmla="*/ 79448 h 608203"/>
                <a:gd name="connsiteX114" fmla="*/ 108441 w 447628"/>
                <a:gd name="connsiteY114" fmla="*/ 84176 h 608203"/>
                <a:gd name="connsiteX115" fmla="*/ 114568 w 447628"/>
                <a:gd name="connsiteY115" fmla="*/ 36340 h 608203"/>
                <a:gd name="connsiteX116" fmla="*/ 124409 w 447628"/>
                <a:gd name="connsiteY116" fmla="*/ 22620 h 608203"/>
                <a:gd name="connsiteX117" fmla="*/ 132115 w 447628"/>
                <a:gd name="connsiteY117" fmla="*/ 20859 h 608203"/>
                <a:gd name="connsiteX118" fmla="*/ 141306 w 447628"/>
                <a:gd name="connsiteY118" fmla="*/ 23454 h 608203"/>
                <a:gd name="connsiteX119" fmla="*/ 182619 w 447628"/>
                <a:gd name="connsiteY119" fmla="*/ 48485 h 608203"/>
                <a:gd name="connsiteX120" fmla="*/ 208892 w 447628"/>
                <a:gd name="connsiteY120" fmla="*/ 8065 h 608203"/>
                <a:gd name="connsiteX121" fmla="*/ 223746 w 447628"/>
                <a:gd name="connsiteY121" fmla="*/ 0 h 60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447628" h="608203">
                  <a:moveTo>
                    <a:pt x="357061" y="396295"/>
                  </a:moveTo>
                  <a:lnTo>
                    <a:pt x="371734" y="397778"/>
                  </a:lnTo>
                  <a:lnTo>
                    <a:pt x="441852" y="539699"/>
                  </a:lnTo>
                  <a:cubicBezTo>
                    <a:pt x="443059" y="541738"/>
                    <a:pt x="443709" y="544149"/>
                    <a:pt x="443709" y="546651"/>
                  </a:cubicBezTo>
                  <a:cubicBezTo>
                    <a:pt x="443709" y="554438"/>
                    <a:pt x="437487" y="560742"/>
                    <a:pt x="429778" y="560927"/>
                  </a:cubicBezTo>
                  <a:cubicBezTo>
                    <a:pt x="428385" y="561020"/>
                    <a:pt x="426899" y="560834"/>
                    <a:pt x="425506" y="560463"/>
                  </a:cubicBezTo>
                  <a:lnTo>
                    <a:pt x="368762" y="544705"/>
                  </a:lnTo>
                  <a:lnTo>
                    <a:pt x="346752" y="599304"/>
                  </a:lnTo>
                  <a:cubicBezTo>
                    <a:pt x="344616" y="604495"/>
                    <a:pt x="339694" y="608018"/>
                    <a:pt x="334029" y="608203"/>
                  </a:cubicBezTo>
                  <a:cubicBezTo>
                    <a:pt x="333843" y="608203"/>
                    <a:pt x="333657" y="608203"/>
                    <a:pt x="333471" y="608203"/>
                  </a:cubicBezTo>
                  <a:cubicBezTo>
                    <a:pt x="328085" y="608203"/>
                    <a:pt x="323070" y="605144"/>
                    <a:pt x="320655" y="600231"/>
                  </a:cubicBezTo>
                  <a:lnTo>
                    <a:pt x="253324" y="464150"/>
                  </a:lnTo>
                  <a:cubicBezTo>
                    <a:pt x="254253" y="463038"/>
                    <a:pt x="255089" y="461925"/>
                    <a:pt x="255832" y="460813"/>
                  </a:cubicBezTo>
                  <a:lnTo>
                    <a:pt x="271062" y="437453"/>
                  </a:lnTo>
                  <a:lnTo>
                    <a:pt x="294837" y="452007"/>
                  </a:lnTo>
                  <a:cubicBezTo>
                    <a:pt x="300874" y="455715"/>
                    <a:pt x="307932" y="457661"/>
                    <a:pt x="314990" y="457661"/>
                  </a:cubicBezTo>
                  <a:cubicBezTo>
                    <a:pt x="320748" y="457661"/>
                    <a:pt x="326599" y="456363"/>
                    <a:pt x="331800" y="453861"/>
                  </a:cubicBezTo>
                  <a:cubicBezTo>
                    <a:pt x="343687" y="448113"/>
                    <a:pt x="351767" y="436989"/>
                    <a:pt x="353532" y="423919"/>
                  </a:cubicBezTo>
                  <a:close/>
                  <a:moveTo>
                    <a:pt x="89869" y="395801"/>
                  </a:moveTo>
                  <a:lnTo>
                    <a:pt x="93304" y="423429"/>
                  </a:lnTo>
                  <a:cubicBezTo>
                    <a:pt x="94975" y="436501"/>
                    <a:pt x="103051" y="447719"/>
                    <a:pt x="114933" y="453468"/>
                  </a:cubicBezTo>
                  <a:cubicBezTo>
                    <a:pt x="120131" y="455971"/>
                    <a:pt x="125980" y="457269"/>
                    <a:pt x="131828" y="457269"/>
                  </a:cubicBezTo>
                  <a:cubicBezTo>
                    <a:pt x="138883" y="457269"/>
                    <a:pt x="145845" y="455322"/>
                    <a:pt x="151879" y="451706"/>
                  </a:cubicBezTo>
                  <a:lnTo>
                    <a:pt x="175643" y="437336"/>
                  </a:lnTo>
                  <a:lnTo>
                    <a:pt x="190775" y="460606"/>
                  </a:lnTo>
                  <a:cubicBezTo>
                    <a:pt x="191796" y="462090"/>
                    <a:pt x="192817" y="463480"/>
                    <a:pt x="193838" y="464778"/>
                  </a:cubicBezTo>
                  <a:lnTo>
                    <a:pt x="126908" y="600230"/>
                  </a:lnTo>
                  <a:cubicBezTo>
                    <a:pt x="124494" y="605144"/>
                    <a:pt x="119482" y="608203"/>
                    <a:pt x="114098" y="608203"/>
                  </a:cubicBezTo>
                  <a:cubicBezTo>
                    <a:pt x="113912" y="608203"/>
                    <a:pt x="113726" y="608203"/>
                    <a:pt x="113541" y="608203"/>
                  </a:cubicBezTo>
                  <a:cubicBezTo>
                    <a:pt x="107878" y="608018"/>
                    <a:pt x="102865" y="604495"/>
                    <a:pt x="100823" y="599303"/>
                  </a:cubicBezTo>
                  <a:lnTo>
                    <a:pt x="78730" y="544696"/>
                  </a:lnTo>
                  <a:lnTo>
                    <a:pt x="22011" y="560457"/>
                  </a:lnTo>
                  <a:cubicBezTo>
                    <a:pt x="16627" y="561940"/>
                    <a:pt x="10778" y="560086"/>
                    <a:pt x="7158" y="555728"/>
                  </a:cubicBezTo>
                  <a:cubicBezTo>
                    <a:pt x="3631" y="551464"/>
                    <a:pt x="2888" y="545345"/>
                    <a:pt x="5394" y="540338"/>
                  </a:cubicBezTo>
                  <a:lnTo>
                    <a:pt x="76130" y="397192"/>
                  </a:lnTo>
                  <a:close/>
                  <a:moveTo>
                    <a:pt x="223839" y="119311"/>
                  </a:moveTo>
                  <a:cubicBezTo>
                    <a:pt x="220311" y="119311"/>
                    <a:pt x="217155" y="121258"/>
                    <a:pt x="215669" y="124410"/>
                  </a:cubicBezTo>
                  <a:lnTo>
                    <a:pt x="187539" y="181330"/>
                  </a:lnTo>
                  <a:lnTo>
                    <a:pt x="124595" y="190415"/>
                  </a:lnTo>
                  <a:cubicBezTo>
                    <a:pt x="121160" y="190879"/>
                    <a:pt x="118374" y="193289"/>
                    <a:pt x="117260" y="196627"/>
                  </a:cubicBezTo>
                  <a:cubicBezTo>
                    <a:pt x="116239" y="199871"/>
                    <a:pt x="117075" y="203487"/>
                    <a:pt x="119581" y="205897"/>
                  </a:cubicBezTo>
                  <a:lnTo>
                    <a:pt x="165072" y="250210"/>
                  </a:lnTo>
                  <a:lnTo>
                    <a:pt x="154396" y="312786"/>
                  </a:lnTo>
                  <a:cubicBezTo>
                    <a:pt x="153746" y="316123"/>
                    <a:pt x="155138" y="319553"/>
                    <a:pt x="157924" y="321593"/>
                  </a:cubicBezTo>
                  <a:cubicBezTo>
                    <a:pt x="160802" y="323632"/>
                    <a:pt x="164422" y="323910"/>
                    <a:pt x="167486" y="322334"/>
                  </a:cubicBezTo>
                  <a:lnTo>
                    <a:pt x="223839" y="292761"/>
                  </a:lnTo>
                  <a:lnTo>
                    <a:pt x="280099" y="322334"/>
                  </a:lnTo>
                  <a:cubicBezTo>
                    <a:pt x="281399" y="322983"/>
                    <a:pt x="282791" y="323354"/>
                    <a:pt x="284277" y="323354"/>
                  </a:cubicBezTo>
                  <a:cubicBezTo>
                    <a:pt x="286134" y="323354"/>
                    <a:pt x="288083" y="322798"/>
                    <a:pt x="289661" y="321593"/>
                  </a:cubicBezTo>
                  <a:cubicBezTo>
                    <a:pt x="292447" y="319553"/>
                    <a:pt x="293839" y="316123"/>
                    <a:pt x="293189" y="312786"/>
                  </a:cubicBezTo>
                  <a:lnTo>
                    <a:pt x="282513" y="250210"/>
                  </a:lnTo>
                  <a:lnTo>
                    <a:pt x="328004" y="205897"/>
                  </a:lnTo>
                  <a:cubicBezTo>
                    <a:pt x="330510" y="203487"/>
                    <a:pt x="331346" y="199871"/>
                    <a:pt x="330325" y="196627"/>
                  </a:cubicBezTo>
                  <a:cubicBezTo>
                    <a:pt x="329211" y="193289"/>
                    <a:pt x="326425" y="190879"/>
                    <a:pt x="322990" y="190415"/>
                  </a:cubicBezTo>
                  <a:lnTo>
                    <a:pt x="260046" y="181330"/>
                  </a:lnTo>
                  <a:lnTo>
                    <a:pt x="231916" y="124410"/>
                  </a:lnTo>
                  <a:cubicBezTo>
                    <a:pt x="230430" y="121258"/>
                    <a:pt x="227274" y="119311"/>
                    <a:pt x="223839" y="119311"/>
                  </a:cubicBezTo>
                  <a:close/>
                  <a:moveTo>
                    <a:pt x="223746" y="0"/>
                  </a:moveTo>
                  <a:cubicBezTo>
                    <a:pt x="229781" y="0"/>
                    <a:pt x="235351" y="3059"/>
                    <a:pt x="238600" y="8065"/>
                  </a:cubicBezTo>
                  <a:lnTo>
                    <a:pt x="265152" y="48855"/>
                  </a:lnTo>
                  <a:lnTo>
                    <a:pt x="306929" y="23732"/>
                  </a:lnTo>
                  <a:cubicBezTo>
                    <a:pt x="309715" y="22064"/>
                    <a:pt x="312871" y="21229"/>
                    <a:pt x="316027" y="21229"/>
                  </a:cubicBezTo>
                  <a:cubicBezTo>
                    <a:pt x="318720" y="21229"/>
                    <a:pt x="321319" y="21786"/>
                    <a:pt x="323826" y="22991"/>
                  </a:cubicBezTo>
                  <a:cubicBezTo>
                    <a:pt x="329211" y="25586"/>
                    <a:pt x="332924" y="30778"/>
                    <a:pt x="333667" y="36711"/>
                  </a:cubicBezTo>
                  <a:lnTo>
                    <a:pt x="339608" y="84547"/>
                  </a:lnTo>
                  <a:lnTo>
                    <a:pt x="387699" y="80004"/>
                  </a:lnTo>
                  <a:cubicBezTo>
                    <a:pt x="388256" y="79911"/>
                    <a:pt x="388813" y="79911"/>
                    <a:pt x="389370" y="79911"/>
                  </a:cubicBezTo>
                  <a:cubicBezTo>
                    <a:pt x="394755" y="79911"/>
                    <a:pt x="399861" y="82414"/>
                    <a:pt x="403203" y="86679"/>
                  </a:cubicBezTo>
                  <a:cubicBezTo>
                    <a:pt x="406916" y="91314"/>
                    <a:pt x="408030" y="97618"/>
                    <a:pt x="406174" y="103273"/>
                  </a:cubicBezTo>
                  <a:lnTo>
                    <a:pt x="390762" y="148976"/>
                  </a:lnTo>
                  <a:lnTo>
                    <a:pt x="435975" y="165663"/>
                  </a:lnTo>
                  <a:cubicBezTo>
                    <a:pt x="441638" y="167796"/>
                    <a:pt x="445816" y="172523"/>
                    <a:pt x="447208" y="178364"/>
                  </a:cubicBezTo>
                  <a:cubicBezTo>
                    <a:pt x="448508" y="184297"/>
                    <a:pt x="446744" y="190323"/>
                    <a:pt x="442566" y="194680"/>
                  </a:cubicBezTo>
                  <a:lnTo>
                    <a:pt x="408866" y="229166"/>
                  </a:lnTo>
                  <a:lnTo>
                    <a:pt x="442381" y="263838"/>
                  </a:lnTo>
                  <a:cubicBezTo>
                    <a:pt x="446558" y="268195"/>
                    <a:pt x="448229" y="274313"/>
                    <a:pt x="446930" y="280154"/>
                  </a:cubicBezTo>
                  <a:cubicBezTo>
                    <a:pt x="445537" y="285994"/>
                    <a:pt x="441359" y="290722"/>
                    <a:pt x="435696" y="292761"/>
                  </a:cubicBezTo>
                  <a:lnTo>
                    <a:pt x="390298" y="309263"/>
                  </a:lnTo>
                  <a:lnTo>
                    <a:pt x="405431" y="355059"/>
                  </a:lnTo>
                  <a:cubicBezTo>
                    <a:pt x="407381" y="360714"/>
                    <a:pt x="406267" y="367018"/>
                    <a:pt x="402460" y="371653"/>
                  </a:cubicBezTo>
                  <a:cubicBezTo>
                    <a:pt x="399118" y="375918"/>
                    <a:pt x="394012" y="378328"/>
                    <a:pt x="388627" y="378328"/>
                  </a:cubicBezTo>
                  <a:cubicBezTo>
                    <a:pt x="388070" y="378328"/>
                    <a:pt x="387513" y="378235"/>
                    <a:pt x="386863" y="378235"/>
                  </a:cubicBezTo>
                  <a:lnTo>
                    <a:pt x="338866" y="373415"/>
                  </a:lnTo>
                  <a:lnTo>
                    <a:pt x="332646" y="421250"/>
                  </a:lnTo>
                  <a:cubicBezTo>
                    <a:pt x="331903" y="427183"/>
                    <a:pt x="328097" y="432375"/>
                    <a:pt x="322712" y="434878"/>
                  </a:cubicBezTo>
                  <a:cubicBezTo>
                    <a:pt x="320298" y="436083"/>
                    <a:pt x="317699" y="436639"/>
                    <a:pt x="315006" y="436639"/>
                  </a:cubicBezTo>
                  <a:cubicBezTo>
                    <a:pt x="311850" y="436639"/>
                    <a:pt x="308600" y="435805"/>
                    <a:pt x="305815" y="434043"/>
                  </a:cubicBezTo>
                  <a:lnTo>
                    <a:pt x="264595" y="408920"/>
                  </a:lnTo>
                  <a:lnTo>
                    <a:pt x="238229" y="449340"/>
                  </a:lnTo>
                  <a:cubicBezTo>
                    <a:pt x="234980" y="454346"/>
                    <a:pt x="229409" y="457405"/>
                    <a:pt x="223375" y="457405"/>
                  </a:cubicBezTo>
                  <a:cubicBezTo>
                    <a:pt x="217340" y="457312"/>
                    <a:pt x="211770" y="454346"/>
                    <a:pt x="208521" y="449247"/>
                  </a:cubicBezTo>
                  <a:lnTo>
                    <a:pt x="182247" y="408828"/>
                  </a:lnTo>
                  <a:lnTo>
                    <a:pt x="140934" y="433765"/>
                  </a:lnTo>
                  <a:cubicBezTo>
                    <a:pt x="138149" y="435434"/>
                    <a:pt x="134993" y="436361"/>
                    <a:pt x="131836" y="436361"/>
                  </a:cubicBezTo>
                  <a:cubicBezTo>
                    <a:pt x="129144" y="436361"/>
                    <a:pt x="126544" y="435712"/>
                    <a:pt x="124038" y="434600"/>
                  </a:cubicBezTo>
                  <a:cubicBezTo>
                    <a:pt x="118653" y="432004"/>
                    <a:pt x="114939" y="426812"/>
                    <a:pt x="114197" y="420879"/>
                  </a:cubicBezTo>
                  <a:lnTo>
                    <a:pt x="108162" y="373044"/>
                  </a:lnTo>
                  <a:lnTo>
                    <a:pt x="60072" y="377679"/>
                  </a:lnTo>
                  <a:cubicBezTo>
                    <a:pt x="59515" y="377679"/>
                    <a:pt x="58958" y="377679"/>
                    <a:pt x="58401" y="377679"/>
                  </a:cubicBezTo>
                  <a:cubicBezTo>
                    <a:pt x="53016" y="377679"/>
                    <a:pt x="47910" y="375269"/>
                    <a:pt x="44568" y="371004"/>
                  </a:cubicBezTo>
                  <a:cubicBezTo>
                    <a:pt x="40761" y="366369"/>
                    <a:pt x="39647" y="360065"/>
                    <a:pt x="41597" y="354410"/>
                  </a:cubicBezTo>
                  <a:lnTo>
                    <a:pt x="56915" y="308707"/>
                  </a:lnTo>
                  <a:lnTo>
                    <a:pt x="11610" y="292020"/>
                  </a:lnTo>
                  <a:cubicBezTo>
                    <a:pt x="5947" y="289980"/>
                    <a:pt x="1769" y="285160"/>
                    <a:pt x="470" y="279319"/>
                  </a:cubicBezTo>
                  <a:cubicBezTo>
                    <a:pt x="-923" y="273479"/>
                    <a:pt x="841" y="267360"/>
                    <a:pt x="5019" y="263096"/>
                  </a:cubicBezTo>
                  <a:lnTo>
                    <a:pt x="38626" y="228517"/>
                  </a:lnTo>
                  <a:lnTo>
                    <a:pt x="5111" y="193938"/>
                  </a:lnTo>
                  <a:cubicBezTo>
                    <a:pt x="934" y="189581"/>
                    <a:pt x="-830" y="183463"/>
                    <a:pt x="562" y="177622"/>
                  </a:cubicBezTo>
                  <a:cubicBezTo>
                    <a:pt x="1862" y="171782"/>
                    <a:pt x="6040" y="167054"/>
                    <a:pt x="11703" y="164922"/>
                  </a:cubicBezTo>
                  <a:lnTo>
                    <a:pt x="57008" y="148420"/>
                  </a:lnTo>
                  <a:lnTo>
                    <a:pt x="41783" y="102624"/>
                  </a:lnTo>
                  <a:cubicBezTo>
                    <a:pt x="39926" y="96969"/>
                    <a:pt x="41040" y="90665"/>
                    <a:pt x="44754" y="86030"/>
                  </a:cubicBezTo>
                  <a:cubicBezTo>
                    <a:pt x="48189" y="81766"/>
                    <a:pt x="53295" y="79355"/>
                    <a:pt x="58586" y="79355"/>
                  </a:cubicBezTo>
                  <a:cubicBezTo>
                    <a:pt x="59236" y="79355"/>
                    <a:pt x="59793" y="79355"/>
                    <a:pt x="60350" y="79448"/>
                  </a:cubicBezTo>
                  <a:lnTo>
                    <a:pt x="108441" y="84176"/>
                  </a:lnTo>
                  <a:lnTo>
                    <a:pt x="114568" y="36340"/>
                  </a:lnTo>
                  <a:cubicBezTo>
                    <a:pt x="115311" y="30407"/>
                    <a:pt x="119024" y="25216"/>
                    <a:pt x="124409" y="22620"/>
                  </a:cubicBezTo>
                  <a:cubicBezTo>
                    <a:pt x="126916" y="21415"/>
                    <a:pt x="129515" y="20859"/>
                    <a:pt x="132115" y="20859"/>
                  </a:cubicBezTo>
                  <a:cubicBezTo>
                    <a:pt x="135364" y="20859"/>
                    <a:pt x="138520" y="21693"/>
                    <a:pt x="141306" y="23454"/>
                  </a:cubicBezTo>
                  <a:lnTo>
                    <a:pt x="182619" y="48485"/>
                  </a:lnTo>
                  <a:lnTo>
                    <a:pt x="208892" y="8065"/>
                  </a:lnTo>
                  <a:cubicBezTo>
                    <a:pt x="212141" y="3059"/>
                    <a:pt x="217712" y="0"/>
                    <a:pt x="22374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endParaRPr>
            </a:p>
          </p:txBody>
        </p:sp>
        <p:sp>
          <p:nvSpPr>
            <p:cNvPr id="153" name="star-ornament-with-ribbon-tails_57408"/>
            <p:cNvSpPr>
              <a:spLocks noChangeAspect="1"/>
            </p:cNvSpPr>
            <p:nvPr/>
          </p:nvSpPr>
          <p:spPr bwMode="auto">
            <a:xfrm>
              <a:off x="8647799" y="4009764"/>
              <a:ext cx="382792" cy="520110"/>
            </a:xfrm>
            <a:custGeom>
              <a:avLst/>
              <a:gdLst>
                <a:gd name="connsiteX0" fmla="*/ 357061 w 447628"/>
                <a:gd name="connsiteY0" fmla="*/ 396295 h 608203"/>
                <a:gd name="connsiteX1" fmla="*/ 371734 w 447628"/>
                <a:gd name="connsiteY1" fmla="*/ 397778 h 608203"/>
                <a:gd name="connsiteX2" fmla="*/ 441852 w 447628"/>
                <a:gd name="connsiteY2" fmla="*/ 539699 h 608203"/>
                <a:gd name="connsiteX3" fmla="*/ 443709 w 447628"/>
                <a:gd name="connsiteY3" fmla="*/ 546651 h 608203"/>
                <a:gd name="connsiteX4" fmla="*/ 429778 w 447628"/>
                <a:gd name="connsiteY4" fmla="*/ 560927 h 608203"/>
                <a:gd name="connsiteX5" fmla="*/ 425506 w 447628"/>
                <a:gd name="connsiteY5" fmla="*/ 560463 h 608203"/>
                <a:gd name="connsiteX6" fmla="*/ 368762 w 447628"/>
                <a:gd name="connsiteY6" fmla="*/ 544705 h 608203"/>
                <a:gd name="connsiteX7" fmla="*/ 346752 w 447628"/>
                <a:gd name="connsiteY7" fmla="*/ 599304 h 608203"/>
                <a:gd name="connsiteX8" fmla="*/ 334029 w 447628"/>
                <a:gd name="connsiteY8" fmla="*/ 608203 h 608203"/>
                <a:gd name="connsiteX9" fmla="*/ 333471 w 447628"/>
                <a:gd name="connsiteY9" fmla="*/ 608203 h 608203"/>
                <a:gd name="connsiteX10" fmla="*/ 320655 w 447628"/>
                <a:gd name="connsiteY10" fmla="*/ 600231 h 608203"/>
                <a:gd name="connsiteX11" fmla="*/ 253324 w 447628"/>
                <a:gd name="connsiteY11" fmla="*/ 464150 h 608203"/>
                <a:gd name="connsiteX12" fmla="*/ 255832 w 447628"/>
                <a:gd name="connsiteY12" fmla="*/ 460813 h 608203"/>
                <a:gd name="connsiteX13" fmla="*/ 271062 w 447628"/>
                <a:gd name="connsiteY13" fmla="*/ 437453 h 608203"/>
                <a:gd name="connsiteX14" fmla="*/ 294837 w 447628"/>
                <a:gd name="connsiteY14" fmla="*/ 452007 h 608203"/>
                <a:gd name="connsiteX15" fmla="*/ 314990 w 447628"/>
                <a:gd name="connsiteY15" fmla="*/ 457661 h 608203"/>
                <a:gd name="connsiteX16" fmla="*/ 331800 w 447628"/>
                <a:gd name="connsiteY16" fmla="*/ 453861 h 608203"/>
                <a:gd name="connsiteX17" fmla="*/ 353532 w 447628"/>
                <a:gd name="connsiteY17" fmla="*/ 423919 h 608203"/>
                <a:gd name="connsiteX18" fmla="*/ 89869 w 447628"/>
                <a:gd name="connsiteY18" fmla="*/ 395801 h 608203"/>
                <a:gd name="connsiteX19" fmla="*/ 93304 w 447628"/>
                <a:gd name="connsiteY19" fmla="*/ 423429 h 608203"/>
                <a:gd name="connsiteX20" fmla="*/ 114933 w 447628"/>
                <a:gd name="connsiteY20" fmla="*/ 453468 h 608203"/>
                <a:gd name="connsiteX21" fmla="*/ 131828 w 447628"/>
                <a:gd name="connsiteY21" fmla="*/ 457269 h 608203"/>
                <a:gd name="connsiteX22" fmla="*/ 151879 w 447628"/>
                <a:gd name="connsiteY22" fmla="*/ 451706 h 608203"/>
                <a:gd name="connsiteX23" fmla="*/ 175643 w 447628"/>
                <a:gd name="connsiteY23" fmla="*/ 437336 h 608203"/>
                <a:gd name="connsiteX24" fmla="*/ 190775 w 447628"/>
                <a:gd name="connsiteY24" fmla="*/ 460606 h 608203"/>
                <a:gd name="connsiteX25" fmla="*/ 193838 w 447628"/>
                <a:gd name="connsiteY25" fmla="*/ 464778 h 608203"/>
                <a:gd name="connsiteX26" fmla="*/ 126908 w 447628"/>
                <a:gd name="connsiteY26" fmla="*/ 600230 h 608203"/>
                <a:gd name="connsiteX27" fmla="*/ 114098 w 447628"/>
                <a:gd name="connsiteY27" fmla="*/ 608203 h 608203"/>
                <a:gd name="connsiteX28" fmla="*/ 113541 w 447628"/>
                <a:gd name="connsiteY28" fmla="*/ 608203 h 608203"/>
                <a:gd name="connsiteX29" fmla="*/ 100823 w 447628"/>
                <a:gd name="connsiteY29" fmla="*/ 599303 h 608203"/>
                <a:gd name="connsiteX30" fmla="*/ 78730 w 447628"/>
                <a:gd name="connsiteY30" fmla="*/ 544696 h 608203"/>
                <a:gd name="connsiteX31" fmla="*/ 22011 w 447628"/>
                <a:gd name="connsiteY31" fmla="*/ 560457 h 608203"/>
                <a:gd name="connsiteX32" fmla="*/ 7158 w 447628"/>
                <a:gd name="connsiteY32" fmla="*/ 555728 h 608203"/>
                <a:gd name="connsiteX33" fmla="*/ 5394 w 447628"/>
                <a:gd name="connsiteY33" fmla="*/ 540338 h 608203"/>
                <a:gd name="connsiteX34" fmla="*/ 76130 w 447628"/>
                <a:gd name="connsiteY34" fmla="*/ 397192 h 608203"/>
                <a:gd name="connsiteX35" fmla="*/ 223839 w 447628"/>
                <a:gd name="connsiteY35" fmla="*/ 119311 h 608203"/>
                <a:gd name="connsiteX36" fmla="*/ 215669 w 447628"/>
                <a:gd name="connsiteY36" fmla="*/ 124410 h 608203"/>
                <a:gd name="connsiteX37" fmla="*/ 187539 w 447628"/>
                <a:gd name="connsiteY37" fmla="*/ 181330 h 608203"/>
                <a:gd name="connsiteX38" fmla="*/ 124595 w 447628"/>
                <a:gd name="connsiteY38" fmla="*/ 190415 h 608203"/>
                <a:gd name="connsiteX39" fmla="*/ 117260 w 447628"/>
                <a:gd name="connsiteY39" fmla="*/ 196627 h 608203"/>
                <a:gd name="connsiteX40" fmla="*/ 119581 w 447628"/>
                <a:gd name="connsiteY40" fmla="*/ 205897 h 608203"/>
                <a:gd name="connsiteX41" fmla="*/ 165072 w 447628"/>
                <a:gd name="connsiteY41" fmla="*/ 250210 h 608203"/>
                <a:gd name="connsiteX42" fmla="*/ 154396 w 447628"/>
                <a:gd name="connsiteY42" fmla="*/ 312786 h 608203"/>
                <a:gd name="connsiteX43" fmla="*/ 157924 w 447628"/>
                <a:gd name="connsiteY43" fmla="*/ 321593 h 608203"/>
                <a:gd name="connsiteX44" fmla="*/ 167486 w 447628"/>
                <a:gd name="connsiteY44" fmla="*/ 322334 h 608203"/>
                <a:gd name="connsiteX45" fmla="*/ 223839 w 447628"/>
                <a:gd name="connsiteY45" fmla="*/ 292761 h 608203"/>
                <a:gd name="connsiteX46" fmla="*/ 280099 w 447628"/>
                <a:gd name="connsiteY46" fmla="*/ 322334 h 608203"/>
                <a:gd name="connsiteX47" fmla="*/ 284277 w 447628"/>
                <a:gd name="connsiteY47" fmla="*/ 323354 h 608203"/>
                <a:gd name="connsiteX48" fmla="*/ 289661 w 447628"/>
                <a:gd name="connsiteY48" fmla="*/ 321593 h 608203"/>
                <a:gd name="connsiteX49" fmla="*/ 293189 w 447628"/>
                <a:gd name="connsiteY49" fmla="*/ 312786 h 608203"/>
                <a:gd name="connsiteX50" fmla="*/ 282513 w 447628"/>
                <a:gd name="connsiteY50" fmla="*/ 250210 h 608203"/>
                <a:gd name="connsiteX51" fmla="*/ 328004 w 447628"/>
                <a:gd name="connsiteY51" fmla="*/ 205897 h 608203"/>
                <a:gd name="connsiteX52" fmla="*/ 330325 w 447628"/>
                <a:gd name="connsiteY52" fmla="*/ 196627 h 608203"/>
                <a:gd name="connsiteX53" fmla="*/ 322990 w 447628"/>
                <a:gd name="connsiteY53" fmla="*/ 190415 h 608203"/>
                <a:gd name="connsiteX54" fmla="*/ 260046 w 447628"/>
                <a:gd name="connsiteY54" fmla="*/ 181330 h 608203"/>
                <a:gd name="connsiteX55" fmla="*/ 231916 w 447628"/>
                <a:gd name="connsiteY55" fmla="*/ 124410 h 608203"/>
                <a:gd name="connsiteX56" fmla="*/ 223839 w 447628"/>
                <a:gd name="connsiteY56" fmla="*/ 119311 h 608203"/>
                <a:gd name="connsiteX57" fmla="*/ 223746 w 447628"/>
                <a:gd name="connsiteY57" fmla="*/ 0 h 608203"/>
                <a:gd name="connsiteX58" fmla="*/ 238600 w 447628"/>
                <a:gd name="connsiteY58" fmla="*/ 8065 h 608203"/>
                <a:gd name="connsiteX59" fmla="*/ 265152 w 447628"/>
                <a:gd name="connsiteY59" fmla="*/ 48855 h 608203"/>
                <a:gd name="connsiteX60" fmla="*/ 306929 w 447628"/>
                <a:gd name="connsiteY60" fmla="*/ 23732 h 608203"/>
                <a:gd name="connsiteX61" fmla="*/ 316027 w 447628"/>
                <a:gd name="connsiteY61" fmla="*/ 21229 h 608203"/>
                <a:gd name="connsiteX62" fmla="*/ 323826 w 447628"/>
                <a:gd name="connsiteY62" fmla="*/ 22991 h 608203"/>
                <a:gd name="connsiteX63" fmla="*/ 333667 w 447628"/>
                <a:gd name="connsiteY63" fmla="*/ 36711 h 608203"/>
                <a:gd name="connsiteX64" fmla="*/ 339608 w 447628"/>
                <a:gd name="connsiteY64" fmla="*/ 84547 h 608203"/>
                <a:gd name="connsiteX65" fmla="*/ 387699 w 447628"/>
                <a:gd name="connsiteY65" fmla="*/ 80004 h 608203"/>
                <a:gd name="connsiteX66" fmla="*/ 389370 w 447628"/>
                <a:gd name="connsiteY66" fmla="*/ 79911 h 608203"/>
                <a:gd name="connsiteX67" fmla="*/ 403203 w 447628"/>
                <a:gd name="connsiteY67" fmla="*/ 86679 h 608203"/>
                <a:gd name="connsiteX68" fmla="*/ 406174 w 447628"/>
                <a:gd name="connsiteY68" fmla="*/ 103273 h 608203"/>
                <a:gd name="connsiteX69" fmla="*/ 390762 w 447628"/>
                <a:gd name="connsiteY69" fmla="*/ 148976 h 608203"/>
                <a:gd name="connsiteX70" fmla="*/ 435975 w 447628"/>
                <a:gd name="connsiteY70" fmla="*/ 165663 h 608203"/>
                <a:gd name="connsiteX71" fmla="*/ 447208 w 447628"/>
                <a:gd name="connsiteY71" fmla="*/ 178364 h 608203"/>
                <a:gd name="connsiteX72" fmla="*/ 442566 w 447628"/>
                <a:gd name="connsiteY72" fmla="*/ 194680 h 608203"/>
                <a:gd name="connsiteX73" fmla="*/ 408866 w 447628"/>
                <a:gd name="connsiteY73" fmla="*/ 229166 h 608203"/>
                <a:gd name="connsiteX74" fmla="*/ 442381 w 447628"/>
                <a:gd name="connsiteY74" fmla="*/ 263838 h 608203"/>
                <a:gd name="connsiteX75" fmla="*/ 446930 w 447628"/>
                <a:gd name="connsiteY75" fmla="*/ 280154 h 608203"/>
                <a:gd name="connsiteX76" fmla="*/ 435696 w 447628"/>
                <a:gd name="connsiteY76" fmla="*/ 292761 h 608203"/>
                <a:gd name="connsiteX77" fmla="*/ 390298 w 447628"/>
                <a:gd name="connsiteY77" fmla="*/ 309263 h 608203"/>
                <a:gd name="connsiteX78" fmla="*/ 405431 w 447628"/>
                <a:gd name="connsiteY78" fmla="*/ 355059 h 608203"/>
                <a:gd name="connsiteX79" fmla="*/ 402460 w 447628"/>
                <a:gd name="connsiteY79" fmla="*/ 371653 h 608203"/>
                <a:gd name="connsiteX80" fmla="*/ 388627 w 447628"/>
                <a:gd name="connsiteY80" fmla="*/ 378328 h 608203"/>
                <a:gd name="connsiteX81" fmla="*/ 386863 w 447628"/>
                <a:gd name="connsiteY81" fmla="*/ 378235 h 608203"/>
                <a:gd name="connsiteX82" fmla="*/ 338866 w 447628"/>
                <a:gd name="connsiteY82" fmla="*/ 373415 h 608203"/>
                <a:gd name="connsiteX83" fmla="*/ 332646 w 447628"/>
                <a:gd name="connsiteY83" fmla="*/ 421250 h 608203"/>
                <a:gd name="connsiteX84" fmla="*/ 322712 w 447628"/>
                <a:gd name="connsiteY84" fmla="*/ 434878 h 608203"/>
                <a:gd name="connsiteX85" fmla="*/ 315006 w 447628"/>
                <a:gd name="connsiteY85" fmla="*/ 436639 h 608203"/>
                <a:gd name="connsiteX86" fmla="*/ 305815 w 447628"/>
                <a:gd name="connsiteY86" fmla="*/ 434043 h 608203"/>
                <a:gd name="connsiteX87" fmla="*/ 264595 w 447628"/>
                <a:gd name="connsiteY87" fmla="*/ 408920 h 608203"/>
                <a:gd name="connsiteX88" fmla="*/ 238229 w 447628"/>
                <a:gd name="connsiteY88" fmla="*/ 449340 h 608203"/>
                <a:gd name="connsiteX89" fmla="*/ 223375 w 447628"/>
                <a:gd name="connsiteY89" fmla="*/ 457405 h 608203"/>
                <a:gd name="connsiteX90" fmla="*/ 208521 w 447628"/>
                <a:gd name="connsiteY90" fmla="*/ 449247 h 608203"/>
                <a:gd name="connsiteX91" fmla="*/ 182247 w 447628"/>
                <a:gd name="connsiteY91" fmla="*/ 408828 h 608203"/>
                <a:gd name="connsiteX92" fmla="*/ 140934 w 447628"/>
                <a:gd name="connsiteY92" fmla="*/ 433765 h 608203"/>
                <a:gd name="connsiteX93" fmla="*/ 131836 w 447628"/>
                <a:gd name="connsiteY93" fmla="*/ 436361 h 608203"/>
                <a:gd name="connsiteX94" fmla="*/ 124038 w 447628"/>
                <a:gd name="connsiteY94" fmla="*/ 434600 h 608203"/>
                <a:gd name="connsiteX95" fmla="*/ 114197 w 447628"/>
                <a:gd name="connsiteY95" fmla="*/ 420879 h 608203"/>
                <a:gd name="connsiteX96" fmla="*/ 108162 w 447628"/>
                <a:gd name="connsiteY96" fmla="*/ 373044 h 608203"/>
                <a:gd name="connsiteX97" fmla="*/ 60072 w 447628"/>
                <a:gd name="connsiteY97" fmla="*/ 377679 h 608203"/>
                <a:gd name="connsiteX98" fmla="*/ 58401 w 447628"/>
                <a:gd name="connsiteY98" fmla="*/ 377679 h 608203"/>
                <a:gd name="connsiteX99" fmla="*/ 44568 w 447628"/>
                <a:gd name="connsiteY99" fmla="*/ 371004 h 608203"/>
                <a:gd name="connsiteX100" fmla="*/ 41597 w 447628"/>
                <a:gd name="connsiteY100" fmla="*/ 354410 h 608203"/>
                <a:gd name="connsiteX101" fmla="*/ 56915 w 447628"/>
                <a:gd name="connsiteY101" fmla="*/ 308707 h 608203"/>
                <a:gd name="connsiteX102" fmla="*/ 11610 w 447628"/>
                <a:gd name="connsiteY102" fmla="*/ 292020 h 608203"/>
                <a:gd name="connsiteX103" fmla="*/ 470 w 447628"/>
                <a:gd name="connsiteY103" fmla="*/ 279319 h 608203"/>
                <a:gd name="connsiteX104" fmla="*/ 5019 w 447628"/>
                <a:gd name="connsiteY104" fmla="*/ 263096 h 608203"/>
                <a:gd name="connsiteX105" fmla="*/ 38626 w 447628"/>
                <a:gd name="connsiteY105" fmla="*/ 228517 h 608203"/>
                <a:gd name="connsiteX106" fmla="*/ 5111 w 447628"/>
                <a:gd name="connsiteY106" fmla="*/ 193938 h 608203"/>
                <a:gd name="connsiteX107" fmla="*/ 562 w 447628"/>
                <a:gd name="connsiteY107" fmla="*/ 177622 h 608203"/>
                <a:gd name="connsiteX108" fmla="*/ 11703 w 447628"/>
                <a:gd name="connsiteY108" fmla="*/ 164922 h 608203"/>
                <a:gd name="connsiteX109" fmla="*/ 57008 w 447628"/>
                <a:gd name="connsiteY109" fmla="*/ 148420 h 608203"/>
                <a:gd name="connsiteX110" fmla="*/ 41783 w 447628"/>
                <a:gd name="connsiteY110" fmla="*/ 102624 h 608203"/>
                <a:gd name="connsiteX111" fmla="*/ 44754 w 447628"/>
                <a:gd name="connsiteY111" fmla="*/ 86030 h 608203"/>
                <a:gd name="connsiteX112" fmla="*/ 58586 w 447628"/>
                <a:gd name="connsiteY112" fmla="*/ 79355 h 608203"/>
                <a:gd name="connsiteX113" fmla="*/ 60350 w 447628"/>
                <a:gd name="connsiteY113" fmla="*/ 79448 h 608203"/>
                <a:gd name="connsiteX114" fmla="*/ 108441 w 447628"/>
                <a:gd name="connsiteY114" fmla="*/ 84176 h 608203"/>
                <a:gd name="connsiteX115" fmla="*/ 114568 w 447628"/>
                <a:gd name="connsiteY115" fmla="*/ 36340 h 608203"/>
                <a:gd name="connsiteX116" fmla="*/ 124409 w 447628"/>
                <a:gd name="connsiteY116" fmla="*/ 22620 h 608203"/>
                <a:gd name="connsiteX117" fmla="*/ 132115 w 447628"/>
                <a:gd name="connsiteY117" fmla="*/ 20859 h 608203"/>
                <a:gd name="connsiteX118" fmla="*/ 141306 w 447628"/>
                <a:gd name="connsiteY118" fmla="*/ 23454 h 608203"/>
                <a:gd name="connsiteX119" fmla="*/ 182619 w 447628"/>
                <a:gd name="connsiteY119" fmla="*/ 48485 h 608203"/>
                <a:gd name="connsiteX120" fmla="*/ 208892 w 447628"/>
                <a:gd name="connsiteY120" fmla="*/ 8065 h 608203"/>
                <a:gd name="connsiteX121" fmla="*/ 223746 w 447628"/>
                <a:gd name="connsiteY121" fmla="*/ 0 h 60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447628" h="608203">
                  <a:moveTo>
                    <a:pt x="357061" y="396295"/>
                  </a:moveTo>
                  <a:lnTo>
                    <a:pt x="371734" y="397778"/>
                  </a:lnTo>
                  <a:lnTo>
                    <a:pt x="441852" y="539699"/>
                  </a:lnTo>
                  <a:cubicBezTo>
                    <a:pt x="443059" y="541738"/>
                    <a:pt x="443709" y="544149"/>
                    <a:pt x="443709" y="546651"/>
                  </a:cubicBezTo>
                  <a:cubicBezTo>
                    <a:pt x="443709" y="554438"/>
                    <a:pt x="437487" y="560742"/>
                    <a:pt x="429778" y="560927"/>
                  </a:cubicBezTo>
                  <a:cubicBezTo>
                    <a:pt x="428385" y="561020"/>
                    <a:pt x="426899" y="560834"/>
                    <a:pt x="425506" y="560463"/>
                  </a:cubicBezTo>
                  <a:lnTo>
                    <a:pt x="368762" y="544705"/>
                  </a:lnTo>
                  <a:lnTo>
                    <a:pt x="346752" y="599304"/>
                  </a:lnTo>
                  <a:cubicBezTo>
                    <a:pt x="344616" y="604495"/>
                    <a:pt x="339694" y="608018"/>
                    <a:pt x="334029" y="608203"/>
                  </a:cubicBezTo>
                  <a:cubicBezTo>
                    <a:pt x="333843" y="608203"/>
                    <a:pt x="333657" y="608203"/>
                    <a:pt x="333471" y="608203"/>
                  </a:cubicBezTo>
                  <a:cubicBezTo>
                    <a:pt x="328085" y="608203"/>
                    <a:pt x="323070" y="605144"/>
                    <a:pt x="320655" y="600231"/>
                  </a:cubicBezTo>
                  <a:lnTo>
                    <a:pt x="253324" y="464150"/>
                  </a:lnTo>
                  <a:cubicBezTo>
                    <a:pt x="254253" y="463038"/>
                    <a:pt x="255089" y="461925"/>
                    <a:pt x="255832" y="460813"/>
                  </a:cubicBezTo>
                  <a:lnTo>
                    <a:pt x="271062" y="437453"/>
                  </a:lnTo>
                  <a:lnTo>
                    <a:pt x="294837" y="452007"/>
                  </a:lnTo>
                  <a:cubicBezTo>
                    <a:pt x="300874" y="455715"/>
                    <a:pt x="307932" y="457661"/>
                    <a:pt x="314990" y="457661"/>
                  </a:cubicBezTo>
                  <a:cubicBezTo>
                    <a:pt x="320748" y="457661"/>
                    <a:pt x="326599" y="456363"/>
                    <a:pt x="331800" y="453861"/>
                  </a:cubicBezTo>
                  <a:cubicBezTo>
                    <a:pt x="343687" y="448113"/>
                    <a:pt x="351767" y="436989"/>
                    <a:pt x="353532" y="423919"/>
                  </a:cubicBezTo>
                  <a:close/>
                  <a:moveTo>
                    <a:pt x="89869" y="395801"/>
                  </a:moveTo>
                  <a:lnTo>
                    <a:pt x="93304" y="423429"/>
                  </a:lnTo>
                  <a:cubicBezTo>
                    <a:pt x="94975" y="436501"/>
                    <a:pt x="103051" y="447719"/>
                    <a:pt x="114933" y="453468"/>
                  </a:cubicBezTo>
                  <a:cubicBezTo>
                    <a:pt x="120131" y="455971"/>
                    <a:pt x="125980" y="457269"/>
                    <a:pt x="131828" y="457269"/>
                  </a:cubicBezTo>
                  <a:cubicBezTo>
                    <a:pt x="138883" y="457269"/>
                    <a:pt x="145845" y="455322"/>
                    <a:pt x="151879" y="451706"/>
                  </a:cubicBezTo>
                  <a:lnTo>
                    <a:pt x="175643" y="437336"/>
                  </a:lnTo>
                  <a:lnTo>
                    <a:pt x="190775" y="460606"/>
                  </a:lnTo>
                  <a:cubicBezTo>
                    <a:pt x="191796" y="462090"/>
                    <a:pt x="192817" y="463480"/>
                    <a:pt x="193838" y="464778"/>
                  </a:cubicBezTo>
                  <a:lnTo>
                    <a:pt x="126908" y="600230"/>
                  </a:lnTo>
                  <a:cubicBezTo>
                    <a:pt x="124494" y="605144"/>
                    <a:pt x="119482" y="608203"/>
                    <a:pt x="114098" y="608203"/>
                  </a:cubicBezTo>
                  <a:cubicBezTo>
                    <a:pt x="113912" y="608203"/>
                    <a:pt x="113726" y="608203"/>
                    <a:pt x="113541" y="608203"/>
                  </a:cubicBezTo>
                  <a:cubicBezTo>
                    <a:pt x="107878" y="608018"/>
                    <a:pt x="102865" y="604495"/>
                    <a:pt x="100823" y="599303"/>
                  </a:cubicBezTo>
                  <a:lnTo>
                    <a:pt x="78730" y="544696"/>
                  </a:lnTo>
                  <a:lnTo>
                    <a:pt x="22011" y="560457"/>
                  </a:lnTo>
                  <a:cubicBezTo>
                    <a:pt x="16627" y="561940"/>
                    <a:pt x="10778" y="560086"/>
                    <a:pt x="7158" y="555728"/>
                  </a:cubicBezTo>
                  <a:cubicBezTo>
                    <a:pt x="3631" y="551464"/>
                    <a:pt x="2888" y="545345"/>
                    <a:pt x="5394" y="540338"/>
                  </a:cubicBezTo>
                  <a:lnTo>
                    <a:pt x="76130" y="397192"/>
                  </a:lnTo>
                  <a:close/>
                  <a:moveTo>
                    <a:pt x="223839" y="119311"/>
                  </a:moveTo>
                  <a:cubicBezTo>
                    <a:pt x="220311" y="119311"/>
                    <a:pt x="217155" y="121258"/>
                    <a:pt x="215669" y="124410"/>
                  </a:cubicBezTo>
                  <a:lnTo>
                    <a:pt x="187539" y="181330"/>
                  </a:lnTo>
                  <a:lnTo>
                    <a:pt x="124595" y="190415"/>
                  </a:lnTo>
                  <a:cubicBezTo>
                    <a:pt x="121160" y="190879"/>
                    <a:pt x="118374" y="193289"/>
                    <a:pt x="117260" y="196627"/>
                  </a:cubicBezTo>
                  <a:cubicBezTo>
                    <a:pt x="116239" y="199871"/>
                    <a:pt x="117075" y="203487"/>
                    <a:pt x="119581" y="205897"/>
                  </a:cubicBezTo>
                  <a:lnTo>
                    <a:pt x="165072" y="250210"/>
                  </a:lnTo>
                  <a:lnTo>
                    <a:pt x="154396" y="312786"/>
                  </a:lnTo>
                  <a:cubicBezTo>
                    <a:pt x="153746" y="316123"/>
                    <a:pt x="155138" y="319553"/>
                    <a:pt x="157924" y="321593"/>
                  </a:cubicBezTo>
                  <a:cubicBezTo>
                    <a:pt x="160802" y="323632"/>
                    <a:pt x="164422" y="323910"/>
                    <a:pt x="167486" y="322334"/>
                  </a:cubicBezTo>
                  <a:lnTo>
                    <a:pt x="223839" y="292761"/>
                  </a:lnTo>
                  <a:lnTo>
                    <a:pt x="280099" y="322334"/>
                  </a:lnTo>
                  <a:cubicBezTo>
                    <a:pt x="281399" y="322983"/>
                    <a:pt x="282791" y="323354"/>
                    <a:pt x="284277" y="323354"/>
                  </a:cubicBezTo>
                  <a:cubicBezTo>
                    <a:pt x="286134" y="323354"/>
                    <a:pt x="288083" y="322798"/>
                    <a:pt x="289661" y="321593"/>
                  </a:cubicBezTo>
                  <a:cubicBezTo>
                    <a:pt x="292447" y="319553"/>
                    <a:pt x="293839" y="316123"/>
                    <a:pt x="293189" y="312786"/>
                  </a:cubicBezTo>
                  <a:lnTo>
                    <a:pt x="282513" y="250210"/>
                  </a:lnTo>
                  <a:lnTo>
                    <a:pt x="328004" y="205897"/>
                  </a:lnTo>
                  <a:cubicBezTo>
                    <a:pt x="330510" y="203487"/>
                    <a:pt x="331346" y="199871"/>
                    <a:pt x="330325" y="196627"/>
                  </a:cubicBezTo>
                  <a:cubicBezTo>
                    <a:pt x="329211" y="193289"/>
                    <a:pt x="326425" y="190879"/>
                    <a:pt x="322990" y="190415"/>
                  </a:cubicBezTo>
                  <a:lnTo>
                    <a:pt x="260046" y="181330"/>
                  </a:lnTo>
                  <a:lnTo>
                    <a:pt x="231916" y="124410"/>
                  </a:lnTo>
                  <a:cubicBezTo>
                    <a:pt x="230430" y="121258"/>
                    <a:pt x="227274" y="119311"/>
                    <a:pt x="223839" y="119311"/>
                  </a:cubicBezTo>
                  <a:close/>
                  <a:moveTo>
                    <a:pt x="223746" y="0"/>
                  </a:moveTo>
                  <a:cubicBezTo>
                    <a:pt x="229781" y="0"/>
                    <a:pt x="235351" y="3059"/>
                    <a:pt x="238600" y="8065"/>
                  </a:cubicBezTo>
                  <a:lnTo>
                    <a:pt x="265152" y="48855"/>
                  </a:lnTo>
                  <a:lnTo>
                    <a:pt x="306929" y="23732"/>
                  </a:lnTo>
                  <a:cubicBezTo>
                    <a:pt x="309715" y="22064"/>
                    <a:pt x="312871" y="21229"/>
                    <a:pt x="316027" y="21229"/>
                  </a:cubicBezTo>
                  <a:cubicBezTo>
                    <a:pt x="318720" y="21229"/>
                    <a:pt x="321319" y="21786"/>
                    <a:pt x="323826" y="22991"/>
                  </a:cubicBezTo>
                  <a:cubicBezTo>
                    <a:pt x="329211" y="25586"/>
                    <a:pt x="332924" y="30778"/>
                    <a:pt x="333667" y="36711"/>
                  </a:cubicBezTo>
                  <a:lnTo>
                    <a:pt x="339608" y="84547"/>
                  </a:lnTo>
                  <a:lnTo>
                    <a:pt x="387699" y="80004"/>
                  </a:lnTo>
                  <a:cubicBezTo>
                    <a:pt x="388256" y="79911"/>
                    <a:pt x="388813" y="79911"/>
                    <a:pt x="389370" y="79911"/>
                  </a:cubicBezTo>
                  <a:cubicBezTo>
                    <a:pt x="394755" y="79911"/>
                    <a:pt x="399861" y="82414"/>
                    <a:pt x="403203" y="86679"/>
                  </a:cubicBezTo>
                  <a:cubicBezTo>
                    <a:pt x="406916" y="91314"/>
                    <a:pt x="408030" y="97618"/>
                    <a:pt x="406174" y="103273"/>
                  </a:cubicBezTo>
                  <a:lnTo>
                    <a:pt x="390762" y="148976"/>
                  </a:lnTo>
                  <a:lnTo>
                    <a:pt x="435975" y="165663"/>
                  </a:lnTo>
                  <a:cubicBezTo>
                    <a:pt x="441638" y="167796"/>
                    <a:pt x="445816" y="172523"/>
                    <a:pt x="447208" y="178364"/>
                  </a:cubicBezTo>
                  <a:cubicBezTo>
                    <a:pt x="448508" y="184297"/>
                    <a:pt x="446744" y="190323"/>
                    <a:pt x="442566" y="194680"/>
                  </a:cubicBezTo>
                  <a:lnTo>
                    <a:pt x="408866" y="229166"/>
                  </a:lnTo>
                  <a:lnTo>
                    <a:pt x="442381" y="263838"/>
                  </a:lnTo>
                  <a:cubicBezTo>
                    <a:pt x="446558" y="268195"/>
                    <a:pt x="448229" y="274313"/>
                    <a:pt x="446930" y="280154"/>
                  </a:cubicBezTo>
                  <a:cubicBezTo>
                    <a:pt x="445537" y="285994"/>
                    <a:pt x="441359" y="290722"/>
                    <a:pt x="435696" y="292761"/>
                  </a:cubicBezTo>
                  <a:lnTo>
                    <a:pt x="390298" y="309263"/>
                  </a:lnTo>
                  <a:lnTo>
                    <a:pt x="405431" y="355059"/>
                  </a:lnTo>
                  <a:cubicBezTo>
                    <a:pt x="407381" y="360714"/>
                    <a:pt x="406267" y="367018"/>
                    <a:pt x="402460" y="371653"/>
                  </a:cubicBezTo>
                  <a:cubicBezTo>
                    <a:pt x="399118" y="375918"/>
                    <a:pt x="394012" y="378328"/>
                    <a:pt x="388627" y="378328"/>
                  </a:cubicBezTo>
                  <a:cubicBezTo>
                    <a:pt x="388070" y="378328"/>
                    <a:pt x="387513" y="378235"/>
                    <a:pt x="386863" y="378235"/>
                  </a:cubicBezTo>
                  <a:lnTo>
                    <a:pt x="338866" y="373415"/>
                  </a:lnTo>
                  <a:lnTo>
                    <a:pt x="332646" y="421250"/>
                  </a:lnTo>
                  <a:cubicBezTo>
                    <a:pt x="331903" y="427183"/>
                    <a:pt x="328097" y="432375"/>
                    <a:pt x="322712" y="434878"/>
                  </a:cubicBezTo>
                  <a:cubicBezTo>
                    <a:pt x="320298" y="436083"/>
                    <a:pt x="317699" y="436639"/>
                    <a:pt x="315006" y="436639"/>
                  </a:cubicBezTo>
                  <a:cubicBezTo>
                    <a:pt x="311850" y="436639"/>
                    <a:pt x="308600" y="435805"/>
                    <a:pt x="305815" y="434043"/>
                  </a:cubicBezTo>
                  <a:lnTo>
                    <a:pt x="264595" y="408920"/>
                  </a:lnTo>
                  <a:lnTo>
                    <a:pt x="238229" y="449340"/>
                  </a:lnTo>
                  <a:cubicBezTo>
                    <a:pt x="234980" y="454346"/>
                    <a:pt x="229409" y="457405"/>
                    <a:pt x="223375" y="457405"/>
                  </a:cubicBezTo>
                  <a:cubicBezTo>
                    <a:pt x="217340" y="457312"/>
                    <a:pt x="211770" y="454346"/>
                    <a:pt x="208521" y="449247"/>
                  </a:cubicBezTo>
                  <a:lnTo>
                    <a:pt x="182247" y="408828"/>
                  </a:lnTo>
                  <a:lnTo>
                    <a:pt x="140934" y="433765"/>
                  </a:lnTo>
                  <a:cubicBezTo>
                    <a:pt x="138149" y="435434"/>
                    <a:pt x="134993" y="436361"/>
                    <a:pt x="131836" y="436361"/>
                  </a:cubicBezTo>
                  <a:cubicBezTo>
                    <a:pt x="129144" y="436361"/>
                    <a:pt x="126544" y="435712"/>
                    <a:pt x="124038" y="434600"/>
                  </a:cubicBezTo>
                  <a:cubicBezTo>
                    <a:pt x="118653" y="432004"/>
                    <a:pt x="114939" y="426812"/>
                    <a:pt x="114197" y="420879"/>
                  </a:cubicBezTo>
                  <a:lnTo>
                    <a:pt x="108162" y="373044"/>
                  </a:lnTo>
                  <a:lnTo>
                    <a:pt x="60072" y="377679"/>
                  </a:lnTo>
                  <a:cubicBezTo>
                    <a:pt x="59515" y="377679"/>
                    <a:pt x="58958" y="377679"/>
                    <a:pt x="58401" y="377679"/>
                  </a:cubicBezTo>
                  <a:cubicBezTo>
                    <a:pt x="53016" y="377679"/>
                    <a:pt x="47910" y="375269"/>
                    <a:pt x="44568" y="371004"/>
                  </a:cubicBezTo>
                  <a:cubicBezTo>
                    <a:pt x="40761" y="366369"/>
                    <a:pt x="39647" y="360065"/>
                    <a:pt x="41597" y="354410"/>
                  </a:cubicBezTo>
                  <a:lnTo>
                    <a:pt x="56915" y="308707"/>
                  </a:lnTo>
                  <a:lnTo>
                    <a:pt x="11610" y="292020"/>
                  </a:lnTo>
                  <a:cubicBezTo>
                    <a:pt x="5947" y="289980"/>
                    <a:pt x="1769" y="285160"/>
                    <a:pt x="470" y="279319"/>
                  </a:cubicBezTo>
                  <a:cubicBezTo>
                    <a:pt x="-923" y="273479"/>
                    <a:pt x="841" y="267360"/>
                    <a:pt x="5019" y="263096"/>
                  </a:cubicBezTo>
                  <a:lnTo>
                    <a:pt x="38626" y="228517"/>
                  </a:lnTo>
                  <a:lnTo>
                    <a:pt x="5111" y="193938"/>
                  </a:lnTo>
                  <a:cubicBezTo>
                    <a:pt x="934" y="189581"/>
                    <a:pt x="-830" y="183463"/>
                    <a:pt x="562" y="177622"/>
                  </a:cubicBezTo>
                  <a:cubicBezTo>
                    <a:pt x="1862" y="171782"/>
                    <a:pt x="6040" y="167054"/>
                    <a:pt x="11703" y="164922"/>
                  </a:cubicBezTo>
                  <a:lnTo>
                    <a:pt x="57008" y="148420"/>
                  </a:lnTo>
                  <a:lnTo>
                    <a:pt x="41783" y="102624"/>
                  </a:lnTo>
                  <a:cubicBezTo>
                    <a:pt x="39926" y="96969"/>
                    <a:pt x="41040" y="90665"/>
                    <a:pt x="44754" y="86030"/>
                  </a:cubicBezTo>
                  <a:cubicBezTo>
                    <a:pt x="48189" y="81766"/>
                    <a:pt x="53295" y="79355"/>
                    <a:pt x="58586" y="79355"/>
                  </a:cubicBezTo>
                  <a:cubicBezTo>
                    <a:pt x="59236" y="79355"/>
                    <a:pt x="59793" y="79355"/>
                    <a:pt x="60350" y="79448"/>
                  </a:cubicBezTo>
                  <a:lnTo>
                    <a:pt x="108441" y="84176"/>
                  </a:lnTo>
                  <a:lnTo>
                    <a:pt x="114568" y="36340"/>
                  </a:lnTo>
                  <a:cubicBezTo>
                    <a:pt x="115311" y="30407"/>
                    <a:pt x="119024" y="25216"/>
                    <a:pt x="124409" y="22620"/>
                  </a:cubicBezTo>
                  <a:cubicBezTo>
                    <a:pt x="126916" y="21415"/>
                    <a:pt x="129515" y="20859"/>
                    <a:pt x="132115" y="20859"/>
                  </a:cubicBezTo>
                  <a:cubicBezTo>
                    <a:pt x="135364" y="20859"/>
                    <a:pt x="138520" y="21693"/>
                    <a:pt x="141306" y="23454"/>
                  </a:cubicBezTo>
                  <a:lnTo>
                    <a:pt x="182619" y="48485"/>
                  </a:lnTo>
                  <a:lnTo>
                    <a:pt x="208892" y="8065"/>
                  </a:lnTo>
                  <a:cubicBezTo>
                    <a:pt x="212141" y="3059"/>
                    <a:pt x="217712" y="0"/>
                    <a:pt x="22374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endParaRPr>
            </a:p>
          </p:txBody>
        </p:sp>
        <p:sp>
          <p:nvSpPr>
            <p:cNvPr id="154" name="star-ornament-with-ribbon-tails_57408"/>
            <p:cNvSpPr>
              <a:spLocks noChangeAspect="1"/>
            </p:cNvSpPr>
            <p:nvPr/>
          </p:nvSpPr>
          <p:spPr bwMode="auto">
            <a:xfrm>
              <a:off x="7146083" y="3635445"/>
              <a:ext cx="328949" cy="446952"/>
            </a:xfrm>
            <a:custGeom>
              <a:avLst/>
              <a:gdLst>
                <a:gd name="connsiteX0" fmla="*/ 357061 w 447628"/>
                <a:gd name="connsiteY0" fmla="*/ 396295 h 608203"/>
                <a:gd name="connsiteX1" fmla="*/ 371734 w 447628"/>
                <a:gd name="connsiteY1" fmla="*/ 397778 h 608203"/>
                <a:gd name="connsiteX2" fmla="*/ 441852 w 447628"/>
                <a:gd name="connsiteY2" fmla="*/ 539699 h 608203"/>
                <a:gd name="connsiteX3" fmla="*/ 443709 w 447628"/>
                <a:gd name="connsiteY3" fmla="*/ 546651 h 608203"/>
                <a:gd name="connsiteX4" fmla="*/ 429778 w 447628"/>
                <a:gd name="connsiteY4" fmla="*/ 560927 h 608203"/>
                <a:gd name="connsiteX5" fmla="*/ 425506 w 447628"/>
                <a:gd name="connsiteY5" fmla="*/ 560463 h 608203"/>
                <a:gd name="connsiteX6" fmla="*/ 368762 w 447628"/>
                <a:gd name="connsiteY6" fmla="*/ 544705 h 608203"/>
                <a:gd name="connsiteX7" fmla="*/ 346752 w 447628"/>
                <a:gd name="connsiteY7" fmla="*/ 599304 h 608203"/>
                <a:gd name="connsiteX8" fmla="*/ 334029 w 447628"/>
                <a:gd name="connsiteY8" fmla="*/ 608203 h 608203"/>
                <a:gd name="connsiteX9" fmla="*/ 333471 w 447628"/>
                <a:gd name="connsiteY9" fmla="*/ 608203 h 608203"/>
                <a:gd name="connsiteX10" fmla="*/ 320655 w 447628"/>
                <a:gd name="connsiteY10" fmla="*/ 600231 h 608203"/>
                <a:gd name="connsiteX11" fmla="*/ 253324 w 447628"/>
                <a:gd name="connsiteY11" fmla="*/ 464150 h 608203"/>
                <a:gd name="connsiteX12" fmla="*/ 255832 w 447628"/>
                <a:gd name="connsiteY12" fmla="*/ 460813 h 608203"/>
                <a:gd name="connsiteX13" fmla="*/ 271062 w 447628"/>
                <a:gd name="connsiteY13" fmla="*/ 437453 h 608203"/>
                <a:gd name="connsiteX14" fmla="*/ 294837 w 447628"/>
                <a:gd name="connsiteY14" fmla="*/ 452007 h 608203"/>
                <a:gd name="connsiteX15" fmla="*/ 314990 w 447628"/>
                <a:gd name="connsiteY15" fmla="*/ 457661 h 608203"/>
                <a:gd name="connsiteX16" fmla="*/ 331800 w 447628"/>
                <a:gd name="connsiteY16" fmla="*/ 453861 h 608203"/>
                <a:gd name="connsiteX17" fmla="*/ 353532 w 447628"/>
                <a:gd name="connsiteY17" fmla="*/ 423919 h 608203"/>
                <a:gd name="connsiteX18" fmla="*/ 89869 w 447628"/>
                <a:gd name="connsiteY18" fmla="*/ 395801 h 608203"/>
                <a:gd name="connsiteX19" fmla="*/ 93304 w 447628"/>
                <a:gd name="connsiteY19" fmla="*/ 423429 h 608203"/>
                <a:gd name="connsiteX20" fmla="*/ 114933 w 447628"/>
                <a:gd name="connsiteY20" fmla="*/ 453468 h 608203"/>
                <a:gd name="connsiteX21" fmla="*/ 131828 w 447628"/>
                <a:gd name="connsiteY21" fmla="*/ 457269 h 608203"/>
                <a:gd name="connsiteX22" fmla="*/ 151879 w 447628"/>
                <a:gd name="connsiteY22" fmla="*/ 451706 h 608203"/>
                <a:gd name="connsiteX23" fmla="*/ 175643 w 447628"/>
                <a:gd name="connsiteY23" fmla="*/ 437336 h 608203"/>
                <a:gd name="connsiteX24" fmla="*/ 190775 w 447628"/>
                <a:gd name="connsiteY24" fmla="*/ 460606 h 608203"/>
                <a:gd name="connsiteX25" fmla="*/ 193838 w 447628"/>
                <a:gd name="connsiteY25" fmla="*/ 464778 h 608203"/>
                <a:gd name="connsiteX26" fmla="*/ 126908 w 447628"/>
                <a:gd name="connsiteY26" fmla="*/ 600230 h 608203"/>
                <a:gd name="connsiteX27" fmla="*/ 114098 w 447628"/>
                <a:gd name="connsiteY27" fmla="*/ 608203 h 608203"/>
                <a:gd name="connsiteX28" fmla="*/ 113541 w 447628"/>
                <a:gd name="connsiteY28" fmla="*/ 608203 h 608203"/>
                <a:gd name="connsiteX29" fmla="*/ 100823 w 447628"/>
                <a:gd name="connsiteY29" fmla="*/ 599303 h 608203"/>
                <a:gd name="connsiteX30" fmla="*/ 78730 w 447628"/>
                <a:gd name="connsiteY30" fmla="*/ 544696 h 608203"/>
                <a:gd name="connsiteX31" fmla="*/ 22011 w 447628"/>
                <a:gd name="connsiteY31" fmla="*/ 560457 h 608203"/>
                <a:gd name="connsiteX32" fmla="*/ 7158 w 447628"/>
                <a:gd name="connsiteY32" fmla="*/ 555728 h 608203"/>
                <a:gd name="connsiteX33" fmla="*/ 5394 w 447628"/>
                <a:gd name="connsiteY33" fmla="*/ 540338 h 608203"/>
                <a:gd name="connsiteX34" fmla="*/ 76130 w 447628"/>
                <a:gd name="connsiteY34" fmla="*/ 397192 h 608203"/>
                <a:gd name="connsiteX35" fmla="*/ 223839 w 447628"/>
                <a:gd name="connsiteY35" fmla="*/ 119311 h 608203"/>
                <a:gd name="connsiteX36" fmla="*/ 215669 w 447628"/>
                <a:gd name="connsiteY36" fmla="*/ 124410 h 608203"/>
                <a:gd name="connsiteX37" fmla="*/ 187539 w 447628"/>
                <a:gd name="connsiteY37" fmla="*/ 181330 h 608203"/>
                <a:gd name="connsiteX38" fmla="*/ 124595 w 447628"/>
                <a:gd name="connsiteY38" fmla="*/ 190415 h 608203"/>
                <a:gd name="connsiteX39" fmla="*/ 117260 w 447628"/>
                <a:gd name="connsiteY39" fmla="*/ 196627 h 608203"/>
                <a:gd name="connsiteX40" fmla="*/ 119581 w 447628"/>
                <a:gd name="connsiteY40" fmla="*/ 205897 h 608203"/>
                <a:gd name="connsiteX41" fmla="*/ 165072 w 447628"/>
                <a:gd name="connsiteY41" fmla="*/ 250210 h 608203"/>
                <a:gd name="connsiteX42" fmla="*/ 154396 w 447628"/>
                <a:gd name="connsiteY42" fmla="*/ 312786 h 608203"/>
                <a:gd name="connsiteX43" fmla="*/ 157924 w 447628"/>
                <a:gd name="connsiteY43" fmla="*/ 321593 h 608203"/>
                <a:gd name="connsiteX44" fmla="*/ 167486 w 447628"/>
                <a:gd name="connsiteY44" fmla="*/ 322334 h 608203"/>
                <a:gd name="connsiteX45" fmla="*/ 223839 w 447628"/>
                <a:gd name="connsiteY45" fmla="*/ 292761 h 608203"/>
                <a:gd name="connsiteX46" fmla="*/ 280099 w 447628"/>
                <a:gd name="connsiteY46" fmla="*/ 322334 h 608203"/>
                <a:gd name="connsiteX47" fmla="*/ 284277 w 447628"/>
                <a:gd name="connsiteY47" fmla="*/ 323354 h 608203"/>
                <a:gd name="connsiteX48" fmla="*/ 289661 w 447628"/>
                <a:gd name="connsiteY48" fmla="*/ 321593 h 608203"/>
                <a:gd name="connsiteX49" fmla="*/ 293189 w 447628"/>
                <a:gd name="connsiteY49" fmla="*/ 312786 h 608203"/>
                <a:gd name="connsiteX50" fmla="*/ 282513 w 447628"/>
                <a:gd name="connsiteY50" fmla="*/ 250210 h 608203"/>
                <a:gd name="connsiteX51" fmla="*/ 328004 w 447628"/>
                <a:gd name="connsiteY51" fmla="*/ 205897 h 608203"/>
                <a:gd name="connsiteX52" fmla="*/ 330325 w 447628"/>
                <a:gd name="connsiteY52" fmla="*/ 196627 h 608203"/>
                <a:gd name="connsiteX53" fmla="*/ 322990 w 447628"/>
                <a:gd name="connsiteY53" fmla="*/ 190415 h 608203"/>
                <a:gd name="connsiteX54" fmla="*/ 260046 w 447628"/>
                <a:gd name="connsiteY54" fmla="*/ 181330 h 608203"/>
                <a:gd name="connsiteX55" fmla="*/ 231916 w 447628"/>
                <a:gd name="connsiteY55" fmla="*/ 124410 h 608203"/>
                <a:gd name="connsiteX56" fmla="*/ 223839 w 447628"/>
                <a:gd name="connsiteY56" fmla="*/ 119311 h 608203"/>
                <a:gd name="connsiteX57" fmla="*/ 223746 w 447628"/>
                <a:gd name="connsiteY57" fmla="*/ 0 h 608203"/>
                <a:gd name="connsiteX58" fmla="*/ 238600 w 447628"/>
                <a:gd name="connsiteY58" fmla="*/ 8065 h 608203"/>
                <a:gd name="connsiteX59" fmla="*/ 265152 w 447628"/>
                <a:gd name="connsiteY59" fmla="*/ 48855 h 608203"/>
                <a:gd name="connsiteX60" fmla="*/ 306929 w 447628"/>
                <a:gd name="connsiteY60" fmla="*/ 23732 h 608203"/>
                <a:gd name="connsiteX61" fmla="*/ 316027 w 447628"/>
                <a:gd name="connsiteY61" fmla="*/ 21229 h 608203"/>
                <a:gd name="connsiteX62" fmla="*/ 323826 w 447628"/>
                <a:gd name="connsiteY62" fmla="*/ 22991 h 608203"/>
                <a:gd name="connsiteX63" fmla="*/ 333667 w 447628"/>
                <a:gd name="connsiteY63" fmla="*/ 36711 h 608203"/>
                <a:gd name="connsiteX64" fmla="*/ 339608 w 447628"/>
                <a:gd name="connsiteY64" fmla="*/ 84547 h 608203"/>
                <a:gd name="connsiteX65" fmla="*/ 387699 w 447628"/>
                <a:gd name="connsiteY65" fmla="*/ 80004 h 608203"/>
                <a:gd name="connsiteX66" fmla="*/ 389370 w 447628"/>
                <a:gd name="connsiteY66" fmla="*/ 79911 h 608203"/>
                <a:gd name="connsiteX67" fmla="*/ 403203 w 447628"/>
                <a:gd name="connsiteY67" fmla="*/ 86679 h 608203"/>
                <a:gd name="connsiteX68" fmla="*/ 406174 w 447628"/>
                <a:gd name="connsiteY68" fmla="*/ 103273 h 608203"/>
                <a:gd name="connsiteX69" fmla="*/ 390762 w 447628"/>
                <a:gd name="connsiteY69" fmla="*/ 148976 h 608203"/>
                <a:gd name="connsiteX70" fmla="*/ 435975 w 447628"/>
                <a:gd name="connsiteY70" fmla="*/ 165663 h 608203"/>
                <a:gd name="connsiteX71" fmla="*/ 447208 w 447628"/>
                <a:gd name="connsiteY71" fmla="*/ 178364 h 608203"/>
                <a:gd name="connsiteX72" fmla="*/ 442566 w 447628"/>
                <a:gd name="connsiteY72" fmla="*/ 194680 h 608203"/>
                <a:gd name="connsiteX73" fmla="*/ 408866 w 447628"/>
                <a:gd name="connsiteY73" fmla="*/ 229166 h 608203"/>
                <a:gd name="connsiteX74" fmla="*/ 442381 w 447628"/>
                <a:gd name="connsiteY74" fmla="*/ 263838 h 608203"/>
                <a:gd name="connsiteX75" fmla="*/ 446930 w 447628"/>
                <a:gd name="connsiteY75" fmla="*/ 280154 h 608203"/>
                <a:gd name="connsiteX76" fmla="*/ 435696 w 447628"/>
                <a:gd name="connsiteY76" fmla="*/ 292761 h 608203"/>
                <a:gd name="connsiteX77" fmla="*/ 390298 w 447628"/>
                <a:gd name="connsiteY77" fmla="*/ 309263 h 608203"/>
                <a:gd name="connsiteX78" fmla="*/ 405431 w 447628"/>
                <a:gd name="connsiteY78" fmla="*/ 355059 h 608203"/>
                <a:gd name="connsiteX79" fmla="*/ 402460 w 447628"/>
                <a:gd name="connsiteY79" fmla="*/ 371653 h 608203"/>
                <a:gd name="connsiteX80" fmla="*/ 388627 w 447628"/>
                <a:gd name="connsiteY80" fmla="*/ 378328 h 608203"/>
                <a:gd name="connsiteX81" fmla="*/ 386863 w 447628"/>
                <a:gd name="connsiteY81" fmla="*/ 378235 h 608203"/>
                <a:gd name="connsiteX82" fmla="*/ 338866 w 447628"/>
                <a:gd name="connsiteY82" fmla="*/ 373415 h 608203"/>
                <a:gd name="connsiteX83" fmla="*/ 332646 w 447628"/>
                <a:gd name="connsiteY83" fmla="*/ 421250 h 608203"/>
                <a:gd name="connsiteX84" fmla="*/ 322712 w 447628"/>
                <a:gd name="connsiteY84" fmla="*/ 434878 h 608203"/>
                <a:gd name="connsiteX85" fmla="*/ 315006 w 447628"/>
                <a:gd name="connsiteY85" fmla="*/ 436639 h 608203"/>
                <a:gd name="connsiteX86" fmla="*/ 305815 w 447628"/>
                <a:gd name="connsiteY86" fmla="*/ 434043 h 608203"/>
                <a:gd name="connsiteX87" fmla="*/ 264595 w 447628"/>
                <a:gd name="connsiteY87" fmla="*/ 408920 h 608203"/>
                <a:gd name="connsiteX88" fmla="*/ 238229 w 447628"/>
                <a:gd name="connsiteY88" fmla="*/ 449340 h 608203"/>
                <a:gd name="connsiteX89" fmla="*/ 223375 w 447628"/>
                <a:gd name="connsiteY89" fmla="*/ 457405 h 608203"/>
                <a:gd name="connsiteX90" fmla="*/ 208521 w 447628"/>
                <a:gd name="connsiteY90" fmla="*/ 449247 h 608203"/>
                <a:gd name="connsiteX91" fmla="*/ 182247 w 447628"/>
                <a:gd name="connsiteY91" fmla="*/ 408828 h 608203"/>
                <a:gd name="connsiteX92" fmla="*/ 140934 w 447628"/>
                <a:gd name="connsiteY92" fmla="*/ 433765 h 608203"/>
                <a:gd name="connsiteX93" fmla="*/ 131836 w 447628"/>
                <a:gd name="connsiteY93" fmla="*/ 436361 h 608203"/>
                <a:gd name="connsiteX94" fmla="*/ 124038 w 447628"/>
                <a:gd name="connsiteY94" fmla="*/ 434600 h 608203"/>
                <a:gd name="connsiteX95" fmla="*/ 114197 w 447628"/>
                <a:gd name="connsiteY95" fmla="*/ 420879 h 608203"/>
                <a:gd name="connsiteX96" fmla="*/ 108162 w 447628"/>
                <a:gd name="connsiteY96" fmla="*/ 373044 h 608203"/>
                <a:gd name="connsiteX97" fmla="*/ 60072 w 447628"/>
                <a:gd name="connsiteY97" fmla="*/ 377679 h 608203"/>
                <a:gd name="connsiteX98" fmla="*/ 58401 w 447628"/>
                <a:gd name="connsiteY98" fmla="*/ 377679 h 608203"/>
                <a:gd name="connsiteX99" fmla="*/ 44568 w 447628"/>
                <a:gd name="connsiteY99" fmla="*/ 371004 h 608203"/>
                <a:gd name="connsiteX100" fmla="*/ 41597 w 447628"/>
                <a:gd name="connsiteY100" fmla="*/ 354410 h 608203"/>
                <a:gd name="connsiteX101" fmla="*/ 56915 w 447628"/>
                <a:gd name="connsiteY101" fmla="*/ 308707 h 608203"/>
                <a:gd name="connsiteX102" fmla="*/ 11610 w 447628"/>
                <a:gd name="connsiteY102" fmla="*/ 292020 h 608203"/>
                <a:gd name="connsiteX103" fmla="*/ 470 w 447628"/>
                <a:gd name="connsiteY103" fmla="*/ 279319 h 608203"/>
                <a:gd name="connsiteX104" fmla="*/ 5019 w 447628"/>
                <a:gd name="connsiteY104" fmla="*/ 263096 h 608203"/>
                <a:gd name="connsiteX105" fmla="*/ 38626 w 447628"/>
                <a:gd name="connsiteY105" fmla="*/ 228517 h 608203"/>
                <a:gd name="connsiteX106" fmla="*/ 5111 w 447628"/>
                <a:gd name="connsiteY106" fmla="*/ 193938 h 608203"/>
                <a:gd name="connsiteX107" fmla="*/ 562 w 447628"/>
                <a:gd name="connsiteY107" fmla="*/ 177622 h 608203"/>
                <a:gd name="connsiteX108" fmla="*/ 11703 w 447628"/>
                <a:gd name="connsiteY108" fmla="*/ 164922 h 608203"/>
                <a:gd name="connsiteX109" fmla="*/ 57008 w 447628"/>
                <a:gd name="connsiteY109" fmla="*/ 148420 h 608203"/>
                <a:gd name="connsiteX110" fmla="*/ 41783 w 447628"/>
                <a:gd name="connsiteY110" fmla="*/ 102624 h 608203"/>
                <a:gd name="connsiteX111" fmla="*/ 44754 w 447628"/>
                <a:gd name="connsiteY111" fmla="*/ 86030 h 608203"/>
                <a:gd name="connsiteX112" fmla="*/ 58586 w 447628"/>
                <a:gd name="connsiteY112" fmla="*/ 79355 h 608203"/>
                <a:gd name="connsiteX113" fmla="*/ 60350 w 447628"/>
                <a:gd name="connsiteY113" fmla="*/ 79448 h 608203"/>
                <a:gd name="connsiteX114" fmla="*/ 108441 w 447628"/>
                <a:gd name="connsiteY114" fmla="*/ 84176 h 608203"/>
                <a:gd name="connsiteX115" fmla="*/ 114568 w 447628"/>
                <a:gd name="connsiteY115" fmla="*/ 36340 h 608203"/>
                <a:gd name="connsiteX116" fmla="*/ 124409 w 447628"/>
                <a:gd name="connsiteY116" fmla="*/ 22620 h 608203"/>
                <a:gd name="connsiteX117" fmla="*/ 132115 w 447628"/>
                <a:gd name="connsiteY117" fmla="*/ 20859 h 608203"/>
                <a:gd name="connsiteX118" fmla="*/ 141306 w 447628"/>
                <a:gd name="connsiteY118" fmla="*/ 23454 h 608203"/>
                <a:gd name="connsiteX119" fmla="*/ 182619 w 447628"/>
                <a:gd name="connsiteY119" fmla="*/ 48485 h 608203"/>
                <a:gd name="connsiteX120" fmla="*/ 208892 w 447628"/>
                <a:gd name="connsiteY120" fmla="*/ 8065 h 608203"/>
                <a:gd name="connsiteX121" fmla="*/ 223746 w 447628"/>
                <a:gd name="connsiteY121" fmla="*/ 0 h 60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447628" h="608203">
                  <a:moveTo>
                    <a:pt x="357061" y="396295"/>
                  </a:moveTo>
                  <a:lnTo>
                    <a:pt x="371734" y="397778"/>
                  </a:lnTo>
                  <a:lnTo>
                    <a:pt x="441852" y="539699"/>
                  </a:lnTo>
                  <a:cubicBezTo>
                    <a:pt x="443059" y="541738"/>
                    <a:pt x="443709" y="544149"/>
                    <a:pt x="443709" y="546651"/>
                  </a:cubicBezTo>
                  <a:cubicBezTo>
                    <a:pt x="443709" y="554438"/>
                    <a:pt x="437487" y="560742"/>
                    <a:pt x="429778" y="560927"/>
                  </a:cubicBezTo>
                  <a:cubicBezTo>
                    <a:pt x="428385" y="561020"/>
                    <a:pt x="426899" y="560834"/>
                    <a:pt x="425506" y="560463"/>
                  </a:cubicBezTo>
                  <a:lnTo>
                    <a:pt x="368762" y="544705"/>
                  </a:lnTo>
                  <a:lnTo>
                    <a:pt x="346752" y="599304"/>
                  </a:lnTo>
                  <a:cubicBezTo>
                    <a:pt x="344616" y="604495"/>
                    <a:pt x="339694" y="608018"/>
                    <a:pt x="334029" y="608203"/>
                  </a:cubicBezTo>
                  <a:cubicBezTo>
                    <a:pt x="333843" y="608203"/>
                    <a:pt x="333657" y="608203"/>
                    <a:pt x="333471" y="608203"/>
                  </a:cubicBezTo>
                  <a:cubicBezTo>
                    <a:pt x="328085" y="608203"/>
                    <a:pt x="323070" y="605144"/>
                    <a:pt x="320655" y="600231"/>
                  </a:cubicBezTo>
                  <a:lnTo>
                    <a:pt x="253324" y="464150"/>
                  </a:lnTo>
                  <a:cubicBezTo>
                    <a:pt x="254253" y="463038"/>
                    <a:pt x="255089" y="461925"/>
                    <a:pt x="255832" y="460813"/>
                  </a:cubicBezTo>
                  <a:lnTo>
                    <a:pt x="271062" y="437453"/>
                  </a:lnTo>
                  <a:lnTo>
                    <a:pt x="294837" y="452007"/>
                  </a:lnTo>
                  <a:cubicBezTo>
                    <a:pt x="300874" y="455715"/>
                    <a:pt x="307932" y="457661"/>
                    <a:pt x="314990" y="457661"/>
                  </a:cubicBezTo>
                  <a:cubicBezTo>
                    <a:pt x="320748" y="457661"/>
                    <a:pt x="326599" y="456363"/>
                    <a:pt x="331800" y="453861"/>
                  </a:cubicBezTo>
                  <a:cubicBezTo>
                    <a:pt x="343687" y="448113"/>
                    <a:pt x="351767" y="436989"/>
                    <a:pt x="353532" y="423919"/>
                  </a:cubicBezTo>
                  <a:close/>
                  <a:moveTo>
                    <a:pt x="89869" y="395801"/>
                  </a:moveTo>
                  <a:lnTo>
                    <a:pt x="93304" y="423429"/>
                  </a:lnTo>
                  <a:cubicBezTo>
                    <a:pt x="94975" y="436501"/>
                    <a:pt x="103051" y="447719"/>
                    <a:pt x="114933" y="453468"/>
                  </a:cubicBezTo>
                  <a:cubicBezTo>
                    <a:pt x="120131" y="455971"/>
                    <a:pt x="125980" y="457269"/>
                    <a:pt x="131828" y="457269"/>
                  </a:cubicBezTo>
                  <a:cubicBezTo>
                    <a:pt x="138883" y="457269"/>
                    <a:pt x="145845" y="455322"/>
                    <a:pt x="151879" y="451706"/>
                  </a:cubicBezTo>
                  <a:lnTo>
                    <a:pt x="175643" y="437336"/>
                  </a:lnTo>
                  <a:lnTo>
                    <a:pt x="190775" y="460606"/>
                  </a:lnTo>
                  <a:cubicBezTo>
                    <a:pt x="191796" y="462090"/>
                    <a:pt x="192817" y="463480"/>
                    <a:pt x="193838" y="464778"/>
                  </a:cubicBezTo>
                  <a:lnTo>
                    <a:pt x="126908" y="600230"/>
                  </a:lnTo>
                  <a:cubicBezTo>
                    <a:pt x="124494" y="605144"/>
                    <a:pt x="119482" y="608203"/>
                    <a:pt x="114098" y="608203"/>
                  </a:cubicBezTo>
                  <a:cubicBezTo>
                    <a:pt x="113912" y="608203"/>
                    <a:pt x="113726" y="608203"/>
                    <a:pt x="113541" y="608203"/>
                  </a:cubicBezTo>
                  <a:cubicBezTo>
                    <a:pt x="107878" y="608018"/>
                    <a:pt x="102865" y="604495"/>
                    <a:pt x="100823" y="599303"/>
                  </a:cubicBezTo>
                  <a:lnTo>
                    <a:pt x="78730" y="544696"/>
                  </a:lnTo>
                  <a:lnTo>
                    <a:pt x="22011" y="560457"/>
                  </a:lnTo>
                  <a:cubicBezTo>
                    <a:pt x="16627" y="561940"/>
                    <a:pt x="10778" y="560086"/>
                    <a:pt x="7158" y="555728"/>
                  </a:cubicBezTo>
                  <a:cubicBezTo>
                    <a:pt x="3631" y="551464"/>
                    <a:pt x="2888" y="545345"/>
                    <a:pt x="5394" y="540338"/>
                  </a:cubicBezTo>
                  <a:lnTo>
                    <a:pt x="76130" y="397192"/>
                  </a:lnTo>
                  <a:close/>
                  <a:moveTo>
                    <a:pt x="223839" y="119311"/>
                  </a:moveTo>
                  <a:cubicBezTo>
                    <a:pt x="220311" y="119311"/>
                    <a:pt x="217155" y="121258"/>
                    <a:pt x="215669" y="124410"/>
                  </a:cubicBezTo>
                  <a:lnTo>
                    <a:pt x="187539" y="181330"/>
                  </a:lnTo>
                  <a:lnTo>
                    <a:pt x="124595" y="190415"/>
                  </a:lnTo>
                  <a:cubicBezTo>
                    <a:pt x="121160" y="190879"/>
                    <a:pt x="118374" y="193289"/>
                    <a:pt x="117260" y="196627"/>
                  </a:cubicBezTo>
                  <a:cubicBezTo>
                    <a:pt x="116239" y="199871"/>
                    <a:pt x="117075" y="203487"/>
                    <a:pt x="119581" y="205897"/>
                  </a:cubicBezTo>
                  <a:lnTo>
                    <a:pt x="165072" y="250210"/>
                  </a:lnTo>
                  <a:lnTo>
                    <a:pt x="154396" y="312786"/>
                  </a:lnTo>
                  <a:cubicBezTo>
                    <a:pt x="153746" y="316123"/>
                    <a:pt x="155138" y="319553"/>
                    <a:pt x="157924" y="321593"/>
                  </a:cubicBezTo>
                  <a:cubicBezTo>
                    <a:pt x="160802" y="323632"/>
                    <a:pt x="164422" y="323910"/>
                    <a:pt x="167486" y="322334"/>
                  </a:cubicBezTo>
                  <a:lnTo>
                    <a:pt x="223839" y="292761"/>
                  </a:lnTo>
                  <a:lnTo>
                    <a:pt x="280099" y="322334"/>
                  </a:lnTo>
                  <a:cubicBezTo>
                    <a:pt x="281399" y="322983"/>
                    <a:pt x="282791" y="323354"/>
                    <a:pt x="284277" y="323354"/>
                  </a:cubicBezTo>
                  <a:cubicBezTo>
                    <a:pt x="286134" y="323354"/>
                    <a:pt x="288083" y="322798"/>
                    <a:pt x="289661" y="321593"/>
                  </a:cubicBezTo>
                  <a:cubicBezTo>
                    <a:pt x="292447" y="319553"/>
                    <a:pt x="293839" y="316123"/>
                    <a:pt x="293189" y="312786"/>
                  </a:cubicBezTo>
                  <a:lnTo>
                    <a:pt x="282513" y="250210"/>
                  </a:lnTo>
                  <a:lnTo>
                    <a:pt x="328004" y="205897"/>
                  </a:lnTo>
                  <a:cubicBezTo>
                    <a:pt x="330510" y="203487"/>
                    <a:pt x="331346" y="199871"/>
                    <a:pt x="330325" y="196627"/>
                  </a:cubicBezTo>
                  <a:cubicBezTo>
                    <a:pt x="329211" y="193289"/>
                    <a:pt x="326425" y="190879"/>
                    <a:pt x="322990" y="190415"/>
                  </a:cubicBezTo>
                  <a:lnTo>
                    <a:pt x="260046" y="181330"/>
                  </a:lnTo>
                  <a:lnTo>
                    <a:pt x="231916" y="124410"/>
                  </a:lnTo>
                  <a:cubicBezTo>
                    <a:pt x="230430" y="121258"/>
                    <a:pt x="227274" y="119311"/>
                    <a:pt x="223839" y="119311"/>
                  </a:cubicBezTo>
                  <a:close/>
                  <a:moveTo>
                    <a:pt x="223746" y="0"/>
                  </a:moveTo>
                  <a:cubicBezTo>
                    <a:pt x="229781" y="0"/>
                    <a:pt x="235351" y="3059"/>
                    <a:pt x="238600" y="8065"/>
                  </a:cubicBezTo>
                  <a:lnTo>
                    <a:pt x="265152" y="48855"/>
                  </a:lnTo>
                  <a:lnTo>
                    <a:pt x="306929" y="23732"/>
                  </a:lnTo>
                  <a:cubicBezTo>
                    <a:pt x="309715" y="22064"/>
                    <a:pt x="312871" y="21229"/>
                    <a:pt x="316027" y="21229"/>
                  </a:cubicBezTo>
                  <a:cubicBezTo>
                    <a:pt x="318720" y="21229"/>
                    <a:pt x="321319" y="21786"/>
                    <a:pt x="323826" y="22991"/>
                  </a:cubicBezTo>
                  <a:cubicBezTo>
                    <a:pt x="329211" y="25586"/>
                    <a:pt x="332924" y="30778"/>
                    <a:pt x="333667" y="36711"/>
                  </a:cubicBezTo>
                  <a:lnTo>
                    <a:pt x="339608" y="84547"/>
                  </a:lnTo>
                  <a:lnTo>
                    <a:pt x="387699" y="80004"/>
                  </a:lnTo>
                  <a:cubicBezTo>
                    <a:pt x="388256" y="79911"/>
                    <a:pt x="388813" y="79911"/>
                    <a:pt x="389370" y="79911"/>
                  </a:cubicBezTo>
                  <a:cubicBezTo>
                    <a:pt x="394755" y="79911"/>
                    <a:pt x="399861" y="82414"/>
                    <a:pt x="403203" y="86679"/>
                  </a:cubicBezTo>
                  <a:cubicBezTo>
                    <a:pt x="406916" y="91314"/>
                    <a:pt x="408030" y="97618"/>
                    <a:pt x="406174" y="103273"/>
                  </a:cubicBezTo>
                  <a:lnTo>
                    <a:pt x="390762" y="148976"/>
                  </a:lnTo>
                  <a:lnTo>
                    <a:pt x="435975" y="165663"/>
                  </a:lnTo>
                  <a:cubicBezTo>
                    <a:pt x="441638" y="167796"/>
                    <a:pt x="445816" y="172523"/>
                    <a:pt x="447208" y="178364"/>
                  </a:cubicBezTo>
                  <a:cubicBezTo>
                    <a:pt x="448508" y="184297"/>
                    <a:pt x="446744" y="190323"/>
                    <a:pt x="442566" y="194680"/>
                  </a:cubicBezTo>
                  <a:lnTo>
                    <a:pt x="408866" y="229166"/>
                  </a:lnTo>
                  <a:lnTo>
                    <a:pt x="442381" y="263838"/>
                  </a:lnTo>
                  <a:cubicBezTo>
                    <a:pt x="446558" y="268195"/>
                    <a:pt x="448229" y="274313"/>
                    <a:pt x="446930" y="280154"/>
                  </a:cubicBezTo>
                  <a:cubicBezTo>
                    <a:pt x="445537" y="285994"/>
                    <a:pt x="441359" y="290722"/>
                    <a:pt x="435696" y="292761"/>
                  </a:cubicBezTo>
                  <a:lnTo>
                    <a:pt x="390298" y="309263"/>
                  </a:lnTo>
                  <a:lnTo>
                    <a:pt x="405431" y="355059"/>
                  </a:lnTo>
                  <a:cubicBezTo>
                    <a:pt x="407381" y="360714"/>
                    <a:pt x="406267" y="367018"/>
                    <a:pt x="402460" y="371653"/>
                  </a:cubicBezTo>
                  <a:cubicBezTo>
                    <a:pt x="399118" y="375918"/>
                    <a:pt x="394012" y="378328"/>
                    <a:pt x="388627" y="378328"/>
                  </a:cubicBezTo>
                  <a:cubicBezTo>
                    <a:pt x="388070" y="378328"/>
                    <a:pt x="387513" y="378235"/>
                    <a:pt x="386863" y="378235"/>
                  </a:cubicBezTo>
                  <a:lnTo>
                    <a:pt x="338866" y="373415"/>
                  </a:lnTo>
                  <a:lnTo>
                    <a:pt x="332646" y="421250"/>
                  </a:lnTo>
                  <a:cubicBezTo>
                    <a:pt x="331903" y="427183"/>
                    <a:pt x="328097" y="432375"/>
                    <a:pt x="322712" y="434878"/>
                  </a:cubicBezTo>
                  <a:cubicBezTo>
                    <a:pt x="320298" y="436083"/>
                    <a:pt x="317699" y="436639"/>
                    <a:pt x="315006" y="436639"/>
                  </a:cubicBezTo>
                  <a:cubicBezTo>
                    <a:pt x="311850" y="436639"/>
                    <a:pt x="308600" y="435805"/>
                    <a:pt x="305815" y="434043"/>
                  </a:cubicBezTo>
                  <a:lnTo>
                    <a:pt x="264595" y="408920"/>
                  </a:lnTo>
                  <a:lnTo>
                    <a:pt x="238229" y="449340"/>
                  </a:lnTo>
                  <a:cubicBezTo>
                    <a:pt x="234980" y="454346"/>
                    <a:pt x="229409" y="457405"/>
                    <a:pt x="223375" y="457405"/>
                  </a:cubicBezTo>
                  <a:cubicBezTo>
                    <a:pt x="217340" y="457312"/>
                    <a:pt x="211770" y="454346"/>
                    <a:pt x="208521" y="449247"/>
                  </a:cubicBezTo>
                  <a:lnTo>
                    <a:pt x="182247" y="408828"/>
                  </a:lnTo>
                  <a:lnTo>
                    <a:pt x="140934" y="433765"/>
                  </a:lnTo>
                  <a:cubicBezTo>
                    <a:pt x="138149" y="435434"/>
                    <a:pt x="134993" y="436361"/>
                    <a:pt x="131836" y="436361"/>
                  </a:cubicBezTo>
                  <a:cubicBezTo>
                    <a:pt x="129144" y="436361"/>
                    <a:pt x="126544" y="435712"/>
                    <a:pt x="124038" y="434600"/>
                  </a:cubicBezTo>
                  <a:cubicBezTo>
                    <a:pt x="118653" y="432004"/>
                    <a:pt x="114939" y="426812"/>
                    <a:pt x="114197" y="420879"/>
                  </a:cubicBezTo>
                  <a:lnTo>
                    <a:pt x="108162" y="373044"/>
                  </a:lnTo>
                  <a:lnTo>
                    <a:pt x="60072" y="377679"/>
                  </a:lnTo>
                  <a:cubicBezTo>
                    <a:pt x="59515" y="377679"/>
                    <a:pt x="58958" y="377679"/>
                    <a:pt x="58401" y="377679"/>
                  </a:cubicBezTo>
                  <a:cubicBezTo>
                    <a:pt x="53016" y="377679"/>
                    <a:pt x="47910" y="375269"/>
                    <a:pt x="44568" y="371004"/>
                  </a:cubicBezTo>
                  <a:cubicBezTo>
                    <a:pt x="40761" y="366369"/>
                    <a:pt x="39647" y="360065"/>
                    <a:pt x="41597" y="354410"/>
                  </a:cubicBezTo>
                  <a:lnTo>
                    <a:pt x="56915" y="308707"/>
                  </a:lnTo>
                  <a:lnTo>
                    <a:pt x="11610" y="292020"/>
                  </a:lnTo>
                  <a:cubicBezTo>
                    <a:pt x="5947" y="289980"/>
                    <a:pt x="1769" y="285160"/>
                    <a:pt x="470" y="279319"/>
                  </a:cubicBezTo>
                  <a:cubicBezTo>
                    <a:pt x="-923" y="273479"/>
                    <a:pt x="841" y="267360"/>
                    <a:pt x="5019" y="263096"/>
                  </a:cubicBezTo>
                  <a:lnTo>
                    <a:pt x="38626" y="228517"/>
                  </a:lnTo>
                  <a:lnTo>
                    <a:pt x="5111" y="193938"/>
                  </a:lnTo>
                  <a:cubicBezTo>
                    <a:pt x="934" y="189581"/>
                    <a:pt x="-830" y="183463"/>
                    <a:pt x="562" y="177622"/>
                  </a:cubicBezTo>
                  <a:cubicBezTo>
                    <a:pt x="1862" y="171782"/>
                    <a:pt x="6040" y="167054"/>
                    <a:pt x="11703" y="164922"/>
                  </a:cubicBezTo>
                  <a:lnTo>
                    <a:pt x="57008" y="148420"/>
                  </a:lnTo>
                  <a:lnTo>
                    <a:pt x="41783" y="102624"/>
                  </a:lnTo>
                  <a:cubicBezTo>
                    <a:pt x="39926" y="96969"/>
                    <a:pt x="41040" y="90665"/>
                    <a:pt x="44754" y="86030"/>
                  </a:cubicBezTo>
                  <a:cubicBezTo>
                    <a:pt x="48189" y="81766"/>
                    <a:pt x="53295" y="79355"/>
                    <a:pt x="58586" y="79355"/>
                  </a:cubicBezTo>
                  <a:cubicBezTo>
                    <a:pt x="59236" y="79355"/>
                    <a:pt x="59793" y="79355"/>
                    <a:pt x="60350" y="79448"/>
                  </a:cubicBezTo>
                  <a:lnTo>
                    <a:pt x="108441" y="84176"/>
                  </a:lnTo>
                  <a:lnTo>
                    <a:pt x="114568" y="36340"/>
                  </a:lnTo>
                  <a:cubicBezTo>
                    <a:pt x="115311" y="30407"/>
                    <a:pt x="119024" y="25216"/>
                    <a:pt x="124409" y="22620"/>
                  </a:cubicBezTo>
                  <a:cubicBezTo>
                    <a:pt x="126916" y="21415"/>
                    <a:pt x="129515" y="20859"/>
                    <a:pt x="132115" y="20859"/>
                  </a:cubicBezTo>
                  <a:cubicBezTo>
                    <a:pt x="135364" y="20859"/>
                    <a:pt x="138520" y="21693"/>
                    <a:pt x="141306" y="23454"/>
                  </a:cubicBezTo>
                  <a:lnTo>
                    <a:pt x="182619" y="48485"/>
                  </a:lnTo>
                  <a:lnTo>
                    <a:pt x="208892" y="8065"/>
                  </a:lnTo>
                  <a:cubicBezTo>
                    <a:pt x="212141" y="3059"/>
                    <a:pt x="217712" y="0"/>
                    <a:pt x="22374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endParaRPr>
            </a:p>
          </p:txBody>
        </p:sp>
      </p:grpSp>
      <p:grpSp>
        <p:nvGrpSpPr>
          <p:cNvPr id="155" name="组合 154"/>
          <p:cNvGrpSpPr/>
          <p:nvPr/>
        </p:nvGrpSpPr>
        <p:grpSpPr>
          <a:xfrm>
            <a:off x="1385476" y="1354265"/>
            <a:ext cx="4731242" cy="4113200"/>
            <a:chOff x="8077772" y="1605523"/>
            <a:chExt cx="4731242" cy="4113200"/>
          </a:xfrm>
        </p:grpSpPr>
        <p:sp>
          <p:nvSpPr>
            <p:cNvPr id="156" name="文本框 155"/>
            <p:cNvSpPr txBox="1"/>
            <p:nvPr/>
          </p:nvSpPr>
          <p:spPr>
            <a:xfrm>
              <a:off x="8077774" y="1605523"/>
              <a:ext cx="473124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2400" b="1" dirty="0">
                  <a:solidFill>
                    <a:schemeClr val="dk1">
                      <a:lumMod val="50000"/>
                    </a:schemeClr>
                  </a:solidFill>
                  <a:latin typeface="+mn-ea"/>
                  <a:sym typeface="思源黑体 CN Regular" panose="020B0500000000000000" pitchFamily="34" charset="-122"/>
                </a:rPr>
                <a:t>数字化的</a:t>
              </a:r>
              <a:r>
                <a:rPr lang="en-US" altLang="zh-CN" sz="2400" b="1" dirty="0">
                  <a:solidFill>
                    <a:schemeClr val="dk1">
                      <a:lumMod val="50000"/>
                    </a:schemeClr>
                  </a:solidFill>
                  <a:latin typeface="+mn-ea"/>
                  <a:sym typeface="思源黑体 CN Regular" panose="020B0500000000000000" pitchFamily="34" charset="-122"/>
                </a:rPr>
                <a:t>业务分析与决策</a:t>
              </a:r>
              <a:r>
                <a:rPr lang="zh-CN" altLang="en-US" sz="2400" b="1" dirty="0">
                  <a:solidFill>
                    <a:schemeClr val="dk1">
                      <a:lumMod val="50000"/>
                    </a:schemeClr>
                  </a:solidFill>
                  <a:latin typeface="+mn-ea"/>
                  <a:sym typeface="思源黑体 CN Regular" panose="020B0500000000000000" pitchFamily="34" charset="-122"/>
                </a:rPr>
                <a:t>能力</a:t>
              </a:r>
            </a:p>
          </p:txBody>
        </p:sp>
        <p:sp>
          <p:nvSpPr>
            <p:cNvPr id="158" name="文本框 157"/>
            <p:cNvSpPr txBox="1"/>
            <p:nvPr/>
          </p:nvSpPr>
          <p:spPr>
            <a:xfrm>
              <a:off x="8077773" y="3214036"/>
              <a:ext cx="473124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2400" b="1" dirty="0">
                  <a:solidFill>
                    <a:schemeClr val="dk1">
                      <a:lumMod val="50000"/>
                    </a:schemeClr>
                  </a:solidFill>
                  <a:latin typeface="+mn-ea"/>
                  <a:sym typeface="思源黑体 CN Regular" panose="020B0500000000000000" pitchFamily="34" charset="-122"/>
                </a:rPr>
                <a:t>互联网保险</a:t>
              </a:r>
              <a:r>
                <a:rPr lang="en-US" altLang="zh-CN" sz="2400" b="1" dirty="0">
                  <a:solidFill>
                    <a:schemeClr val="dk1">
                      <a:lumMod val="50000"/>
                    </a:schemeClr>
                  </a:solidFill>
                  <a:latin typeface="+mn-ea"/>
                  <a:sym typeface="思源黑体 CN Regular" panose="020B0500000000000000" pitchFamily="34" charset="-122"/>
                </a:rPr>
                <a:t>全局业务支持</a:t>
              </a:r>
              <a:r>
                <a:rPr lang="zh-CN" altLang="en-US" sz="2400" b="1" dirty="0">
                  <a:solidFill>
                    <a:schemeClr val="dk1">
                      <a:lumMod val="50000"/>
                    </a:schemeClr>
                  </a:solidFill>
                  <a:latin typeface="+mn-ea"/>
                  <a:sym typeface="思源黑体 CN Regular" panose="020B0500000000000000" pitchFamily="34" charset="-122"/>
                </a:rPr>
                <a:t>能力</a:t>
              </a:r>
            </a:p>
          </p:txBody>
        </p:sp>
        <p:sp>
          <p:nvSpPr>
            <p:cNvPr id="159" name="文本框 158"/>
            <p:cNvSpPr txBox="1"/>
            <p:nvPr/>
          </p:nvSpPr>
          <p:spPr>
            <a:xfrm>
              <a:off x="8077772" y="4888778"/>
              <a:ext cx="473124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2400" b="1" dirty="0">
                  <a:solidFill>
                    <a:schemeClr val="dk1">
                      <a:lumMod val="50000"/>
                    </a:schemeClr>
                  </a:solidFill>
                  <a:latin typeface="+mn-ea"/>
                  <a:sym typeface="思源黑体 CN Regular" panose="020B0500000000000000" pitchFamily="34" charset="-122"/>
                </a:rPr>
                <a:t>基于数据科学及</a:t>
              </a:r>
              <a:r>
                <a:rPr lang="en-US" altLang="zh-CN" sz="2400" b="1" dirty="0">
                  <a:solidFill>
                    <a:schemeClr val="dk1">
                      <a:lumMod val="50000"/>
                    </a:schemeClr>
                  </a:solidFill>
                  <a:latin typeface="+mn-ea"/>
                  <a:sym typeface="思源黑体 CN Regular" panose="020B0500000000000000" pitchFamily="34" charset="-122"/>
                </a:rPr>
                <a:t>先进的机器学习算法</a:t>
              </a:r>
              <a:r>
                <a:rPr lang="zh-CN" altLang="en-US" sz="2400" b="1" dirty="0">
                  <a:solidFill>
                    <a:schemeClr val="dk1">
                      <a:lumMod val="50000"/>
                    </a:schemeClr>
                  </a:solidFill>
                  <a:latin typeface="+mn-ea"/>
                  <a:sym typeface="思源黑体 CN Regular" panose="020B0500000000000000" pitchFamily="34" charset="-122"/>
                </a:rPr>
                <a:t>应用能力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42240" y="278130"/>
            <a:ext cx="110439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未来输出三大能力，</a:t>
            </a:r>
            <a:r>
              <a:rPr lang="zh-CN" altLang="en-US" sz="3600" b="1" dirty="0">
                <a:sym typeface="思源黑体 CN Regular" panose="020B0500000000000000" pitchFamily="34" charset="-122"/>
              </a:rPr>
              <a:t>探索由内向外的发展道路</a:t>
            </a:r>
          </a:p>
          <a:p>
            <a:endParaRPr lang="zh-CN" altLang="en-US" sz="3600" b="1" dirty="0">
              <a:sym typeface="思源黑体 CN Regular" panose="020B05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0AA015B-659B-4D5D-9BFE-AB06803D5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7577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706B607-3EB3-48EC-8EFC-0177C7ACD683}"/>
              </a:ext>
            </a:extLst>
          </p:cNvPr>
          <p:cNvSpPr txBox="1"/>
          <p:nvPr/>
        </p:nvSpPr>
        <p:spPr>
          <a:xfrm>
            <a:off x="142240" y="278130"/>
            <a:ext cx="1104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ym typeface="思源黑体 CN Regular" panose="020B0500000000000000" pitchFamily="34" charset="-122"/>
              </a:rPr>
              <a:t>全量</a:t>
            </a:r>
            <a:r>
              <a:rPr lang="en-US" altLang="zh-CN" sz="3600" b="1" dirty="0">
                <a:sym typeface="思源黑体 CN Regular" panose="020B0500000000000000" pitchFamily="34" charset="-122"/>
              </a:rPr>
              <a:t>C</a:t>
            </a:r>
            <a:r>
              <a:rPr lang="zh-CN" altLang="en-US" sz="3600" b="1" dirty="0">
                <a:sym typeface="思源黑体 CN Regular" panose="020B0500000000000000" pitchFamily="34" charset="-122"/>
              </a:rPr>
              <a:t>端用户分布情况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CA6F3C-B3B1-447F-BB37-EA142EAE3EEF}"/>
              </a:ext>
            </a:extLst>
          </p:cNvPr>
          <p:cNvSpPr txBox="1"/>
          <p:nvPr/>
        </p:nvSpPr>
        <p:spPr>
          <a:xfrm>
            <a:off x="335131" y="1023313"/>
            <a:ext cx="11374515" cy="460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仿宋" panose="02010609060101010101" pitchFamily="49" charset="-122"/>
                <a:ea typeface="宋体" panose="02010600030101010101" pitchFamily="2" charset="-122"/>
                <a:cs typeface="仿宋" panose="02010609060101010101" pitchFamily="49" charset="-122"/>
              </a:rPr>
              <a:t>    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本次用户洞察先从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380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万用户的整体情况入手，在全量用户中，有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59%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为已注册用户，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41%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仍未注册。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IMG_256">
            <a:extLst>
              <a:ext uri="{FF2B5EF4-FFF2-40B4-BE49-F238E27FC236}">
                <a16:creationId xmlns:a16="http://schemas.microsoft.com/office/drawing/2014/main" id="{40EDEA6B-E51B-4006-8749-E5A2744DEA56}"/>
              </a:ext>
            </a:extLst>
          </p:cNvPr>
          <p:cNvPicPr/>
          <p:nvPr/>
        </p:nvPicPr>
        <p:blipFill>
          <a:blip r:embed="rId2"/>
          <a:srcRect l="7716" t="2280" r="8169" b="3294"/>
          <a:stretch>
            <a:fillRect/>
          </a:stretch>
        </p:blipFill>
        <p:spPr>
          <a:xfrm>
            <a:off x="550831" y="1986005"/>
            <a:ext cx="3530600" cy="23666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B6AC64F-6ED1-4EFE-9522-CBBC4FE1E4BC}"/>
              </a:ext>
            </a:extLst>
          </p:cNvPr>
          <p:cNvSpPr txBox="1"/>
          <p:nvPr/>
        </p:nvSpPr>
        <p:spPr>
          <a:xfrm>
            <a:off x="5004787" y="2108140"/>
            <a:ext cx="6245440" cy="21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接下来，我们分析了按月的用户量、注册量以及注册率的分布情况，发现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2017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年以前的用户量偏低，存在注册用户信息缺失的可能性，数据的可应用性不高；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2017-2019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年之间总用户人数和注册用户人数过于趋同，使得注册率显得过高，这样的数据应用性也较差。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 descr="IMG_256">
            <a:extLst>
              <a:ext uri="{FF2B5EF4-FFF2-40B4-BE49-F238E27FC236}">
                <a16:creationId xmlns:a16="http://schemas.microsoft.com/office/drawing/2014/main" id="{171C387F-708B-469D-A038-91406303B4E7}"/>
              </a:ext>
            </a:extLst>
          </p:cNvPr>
          <p:cNvPicPr/>
          <p:nvPr/>
        </p:nvPicPr>
        <p:blipFill>
          <a:blip r:embed="rId3"/>
          <a:srcRect l="1795" t="2535" r="4152" b="2535"/>
          <a:stretch>
            <a:fillRect/>
          </a:stretch>
        </p:blipFill>
        <p:spPr>
          <a:xfrm>
            <a:off x="4126776" y="1582547"/>
            <a:ext cx="7514393" cy="385253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73C02A97-7383-455C-BE08-74481AD4AE40}"/>
              </a:ext>
            </a:extLst>
          </p:cNvPr>
          <p:cNvSpPr/>
          <p:nvPr/>
        </p:nvSpPr>
        <p:spPr>
          <a:xfrm>
            <a:off x="9889723" y="2531071"/>
            <a:ext cx="1360503" cy="2432482"/>
          </a:xfrm>
          <a:prstGeom prst="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CBF8A02-8A35-4EED-A93B-F2593B310535}"/>
              </a:ext>
            </a:extLst>
          </p:cNvPr>
          <p:cNvSpPr txBox="1"/>
          <p:nvPr/>
        </p:nvSpPr>
        <p:spPr>
          <a:xfrm>
            <a:off x="488550" y="5435079"/>
            <a:ext cx="10761676" cy="875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接下来，我们发现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2019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年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之前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用户量偏低，存在注册用户信息缺失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，注册率等关键因素波动较大情况，我们接下来的</a:t>
            </a:r>
            <a:r>
              <a:rPr lang="zh-CN" altLang="zh-CN" sz="1800" b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数据应用</a:t>
            </a:r>
            <a:r>
              <a:rPr lang="zh-CN" altLang="en-US" sz="1800" b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重点在</a:t>
            </a:r>
            <a:r>
              <a:rPr lang="en-US" altLang="zh-CN" sz="1800" b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2019</a:t>
            </a:r>
            <a:r>
              <a:rPr lang="zh-CN" altLang="en-US" sz="1800" b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年以后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。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176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3011382-A090-4FEC-91B3-748E1CA24728}"/>
              </a:ext>
            </a:extLst>
          </p:cNvPr>
          <p:cNvSpPr txBox="1"/>
          <p:nvPr/>
        </p:nvSpPr>
        <p:spPr>
          <a:xfrm>
            <a:off x="963936" y="1017688"/>
            <a:ext cx="9734366" cy="875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仿宋" panose="02010609060101010101" pitchFamily="49" charset="-122"/>
                <a:ea typeface="宋体" panose="02010600030101010101" pitchFamily="2" charset="-122"/>
                <a:cs typeface="仿宋" panose="02010609060101010101" pitchFamily="49" charset="-122"/>
              </a:rPr>
              <a:t>    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从性别来看，女性注册和下单的数量均高于男性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20%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倍左右，在注册量上可能与女性填写完整信息的人数居多也有关系，但是下单量上的分布应当是相对准确的。</a:t>
            </a:r>
            <a:r>
              <a:rPr lang="zh-CN" altLang="zh-CN" sz="1800" i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本字段空值率为</a:t>
            </a:r>
            <a:r>
              <a:rPr lang="en-US" altLang="zh-CN" sz="1800" i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56%</a:t>
            </a:r>
            <a:r>
              <a:rPr lang="zh-CN" altLang="zh-CN" sz="1800" i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。</a:t>
            </a:r>
            <a:endParaRPr lang="zh-CN" altLang="zh-CN" sz="1400" i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 descr="企业微信截图_16315167275768">
            <a:extLst>
              <a:ext uri="{FF2B5EF4-FFF2-40B4-BE49-F238E27FC236}">
                <a16:creationId xmlns:a16="http://schemas.microsoft.com/office/drawing/2014/main" id="{6E4BD41D-8022-4765-8DB4-89B22A350ED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67265" y="2565339"/>
            <a:ext cx="5357643" cy="30986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1901DB1-5F42-45CF-96BD-218D6525F304}"/>
              </a:ext>
            </a:extLst>
          </p:cNvPr>
          <p:cNvSpPr txBox="1"/>
          <p:nvPr/>
        </p:nvSpPr>
        <p:spPr>
          <a:xfrm>
            <a:off x="142240" y="278130"/>
            <a:ext cx="1104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ym typeface="思源黑体 CN Regular" panose="020B0500000000000000" pitchFamily="34" charset="-122"/>
              </a:rPr>
              <a:t>用户基本信息：性别</a:t>
            </a:r>
          </a:p>
        </p:txBody>
      </p:sp>
    </p:spTree>
    <p:extLst>
      <p:ext uri="{BB962C8B-B14F-4D97-AF65-F5344CB8AC3E}">
        <p14:creationId xmlns:p14="http://schemas.microsoft.com/office/powerpoint/2010/main" val="3507423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企业微信截图_16315018085039">
            <a:extLst>
              <a:ext uri="{FF2B5EF4-FFF2-40B4-BE49-F238E27FC236}">
                <a16:creationId xmlns:a16="http://schemas.microsoft.com/office/drawing/2014/main" id="{1CFCA2B3-E4F9-4C80-A5F6-AB42031C51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634145" y="1687129"/>
            <a:ext cx="4607510" cy="3941311"/>
          </a:xfrm>
          <a:prstGeom prst="rect">
            <a:avLst/>
          </a:prstGeom>
        </p:spPr>
      </p:pic>
      <p:pic>
        <p:nvPicPr>
          <p:cNvPr id="6" name="图片 5" descr="企业微信截图_16315017762275">
            <a:extLst>
              <a:ext uri="{FF2B5EF4-FFF2-40B4-BE49-F238E27FC236}">
                <a16:creationId xmlns:a16="http://schemas.microsoft.com/office/drawing/2014/main" id="{C8443B6B-5410-4B87-B19E-E3FFFDD4F7C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219225" y="601295"/>
            <a:ext cx="3187568" cy="267205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844650E-4841-422B-B8D9-4D65D7DB8F7E}"/>
              </a:ext>
            </a:extLst>
          </p:cNvPr>
          <p:cNvSpPr txBox="1"/>
          <p:nvPr/>
        </p:nvSpPr>
        <p:spPr>
          <a:xfrm>
            <a:off x="336240" y="1173413"/>
            <a:ext cx="4607511" cy="4199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       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从年龄层面分析，</a:t>
            </a:r>
            <a:r>
              <a:rPr lang="zh-CN" altLang="en-US" sz="1800" b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将近一半（</a:t>
            </a:r>
            <a:r>
              <a:rPr lang="en-US" altLang="zh-CN" sz="1800" b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48%</a:t>
            </a:r>
            <a:r>
              <a:rPr lang="zh-CN" altLang="en-US" sz="1800" b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）下单客户为中青年</a:t>
            </a:r>
            <a:r>
              <a:rPr lang="zh-CN" altLang="zh-CN" sz="1800" b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（</a:t>
            </a:r>
            <a:r>
              <a:rPr lang="en-US" altLang="zh-CN" sz="1800" b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27-35</a:t>
            </a:r>
            <a:r>
              <a:rPr lang="zh-CN" altLang="zh-CN" sz="1800" b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）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；</a:t>
            </a:r>
            <a:endParaRPr lang="en-US" altLang="zh-CN" sz="1800" kern="100" dirty="0">
              <a:effectLst/>
              <a:latin typeface="Calibri" panose="020F0502020204030204" pitchFamily="34" charset="0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整体上看，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43%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用户</a:t>
            </a:r>
            <a:r>
              <a:rPr lang="zh-CN" altLang="en-US" kern="100" dirty="0"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为中青年；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其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次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38%</a:t>
            </a:r>
            <a:r>
              <a:rPr lang="zh-CN" altLang="en-US" kern="100" dirty="0"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的是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壮年群体（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36-60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）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；</a:t>
            </a:r>
            <a:endParaRPr lang="en-US" altLang="zh-CN" sz="1800" kern="100" dirty="0">
              <a:effectLst/>
              <a:latin typeface="Calibri" panose="020F0502020204030204" pitchFamily="34" charset="0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endParaRPr lang="en-US" altLang="zh-CN" kern="100" dirty="0">
              <a:latin typeface="Calibri" panose="020F0502020204030204" pitchFamily="34" charset="0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青年群体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（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18-26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）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的注册量和下单量不是很高，其中注册量仅有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17%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。</a:t>
            </a:r>
            <a:endParaRPr lang="en-US" altLang="zh-CN" sz="1800" kern="100" dirty="0">
              <a:effectLst/>
              <a:latin typeface="Calibri" panose="020F0502020204030204" pitchFamily="34" charset="0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endParaRPr lang="en-US" altLang="zh-CN" i="1" kern="100" dirty="0">
              <a:latin typeface="Calibri" panose="020F0502020204030204" pitchFamily="34" charset="0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1800" i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此字段空值率为</a:t>
            </a:r>
            <a:r>
              <a:rPr lang="en-US" altLang="zh-CN" sz="1800" i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56%</a:t>
            </a:r>
            <a:r>
              <a:rPr lang="zh-CN" altLang="zh-CN" sz="1800" i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。</a:t>
            </a:r>
            <a:endParaRPr lang="zh-CN" altLang="zh-CN" sz="1400" i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 descr="企业微信截图_16315169243785">
            <a:extLst>
              <a:ext uri="{FF2B5EF4-FFF2-40B4-BE49-F238E27FC236}">
                <a16:creationId xmlns:a16="http://schemas.microsoft.com/office/drawing/2014/main" id="{97392734-D3FF-43C2-A18B-3392886AE93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219226" y="3468797"/>
            <a:ext cx="3187567" cy="278790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53E4CAE-91C1-4FDB-BDCB-4E7372496695}"/>
              </a:ext>
            </a:extLst>
          </p:cNvPr>
          <p:cNvSpPr txBox="1"/>
          <p:nvPr/>
        </p:nvSpPr>
        <p:spPr>
          <a:xfrm>
            <a:off x="142240" y="278130"/>
            <a:ext cx="1104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ym typeface="思源黑体 CN Regular" panose="020B0500000000000000" pitchFamily="34" charset="-122"/>
              </a:rPr>
              <a:t>用户基本信息：年龄</a:t>
            </a:r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66D96224-ABA5-4C16-B4E1-AB2A525A3480}"/>
              </a:ext>
            </a:extLst>
          </p:cNvPr>
          <p:cNvSpPr/>
          <p:nvPr/>
        </p:nvSpPr>
        <p:spPr>
          <a:xfrm>
            <a:off x="8219226" y="1216241"/>
            <a:ext cx="336240" cy="4412199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175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3367687-EE0D-4398-8E2D-F82726B7B1EE}"/>
              </a:ext>
            </a:extLst>
          </p:cNvPr>
          <p:cNvSpPr txBox="1"/>
          <p:nvPr/>
        </p:nvSpPr>
        <p:spPr>
          <a:xfrm>
            <a:off x="634753" y="1273024"/>
            <a:ext cx="102581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从婚姻状态情况看，</a:t>
            </a:r>
            <a:r>
              <a:rPr lang="zh-CN" altLang="en-US" b="1" dirty="0"/>
              <a:t>超七成用户为已婚用户</a:t>
            </a:r>
            <a:r>
              <a:rPr lang="zh-CN" altLang="en-US" dirty="0"/>
              <a:t>，但这部分数据缺失较大，仅有</a:t>
            </a:r>
            <a:r>
              <a:rPr lang="en-US" altLang="zh-CN" dirty="0"/>
              <a:t>0.1%</a:t>
            </a:r>
            <a:r>
              <a:rPr lang="zh-CN" altLang="en-US" dirty="0"/>
              <a:t>的可用数据，</a:t>
            </a:r>
            <a:r>
              <a:rPr lang="zh-CN" altLang="en-US" b="1" dirty="0"/>
              <a:t>较大部分用户下单时不填写婚姻状态</a:t>
            </a:r>
            <a:r>
              <a:rPr lang="zh-CN" altLang="en-US" dirty="0"/>
              <a:t>，可应用性有待商榷。</a:t>
            </a:r>
          </a:p>
          <a:p>
            <a:r>
              <a:rPr lang="zh-CN" altLang="en-US" dirty="0"/>
              <a:t>  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9" name="图片 8" descr="企业微信截图_16315019222630">
            <a:extLst>
              <a:ext uri="{FF2B5EF4-FFF2-40B4-BE49-F238E27FC236}">
                <a16:creationId xmlns:a16="http://schemas.microsoft.com/office/drawing/2014/main" id="{1BB57D11-4339-4565-A752-81F8E5CC36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94912" y="2262079"/>
            <a:ext cx="4796901" cy="3978922"/>
          </a:xfrm>
          <a:prstGeom prst="rect">
            <a:avLst/>
          </a:prstGeom>
        </p:spPr>
      </p:pic>
      <p:pic>
        <p:nvPicPr>
          <p:cNvPr id="10" name="图片 9" descr="企业微信截图_16315019809401">
            <a:extLst>
              <a:ext uri="{FF2B5EF4-FFF2-40B4-BE49-F238E27FC236}">
                <a16:creationId xmlns:a16="http://schemas.microsoft.com/office/drawing/2014/main" id="{7BA61027-FD5A-4CE7-B93D-BA9FE3EC3E92}"/>
              </a:ext>
            </a:extLst>
          </p:cNvPr>
          <p:cNvPicPr/>
          <p:nvPr/>
        </p:nvPicPr>
        <p:blipFill>
          <a:blip r:embed="rId3"/>
          <a:srcRect b="4196"/>
          <a:stretch>
            <a:fillRect/>
          </a:stretch>
        </p:blipFill>
        <p:spPr>
          <a:xfrm>
            <a:off x="6860959" y="2262079"/>
            <a:ext cx="3062796" cy="281952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CCAE283-FFC6-47CB-BCB9-468FBB9EC0D7}"/>
              </a:ext>
            </a:extLst>
          </p:cNvPr>
          <p:cNvSpPr txBox="1"/>
          <p:nvPr/>
        </p:nvSpPr>
        <p:spPr>
          <a:xfrm>
            <a:off x="142240" y="278130"/>
            <a:ext cx="1104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ym typeface="思源黑体 CN Regular" panose="020B0500000000000000" pitchFamily="34" charset="-122"/>
              </a:rPr>
              <a:t>用户基本信息：婚姻状态</a:t>
            </a:r>
          </a:p>
        </p:txBody>
      </p:sp>
      <p:sp>
        <p:nvSpPr>
          <p:cNvPr id="6" name="箭头: 右弧形 5">
            <a:extLst>
              <a:ext uri="{FF2B5EF4-FFF2-40B4-BE49-F238E27FC236}">
                <a16:creationId xmlns:a16="http://schemas.microsoft.com/office/drawing/2014/main" id="{64956E78-2093-4BA8-BD2D-B51472D5BFDF}"/>
              </a:ext>
            </a:extLst>
          </p:cNvPr>
          <p:cNvSpPr/>
          <p:nvPr/>
        </p:nvSpPr>
        <p:spPr>
          <a:xfrm rot="14469991">
            <a:off x="5538188" y="2193148"/>
            <a:ext cx="920321" cy="2562856"/>
          </a:xfrm>
          <a:prstGeom prst="curvedLef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585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D7DF5BE-9F4E-4A75-8D52-490365011959}"/>
              </a:ext>
            </a:extLst>
          </p:cNvPr>
          <p:cNvSpPr txBox="1"/>
          <p:nvPr/>
        </p:nvSpPr>
        <p:spPr>
          <a:xfrm>
            <a:off x="214544" y="1030380"/>
            <a:ext cx="11193262" cy="2767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304800"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  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从省份及城市分布来看，其中</a:t>
            </a:r>
            <a:r>
              <a:rPr lang="zh-CN" altLang="zh-CN" sz="1800" b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下单用户</a:t>
            </a:r>
            <a:r>
              <a:rPr lang="zh-CN" altLang="en-US" sz="1800" b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中</a:t>
            </a:r>
            <a:r>
              <a:rPr lang="en-US" altLang="zh-CN" sz="1800" b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1/4</a:t>
            </a:r>
            <a:r>
              <a:rPr lang="zh-CN" altLang="en-US" sz="1800" b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来自广东，另有一半</a:t>
            </a:r>
            <a:r>
              <a:rPr lang="zh-CN" altLang="en-US" kern="100" dirty="0"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来自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北京、上海、江苏、浙江</a:t>
            </a:r>
            <a:r>
              <a:rPr lang="en-US" altLang="zh-CN" kern="100" dirty="0"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4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个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经济大省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/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直辖市；</a:t>
            </a:r>
            <a:endParaRPr lang="en-US" altLang="zh-CN" sz="1800" kern="100" dirty="0">
              <a:effectLst/>
              <a:latin typeface="Calibri" panose="020F0502020204030204" pitchFamily="34" charset="0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marL="266700" indent="304800"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   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而城市分布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中，过半用户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集中在一二线城市。</a:t>
            </a:r>
            <a:endParaRPr lang="en-US" altLang="zh-CN" sz="1800" kern="100" dirty="0">
              <a:effectLst/>
              <a:latin typeface="Calibri" panose="020F0502020204030204" pitchFamily="34" charset="0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marL="266700" indent="304800"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kern="100" dirty="0">
                <a:latin typeface="Calibri" panose="020F0502020204030204" pitchFamily="34" charset="0"/>
                <a:ea typeface="仿宋" panose="02010609060101010101" pitchFamily="49" charset="-122"/>
              </a:rPr>
              <a:t>   </a:t>
            </a:r>
            <a:r>
              <a:rPr lang="zh-CN" altLang="zh-CN" kern="100" dirty="0">
                <a:latin typeface="Calibri" panose="020F0502020204030204" pitchFamily="34" charset="0"/>
                <a:ea typeface="仿宋" panose="02010609060101010101" pitchFamily="49" charset="-122"/>
              </a:rPr>
              <a:t>未下单用户的基本上没有城市省份信息</a:t>
            </a:r>
            <a:r>
              <a:rPr lang="zh-CN" altLang="en-US" kern="100" dirty="0">
                <a:latin typeface="Calibri" panose="020F0502020204030204" pitchFamily="34" charset="0"/>
                <a:ea typeface="仿宋" panose="02010609060101010101" pitchFamily="49" charset="-122"/>
              </a:rPr>
              <a:t>；</a:t>
            </a:r>
            <a:endParaRPr lang="en-US" altLang="zh-CN" kern="100" dirty="0">
              <a:latin typeface="Calibri" panose="020F0502020204030204" pitchFamily="34" charset="0"/>
              <a:ea typeface="仿宋" panose="02010609060101010101" pitchFamily="49" charset="-122"/>
            </a:endParaRPr>
          </a:p>
          <a:p>
            <a:pPr marL="266700" indent="304800"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i="1" kern="100" dirty="0">
                <a:latin typeface="Calibri" panose="020F0502020204030204" pitchFamily="34" charset="0"/>
                <a:ea typeface="仿宋" panose="02010609060101010101" pitchFamily="49" charset="-122"/>
              </a:rPr>
              <a:t>  </a:t>
            </a:r>
            <a:r>
              <a:rPr lang="zh-CN" altLang="zh-CN" i="1" kern="100" dirty="0">
                <a:latin typeface="Calibri" panose="020F0502020204030204" pitchFamily="34" charset="0"/>
                <a:ea typeface="仿宋" panose="02010609060101010101" pitchFamily="49" charset="-122"/>
              </a:rPr>
              <a:t>单用户的省份及城市分布情况，其缺失率分别为</a:t>
            </a:r>
            <a:r>
              <a:rPr lang="en-US" altLang="zh-CN" i="1" kern="100" dirty="0">
                <a:latin typeface="Calibri" panose="020F0502020204030204" pitchFamily="34" charset="0"/>
                <a:ea typeface="仿宋" panose="02010609060101010101" pitchFamily="49" charset="-122"/>
              </a:rPr>
              <a:t>54%</a:t>
            </a:r>
            <a:r>
              <a:rPr lang="zh-CN" altLang="zh-CN" i="1" kern="100" dirty="0">
                <a:latin typeface="Calibri" panose="020F0502020204030204" pitchFamily="34" charset="0"/>
                <a:ea typeface="仿宋" panose="02010609060101010101" pitchFamily="49" charset="-122"/>
              </a:rPr>
              <a:t>、</a:t>
            </a:r>
            <a:r>
              <a:rPr lang="en-US" altLang="zh-CN" i="1" kern="100" dirty="0">
                <a:latin typeface="Calibri" panose="020F0502020204030204" pitchFamily="34" charset="0"/>
                <a:ea typeface="仿宋" panose="02010609060101010101" pitchFamily="49" charset="-122"/>
              </a:rPr>
              <a:t>55%</a:t>
            </a:r>
            <a:r>
              <a:rPr lang="zh-CN" altLang="en-US" i="1" kern="100" dirty="0">
                <a:latin typeface="Calibri" panose="020F0502020204030204" pitchFamily="34" charset="0"/>
                <a:ea typeface="仿宋" panose="02010609060101010101" pitchFamily="49" charset="-122"/>
              </a:rPr>
              <a:t>。</a:t>
            </a:r>
            <a:endParaRPr lang="en-US" altLang="zh-CN" i="1" kern="100" dirty="0">
              <a:latin typeface="Calibri" panose="020F0502020204030204" pitchFamily="34" charset="0"/>
              <a:ea typeface="仿宋" panose="02010609060101010101" pitchFamily="49" charset="-122"/>
            </a:endParaRPr>
          </a:p>
          <a:p>
            <a:pPr marL="266700" indent="304800" algn="just">
              <a:lnSpc>
                <a:spcPct val="150000"/>
              </a:lnSpc>
              <a:spcAft>
                <a:spcPts val="600"/>
              </a:spcAft>
            </a:pP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 descr="IMG_256">
            <a:extLst>
              <a:ext uri="{FF2B5EF4-FFF2-40B4-BE49-F238E27FC236}">
                <a16:creationId xmlns:a16="http://schemas.microsoft.com/office/drawing/2014/main" id="{11CDC433-A670-40D3-A50B-F749ACEF1C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36596" y="3428999"/>
            <a:ext cx="4894191" cy="2767361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 descr="IMG_256">
            <a:extLst>
              <a:ext uri="{FF2B5EF4-FFF2-40B4-BE49-F238E27FC236}">
                <a16:creationId xmlns:a16="http://schemas.microsoft.com/office/drawing/2014/main" id="{E0A915B0-ED86-49E7-A43A-5DED9368BFB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22024" y="3355760"/>
            <a:ext cx="4894190" cy="2840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0AF118A-B94A-48F1-AFFF-D853F371386F}"/>
              </a:ext>
            </a:extLst>
          </p:cNvPr>
          <p:cNvSpPr txBox="1"/>
          <p:nvPr/>
        </p:nvSpPr>
        <p:spPr>
          <a:xfrm>
            <a:off x="142240" y="278130"/>
            <a:ext cx="1104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ym typeface="思源黑体 CN Regular" panose="020B0500000000000000" pitchFamily="34" charset="-122"/>
              </a:rPr>
              <a:t>用户基本信息：地域</a:t>
            </a:r>
          </a:p>
        </p:txBody>
      </p:sp>
    </p:spTree>
    <p:extLst>
      <p:ext uri="{BB962C8B-B14F-4D97-AF65-F5344CB8AC3E}">
        <p14:creationId xmlns:p14="http://schemas.microsoft.com/office/powerpoint/2010/main" val="3666498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73D2BB0-7ADA-48F3-9DFA-003BEF83E2AF}"/>
              </a:ext>
            </a:extLst>
          </p:cNvPr>
          <p:cNvSpPr txBox="1"/>
          <p:nvPr/>
        </p:nvSpPr>
        <p:spPr>
          <a:xfrm>
            <a:off x="741284" y="1183112"/>
            <a:ext cx="10346925" cy="875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从工作等级分布看，近七成用户都为风险等级为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1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，是如同办公室文员这类工作性质的用户，风险等级为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5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、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6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、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7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的高风险用户加起来占比不足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1%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。</a:t>
            </a:r>
            <a:r>
              <a:rPr lang="zh-CN" altLang="zh-CN" sz="1800" i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此字段空值率为</a:t>
            </a:r>
            <a:r>
              <a:rPr lang="en-US" altLang="zh-CN" sz="1800" i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84%</a:t>
            </a:r>
            <a:r>
              <a:rPr lang="zh-CN" altLang="zh-CN" sz="1800" i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。</a:t>
            </a:r>
            <a:endParaRPr lang="zh-CN" altLang="zh-CN" sz="1400" i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 descr="企业微信截图_16314966924716">
            <a:extLst>
              <a:ext uri="{FF2B5EF4-FFF2-40B4-BE49-F238E27FC236}">
                <a16:creationId xmlns:a16="http://schemas.microsoft.com/office/drawing/2014/main" id="{7BB71681-5767-4220-B689-A2C17C10A883}"/>
              </a:ext>
            </a:extLst>
          </p:cNvPr>
          <p:cNvPicPr/>
          <p:nvPr/>
        </p:nvPicPr>
        <p:blipFill>
          <a:blip r:embed="rId2"/>
          <a:srcRect r="972" b="2365"/>
          <a:stretch>
            <a:fillRect/>
          </a:stretch>
        </p:blipFill>
        <p:spPr>
          <a:xfrm>
            <a:off x="1323832" y="2422647"/>
            <a:ext cx="8512625" cy="292170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11C5184-3C5F-4B86-85FC-BC0AEEE52AC6}"/>
              </a:ext>
            </a:extLst>
          </p:cNvPr>
          <p:cNvSpPr txBox="1"/>
          <p:nvPr/>
        </p:nvSpPr>
        <p:spPr>
          <a:xfrm>
            <a:off x="142240" y="278130"/>
            <a:ext cx="1104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ym typeface="思源黑体 CN Regular" panose="020B0500000000000000" pitchFamily="34" charset="-122"/>
              </a:rPr>
              <a:t>用户基本信息：工作等级</a:t>
            </a:r>
          </a:p>
        </p:txBody>
      </p:sp>
    </p:spTree>
    <p:extLst>
      <p:ext uri="{BB962C8B-B14F-4D97-AF65-F5344CB8AC3E}">
        <p14:creationId xmlns:p14="http://schemas.microsoft.com/office/powerpoint/2010/main" val="3925338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BC79DA2-80EE-450B-BB73-E33AC931796D}"/>
              </a:ext>
            </a:extLst>
          </p:cNvPr>
          <p:cNvSpPr txBox="1"/>
          <p:nvPr/>
        </p:nvSpPr>
        <p:spPr>
          <a:xfrm>
            <a:off x="1042232" y="1106775"/>
            <a:ext cx="9868423" cy="875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从注册是是否有基本医保上来看，填写信息的用户中超过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97%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都已经享有基本医疗保险。</a:t>
            </a:r>
            <a:endParaRPr lang="en-US" altLang="zh-CN" sz="1800" kern="100" dirty="0">
              <a:effectLst/>
              <a:latin typeface="Calibri" panose="020F0502020204030204" pitchFamily="34" charset="0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1800" i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此字段空值率为</a:t>
            </a:r>
            <a:r>
              <a:rPr lang="en-US" altLang="zh-CN" sz="1800" i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99%</a:t>
            </a:r>
            <a:r>
              <a:rPr lang="zh-CN" altLang="zh-CN" sz="1800" i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。</a:t>
            </a:r>
            <a:endParaRPr lang="zh-CN" altLang="zh-CN" sz="1400" i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 descr="企业微信截图_16314987871830">
            <a:extLst>
              <a:ext uri="{FF2B5EF4-FFF2-40B4-BE49-F238E27FC236}">
                <a16:creationId xmlns:a16="http://schemas.microsoft.com/office/drawing/2014/main" id="{6BF9AC58-A355-4999-8C45-277EF1EB417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20168" y="2441864"/>
            <a:ext cx="5735560" cy="34617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FBC5FE8-6C85-456A-97A8-F75F94B1CF9C}"/>
              </a:ext>
            </a:extLst>
          </p:cNvPr>
          <p:cNvSpPr txBox="1"/>
          <p:nvPr/>
        </p:nvSpPr>
        <p:spPr>
          <a:xfrm>
            <a:off x="142240" y="278130"/>
            <a:ext cx="1104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ym typeface="思源黑体 CN Regular" panose="020B0500000000000000" pitchFamily="34" charset="-122"/>
              </a:rPr>
              <a:t>用户基本信息：医保状态</a:t>
            </a:r>
          </a:p>
        </p:txBody>
      </p:sp>
    </p:spTree>
    <p:extLst>
      <p:ext uri="{BB962C8B-B14F-4D97-AF65-F5344CB8AC3E}">
        <p14:creationId xmlns:p14="http://schemas.microsoft.com/office/powerpoint/2010/main" val="3942528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A93C824-67BE-4BD8-AC4C-AC660F20A8CD}"/>
              </a:ext>
            </a:extLst>
          </p:cNvPr>
          <p:cNvSpPr txBox="1"/>
          <p:nvPr/>
        </p:nvSpPr>
        <p:spPr>
          <a:xfrm>
            <a:off x="1152122" y="967944"/>
            <a:ext cx="9024151" cy="170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仿宋" panose="02010609060101010101" pitchFamily="49" charset="-122"/>
                <a:ea typeface="宋体" panose="02010600030101010101" pitchFamily="2" charset="-122"/>
                <a:cs typeface="仿宋" panose="02010609060101010101" pitchFamily="49" charset="-122"/>
              </a:rPr>
              <a:t>    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从保费层面上看，我们将个人所投总保费分类为千元以下、千元级别、万元级别、十万元到五十万元之间，所得到的注册、下单数量相对平均。</a:t>
            </a:r>
            <a:endParaRPr lang="en-US" altLang="zh-CN" sz="1800" kern="100" dirty="0">
              <a:effectLst/>
              <a:latin typeface="Calibri" panose="020F0502020204030204" pitchFamily="34" charset="0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        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万元级别相对最高，占比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27%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，</a:t>
            </a:r>
            <a:r>
              <a:rPr lang="zh-CN" altLang="en-US" b="1" kern="100" dirty="0"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十万以上</a:t>
            </a:r>
            <a:r>
              <a:rPr lang="zh-CN" altLang="zh-CN" sz="1800" b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保费</a:t>
            </a:r>
            <a:r>
              <a:rPr lang="zh-CN" altLang="en-US" sz="1800" b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用户和十万以下用户基本对半开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，千元以下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小额保费用户约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1</a:t>
            </a:r>
            <a:r>
              <a:rPr lang="en-US" altLang="zh-CN" kern="100" dirty="0"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/5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。</a:t>
            </a:r>
            <a:r>
              <a:rPr lang="zh-CN" altLang="zh-CN" sz="1800" i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投保人中的保费缺失率为</a:t>
            </a:r>
            <a:r>
              <a:rPr lang="en-US" altLang="zh-CN" sz="1800" i="1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53%</a:t>
            </a:r>
            <a:r>
              <a:rPr lang="zh-CN" altLang="en-US" i="1" kern="100" dirty="0"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。</a:t>
            </a:r>
            <a:endParaRPr lang="zh-CN" altLang="zh-CN" sz="1400" i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F3280A-9483-481B-9D81-7A9F8DAC1AA1}"/>
              </a:ext>
            </a:extLst>
          </p:cNvPr>
          <p:cNvSpPr txBox="1"/>
          <p:nvPr/>
        </p:nvSpPr>
        <p:spPr>
          <a:xfrm>
            <a:off x="142240" y="278130"/>
            <a:ext cx="1104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ym typeface="思源黑体 CN Regular" panose="020B0500000000000000" pitchFamily="34" charset="-122"/>
              </a:rPr>
              <a:t>用户投保信息</a:t>
            </a:r>
          </a:p>
        </p:txBody>
      </p:sp>
      <p:pic>
        <p:nvPicPr>
          <p:cNvPr id="6" name="图片 5" descr="企业微信截图_16315037443106">
            <a:extLst>
              <a:ext uri="{FF2B5EF4-FFF2-40B4-BE49-F238E27FC236}">
                <a16:creationId xmlns:a16="http://schemas.microsoft.com/office/drawing/2014/main" id="{D4B62FB1-5361-4651-8DD0-2C228B74FF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60523" y="2831347"/>
            <a:ext cx="6007347" cy="368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803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F239214-F9B4-414E-8FE1-3D6E45DE6372}"/>
              </a:ext>
            </a:extLst>
          </p:cNvPr>
          <p:cNvSpPr txBox="1"/>
          <p:nvPr/>
        </p:nvSpPr>
        <p:spPr>
          <a:xfrm>
            <a:off x="1047633" y="924461"/>
            <a:ext cx="9858948" cy="12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从用户注册来源上来看，超六成以上用户来自于慧择官网自主注册，其余的微信和活动注册在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15%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上下，其余中，预约页自动注册和新人福利也带来了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2%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上下的客户，下单转化上，微信的转化率尤其高近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50%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，剩余均在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30%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左右。此字段空值率仅为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0.1%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  <a:cs typeface="仿宋" panose="02010609060101010101" pitchFamily="49" charset="-122"/>
              </a:rPr>
              <a:t>。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 descr="企业微信截图_16312532902171">
            <a:extLst>
              <a:ext uri="{FF2B5EF4-FFF2-40B4-BE49-F238E27FC236}">
                <a16:creationId xmlns:a16="http://schemas.microsoft.com/office/drawing/2014/main" id="{A2914255-F56E-47BA-A67D-C1F59C3BCF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19092" y="2481924"/>
            <a:ext cx="6014190" cy="399877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B1EF49D-690E-4BB9-AD47-5173849003BC}"/>
              </a:ext>
            </a:extLst>
          </p:cNvPr>
          <p:cNvSpPr txBox="1"/>
          <p:nvPr/>
        </p:nvSpPr>
        <p:spPr>
          <a:xfrm>
            <a:off x="142240" y="278130"/>
            <a:ext cx="1104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ym typeface="思源黑体 CN Regular" panose="020B0500000000000000" pitchFamily="34" charset="-122"/>
              </a:rPr>
              <a:t>用户注册来源</a:t>
            </a:r>
          </a:p>
        </p:txBody>
      </p:sp>
    </p:spTree>
    <p:extLst>
      <p:ext uri="{BB962C8B-B14F-4D97-AF65-F5344CB8AC3E}">
        <p14:creationId xmlns:p14="http://schemas.microsoft.com/office/powerpoint/2010/main" val="97516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7690B71-A6FF-42C8-B0D4-D4BC01739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835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-1" y="0"/>
            <a:ext cx="12181687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68780" y="2426874"/>
            <a:ext cx="8534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0">
                      <a:schemeClr val="bg1"/>
                    </a:gs>
                    <a:gs pos="50000">
                      <a:srgbClr val="FFFFFF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083180" y="2426874"/>
            <a:ext cx="8534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0">
                      <a:schemeClr val="bg1"/>
                    </a:gs>
                    <a:gs pos="40000">
                      <a:srgbClr val="FFFFFF"/>
                    </a:gs>
                    <a:gs pos="50000">
                      <a:srgbClr val="FFFFFF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322444" y="2426874"/>
            <a:ext cx="8534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0">
                      <a:schemeClr val="bg1"/>
                    </a:gs>
                    <a:gs pos="40000">
                      <a:srgbClr val="FFFFFF"/>
                    </a:gs>
                    <a:gs pos="50000">
                      <a:srgbClr val="FFFFFF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317868" y="2426874"/>
            <a:ext cx="8534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0">
                      <a:schemeClr val="bg1"/>
                    </a:gs>
                    <a:gs pos="40000">
                      <a:srgbClr val="FFFFFF"/>
                    </a:gs>
                    <a:gs pos="50000">
                      <a:srgbClr val="FFFFFF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453440" y="2426874"/>
            <a:ext cx="8534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0">
                      <a:schemeClr val="bg1"/>
                    </a:gs>
                    <a:gs pos="40000">
                      <a:srgbClr val="FFFFFF"/>
                    </a:gs>
                    <a:gs pos="50000">
                      <a:srgbClr val="FFFFFF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254905" y="2426874"/>
            <a:ext cx="8534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0">
                      <a:schemeClr val="bg1"/>
                    </a:gs>
                    <a:gs pos="40000">
                      <a:srgbClr val="FFFFFF"/>
                    </a:gs>
                    <a:gs pos="50000">
                      <a:srgbClr val="FFFFFF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</a:p>
        </p:txBody>
      </p: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306333" y="5282244"/>
            <a:ext cx="1580438" cy="78507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MODEL_TYPE" val="cov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  <p:tag name="RESOURCELIBID_ANIM" val="44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  <p:tag name="RESOURCELIBID_ANIM" val="44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  <p:tag name="RESOURCELIBID_ANIM" val="44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1742</Words>
  <Application>Microsoft Office PowerPoint</Application>
  <PresentationFormat>宽屏</PresentationFormat>
  <Paragraphs>272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等线</vt:lpstr>
      <vt:lpstr>仿宋</vt:lpstr>
      <vt:lpstr>思源黑体 CN Medium</vt:lpstr>
      <vt:lpstr>思源黑体 CN Regular</vt:lpstr>
      <vt:lpstr>宋体</vt:lpstr>
      <vt:lpstr>微软雅黑</vt:lpstr>
      <vt:lpstr>Arial</vt:lpstr>
      <vt:lpstr>Calibri</vt:lpstr>
      <vt:lpstr>Calibri Light</vt:lpstr>
      <vt:lpstr>Office 主题</vt:lpstr>
      <vt:lpstr>用户增长部部门规划</vt:lpstr>
      <vt:lpstr>打造以用户为中心的体验旅程</vt:lpstr>
      <vt:lpstr>PowerPoint 演示文稿</vt:lpstr>
      <vt:lpstr>C端增长框架</vt:lpstr>
      <vt:lpstr>C端增长模块拆解</vt:lpstr>
      <vt:lpstr>BC一体用户增长时间线</vt:lpstr>
      <vt:lpstr>用户增长工作流程</vt:lpstr>
      <vt:lpstr>用户增长团队分工，打造增长闭环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ZLJ</dc:creator>
  <cp:lastModifiedBy>Jason Hang</cp:lastModifiedBy>
  <cp:revision>1005</cp:revision>
  <cp:lastPrinted>2019-08-05T07:15:00Z</cp:lastPrinted>
  <dcterms:created xsi:type="dcterms:W3CDTF">2019-08-02T03:30:00Z</dcterms:created>
  <dcterms:modified xsi:type="dcterms:W3CDTF">2021-09-14T10:30:43Z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2052-11.8.2.10393</vt:lpwstr>
  </property>
  <property fmtid="{D5CDD505-2E9C-101B-9397-08002B2CF9AE}" pid="3" name="KSORubyTemplateID">
    <vt:lpwstr>2</vt:lpwstr>
  </property>
  <property fmtid="{D5CDD505-2E9C-101B-9397-08002B2CF9AE}" pid="4" name="ICV">
    <vt:lpwstr>A7611B48203A4AAB923C0D2B162337A6</vt:lpwstr>
  </property>
</Properties>
</file>